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65" r:id="rId1"/>
  </p:sldMasterIdLst>
  <p:notesMasterIdLst>
    <p:notesMasterId r:id="rId40"/>
  </p:notesMasterIdLst>
  <p:sldIdLst>
    <p:sldId id="539" r:id="rId2"/>
    <p:sldId id="541" r:id="rId3"/>
    <p:sldId id="542" r:id="rId4"/>
    <p:sldId id="543" r:id="rId5"/>
    <p:sldId id="544" r:id="rId6"/>
    <p:sldId id="545" r:id="rId7"/>
    <p:sldId id="546" r:id="rId8"/>
    <p:sldId id="547" r:id="rId9"/>
    <p:sldId id="548" r:id="rId10"/>
    <p:sldId id="549" r:id="rId11"/>
    <p:sldId id="550" r:id="rId12"/>
    <p:sldId id="551" r:id="rId13"/>
    <p:sldId id="552" r:id="rId14"/>
    <p:sldId id="553" r:id="rId15"/>
    <p:sldId id="554" r:id="rId16"/>
    <p:sldId id="555" r:id="rId17"/>
    <p:sldId id="556" r:id="rId18"/>
    <p:sldId id="557" r:id="rId19"/>
    <p:sldId id="558" r:id="rId20"/>
    <p:sldId id="559" r:id="rId21"/>
    <p:sldId id="560" r:id="rId22"/>
    <p:sldId id="561" r:id="rId23"/>
    <p:sldId id="562" r:id="rId24"/>
    <p:sldId id="563" r:id="rId25"/>
    <p:sldId id="564" r:id="rId26"/>
    <p:sldId id="565" r:id="rId27"/>
    <p:sldId id="566" r:id="rId28"/>
    <p:sldId id="567" r:id="rId29"/>
    <p:sldId id="568" r:id="rId30"/>
    <p:sldId id="569" r:id="rId31"/>
    <p:sldId id="570" r:id="rId32"/>
    <p:sldId id="571" r:id="rId33"/>
    <p:sldId id="572" r:id="rId34"/>
    <p:sldId id="573" r:id="rId35"/>
    <p:sldId id="574" r:id="rId36"/>
    <p:sldId id="575" r:id="rId37"/>
    <p:sldId id="576" r:id="rId38"/>
    <p:sldId id="514" r:id="rId3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33"/>
    <a:srgbClr val="FFFFFF"/>
    <a:srgbClr val="008000"/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64" autoAdjust="0"/>
    <p:restoredTop sz="83025" autoAdjust="0"/>
  </p:normalViewPr>
  <p:slideViewPr>
    <p:cSldViewPr>
      <p:cViewPr varScale="1">
        <p:scale>
          <a:sx n="72" d="100"/>
          <a:sy n="72" d="100"/>
        </p:scale>
        <p:origin x="1757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F67EA41F-F937-4695-ABB5-3DD9FC03DBB8}" type="datetimeFigureOut">
              <a:rPr lang="en-US"/>
              <a:pPr>
                <a:defRPr/>
              </a:pPr>
              <a:t>3/23/2020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9806739-C791-46CE-93F0-517719BD194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45237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57400"/>
            <a:ext cx="9144000" cy="2566851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C4AE668-F1CA-43CC-B224-31C4FB1DBC35}" type="datetimeFigureOut">
              <a:rPr lang="en-US" smtClean="0"/>
              <a:pPr>
                <a:defRPr/>
              </a:pPr>
              <a:t>3/23/2020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17EFC5B-740B-4522-A0AB-5F62F4C7676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5431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Chapter 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53000" y="2362201"/>
            <a:ext cx="3886200" cy="198119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Course Title style</a:t>
            </a:r>
          </a:p>
        </p:txBody>
      </p:sp>
    </p:spTree>
    <p:extLst>
      <p:ext uri="{BB962C8B-B14F-4D97-AF65-F5344CB8AC3E}">
        <p14:creationId xmlns:p14="http://schemas.microsoft.com/office/powerpoint/2010/main" val="861694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A8C5B54-1915-4CCF-BFE8-35A322F52A79}" type="datetimeFigureOut">
              <a:rPr lang="en-US" smtClean="0"/>
              <a:pPr>
                <a:defRPr/>
              </a:pPr>
              <a:t>3/23/2020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6D9CF1-302D-4F0B-92B7-33217D1A59D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504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DBDF9C-0C2C-44E4-A845-2D25F1BABF6B}" type="datetimeFigureOut">
              <a:rPr lang="en-US" smtClean="0"/>
              <a:pPr>
                <a:defRPr/>
              </a:pPr>
              <a:t>3/23/2020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5E5768-A308-4713-BFA1-B86A1A28879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562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65772F5-FBC4-4CEF-AE3F-43F45729A248}" type="datetimeFigureOut">
              <a:rPr lang="en-US" smtClean="0"/>
              <a:pPr>
                <a:defRPr/>
              </a:pPr>
              <a:t>3/23/2020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4C6ADA-1504-4291-A2C4-533E1D2E0AE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28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E2E72A5-4903-410D-8791-A372FD1F24FD}" type="datetimeFigureOut">
              <a:rPr lang="en-US" smtClean="0"/>
              <a:pPr>
                <a:defRPr/>
              </a:pPr>
              <a:t>3/23/2020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3AE5CF-A03A-4DBF-B1DB-DF3D5CB2024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852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FDD1508-1772-4A02-80CA-2EB513C787D2}" type="datetimeFigureOut">
              <a:rPr lang="en-US" smtClean="0"/>
              <a:pPr>
                <a:defRPr/>
              </a:pPr>
              <a:t>3/23/2020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B3ED1E-04D3-4624-AA03-F86959AA640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056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51E7AA6-C5F1-48F7-90D3-6DDD94D4EDA2}" type="datetimeFigureOut">
              <a:rPr lang="en-US" smtClean="0"/>
              <a:pPr>
                <a:defRPr/>
              </a:pPr>
              <a:t>3/23/2020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0B0EBB-2F9F-409B-93E8-4092BA6839E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67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16DCCC5-D01C-4F8B-9B0D-7F7EDD315DC6}" type="datetimeFigureOut">
              <a:rPr lang="en-US" smtClean="0"/>
              <a:pPr>
                <a:defRPr/>
              </a:pPr>
              <a:t>3/23/2020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C1EBEA3-F81C-42D0-B78D-3014A771B64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652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BE074C9-74CC-4DE2-B1F3-373E5E47989D}" type="datetimeFigureOut">
              <a:rPr lang="en-US" smtClean="0"/>
              <a:pPr>
                <a:defRPr/>
              </a:pPr>
              <a:t>3/23/2020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F5F67E-9C63-49F9-856D-181D3B7A99D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173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CD99824-1F69-4447-A1FA-885D9A971CFD}" type="datetimeFigureOut">
              <a:rPr lang="en-US" smtClean="0"/>
              <a:pPr>
                <a:defRPr/>
              </a:pPr>
              <a:t>3/23/2020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3F0F90-7C74-4A0B-8F64-E4025412BFD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68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96A6526-D663-48E6-9215-CEB195B25779}" type="datetimeFigureOut">
              <a:rPr lang="en-US" smtClean="0"/>
              <a:pPr>
                <a:defRPr/>
              </a:pPr>
              <a:t>3/23/2020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8A039B4-C0FB-4C68-9D23-BFF8BCD2816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808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78CB468-4193-42D6-A575-D53A1410C8CC}" type="datetimeFigureOut">
              <a:rPr lang="en-US" smtClean="0"/>
              <a:pPr>
                <a:defRPr/>
              </a:pPr>
              <a:t>3/23/2020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F5F4C108-F6EC-4FF6-A109-4D6046DA9A0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020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6" r:id="rId1"/>
    <p:sldLayoutId id="2147483967" r:id="rId2"/>
    <p:sldLayoutId id="2147483968" r:id="rId3"/>
    <p:sldLayoutId id="2147483969" r:id="rId4"/>
    <p:sldLayoutId id="2147483970" r:id="rId5"/>
    <p:sldLayoutId id="2147483971" r:id="rId6"/>
    <p:sldLayoutId id="2147483972" r:id="rId7"/>
    <p:sldLayoutId id="2147483973" r:id="rId8"/>
    <p:sldLayoutId id="2147483974" r:id="rId9"/>
    <p:sldLayoutId id="2147483975" r:id="rId10"/>
    <p:sldLayoutId id="2147483976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Subtitle 2"/>
          <p:cNvSpPr>
            <a:spLocks noGrp="1"/>
          </p:cNvSpPr>
          <p:nvPr>
            <p:ph type="subTitle" idx="1"/>
          </p:nvPr>
        </p:nvSpPr>
        <p:spPr>
          <a:xfrm>
            <a:off x="381000" y="4800600"/>
            <a:ext cx="8077200" cy="1500188"/>
          </a:xfrm>
        </p:spPr>
        <p:txBody>
          <a:bodyPr>
            <a:normAutofit/>
          </a:bodyPr>
          <a:lstStyle/>
          <a:p>
            <a:r>
              <a:rPr lang="en-US" sz="4400" dirty="0"/>
              <a:t>IP Addressing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29200" y="2438400"/>
            <a:ext cx="3733800" cy="167335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3200" dirty="0"/>
              <a:t>IT2402 </a:t>
            </a:r>
            <a:br>
              <a:rPr lang="en-US" sz="3200" dirty="0"/>
            </a:br>
            <a:r>
              <a:rPr lang="en-US" sz="3200" dirty="0"/>
              <a:t> Free and Open Source Software Solutions</a:t>
            </a:r>
          </a:p>
        </p:txBody>
      </p:sp>
    </p:spTree>
    <p:extLst>
      <p:ext uri="{BB962C8B-B14F-4D97-AF65-F5344CB8AC3E}">
        <p14:creationId xmlns:p14="http://schemas.microsoft.com/office/powerpoint/2010/main" val="3284371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7" name="Rectangle 3"/>
          <p:cNvSpPr>
            <a:spLocks noGrp="1" noChangeArrowheads="1"/>
          </p:cNvSpPr>
          <p:nvPr>
            <p:ph idx="1"/>
          </p:nvPr>
        </p:nvSpPr>
        <p:spPr>
          <a:xfrm>
            <a:off x="0" y="2743200"/>
            <a:ext cx="9144000" cy="3886200"/>
          </a:xfrm>
        </p:spPr>
        <p:txBody>
          <a:bodyPr/>
          <a:lstStyle/>
          <a:p>
            <a:pPr lvl="1" indent="0" algn="just">
              <a:lnSpc>
                <a:spcPts val="5600"/>
              </a:lnSpc>
            </a:pPr>
            <a:r>
              <a:rPr lang="en-US" sz="3600" dirty="0"/>
              <a:t> Hierarchical </a:t>
            </a:r>
          </a:p>
          <a:p>
            <a:pPr lvl="1" indent="0" algn="just">
              <a:lnSpc>
                <a:spcPts val="5600"/>
              </a:lnSpc>
            </a:pPr>
            <a:r>
              <a:rPr lang="en-US" sz="3200" dirty="0"/>
              <a:t> Made up of</a:t>
            </a:r>
          </a:p>
          <a:p>
            <a:pPr lvl="2" indent="0" algn="just">
              <a:lnSpc>
                <a:spcPts val="5600"/>
              </a:lnSpc>
            </a:pPr>
            <a:r>
              <a:rPr lang="en-US" sz="3200" dirty="0"/>
              <a:t> Network parts.</a:t>
            </a:r>
          </a:p>
          <a:p>
            <a:pPr lvl="2" indent="0" algn="just">
              <a:lnSpc>
                <a:spcPts val="5600"/>
              </a:lnSpc>
            </a:pPr>
            <a:r>
              <a:rPr lang="en-US" sz="3200" dirty="0"/>
              <a:t> Host parts.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4419600" cy="6052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71550" lvl="1" indent="-971550">
              <a:lnSpc>
                <a:spcPts val="4000"/>
              </a:lnSpc>
            </a:pPr>
            <a:r>
              <a:rPr lang="en-US" sz="3200" dirty="0"/>
              <a:t>1. I Pv4 addressing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752600"/>
            <a:ext cx="5867400" cy="6052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1" indent="-514350">
              <a:lnSpc>
                <a:spcPts val="4400"/>
              </a:lnSpc>
            </a:pPr>
            <a:r>
              <a:rPr lang="en-US" sz="3200" dirty="0"/>
              <a:t>1.1 Address format</a:t>
            </a:r>
          </a:p>
        </p:txBody>
      </p:sp>
    </p:spTree>
    <p:extLst>
      <p:ext uri="{BB962C8B-B14F-4D97-AF65-F5344CB8AC3E}">
        <p14:creationId xmlns:p14="http://schemas.microsoft.com/office/powerpoint/2010/main" val="27751276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028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066800" y="900447"/>
            <a:ext cx="7239000" cy="5076378"/>
          </a:xfrm>
          <a:noFill/>
          <a:ln/>
        </p:spPr>
      </p:pic>
      <p:sp>
        <p:nvSpPr>
          <p:cNvPr id="4" name="TextBox 3"/>
          <p:cNvSpPr txBox="1"/>
          <p:nvPr/>
        </p:nvSpPr>
        <p:spPr>
          <a:xfrm>
            <a:off x="2683101" y="6093852"/>
            <a:ext cx="4114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192.168.18.0/24</a:t>
            </a:r>
          </a:p>
        </p:txBody>
      </p:sp>
    </p:spTree>
    <p:extLst>
      <p:ext uri="{BB962C8B-B14F-4D97-AF65-F5344CB8AC3E}">
        <p14:creationId xmlns:p14="http://schemas.microsoft.com/office/powerpoint/2010/main" val="34323464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 l="42188" t="42708" r="21094" b="43750"/>
          <a:stretch>
            <a:fillRect/>
          </a:stretch>
        </p:blipFill>
        <p:spPr bwMode="auto">
          <a:xfrm>
            <a:off x="52754" y="3124200"/>
            <a:ext cx="9091246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0" y="1295400"/>
            <a:ext cx="4724400" cy="5621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-514350">
              <a:lnSpc>
                <a:spcPts val="4000"/>
              </a:lnSpc>
            </a:pPr>
            <a:r>
              <a:rPr lang="en-US" sz="3200" dirty="0"/>
              <a:t> Host portion</a:t>
            </a:r>
            <a:endParaRPr lang="en-US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2683101" y="6093852"/>
            <a:ext cx="4114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192.168.10.0/24</a:t>
            </a:r>
          </a:p>
        </p:txBody>
      </p:sp>
    </p:spTree>
    <p:extLst>
      <p:ext uri="{BB962C8B-B14F-4D97-AF65-F5344CB8AC3E}">
        <p14:creationId xmlns:p14="http://schemas.microsoft.com/office/powerpoint/2010/main" val="3615953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81200" y="1143000"/>
            <a:ext cx="497104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Network Prefixes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2209800"/>
            <a:ext cx="9144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4000" dirty="0"/>
              <a:t>How many bits represent the network portion and how many bits represent the host portion.? </a:t>
            </a:r>
          </a:p>
        </p:txBody>
      </p:sp>
    </p:spTree>
    <p:extLst>
      <p:ext uri="{BB962C8B-B14F-4D97-AF65-F5344CB8AC3E}">
        <p14:creationId xmlns:p14="http://schemas.microsoft.com/office/powerpoint/2010/main" val="1197570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 cstate="print"/>
          <a:srcRect l="39063" t="23958" r="10156" b="30208"/>
          <a:stretch>
            <a:fillRect/>
          </a:stretch>
        </p:blipFill>
        <p:spPr bwMode="auto">
          <a:xfrm>
            <a:off x="290955" y="723636"/>
            <a:ext cx="8610600" cy="58287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799902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 cstate="print"/>
          <a:srcRect l="32813" t="23958" r="21094" b="31250"/>
          <a:stretch>
            <a:fillRect/>
          </a:stretch>
        </p:blipFill>
        <p:spPr bwMode="auto">
          <a:xfrm>
            <a:off x="609595" y="749086"/>
            <a:ext cx="7938665" cy="57858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7024528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295400"/>
            <a:ext cx="9144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200" dirty="0"/>
              <a:t>172.16.4.10 /</a:t>
            </a:r>
            <a:r>
              <a:rPr lang="en-US" sz="3200" dirty="0">
                <a:solidFill>
                  <a:srgbClr val="FFC000"/>
                </a:solidFill>
              </a:rPr>
              <a:t>24 </a:t>
            </a:r>
          </a:p>
        </p:txBody>
      </p:sp>
      <p:sp>
        <p:nvSpPr>
          <p:cNvPr id="3" name="Rectangle 2"/>
          <p:cNvSpPr/>
          <p:nvPr/>
        </p:nvSpPr>
        <p:spPr>
          <a:xfrm>
            <a:off x="1676400" y="609600"/>
            <a:ext cx="499527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Network Address</a:t>
            </a:r>
          </a:p>
        </p:txBody>
      </p:sp>
      <p:grpSp>
        <p:nvGrpSpPr>
          <p:cNvPr id="18" name="Group 20"/>
          <p:cNvGrpSpPr/>
          <p:nvPr/>
        </p:nvGrpSpPr>
        <p:grpSpPr>
          <a:xfrm>
            <a:off x="0" y="1905000"/>
            <a:ext cx="8458200" cy="1524001"/>
            <a:chOff x="-110840" y="3276600"/>
            <a:chExt cx="9115964" cy="1943694"/>
          </a:xfrm>
        </p:grpSpPr>
        <p:sp>
          <p:nvSpPr>
            <p:cNvPr id="12" name="Rectangle 11"/>
            <p:cNvSpPr/>
            <p:nvPr/>
          </p:nvSpPr>
          <p:spPr>
            <a:xfrm>
              <a:off x="6730142" y="4454240"/>
              <a:ext cx="2274982" cy="73141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sz="3200" dirty="0"/>
                <a:t>00001010</a:t>
              </a:r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-110840" y="3276600"/>
              <a:ext cx="8022445" cy="1943694"/>
              <a:chOff x="-110840" y="3276600"/>
              <a:chExt cx="8022445" cy="1943694"/>
            </a:xfrm>
          </p:grpSpPr>
          <p:sp>
            <p:nvSpPr>
              <p:cNvPr id="4" name="Rectangle 3"/>
              <p:cNvSpPr/>
              <p:nvPr/>
            </p:nvSpPr>
            <p:spPr>
              <a:xfrm>
                <a:off x="304800" y="3505200"/>
                <a:ext cx="968535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n-US" sz="3200" dirty="0"/>
                  <a:t>172</a:t>
                </a:r>
              </a:p>
            </p:txBody>
          </p:sp>
          <p:sp>
            <p:nvSpPr>
              <p:cNvPr id="5" name="Rectangle 4"/>
              <p:cNvSpPr/>
              <p:nvPr/>
            </p:nvSpPr>
            <p:spPr>
              <a:xfrm>
                <a:off x="2819400" y="3512125"/>
                <a:ext cx="707245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n-US" sz="3200" dirty="0"/>
                  <a:t>16</a:t>
                </a:r>
              </a:p>
            </p:txBody>
          </p:sp>
          <p:sp>
            <p:nvSpPr>
              <p:cNvPr id="6" name="Rectangle 5"/>
              <p:cNvSpPr/>
              <p:nvPr/>
            </p:nvSpPr>
            <p:spPr>
              <a:xfrm>
                <a:off x="5257800" y="3519055"/>
                <a:ext cx="445956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n-US" sz="3200" dirty="0"/>
                  <a:t>4</a:t>
                </a:r>
              </a:p>
            </p:txBody>
          </p:sp>
          <p:sp>
            <p:nvSpPr>
              <p:cNvPr id="7" name="Rectangle 6"/>
              <p:cNvSpPr/>
              <p:nvPr/>
            </p:nvSpPr>
            <p:spPr>
              <a:xfrm>
                <a:off x="7204360" y="3429000"/>
                <a:ext cx="707245" cy="73141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n-US" sz="3200" dirty="0"/>
                  <a:t>10</a:t>
                </a:r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6172200" y="3276600"/>
                <a:ext cx="333746" cy="73141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n-US" sz="3200" dirty="0"/>
                  <a:t>.</a:t>
                </a:r>
              </a:p>
            </p:txBody>
          </p:sp>
          <p:sp>
            <p:nvSpPr>
              <p:cNvPr id="9" name="Rectangle 8"/>
              <p:cNvSpPr/>
              <p:nvPr/>
            </p:nvSpPr>
            <p:spPr>
              <a:xfrm>
                <a:off x="-110840" y="4488875"/>
                <a:ext cx="2274982" cy="73141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n-US" sz="3200" dirty="0">
                    <a:solidFill>
                      <a:srgbClr val="FFC000"/>
                    </a:solidFill>
                  </a:rPr>
                  <a:t>10101010</a:t>
                </a:r>
              </a:p>
            </p:txBody>
          </p:sp>
          <p:sp>
            <p:nvSpPr>
              <p:cNvPr id="10" name="Rectangle 9"/>
              <p:cNvSpPr/>
              <p:nvPr/>
            </p:nvSpPr>
            <p:spPr>
              <a:xfrm>
                <a:off x="2106557" y="4460477"/>
                <a:ext cx="2274982" cy="73141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n-US" sz="3200" dirty="0">
                    <a:solidFill>
                      <a:srgbClr val="FFC000"/>
                    </a:solidFill>
                  </a:rPr>
                  <a:t>00010000</a:t>
                </a:r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4454240" y="4461160"/>
                <a:ext cx="2274982" cy="73141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n-US" sz="3200" dirty="0">
                    <a:solidFill>
                      <a:srgbClr val="FFC000"/>
                    </a:solidFill>
                  </a:rPr>
                  <a:t>00001000</a:t>
                </a:r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1939635" y="4267200"/>
                <a:ext cx="370614" cy="89120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n-US" sz="4000" dirty="0"/>
                  <a:t>.</a:t>
                </a:r>
              </a:p>
            </p:txBody>
          </p:sp>
          <p:sp>
            <p:nvSpPr>
              <p:cNvPr id="14" name="Rectangle 13"/>
              <p:cNvSpPr/>
              <p:nvPr/>
            </p:nvSpPr>
            <p:spPr>
              <a:xfrm>
                <a:off x="4191000" y="4267200"/>
                <a:ext cx="370614" cy="89120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n-US" sz="4000" dirty="0"/>
                  <a:t>.</a:t>
                </a:r>
              </a:p>
            </p:txBody>
          </p:sp>
          <p:sp>
            <p:nvSpPr>
              <p:cNvPr id="15" name="Rectangle 14"/>
              <p:cNvSpPr/>
              <p:nvPr/>
            </p:nvSpPr>
            <p:spPr>
              <a:xfrm>
                <a:off x="6477000" y="4191000"/>
                <a:ext cx="370614" cy="89120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n-US" sz="4000" dirty="0"/>
                  <a:t>.</a:t>
                </a:r>
              </a:p>
            </p:txBody>
          </p:sp>
          <p:sp>
            <p:nvSpPr>
              <p:cNvPr id="16" name="Rectangle 15"/>
              <p:cNvSpPr/>
              <p:nvPr/>
            </p:nvSpPr>
            <p:spPr>
              <a:xfrm>
                <a:off x="1905000" y="3345870"/>
                <a:ext cx="333746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n-US" sz="3200" dirty="0"/>
                  <a:t>.</a:t>
                </a:r>
              </a:p>
            </p:txBody>
          </p:sp>
          <p:sp>
            <p:nvSpPr>
              <p:cNvPr id="17" name="Rectangle 16"/>
              <p:cNvSpPr/>
              <p:nvPr/>
            </p:nvSpPr>
            <p:spPr>
              <a:xfrm>
                <a:off x="4191000" y="3318160"/>
                <a:ext cx="333746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n-US" sz="3200" dirty="0"/>
                  <a:t>.</a:t>
                </a:r>
              </a:p>
            </p:txBody>
          </p:sp>
        </p:grpSp>
      </p:grpSp>
      <p:sp>
        <p:nvSpPr>
          <p:cNvPr id="24" name="Rectangle 23"/>
          <p:cNvSpPr/>
          <p:nvPr/>
        </p:nvSpPr>
        <p:spPr>
          <a:xfrm>
            <a:off x="0" y="3505200"/>
            <a:ext cx="914400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/>
              <a:t>Network address in binary</a:t>
            </a:r>
            <a:endParaRPr lang="en-US" sz="2800" dirty="0">
              <a:solidFill>
                <a:srgbClr val="FFC000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0" y="4800600"/>
            <a:ext cx="9144000" cy="6515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/>
              <a:t>Network address in decimal</a:t>
            </a:r>
            <a:endParaRPr lang="en-US" sz="2400" dirty="0">
              <a:solidFill>
                <a:srgbClr val="FFC000"/>
              </a:solidFill>
            </a:endParaRPr>
          </a:p>
        </p:txBody>
      </p:sp>
      <p:grpSp>
        <p:nvGrpSpPr>
          <p:cNvPr id="38" name="Group 37"/>
          <p:cNvGrpSpPr/>
          <p:nvPr/>
        </p:nvGrpSpPr>
        <p:grpSpPr>
          <a:xfrm>
            <a:off x="381000" y="5257800"/>
            <a:ext cx="4285416" cy="914400"/>
            <a:chOff x="1101460" y="5731259"/>
            <a:chExt cx="4285416" cy="1126741"/>
          </a:xfrm>
        </p:grpSpPr>
        <p:sp>
          <p:nvSpPr>
            <p:cNvPr id="26" name="Rectangle 25"/>
            <p:cNvSpPr/>
            <p:nvPr/>
          </p:nvSpPr>
          <p:spPr>
            <a:xfrm>
              <a:off x="1101460" y="5966794"/>
              <a:ext cx="1160895" cy="89120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sz="4000" dirty="0"/>
                <a:t>172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2320660" y="5842099"/>
              <a:ext cx="370614" cy="89120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sz="4000" dirty="0"/>
                <a:t>.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2625460" y="5966794"/>
              <a:ext cx="835485" cy="89120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sz="4000" dirty="0"/>
                <a:t>16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3962400" y="5966794"/>
              <a:ext cx="510076" cy="89120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sz="4000" dirty="0"/>
                <a:t>4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4876800" y="5966794"/>
              <a:ext cx="510076" cy="89120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sz="4000" dirty="0"/>
                <a:t>0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4495800" y="5731259"/>
              <a:ext cx="370614" cy="89120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sz="4000" dirty="0"/>
                <a:t>.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3505200" y="5765899"/>
              <a:ext cx="370614" cy="89120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sz="4000" dirty="0"/>
                <a:t>.</a:t>
              </a: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0" y="4003960"/>
            <a:ext cx="9115964" cy="869964"/>
            <a:chOff x="28036" y="4468090"/>
            <a:chExt cx="9115964" cy="869964"/>
          </a:xfrm>
        </p:grpSpPr>
        <p:sp>
          <p:nvSpPr>
            <p:cNvPr id="20" name="Rectangle 19"/>
            <p:cNvSpPr/>
            <p:nvPr/>
          </p:nvSpPr>
          <p:spPr>
            <a:xfrm>
              <a:off x="6869018" y="4572000"/>
              <a:ext cx="2274982" cy="73141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sz="3200" dirty="0"/>
                <a:t>00000000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28036" y="4606635"/>
              <a:ext cx="2274982" cy="73141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sz="3200" dirty="0">
                  <a:solidFill>
                    <a:srgbClr val="FFC000"/>
                  </a:solidFill>
                </a:rPr>
                <a:t>10101010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2307111" y="4599710"/>
              <a:ext cx="2274982" cy="73141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sz="3200" dirty="0">
                  <a:solidFill>
                    <a:srgbClr val="FFC000"/>
                  </a:solidFill>
                </a:rPr>
                <a:t>00010000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4593116" y="4578920"/>
              <a:ext cx="2274982" cy="73141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sz="3200" dirty="0">
                  <a:solidFill>
                    <a:srgbClr val="FFC000"/>
                  </a:solidFill>
                </a:rPr>
                <a:t>00001000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2105890" y="4495795"/>
              <a:ext cx="309664" cy="65156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sz="3200" dirty="0"/>
                <a:t>.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4343400" y="4488870"/>
              <a:ext cx="309664" cy="65156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sz="3200" dirty="0"/>
                <a:t>.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6664035" y="4468090"/>
              <a:ext cx="309664" cy="65156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sz="3200" dirty="0"/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993958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838200"/>
            <a:ext cx="9144000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4000" dirty="0"/>
              <a:t>Broadcast Address</a:t>
            </a:r>
          </a:p>
          <a:p>
            <a:pPr marL="515938" indent="-515938" algn="just">
              <a:lnSpc>
                <a:spcPct val="200000"/>
              </a:lnSpc>
              <a:buFont typeface="Arial" pitchFamily="34" charset="0"/>
              <a:buChar char="•"/>
            </a:pPr>
            <a:r>
              <a:rPr lang="en-US" sz="3200" dirty="0"/>
              <a:t>That allows communication to all the       hosts in that network. </a:t>
            </a:r>
          </a:p>
          <a:p>
            <a:pPr marL="515938" indent="-515938" algn="just">
              <a:lnSpc>
                <a:spcPct val="200000"/>
              </a:lnSpc>
              <a:buFont typeface="Arial" pitchFamily="34" charset="0"/>
              <a:buChar char="•"/>
            </a:pPr>
            <a:r>
              <a:rPr lang="en-US" sz="3200" dirty="0"/>
              <a:t>Uses the highest address in the network range.</a:t>
            </a:r>
          </a:p>
          <a:p>
            <a:pPr marL="515938" indent="-515938" algn="just">
              <a:lnSpc>
                <a:spcPct val="200000"/>
              </a:lnSpc>
              <a:buFont typeface="Arial" pitchFamily="34" charset="0"/>
              <a:buChar char="•"/>
            </a:pPr>
            <a:r>
              <a:rPr lang="en-US" sz="3200" dirty="0"/>
              <a:t>The bits in the host portion are all 1s.</a:t>
            </a:r>
          </a:p>
        </p:txBody>
      </p:sp>
    </p:spTree>
    <p:extLst>
      <p:ext uri="{BB962C8B-B14F-4D97-AF65-F5344CB8AC3E}">
        <p14:creationId xmlns:p14="http://schemas.microsoft.com/office/powerpoint/2010/main" val="18404614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 l="32813" t="22917" r="10156" b="22917"/>
          <a:stretch>
            <a:fillRect/>
          </a:stretch>
        </p:blipFill>
        <p:spPr bwMode="auto">
          <a:xfrm>
            <a:off x="464135" y="752133"/>
            <a:ext cx="7613065" cy="54230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2683101" y="6171126"/>
            <a:ext cx="31842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10.0.0.0/24</a:t>
            </a:r>
          </a:p>
        </p:txBody>
      </p:sp>
    </p:spTree>
    <p:extLst>
      <p:ext uri="{BB962C8B-B14F-4D97-AF65-F5344CB8AC3E}">
        <p14:creationId xmlns:p14="http://schemas.microsoft.com/office/powerpoint/2010/main" val="28266925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 l="32813" t="22917" r="10156" b="23958"/>
          <a:stretch>
            <a:fillRect/>
          </a:stretch>
        </p:blipFill>
        <p:spPr bwMode="auto">
          <a:xfrm>
            <a:off x="540336" y="807364"/>
            <a:ext cx="7460938" cy="52124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2683101" y="6171126"/>
            <a:ext cx="31842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10.0.0.0/24</a:t>
            </a:r>
          </a:p>
        </p:txBody>
      </p:sp>
    </p:spTree>
    <p:extLst>
      <p:ext uri="{BB962C8B-B14F-4D97-AF65-F5344CB8AC3E}">
        <p14:creationId xmlns:p14="http://schemas.microsoft.com/office/powerpoint/2010/main" val="27974392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 l="33594" t="26042" r="10801" b="42543"/>
          <a:stretch>
            <a:fillRect/>
          </a:stretch>
        </p:blipFill>
        <p:spPr bwMode="auto">
          <a:xfrm>
            <a:off x="96985" y="1884215"/>
            <a:ext cx="8915400" cy="37776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152400" y="990600"/>
            <a:ext cx="4191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Test yourself – Ex 01</a:t>
            </a:r>
          </a:p>
        </p:txBody>
      </p:sp>
    </p:spTree>
    <p:extLst>
      <p:ext uri="{BB962C8B-B14F-4D97-AF65-F5344CB8AC3E}">
        <p14:creationId xmlns:p14="http://schemas.microsoft.com/office/powerpoint/2010/main" val="15896088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 l="33594" t="27083" r="10156" b="42709"/>
          <a:stretch>
            <a:fillRect/>
          </a:stretch>
        </p:blipFill>
        <p:spPr bwMode="auto">
          <a:xfrm>
            <a:off x="49207" y="2500745"/>
            <a:ext cx="9080938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152400" y="990600"/>
            <a:ext cx="4191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Test yourself – Ex 02</a:t>
            </a:r>
          </a:p>
        </p:txBody>
      </p:sp>
    </p:spTree>
    <p:extLst>
      <p:ext uri="{BB962C8B-B14F-4D97-AF65-F5344CB8AC3E}">
        <p14:creationId xmlns:p14="http://schemas.microsoft.com/office/powerpoint/2010/main" val="28782324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 l="33594" t="27083" r="10937" b="42709"/>
          <a:stretch>
            <a:fillRect/>
          </a:stretch>
        </p:blipFill>
        <p:spPr bwMode="auto">
          <a:xfrm>
            <a:off x="2628" y="2133600"/>
            <a:ext cx="9141372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152400" y="990600"/>
            <a:ext cx="4191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Test yourself – Ex 04</a:t>
            </a:r>
          </a:p>
        </p:txBody>
      </p:sp>
    </p:spTree>
    <p:extLst>
      <p:ext uri="{BB962C8B-B14F-4D97-AF65-F5344CB8AC3E}">
        <p14:creationId xmlns:p14="http://schemas.microsoft.com/office/powerpoint/2010/main" val="8346904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 cstate="print"/>
          <a:srcRect l="32031" t="27474" r="9375" b="45833"/>
          <a:stretch>
            <a:fillRect/>
          </a:stretch>
        </p:blipFill>
        <p:spPr bwMode="auto">
          <a:xfrm>
            <a:off x="0" y="2133600"/>
            <a:ext cx="9144000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2133600" y="990600"/>
            <a:ext cx="487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IP Address Class</a:t>
            </a:r>
          </a:p>
        </p:txBody>
      </p:sp>
    </p:spTree>
    <p:extLst>
      <p:ext uri="{BB962C8B-B14F-4D97-AF65-F5344CB8AC3E}">
        <p14:creationId xmlns:p14="http://schemas.microsoft.com/office/powerpoint/2010/main" val="121641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762000"/>
            <a:ext cx="9144000" cy="41011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dirty="0"/>
              <a:t>Private Addresses</a:t>
            </a:r>
          </a:p>
          <a:p>
            <a:endParaRPr lang="en-US" dirty="0"/>
          </a:p>
          <a:p>
            <a:pPr>
              <a:lnSpc>
                <a:spcPct val="150000"/>
              </a:lnSpc>
            </a:pPr>
            <a:r>
              <a:rPr lang="en-US" sz="2700" dirty="0"/>
              <a:t>The private address blocks are:</a:t>
            </a:r>
          </a:p>
          <a:p>
            <a:pPr>
              <a:lnSpc>
                <a:spcPct val="150000"/>
              </a:lnSpc>
            </a:pPr>
            <a:endParaRPr lang="en-US" sz="2700" dirty="0"/>
          </a:p>
          <a:p>
            <a:pPr>
              <a:lnSpc>
                <a:spcPct val="150000"/>
              </a:lnSpc>
            </a:pPr>
            <a:r>
              <a:rPr lang="en-US" sz="2700" dirty="0"/>
              <a:t>10.0.0.0 to 10.255.255.255 (10.0.0.0 /8)</a:t>
            </a:r>
          </a:p>
          <a:p>
            <a:pPr>
              <a:lnSpc>
                <a:spcPct val="150000"/>
              </a:lnSpc>
            </a:pPr>
            <a:r>
              <a:rPr lang="en-US" sz="2700" dirty="0"/>
              <a:t>172.16.0.0 to 172.31.255.255 (172.16.0.0 /12)</a:t>
            </a:r>
          </a:p>
          <a:p>
            <a:pPr>
              <a:lnSpc>
                <a:spcPct val="150000"/>
              </a:lnSpc>
            </a:pPr>
            <a:r>
              <a:rPr lang="en-US" sz="2700" dirty="0"/>
              <a:t>192.168.0.0 to 192.168.255.255 (192.168.0.0 /16)</a:t>
            </a:r>
          </a:p>
        </p:txBody>
      </p:sp>
    </p:spTree>
    <p:extLst>
      <p:ext uri="{BB962C8B-B14F-4D97-AF65-F5344CB8AC3E}">
        <p14:creationId xmlns:p14="http://schemas.microsoft.com/office/powerpoint/2010/main" val="2801726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95600" y="838200"/>
            <a:ext cx="350769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/>
              <a:t>Class A Blocks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676400"/>
            <a:ext cx="9144000" cy="41352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600" dirty="0"/>
              <a:t>Class A IPv4 addresses used a fixed /8 prefix with the first octet to indicate the network address. The remaining three octets were used for host addresses. </a:t>
            </a:r>
          </a:p>
        </p:txBody>
      </p:sp>
    </p:spTree>
    <p:extLst>
      <p:ext uri="{BB962C8B-B14F-4D97-AF65-F5344CB8AC3E}">
        <p14:creationId xmlns:p14="http://schemas.microsoft.com/office/powerpoint/2010/main" val="19191226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95600" y="762000"/>
            <a:ext cx="350769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/>
              <a:t>Class B Blocks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9144000" cy="45295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/>
              <a:t>A class B IP address used the two high-order octets to indicate the network address. The other two octets specified host addresses. </a:t>
            </a:r>
          </a:p>
          <a:p>
            <a:pPr algn="just">
              <a:lnSpc>
                <a:spcPct val="150000"/>
              </a:lnSpc>
            </a:pPr>
            <a:r>
              <a:rPr lang="en-US" sz="2800" dirty="0"/>
              <a:t>For class B addresses, the most significant two bits of the high-order octet were 10. This restricted the address block for class B to 128.0.0.0 /16 to 191.255.0.0 /16. </a:t>
            </a:r>
          </a:p>
        </p:txBody>
      </p:sp>
    </p:spTree>
    <p:extLst>
      <p:ext uri="{BB962C8B-B14F-4D97-AF65-F5344CB8AC3E}">
        <p14:creationId xmlns:p14="http://schemas.microsoft.com/office/powerpoint/2010/main" val="6920290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95600" y="762000"/>
            <a:ext cx="351410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/>
              <a:t>Class C Blocks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447800"/>
            <a:ext cx="9144000" cy="51634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200" dirty="0"/>
              <a:t>Class C address blocks used a /24 prefix. This meant that a class C network used only the last octet as host addresses with the three high-order octets used to indicate the network address.</a:t>
            </a:r>
          </a:p>
          <a:p>
            <a:pPr algn="just">
              <a:lnSpc>
                <a:spcPct val="150000"/>
              </a:lnSpc>
            </a:pPr>
            <a:r>
              <a:rPr lang="en-US" sz="3200" dirty="0"/>
              <a:t>For class B addresses, the most significant two bits of the high-order octet were 110. </a:t>
            </a:r>
          </a:p>
        </p:txBody>
      </p:sp>
    </p:spTree>
    <p:extLst>
      <p:ext uri="{BB962C8B-B14F-4D97-AF65-F5344CB8AC3E}">
        <p14:creationId xmlns:p14="http://schemas.microsoft.com/office/powerpoint/2010/main" val="38806237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/>
          <a:srcRect l="32813" t="22917" r="9375" b="28125"/>
          <a:stretch>
            <a:fillRect/>
          </a:stretch>
        </p:blipFill>
        <p:spPr bwMode="auto">
          <a:xfrm>
            <a:off x="138540" y="775850"/>
            <a:ext cx="8839200" cy="5614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0570563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/>
          <a:srcRect l="28906" t="31862" r="58594" b="33333"/>
          <a:stretch>
            <a:fillRect/>
          </a:stretch>
        </p:blipFill>
        <p:spPr bwMode="auto">
          <a:xfrm>
            <a:off x="3124200" y="1600200"/>
            <a:ext cx="2349224" cy="4905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0" y="685800"/>
            <a:ext cx="8991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Test yourself – Identify the private and public </a:t>
            </a:r>
            <a:r>
              <a:rPr lang="en-US" sz="2800" dirty="0" err="1"/>
              <a:t>Ip</a:t>
            </a:r>
            <a:r>
              <a:rPr lang="en-US" sz="2800" dirty="0"/>
              <a:t> address given below.</a:t>
            </a:r>
          </a:p>
        </p:txBody>
      </p:sp>
    </p:spTree>
    <p:extLst>
      <p:ext uri="{BB962C8B-B14F-4D97-AF65-F5344CB8AC3E}">
        <p14:creationId xmlns:p14="http://schemas.microsoft.com/office/powerpoint/2010/main" val="39759466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 l="36719" t="21875" r="3125" b="38542"/>
          <a:stretch>
            <a:fillRect/>
          </a:stretch>
        </p:blipFill>
        <p:spPr bwMode="auto">
          <a:xfrm>
            <a:off x="0" y="1828800"/>
            <a:ext cx="9144000" cy="45126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2743200" y="838200"/>
            <a:ext cx="396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IPv6 Addresses</a:t>
            </a:r>
          </a:p>
        </p:txBody>
      </p:sp>
    </p:spTree>
    <p:extLst>
      <p:ext uri="{BB962C8B-B14F-4D97-AF65-F5344CB8AC3E}">
        <p14:creationId xmlns:p14="http://schemas.microsoft.com/office/powerpoint/2010/main" val="9207207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 l="36719" t="21875" r="3125" b="34375"/>
          <a:stretch>
            <a:fillRect/>
          </a:stretch>
        </p:blipFill>
        <p:spPr bwMode="auto">
          <a:xfrm>
            <a:off x="0" y="1447800"/>
            <a:ext cx="9118600" cy="49737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2743200" y="762000"/>
            <a:ext cx="396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IPv6 Addresses</a:t>
            </a:r>
          </a:p>
        </p:txBody>
      </p:sp>
    </p:spTree>
    <p:extLst>
      <p:ext uri="{BB962C8B-B14F-4D97-AF65-F5344CB8AC3E}">
        <p14:creationId xmlns:p14="http://schemas.microsoft.com/office/powerpoint/2010/main" val="297814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 t="21757" r="67188" b="61123"/>
          <a:stretch>
            <a:fillRect/>
          </a:stretch>
        </p:blipFill>
        <p:spPr bwMode="auto">
          <a:xfrm>
            <a:off x="-8165" y="1981200"/>
            <a:ext cx="9152165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2743200" y="838200"/>
            <a:ext cx="396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IPv6 Addresses</a:t>
            </a:r>
          </a:p>
        </p:txBody>
      </p:sp>
    </p:spTree>
    <p:extLst>
      <p:ext uri="{BB962C8B-B14F-4D97-AF65-F5344CB8AC3E}">
        <p14:creationId xmlns:p14="http://schemas.microsoft.com/office/powerpoint/2010/main" val="33771868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 l="36719" t="30156" r="3125" b="32292"/>
          <a:stretch>
            <a:fillRect/>
          </a:stretch>
        </p:blipFill>
        <p:spPr bwMode="auto">
          <a:xfrm>
            <a:off x="0" y="2362200"/>
            <a:ext cx="9144000" cy="4281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 l="39844" t="39999" r="7156" b="51685"/>
          <a:stretch>
            <a:fillRect/>
          </a:stretch>
        </p:blipFill>
        <p:spPr bwMode="auto">
          <a:xfrm>
            <a:off x="1" y="1286191"/>
            <a:ext cx="9144000" cy="1076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2743200" y="685800"/>
            <a:ext cx="396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IPv6 Addresses</a:t>
            </a:r>
          </a:p>
        </p:txBody>
      </p:sp>
    </p:spTree>
    <p:extLst>
      <p:ext uri="{BB962C8B-B14F-4D97-AF65-F5344CB8AC3E}">
        <p14:creationId xmlns:p14="http://schemas.microsoft.com/office/powerpoint/2010/main" val="28194953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 cstate="print"/>
          <a:srcRect t="35111" r="67188" b="28125"/>
          <a:stretch>
            <a:fillRect/>
          </a:stretch>
        </p:blipFill>
        <p:spPr bwMode="auto">
          <a:xfrm>
            <a:off x="1447800" y="1295400"/>
            <a:ext cx="6096000" cy="5234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2286000" y="685800"/>
            <a:ext cx="396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IPv6 Addresses</a:t>
            </a:r>
          </a:p>
        </p:txBody>
      </p:sp>
    </p:spTree>
    <p:extLst>
      <p:ext uri="{BB962C8B-B14F-4D97-AF65-F5344CB8AC3E}">
        <p14:creationId xmlns:p14="http://schemas.microsoft.com/office/powerpoint/2010/main" val="16516768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 l="37356" t="21875" r="7874" b="53125"/>
          <a:stretch>
            <a:fillRect/>
          </a:stretch>
        </p:blipFill>
        <p:spPr bwMode="auto">
          <a:xfrm>
            <a:off x="18047" y="2286000"/>
            <a:ext cx="9125953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2743200" y="838200"/>
            <a:ext cx="396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IPv6 Addresses</a:t>
            </a:r>
          </a:p>
        </p:txBody>
      </p:sp>
    </p:spTree>
    <p:extLst>
      <p:ext uri="{BB962C8B-B14F-4D97-AF65-F5344CB8AC3E}">
        <p14:creationId xmlns:p14="http://schemas.microsoft.com/office/powerpoint/2010/main" val="17583367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 l="39844" t="39999" r="7156" b="39583"/>
          <a:stretch>
            <a:fillRect/>
          </a:stretch>
        </p:blipFill>
        <p:spPr bwMode="auto">
          <a:xfrm>
            <a:off x="78259" y="2819400"/>
            <a:ext cx="9065741" cy="26193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2667000" y="990600"/>
            <a:ext cx="396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IPv6 Addresses</a:t>
            </a:r>
          </a:p>
        </p:txBody>
      </p:sp>
    </p:spTree>
    <p:extLst>
      <p:ext uri="{BB962C8B-B14F-4D97-AF65-F5344CB8AC3E}">
        <p14:creationId xmlns:p14="http://schemas.microsoft.com/office/powerpoint/2010/main" val="2613739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 t="22261" r="67188" b="45573"/>
          <a:stretch>
            <a:fillRect/>
          </a:stretch>
        </p:blipFill>
        <p:spPr bwMode="auto">
          <a:xfrm>
            <a:off x="685800" y="990600"/>
            <a:ext cx="7151239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9978776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 l="33594" t="39583" r="10156" b="35417"/>
          <a:stretch>
            <a:fillRect/>
          </a:stretch>
        </p:blipFill>
        <p:spPr bwMode="auto">
          <a:xfrm>
            <a:off x="0" y="2590800"/>
            <a:ext cx="9144000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2667000" y="838200"/>
            <a:ext cx="396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IPv6 Addresses</a:t>
            </a:r>
          </a:p>
        </p:txBody>
      </p:sp>
    </p:spTree>
    <p:extLst>
      <p:ext uri="{BB962C8B-B14F-4D97-AF65-F5344CB8AC3E}">
        <p14:creationId xmlns:p14="http://schemas.microsoft.com/office/powerpoint/2010/main" val="5122628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 t="21792" r="67188" b="61370"/>
          <a:stretch>
            <a:fillRect/>
          </a:stretch>
        </p:blipFill>
        <p:spPr bwMode="auto">
          <a:xfrm>
            <a:off x="0" y="2362200"/>
            <a:ext cx="9107448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2667000" y="877669"/>
            <a:ext cx="396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IPv6 Addresses</a:t>
            </a:r>
          </a:p>
        </p:txBody>
      </p:sp>
    </p:spTree>
    <p:extLst>
      <p:ext uri="{BB962C8B-B14F-4D97-AF65-F5344CB8AC3E}">
        <p14:creationId xmlns:p14="http://schemas.microsoft.com/office/powerpoint/2010/main" val="32380818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2" cstate="print"/>
          <a:srcRect l="4183" t="20946" r="67188" b="57191"/>
          <a:stretch>
            <a:fillRect/>
          </a:stretch>
        </p:blipFill>
        <p:spPr bwMode="auto">
          <a:xfrm>
            <a:off x="222377" y="1458873"/>
            <a:ext cx="8921623" cy="51100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2667000" y="838200"/>
            <a:ext cx="396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IPv6 Addresses</a:t>
            </a:r>
          </a:p>
        </p:txBody>
      </p:sp>
    </p:spTree>
    <p:extLst>
      <p:ext uri="{BB962C8B-B14F-4D97-AF65-F5344CB8AC3E}">
        <p14:creationId xmlns:p14="http://schemas.microsoft.com/office/powerpoint/2010/main" val="17015293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2" cstate="print"/>
          <a:srcRect l="4183" t="42809" r="67188" b="18750"/>
          <a:stretch>
            <a:fillRect/>
          </a:stretch>
        </p:blipFill>
        <p:spPr bwMode="auto">
          <a:xfrm>
            <a:off x="1752600" y="1295400"/>
            <a:ext cx="5221031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2667000" y="685800"/>
            <a:ext cx="396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IPv6 Addresses</a:t>
            </a:r>
          </a:p>
        </p:txBody>
      </p:sp>
    </p:spTree>
    <p:extLst>
      <p:ext uri="{BB962C8B-B14F-4D97-AF65-F5344CB8AC3E}">
        <p14:creationId xmlns:p14="http://schemas.microsoft.com/office/powerpoint/2010/main" val="41795240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/>
          <a:srcRect t="49276" r="67188" b="20833"/>
          <a:stretch>
            <a:fillRect/>
          </a:stretch>
        </p:blipFill>
        <p:spPr bwMode="auto">
          <a:xfrm>
            <a:off x="685800" y="1295400"/>
            <a:ext cx="7848600" cy="53623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2438400" y="762000"/>
            <a:ext cx="396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IPv6 Addresses</a:t>
            </a:r>
          </a:p>
        </p:txBody>
      </p:sp>
    </p:spTree>
    <p:extLst>
      <p:ext uri="{BB962C8B-B14F-4D97-AF65-F5344CB8AC3E}">
        <p14:creationId xmlns:p14="http://schemas.microsoft.com/office/powerpoint/2010/main" val="12224952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/>
          <a:srcRect l="37500" t="21875" r="3125" b="44792"/>
          <a:stretch>
            <a:fillRect/>
          </a:stretch>
        </p:blipFill>
        <p:spPr bwMode="auto">
          <a:xfrm>
            <a:off x="0" y="1676400"/>
            <a:ext cx="9144000" cy="38501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2667000" y="685800"/>
            <a:ext cx="396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IPv6 Addresses</a:t>
            </a:r>
          </a:p>
        </p:txBody>
      </p:sp>
    </p:spTree>
    <p:extLst>
      <p:ext uri="{BB962C8B-B14F-4D97-AF65-F5344CB8AC3E}">
        <p14:creationId xmlns:p14="http://schemas.microsoft.com/office/powerpoint/2010/main" val="39168646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 cstate="print"/>
          <a:srcRect t="22775" r="67188" b="39352"/>
          <a:stretch>
            <a:fillRect/>
          </a:stretch>
        </p:blipFill>
        <p:spPr bwMode="auto">
          <a:xfrm>
            <a:off x="1371600" y="1295400"/>
            <a:ext cx="6161720" cy="533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2667000" y="685800"/>
            <a:ext cx="396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IPv6 Addresses</a:t>
            </a:r>
          </a:p>
        </p:txBody>
      </p:sp>
    </p:spTree>
    <p:extLst>
      <p:ext uri="{BB962C8B-B14F-4D97-AF65-F5344CB8AC3E}">
        <p14:creationId xmlns:p14="http://schemas.microsoft.com/office/powerpoint/2010/main" val="24297800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3955" y="1981200"/>
            <a:ext cx="8686800" cy="3733800"/>
          </a:xfrm>
        </p:spPr>
        <p:txBody>
          <a:bodyPr/>
          <a:lstStyle/>
          <a:p>
            <a:pPr>
              <a:buNone/>
            </a:pPr>
            <a:r>
              <a:rPr lang="en-US" dirty="0"/>
              <a:t>Enabling IPV6 in WINXP</a:t>
            </a:r>
          </a:p>
          <a:p>
            <a:pPr>
              <a:buNone/>
            </a:pPr>
            <a:r>
              <a:rPr lang="en-US" dirty="0"/>
              <a:t>	C:&gt;</a:t>
            </a:r>
            <a:r>
              <a:rPr lang="en-US" dirty="0" err="1"/>
              <a:t>nesh</a:t>
            </a:r>
            <a:r>
              <a:rPr lang="en-US" dirty="0"/>
              <a:t> </a:t>
            </a:r>
            <a:r>
              <a:rPr lang="en-US" dirty="0" err="1"/>
              <a:t>int</a:t>
            </a:r>
            <a:r>
              <a:rPr lang="en-US" dirty="0"/>
              <a:t> ipv6 install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Disabling IPV6 in WINXP</a:t>
            </a:r>
          </a:p>
          <a:p>
            <a:pPr>
              <a:buNone/>
            </a:pPr>
            <a:r>
              <a:rPr lang="en-US" dirty="0"/>
              <a:t>	C:&gt;</a:t>
            </a:r>
            <a:r>
              <a:rPr lang="en-US" dirty="0" err="1"/>
              <a:t>nesh</a:t>
            </a:r>
            <a:r>
              <a:rPr lang="en-US" dirty="0"/>
              <a:t> </a:t>
            </a:r>
            <a:r>
              <a:rPr lang="en-US" dirty="0" err="1"/>
              <a:t>int</a:t>
            </a:r>
            <a:r>
              <a:rPr lang="en-US" dirty="0"/>
              <a:t> ipv6 uninstall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667000" y="1066800"/>
            <a:ext cx="396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IPv6 Addresses</a:t>
            </a:r>
          </a:p>
        </p:txBody>
      </p:sp>
    </p:spTree>
    <p:extLst>
      <p:ext uri="{BB962C8B-B14F-4D97-AF65-F5344CB8AC3E}">
        <p14:creationId xmlns:p14="http://schemas.microsoft.com/office/powerpoint/2010/main" val="256957211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3886200" y="2971800"/>
            <a:ext cx="1752600" cy="1250950"/>
          </a:xfrm>
        </p:spPr>
        <p:txBody>
          <a:bodyPr/>
          <a:lstStyle/>
          <a:p>
            <a:r>
              <a:rPr lang="en-US" dirty="0"/>
              <a:t>END.</a:t>
            </a:r>
          </a:p>
        </p:txBody>
      </p:sp>
    </p:spTree>
    <p:extLst>
      <p:ext uri="{BB962C8B-B14F-4D97-AF65-F5344CB8AC3E}">
        <p14:creationId xmlns:p14="http://schemas.microsoft.com/office/powerpoint/2010/main" val="1457809355"/>
      </p:ext>
    </p:extLst>
  </p:cSld>
  <p:clrMapOvr>
    <a:masterClrMapping/>
  </p:clrMapOvr>
</p:sld>
</file>

<file path=ppt/theme/theme1.xml><?xml version="1.0" encoding="utf-8"?>
<a:theme xmlns:a="http://schemas.openxmlformats.org/drawingml/2006/main" name="moodle2019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odle2019" id="{706F3948-5CF7-4044-AB3D-3E6D4A39D46D}" vid="{08034E9D-67D0-4A4F-A8FE-36E87C6CF4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moodle2019</Template>
  <TotalTime>5270</TotalTime>
  <Words>399</Words>
  <Application>Microsoft Office PowerPoint</Application>
  <PresentationFormat>On-screen Show (4:3)</PresentationFormat>
  <Paragraphs>92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moodle2019</vt:lpstr>
      <vt:lpstr>IT2402   Free and Open Source Software Solutions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END.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Server side programming</dc:title>
  <dc:creator>tfn</dc:creator>
  <cp:lastModifiedBy>USER</cp:lastModifiedBy>
  <cp:revision>545</cp:revision>
  <dcterms:created xsi:type="dcterms:W3CDTF">2009-08-27T14:05:17Z</dcterms:created>
  <dcterms:modified xsi:type="dcterms:W3CDTF">2020-03-23T11:52:30Z</dcterms:modified>
</cp:coreProperties>
</file>