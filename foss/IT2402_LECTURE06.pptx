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>
      <p:cViewPr varScale="1">
        <p:scale>
          <a:sx n="74" d="100"/>
          <a:sy n="74" d="100"/>
        </p:scale>
        <p:origin x="129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E3A893-B5F1-4FD3-A873-F93377500652}" type="datetimeFigureOut">
              <a:rPr lang="en-US" smtClean="0"/>
              <a:t>2/6/2020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CA47-3FA1-43C7-A48B-2DF65316D2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561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57400"/>
            <a:ext cx="9144000" cy="2566851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5F6D2-44A6-457E-BECE-6EFF2E06D04D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5431" y="4800600"/>
            <a:ext cx="8696169" cy="609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Chapter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53000" y="2362201"/>
            <a:ext cx="3886200" cy="1981199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Course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127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177BC-5467-467A-9DA3-B36D212AFEB4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172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37E63-2ACC-411F-8977-D58F3645160C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410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B2414-6792-482A-AD03-3CA81E6C7630}" type="datetime1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156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275C5-E551-4C52-9147-A739B214D717}" type="datetime1">
              <a:rPr lang="en-US" smtClean="0"/>
              <a:t>2/6/2020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61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5DC2-1AAD-48DC-815B-7318792DF083}" type="datetime1">
              <a:rPr lang="en-US" smtClean="0"/>
              <a:t>2/6/2020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196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A79A1-2276-47B6-AE5C-6DB52AE75E8F}" type="datetime1">
              <a:rPr lang="en-US" smtClean="0"/>
              <a:t>2/6/2020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640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54252-1634-4670-8E6F-AE6A2AAED8E7}" type="datetime1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32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38E7D-B6B3-4F0B-B48C-58493EDA00AF}" type="datetime1">
              <a:rPr lang="en-US" smtClean="0"/>
              <a:t>2/6/2020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718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B7099-F393-4D20-9E41-17196A194003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7744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44F421-DC7A-480A-B934-3EA640F67BD0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221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38A681-5811-4208-8697-90B98D709A8E}" type="datetime1">
              <a:rPr lang="en-US" smtClean="0"/>
              <a:t>2/6/2020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205F43-80E2-4640-A934-E79BFFCB5CA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38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LINUX SECURITY MODEL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="" xmlns:a16="http://schemas.microsoft.com/office/drawing/2014/main" id="{9AF81947-8A8B-4A01-89A7-99D906642B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3000" y="2362200"/>
            <a:ext cx="3886200" cy="1981200"/>
          </a:xfrm>
        </p:spPr>
        <p:txBody>
          <a:bodyPr>
            <a:noAutofit/>
          </a:bodyPr>
          <a:lstStyle/>
          <a:p>
            <a:r>
              <a:rPr lang="en-US" sz="3600" dirty="0"/>
              <a:t>IT2402-Free and Open Source Software Solutions</a:t>
            </a:r>
          </a:p>
        </p:txBody>
      </p:sp>
    </p:spTree>
    <p:extLst>
      <p:ext uri="{BB962C8B-B14F-4D97-AF65-F5344CB8AC3E}">
        <p14:creationId xmlns:p14="http://schemas.microsoft.com/office/powerpoint/2010/main" val="3578411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File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Types of file permissions</a:t>
            </a:r>
          </a:p>
          <a:p>
            <a:pPr lvl="1"/>
            <a:r>
              <a:rPr lang="en-US" dirty="0" smtClean="0"/>
              <a:t>Read (r)</a:t>
            </a:r>
          </a:p>
          <a:p>
            <a:pPr lvl="1"/>
            <a:r>
              <a:rPr lang="en-US" dirty="0" smtClean="0"/>
              <a:t>Write (w)</a:t>
            </a:r>
          </a:p>
          <a:p>
            <a:pPr lvl="1"/>
            <a:r>
              <a:rPr lang="en-US" dirty="0" smtClean="0"/>
              <a:t>Execute (x)</a:t>
            </a:r>
          </a:p>
          <a:p>
            <a:endParaRPr lang="en-US" dirty="0"/>
          </a:p>
          <a:p>
            <a:r>
              <a:rPr lang="en-US" dirty="0" smtClean="0"/>
              <a:t>Try to display level of permission for items</a:t>
            </a:r>
          </a:p>
          <a:p>
            <a:pPr marL="457200" lvl="1" indent="0">
              <a:buNone/>
            </a:pPr>
            <a:r>
              <a:rPr lang="en-US" dirty="0" err="1"/>
              <a:t>l</a:t>
            </a:r>
            <a:r>
              <a:rPr lang="en-US" dirty="0" err="1" smtClean="0"/>
              <a:t>s</a:t>
            </a:r>
            <a:r>
              <a:rPr lang="en-US" dirty="0" smtClean="0"/>
              <a:t> -l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1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Sections of a file/directory permission</a:t>
            </a:r>
            <a:endParaRPr lang="en-US" dirty="0"/>
          </a:p>
        </p:txBody>
      </p:sp>
      <p:graphicFrame>
        <p:nvGraphicFramePr>
          <p:cNvPr id="7" name="Object 6"/>
          <p:cNvGraphicFramePr>
            <a:graphicFrameLocks noGrp="1" noChangeAspect="1"/>
          </p:cNvGraphicFramePr>
          <p:nvPr>
            <p:extLst>
              <p:ext uri="{D42A27DB-BD31-4B8C-83A1-F6EECF244321}">
                <p14:modId xmlns:p14="http://schemas.microsoft.com/office/powerpoint/2010/main" val="2765072893"/>
              </p:ext>
            </p:extLst>
          </p:nvPr>
        </p:nvGraphicFramePr>
        <p:xfrm>
          <a:off x="1447800" y="1752600"/>
          <a:ext cx="5410200" cy="27076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" name="Bitmap Image" r:id="rId3" imgW="6095880" imgH="3629160" progId="Paint.Picture">
                  <p:embed/>
                </p:oleObj>
              </mc:Choice>
              <mc:Fallback>
                <p:oleObj name="Bitmap Image" r:id="rId3" imgW="6095880" imgH="3629160" progId="Paint.Picture">
                  <p:embed/>
                  <p:pic>
                    <p:nvPicPr>
                      <p:cNvPr id="0" name="Object 4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1752600"/>
                        <a:ext cx="5410200" cy="27076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3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950890" y="4038600"/>
            <a:ext cx="7696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Permission determines the level of access to the resources</a:t>
            </a:r>
          </a:p>
          <a:p>
            <a:endParaRPr lang="en-US" sz="2400" dirty="0" smtClean="0"/>
          </a:p>
          <a:p>
            <a:r>
              <a:rPr lang="en-US" sz="2400" dirty="0" smtClean="0"/>
              <a:t>Each resource( </a:t>
            </a:r>
            <a:r>
              <a:rPr lang="en-US" sz="2400" dirty="0"/>
              <a:t>file / </a:t>
            </a:r>
            <a:r>
              <a:rPr lang="en-US" sz="2400" dirty="0" smtClean="0"/>
              <a:t>directory) </a:t>
            </a:r>
            <a:r>
              <a:rPr lang="en-US" sz="2400" dirty="0"/>
              <a:t>has an owner &amp; a </a:t>
            </a:r>
            <a:r>
              <a:rPr lang="en-US" sz="2400" dirty="0" smtClean="0"/>
              <a:t>group</a:t>
            </a:r>
          </a:p>
          <a:p>
            <a:endParaRPr lang="en-US" sz="2400" dirty="0" smtClean="0"/>
          </a:p>
          <a:p>
            <a:r>
              <a:rPr lang="en-US" sz="2400" dirty="0" smtClean="0"/>
              <a:t>Owner and group is identified by </a:t>
            </a:r>
            <a:r>
              <a:rPr lang="en-US" sz="2400" dirty="0" err="1" smtClean="0"/>
              <a:t>uid</a:t>
            </a:r>
            <a:r>
              <a:rPr lang="en-US" sz="2400" dirty="0" smtClean="0"/>
              <a:t> &amp; </a:t>
            </a:r>
            <a:r>
              <a:rPr lang="en-US" sz="2400" dirty="0" err="1" smtClean="0"/>
              <a:t>gid</a:t>
            </a:r>
            <a:r>
              <a:rPr lang="en-US" sz="2400" dirty="0" smtClean="0"/>
              <a:t> associated with it</a:t>
            </a:r>
          </a:p>
        </p:txBody>
      </p:sp>
    </p:spTree>
    <p:extLst>
      <p:ext uri="{BB962C8B-B14F-4D97-AF65-F5344CB8AC3E}">
        <p14:creationId xmlns:p14="http://schemas.microsoft.com/office/powerpoint/2010/main" val="2444392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4</a:t>
            </a:fld>
            <a:endParaRPr lang="en-US"/>
          </a:p>
        </p:txBody>
      </p: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648890" y="1997225"/>
            <a:ext cx="7848600" cy="2795913"/>
            <a:chOff x="336" y="2239"/>
            <a:chExt cx="4994" cy="1222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386" y="2239"/>
              <a:ext cx="4944" cy="588"/>
            </a:xfrm>
            <a:prstGeom prst="rect">
              <a:avLst/>
            </a:prstGeom>
            <a:solidFill>
              <a:srgbClr val="C0C0C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4400" b="1" dirty="0">
                  <a:solidFill>
                    <a:schemeClr val="tx1"/>
                  </a:solidFill>
                  <a:latin typeface="Courier New" pitchFamily="49" charset="0"/>
                </a:rPr>
                <a:t>d </a:t>
              </a:r>
              <a:r>
                <a:rPr lang="en-US" sz="4400" b="1" dirty="0">
                  <a:solidFill>
                    <a:srgbClr val="FF0000"/>
                  </a:solidFill>
                  <a:latin typeface="Courier New" pitchFamily="49" charset="0"/>
                </a:rPr>
                <a:t>r w x</a:t>
              </a:r>
              <a:r>
                <a:rPr lang="en-US" sz="4400" b="1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n-US" sz="4400" b="1" dirty="0">
                  <a:solidFill>
                    <a:srgbClr val="FFFF00"/>
                  </a:solidFill>
                  <a:latin typeface="Courier New" pitchFamily="49" charset="0"/>
                </a:rPr>
                <a:t>r – x</a:t>
              </a:r>
              <a:r>
                <a:rPr lang="en-US" sz="4400" b="1" dirty="0">
                  <a:solidFill>
                    <a:schemeClr val="tx1"/>
                  </a:solidFill>
                  <a:latin typeface="Courier New" pitchFamily="49" charset="0"/>
                </a:rPr>
                <a:t> </a:t>
              </a:r>
              <a:r>
                <a:rPr lang="en-US" sz="4400" b="1" dirty="0">
                  <a:solidFill>
                    <a:srgbClr val="00B050"/>
                  </a:solidFill>
                  <a:latin typeface="Courier New" pitchFamily="49" charset="0"/>
                </a:rPr>
                <a:t>r - x</a:t>
              </a: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336" y="3179"/>
              <a:ext cx="970" cy="202"/>
            </a:xfrm>
            <a:prstGeom prst="rect">
              <a:avLst/>
            </a:prstGeom>
            <a:solidFill>
              <a:srgbClr val="FFCC99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b="1" dirty="0">
                  <a:solidFill>
                    <a:schemeClr val="tx1"/>
                  </a:solidFill>
                  <a:latin typeface="Arial" charset="0"/>
                </a:rPr>
                <a:t>File Type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1357" y="3178"/>
              <a:ext cx="1087" cy="28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 err="1">
                  <a:solidFill>
                    <a:schemeClr val="tx1"/>
                  </a:solidFill>
                  <a:latin typeface="Arial" charset="0"/>
                </a:rPr>
                <a:t>UID</a:t>
              </a:r>
              <a:r>
                <a:rPr lang="en-US" b="1" dirty="0">
                  <a:solidFill>
                    <a:schemeClr val="tx1"/>
                  </a:solidFill>
                  <a:latin typeface="Arial" charset="0"/>
                </a:rPr>
                <a:t> = Owner </a:t>
              </a:r>
              <a:r>
                <a:rPr lang="en-US" b="1" dirty="0" smtClean="0">
                  <a:solidFill>
                    <a:schemeClr val="tx1"/>
                  </a:solidFill>
                  <a:latin typeface="Arial" charset="0"/>
                </a:rPr>
                <a:t>Permissions</a:t>
              </a:r>
              <a:endParaRPr lang="en-US" b="1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712" y="3179"/>
              <a:ext cx="984" cy="28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b="1" dirty="0" err="1">
                  <a:solidFill>
                    <a:schemeClr val="tx1"/>
                  </a:solidFill>
                  <a:latin typeface="Arial" charset="0"/>
                </a:rPr>
                <a:t>GID</a:t>
              </a:r>
              <a:r>
                <a:rPr lang="en-US" b="1" dirty="0">
                  <a:solidFill>
                    <a:schemeClr val="tx1"/>
                  </a:solidFill>
                  <a:latin typeface="Arial" charset="0"/>
                </a:rPr>
                <a:t> = Group </a:t>
              </a:r>
              <a:r>
                <a:rPr lang="en-US" b="1" dirty="0" smtClean="0">
                  <a:solidFill>
                    <a:schemeClr val="tx1"/>
                  </a:solidFill>
                  <a:latin typeface="Arial" charset="0"/>
                </a:rPr>
                <a:t>Permission</a:t>
              </a:r>
              <a:endParaRPr lang="en-US" b="1" dirty="0">
                <a:solidFill>
                  <a:schemeClr val="tx1"/>
                </a:solidFill>
                <a:latin typeface="Arial" charset="0"/>
              </a:endParaRP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744" y="3182"/>
              <a:ext cx="1440" cy="259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600" b="1" dirty="0">
                  <a:solidFill>
                    <a:schemeClr val="tx1"/>
                  </a:solidFill>
                  <a:latin typeface="Arial" charset="0"/>
                </a:rPr>
                <a:t>Others Permissions</a:t>
              </a: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 flipV="1">
              <a:off x="885" y="2533"/>
              <a:ext cx="0" cy="5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 flipH="1" flipV="1">
              <a:off x="1824" y="2515"/>
              <a:ext cx="1" cy="664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Line 11"/>
          <p:cNvSpPr>
            <a:spLocks noChangeShapeType="1"/>
          </p:cNvSpPr>
          <p:nvPr/>
        </p:nvSpPr>
        <p:spPr bwMode="auto">
          <a:xfrm flipV="1">
            <a:off x="4876800" y="2628709"/>
            <a:ext cx="0" cy="1526084"/>
          </a:xfrm>
          <a:prstGeom prst="line">
            <a:avLst/>
          </a:prstGeom>
          <a:noFill/>
          <a:ln w="9525">
            <a:solidFill>
              <a:srgbClr val="FFFF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2" name="Line 11"/>
          <p:cNvSpPr>
            <a:spLocks noChangeShapeType="1"/>
          </p:cNvSpPr>
          <p:nvPr/>
        </p:nvSpPr>
        <p:spPr bwMode="auto">
          <a:xfrm flipV="1">
            <a:off x="7010400" y="2514600"/>
            <a:ext cx="0" cy="1640193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77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741" y="228600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Files &amp; </a:t>
            </a:r>
            <a:r>
              <a:rPr lang="en-US" dirty="0" smtClean="0"/>
              <a:t>Directory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295400"/>
            <a:ext cx="8229600" cy="4221163"/>
          </a:xfrm>
        </p:spPr>
        <p:txBody>
          <a:bodyPr/>
          <a:lstStyle/>
          <a:p>
            <a:r>
              <a:rPr lang="en-US" dirty="0"/>
              <a:t>Default file          =   - r w - r w - r - -</a:t>
            </a:r>
          </a:p>
          <a:p>
            <a:r>
              <a:rPr lang="en-US" dirty="0"/>
              <a:t>Default directory =   d r w x r w x r - x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104" descr="perm typ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380445"/>
            <a:ext cx="8229600" cy="4297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34764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762000"/>
          </a:xfrm>
        </p:spPr>
        <p:txBody>
          <a:bodyPr/>
          <a:lstStyle/>
          <a:p>
            <a:r>
              <a:rPr lang="en-US" dirty="0" smtClean="0"/>
              <a:t>Assigning Permission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/>
          </a:bodyPr>
          <a:lstStyle/>
          <a:p>
            <a:r>
              <a:rPr lang="en-US" dirty="0" smtClean="0"/>
              <a:t>Symbolic mode</a:t>
            </a:r>
          </a:p>
          <a:p>
            <a:pPr lvl="1"/>
            <a:r>
              <a:rPr lang="en-AU" b="1" dirty="0"/>
              <a:t>Symbolic</a:t>
            </a:r>
            <a:r>
              <a:rPr lang="en-AU" dirty="0"/>
              <a:t> uses a specified ‘id’ letter which refers to a specific mode </a:t>
            </a:r>
            <a:r>
              <a:rPr lang="en-AU" dirty="0" smtClean="0"/>
              <a:t>section</a:t>
            </a:r>
          </a:p>
          <a:p>
            <a:pPr lvl="1"/>
            <a:endParaRPr lang="en-AU" dirty="0" smtClean="0"/>
          </a:p>
          <a:p>
            <a:pPr lvl="1"/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Octal Mode</a:t>
            </a:r>
          </a:p>
          <a:p>
            <a:pPr lvl="1"/>
            <a:r>
              <a:rPr lang="en-AU" b="1" dirty="0"/>
              <a:t>Octal </a:t>
            </a:r>
            <a:r>
              <a:rPr lang="en-AU" dirty="0"/>
              <a:t>grants the 3 characters within each of the 3 sections a value   </a:t>
            </a:r>
            <a:endParaRPr lang="en-AU" dirty="0" smtClean="0"/>
          </a:p>
          <a:p>
            <a:pPr marL="914400" lvl="2" indent="0">
              <a:buNone/>
            </a:pPr>
            <a:r>
              <a:rPr lang="en-AU" dirty="0" smtClean="0"/>
              <a:t>  Read(r): 4	Write(w):2	Execute(x):1 </a:t>
            </a:r>
            <a:endParaRPr lang="en-AU" dirty="0"/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362399"/>
              </p:ext>
            </p:extLst>
          </p:nvPr>
        </p:nvGraphicFramePr>
        <p:xfrm>
          <a:off x="1219200" y="2752725"/>
          <a:ext cx="6088063" cy="117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Bitmap Image" r:id="rId3" imgW="6087325" imgH="1171429" progId="PBrush">
                  <p:embed/>
                </p:oleObj>
              </mc:Choice>
              <mc:Fallback>
                <p:oleObj name="Bitmap Image" r:id="rId3" imgW="6087325" imgH="1171429" progId="PBrush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752725"/>
                        <a:ext cx="6088063" cy="1171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08265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Changing Permissions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458200" cy="4298950"/>
          </a:xfrm>
        </p:spPr>
        <p:txBody>
          <a:bodyPr>
            <a:normAutofit lnSpcReduction="10000"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dirty="0" err="1"/>
              <a:t>c</a:t>
            </a:r>
            <a:r>
              <a:rPr lang="en-US" dirty="0" err="1" smtClean="0"/>
              <a:t>hmod</a:t>
            </a:r>
            <a:r>
              <a:rPr lang="en-US" dirty="0" smtClean="0"/>
              <a:t>- </a:t>
            </a:r>
            <a:r>
              <a:rPr lang="en-US" sz="2400" dirty="0"/>
              <a:t>Change mode (permissions) of files or </a:t>
            </a:r>
            <a:r>
              <a:rPr lang="en-US" sz="2400" dirty="0" smtClean="0"/>
              <a:t>directories</a:t>
            </a:r>
          </a:p>
          <a:p>
            <a:pPr marL="400050" lvl="2" indent="0">
              <a:buNone/>
            </a:pPr>
            <a:r>
              <a:rPr lang="en-AU" sz="2000" dirty="0" smtClean="0"/>
              <a:t>	</a:t>
            </a:r>
            <a:r>
              <a:rPr lang="en-AU" sz="2000" dirty="0" err="1" smtClean="0"/>
              <a:t>chmod</a:t>
            </a:r>
            <a:r>
              <a:rPr lang="en-AU" sz="2000" dirty="0" smtClean="0"/>
              <a:t>   permission  file/</a:t>
            </a:r>
            <a:r>
              <a:rPr lang="en-AU" sz="2000" dirty="0" err="1" smtClean="0"/>
              <a:t>directoryname</a:t>
            </a:r>
            <a:endParaRPr lang="en-US" sz="2000" dirty="0" smtClean="0"/>
          </a:p>
          <a:p>
            <a:pPr marL="400050" lvl="2" indent="0">
              <a:buNone/>
            </a:pPr>
            <a:r>
              <a:rPr lang="en-US" sz="2000" b="1" dirty="0" smtClean="0"/>
              <a:t>	Ex: </a:t>
            </a:r>
            <a:r>
              <a:rPr lang="en-US" sz="2000" b="1" dirty="0" err="1" smtClean="0"/>
              <a:t>chmod</a:t>
            </a:r>
            <a:r>
              <a:rPr lang="en-US" sz="2000" b="1" dirty="0" smtClean="0"/>
              <a:t> </a:t>
            </a:r>
            <a:r>
              <a:rPr lang="en-US" sz="2000" b="1" dirty="0"/>
              <a:t>0600 myfile.txt</a:t>
            </a:r>
            <a:endParaRPr lang="en-US" sz="2000" b="1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err="1"/>
              <a:t>c</a:t>
            </a:r>
            <a:r>
              <a:rPr lang="en-US" dirty="0" err="1" smtClean="0"/>
              <a:t>hgrp</a:t>
            </a:r>
            <a:r>
              <a:rPr lang="en-US" dirty="0" smtClean="0"/>
              <a:t>- </a:t>
            </a:r>
            <a:r>
              <a:rPr lang="en-US" sz="2400" dirty="0"/>
              <a:t>Change group owner of a file or </a:t>
            </a:r>
            <a:r>
              <a:rPr lang="en-US" sz="2400" dirty="0" smtClean="0"/>
              <a:t>directory</a:t>
            </a:r>
          </a:p>
          <a:p>
            <a:pPr marL="400050" lvl="2" indent="0">
              <a:buNone/>
            </a:pPr>
            <a:r>
              <a:rPr lang="en-US" sz="2000" dirty="0" smtClean="0"/>
              <a:t>		(</a:t>
            </a:r>
            <a:r>
              <a:rPr lang="en-US" sz="2000" dirty="0"/>
              <a:t>Only </a:t>
            </a:r>
            <a:r>
              <a:rPr lang="en-US" sz="2000" dirty="0" smtClean="0"/>
              <a:t>super user </a:t>
            </a:r>
            <a:r>
              <a:rPr lang="en-US" sz="2000" dirty="0"/>
              <a:t>can use this</a:t>
            </a:r>
            <a:r>
              <a:rPr lang="en-US" sz="2000" dirty="0" smtClean="0"/>
              <a:t>)</a:t>
            </a:r>
          </a:p>
          <a:p>
            <a:pPr marL="400050" lvl="2" indent="0">
              <a:buNone/>
            </a:pPr>
            <a:r>
              <a:rPr lang="en-AU" sz="2000" dirty="0" smtClean="0"/>
              <a:t>	</a:t>
            </a:r>
            <a:r>
              <a:rPr lang="en-AU" sz="2000" dirty="0" err="1"/>
              <a:t>chgrp</a:t>
            </a:r>
            <a:r>
              <a:rPr lang="en-AU" sz="2000" dirty="0"/>
              <a:t>   new-owner  file/</a:t>
            </a:r>
            <a:r>
              <a:rPr lang="en-AU" sz="2000" dirty="0" err="1"/>
              <a:t>directory</a:t>
            </a:r>
            <a:r>
              <a:rPr lang="en-AU" sz="2000" dirty="0" err="1" smtClean="0"/>
              <a:t>name</a:t>
            </a:r>
            <a:endParaRPr lang="en-AU" sz="2000" dirty="0"/>
          </a:p>
          <a:p>
            <a:pPr marL="400050" lvl="2" indent="0">
              <a:buNone/>
            </a:pPr>
            <a:r>
              <a:rPr lang="en-US" sz="2000" b="1" dirty="0" smtClean="0"/>
              <a:t>	Ex:</a:t>
            </a:r>
            <a:r>
              <a:rPr lang="en-AU" sz="2000" b="1" dirty="0"/>
              <a:t> </a:t>
            </a:r>
            <a:r>
              <a:rPr lang="en-AU" sz="2000" b="1" dirty="0" err="1"/>
              <a:t>chgrp</a:t>
            </a:r>
            <a:r>
              <a:rPr lang="en-AU" sz="2000" b="1" dirty="0"/>
              <a:t> </a:t>
            </a:r>
            <a:r>
              <a:rPr lang="en-AU" sz="2000" b="1" dirty="0" err="1"/>
              <a:t>myuser</a:t>
            </a:r>
            <a:r>
              <a:rPr lang="en-AU" sz="2000" b="1" dirty="0"/>
              <a:t> </a:t>
            </a:r>
            <a:r>
              <a:rPr lang="en-AU" sz="2000" b="1" dirty="0" err="1"/>
              <a:t>myfile</a:t>
            </a:r>
            <a:endParaRPr lang="en-US" sz="2000" b="1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2400" dirty="0" err="1" smtClean="0"/>
              <a:t>Chown</a:t>
            </a:r>
            <a:r>
              <a:rPr lang="en-US" sz="2400" dirty="0" smtClean="0"/>
              <a:t> - Change </a:t>
            </a:r>
            <a:r>
              <a:rPr lang="en-US" sz="2400" dirty="0"/>
              <a:t>ownership of a file or </a:t>
            </a:r>
            <a:r>
              <a:rPr lang="en-US" sz="2400" dirty="0" smtClean="0"/>
              <a:t>directory</a:t>
            </a:r>
          </a:p>
          <a:p>
            <a:pPr marL="1314450" lvl="4" indent="0">
              <a:buNone/>
            </a:pPr>
            <a:r>
              <a:rPr lang="en-US" sz="1600" dirty="0"/>
              <a:t>	</a:t>
            </a:r>
            <a:r>
              <a:rPr lang="en-US" dirty="0" smtClean="0"/>
              <a:t>(</a:t>
            </a:r>
            <a:r>
              <a:rPr lang="en-US" dirty="0"/>
              <a:t>Only </a:t>
            </a:r>
            <a:r>
              <a:rPr lang="en-US" dirty="0" smtClean="0"/>
              <a:t>super user </a:t>
            </a:r>
            <a:r>
              <a:rPr lang="en-US" dirty="0"/>
              <a:t>can use this</a:t>
            </a:r>
            <a:r>
              <a:rPr lang="en-US" dirty="0" smtClean="0"/>
              <a:t>)</a:t>
            </a:r>
          </a:p>
          <a:p>
            <a:pPr marL="400050" lvl="2" indent="0">
              <a:buNone/>
            </a:pPr>
            <a:r>
              <a:rPr lang="en-US" dirty="0" smtClean="0"/>
              <a:t>	</a:t>
            </a:r>
            <a:r>
              <a:rPr lang="en-AU" sz="2000" dirty="0"/>
              <a:t> </a:t>
            </a:r>
            <a:r>
              <a:rPr lang="en-AU" sz="2000" dirty="0" err="1"/>
              <a:t>chown</a:t>
            </a:r>
            <a:r>
              <a:rPr lang="en-AU" sz="2000" dirty="0"/>
              <a:t> new-owner file/</a:t>
            </a:r>
            <a:r>
              <a:rPr lang="en-AU" sz="2000" dirty="0" err="1"/>
              <a:t>directory</a:t>
            </a:r>
            <a:r>
              <a:rPr lang="en-AU" sz="2000" dirty="0" err="1" smtClean="0"/>
              <a:t>name</a:t>
            </a:r>
            <a:r>
              <a:rPr lang="en-AU" sz="2000" dirty="0" smtClean="0"/>
              <a:t> </a:t>
            </a:r>
          </a:p>
          <a:p>
            <a:pPr marL="400050" lvl="2" indent="0">
              <a:buNone/>
            </a:pPr>
            <a:r>
              <a:rPr lang="en-AU" dirty="0"/>
              <a:t>	</a:t>
            </a:r>
            <a:r>
              <a:rPr lang="en-US" sz="2000" b="1" dirty="0" smtClean="0"/>
              <a:t>Ex:</a:t>
            </a:r>
            <a:endParaRPr lang="en-US" sz="2000" b="1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631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18307"/>
            <a:ext cx="8229600" cy="57229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Symbolic Permission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0600" y="1206947"/>
            <a:ext cx="7315200" cy="5181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2900" dirty="0">
                <a:latin typeface="Arial" charset="0"/>
                <a:cs typeface="Times New Roman" pitchFamily="18" charset="0"/>
              </a:rPr>
              <a:t>Who </a:t>
            </a:r>
            <a:r>
              <a:rPr lang="en-US" sz="2900" dirty="0" smtClean="0">
                <a:latin typeface="Arial" charset="0"/>
                <a:cs typeface="Times New Roman" pitchFamily="18" charset="0"/>
              </a:rPr>
              <a:t>- Category </a:t>
            </a:r>
            <a:r>
              <a:rPr lang="en-US" sz="2900" dirty="0">
                <a:latin typeface="Arial" charset="0"/>
                <a:cs typeface="Times New Roman" pitchFamily="18" charset="0"/>
              </a:rPr>
              <a:t>you are working with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u </a:t>
            </a:r>
            <a:r>
              <a:rPr lang="en-US" sz="2900" dirty="0">
                <a:latin typeface="Arial" charset="0"/>
                <a:cs typeface="Times New Roman" pitchFamily="18" charset="0"/>
              </a:rPr>
              <a:t>= user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g </a:t>
            </a:r>
            <a:r>
              <a:rPr lang="en-US" sz="2900" dirty="0">
                <a:latin typeface="Arial" charset="0"/>
                <a:cs typeface="Times New Roman" pitchFamily="18" charset="0"/>
              </a:rPr>
              <a:t>= group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o </a:t>
            </a:r>
            <a:r>
              <a:rPr lang="en-US" sz="2900" dirty="0">
                <a:latin typeface="Arial" charset="0"/>
                <a:cs typeface="Times New Roman" pitchFamily="18" charset="0"/>
              </a:rPr>
              <a:t>= others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a </a:t>
            </a:r>
            <a:r>
              <a:rPr lang="en-US" sz="2900" dirty="0">
                <a:latin typeface="Arial" charset="0"/>
                <a:cs typeface="Times New Roman" pitchFamily="18" charset="0"/>
              </a:rPr>
              <a:t>= all</a:t>
            </a:r>
          </a:p>
          <a:p>
            <a:endParaRPr lang="en-US" sz="1500" dirty="0">
              <a:latin typeface="Arial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2900" dirty="0">
                <a:latin typeface="Arial" charset="0"/>
                <a:cs typeface="Times New Roman" pitchFamily="18" charset="0"/>
              </a:rPr>
              <a:t>Op </a:t>
            </a:r>
            <a:r>
              <a:rPr lang="en-US" sz="2900" dirty="0" smtClean="0">
                <a:latin typeface="Arial" charset="0"/>
                <a:cs typeface="Times New Roman" pitchFamily="18" charset="0"/>
              </a:rPr>
              <a:t>- Operator</a:t>
            </a:r>
            <a:endParaRPr lang="en-US" sz="2900" dirty="0">
              <a:latin typeface="Arial" charset="0"/>
              <a:cs typeface="Times New Roman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set </a:t>
            </a:r>
            <a:r>
              <a:rPr lang="en-US" sz="2900" dirty="0">
                <a:latin typeface="Arial" charset="0"/>
                <a:cs typeface="Times New Roman" pitchFamily="18" charset="0"/>
              </a:rPr>
              <a:t>(=)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remove </a:t>
            </a:r>
            <a:r>
              <a:rPr lang="en-US" sz="2900" dirty="0">
                <a:latin typeface="Arial" charset="0"/>
                <a:cs typeface="Times New Roman" pitchFamily="18" charset="0"/>
              </a:rPr>
              <a:t>(-)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900" dirty="0" smtClean="0">
                <a:latin typeface="Arial" charset="0"/>
                <a:cs typeface="Times New Roman" pitchFamily="18" charset="0"/>
              </a:rPr>
              <a:t>give (+)</a:t>
            </a:r>
          </a:p>
          <a:p>
            <a:pPr marL="457200" lvl="1" indent="0">
              <a:buNone/>
            </a:pPr>
            <a:endParaRPr lang="en-US" sz="2900" b="1" dirty="0" smtClean="0">
              <a:solidFill>
                <a:schemeClr val="tx2"/>
              </a:solidFill>
              <a:latin typeface="Arial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3600" b="1" dirty="0" smtClean="0">
                <a:latin typeface="Arial" charset="0"/>
                <a:cs typeface="Times New Roman" pitchFamily="18" charset="0"/>
              </a:rPr>
              <a:t>Ex:</a:t>
            </a:r>
            <a:endParaRPr lang="en-AU" sz="3600" b="1" dirty="0"/>
          </a:p>
          <a:p>
            <a:pPr algn="just">
              <a:lnSpc>
                <a:spcPct val="90000"/>
              </a:lnSpc>
            </a:pPr>
            <a:r>
              <a:rPr lang="en-AU" sz="3600" dirty="0"/>
              <a:t>would give read, write and executable permission to the filename specified to ALL </a:t>
            </a:r>
            <a:r>
              <a:rPr lang="en-AU" sz="3600" dirty="0" smtClean="0"/>
              <a:t>users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AU" sz="3600" b="1" dirty="0" err="1"/>
              <a:t>chmod</a:t>
            </a:r>
            <a:r>
              <a:rPr lang="en-AU" sz="3600" b="1" dirty="0"/>
              <a:t> </a:t>
            </a:r>
            <a:r>
              <a:rPr lang="en-AU" sz="3600" b="1" dirty="0" err="1" smtClean="0"/>
              <a:t>a+rwx</a:t>
            </a:r>
            <a:r>
              <a:rPr lang="en-AU" sz="3600" b="1" dirty="0" smtClean="0"/>
              <a:t> </a:t>
            </a:r>
            <a:r>
              <a:rPr lang="en-AU" sz="3600" b="1" dirty="0"/>
              <a:t>&lt;filename</a:t>
            </a:r>
            <a:r>
              <a:rPr lang="en-AU" sz="3600" b="1" dirty="0" smtClean="0"/>
              <a:t>&gt;</a:t>
            </a:r>
          </a:p>
          <a:p>
            <a:pPr marL="57150" indent="0">
              <a:lnSpc>
                <a:spcPct val="90000"/>
              </a:lnSpc>
              <a:buNone/>
            </a:pPr>
            <a:endParaRPr lang="en-AU" sz="3600" b="1" dirty="0">
              <a:solidFill>
                <a:schemeClr val="tx2"/>
              </a:solidFill>
            </a:endParaRPr>
          </a:p>
          <a:p>
            <a:pPr marL="514350" indent="-457200">
              <a:lnSpc>
                <a:spcPct val="90000"/>
              </a:lnSpc>
            </a:pPr>
            <a:r>
              <a:rPr lang="en-AU" sz="3600" dirty="0"/>
              <a:t>would give the group and world read permission but remove write and execute permissions to the </a:t>
            </a:r>
            <a:r>
              <a:rPr lang="en-AU" sz="3600" dirty="0" smtClean="0"/>
              <a:t>file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AU" sz="3300" b="1" dirty="0" err="1" smtClean="0"/>
              <a:t>chmod</a:t>
            </a:r>
            <a:r>
              <a:rPr lang="en-AU" sz="3300" b="1" dirty="0" smtClean="0"/>
              <a:t> </a:t>
            </a:r>
            <a:r>
              <a:rPr lang="en-AU" sz="3300" b="1" dirty="0" err="1"/>
              <a:t>go+r</a:t>
            </a:r>
            <a:r>
              <a:rPr lang="en-AU" sz="3300" b="1" dirty="0"/>
              <a:t>, go-</a:t>
            </a:r>
            <a:r>
              <a:rPr lang="en-AU" sz="3300" b="1" dirty="0" err="1"/>
              <a:t>wx</a:t>
            </a:r>
            <a:r>
              <a:rPr lang="en-AU" sz="3300" b="1" dirty="0"/>
              <a:t> &lt;filename&gt;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AU" b="1" dirty="0">
                <a:solidFill>
                  <a:schemeClr val="tx2"/>
                </a:solidFill>
              </a:rPr>
              <a:t/>
            </a:r>
            <a:br>
              <a:rPr lang="en-AU" b="1" dirty="0">
                <a:solidFill>
                  <a:schemeClr val="tx2"/>
                </a:solidFill>
              </a:rPr>
            </a:br>
            <a:r>
              <a:rPr lang="en-AU" b="1" dirty="0" smtClean="0">
                <a:solidFill>
                  <a:schemeClr val="tx2"/>
                </a:solidFill>
              </a:rPr>
              <a:t>	</a:t>
            </a:r>
            <a:endParaRPr lang="en-A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74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3149" y="152400"/>
            <a:ext cx="8229600" cy="1143000"/>
          </a:xfrm>
        </p:spPr>
        <p:txBody>
          <a:bodyPr/>
          <a:lstStyle/>
          <a:p>
            <a:r>
              <a:rPr lang="en-US" dirty="0" smtClean="0"/>
              <a:t>Octal Permission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458792" y="1590898"/>
            <a:ext cx="4114800" cy="1500717"/>
          </a:xfrm>
          <a:prstGeom prst="rect">
            <a:avLst/>
          </a:prstGeom>
          <a:noFill/>
          <a:ln/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3333737"/>
            <a:ext cx="6364785" cy="2468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33116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1143000"/>
          </a:xfrm>
        </p:spPr>
        <p:txBody>
          <a:bodyPr/>
          <a:lstStyle/>
          <a:p>
            <a:r>
              <a:rPr lang="en-US" dirty="0" smtClean="0"/>
              <a:t>Octal Permission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05F43-80E2-4640-A934-E79BFFCB5CAF}" type="slidenum">
              <a:rPr lang="en-US" smtClean="0"/>
              <a:t>10</a:t>
            </a:fld>
            <a:endParaRPr 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81000" y="1524000"/>
            <a:ext cx="89916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800" dirty="0">
                <a:solidFill>
                  <a:schemeClr val="tx1"/>
                </a:solidFill>
                <a:latin typeface="Arial" charset="0"/>
              </a:rPr>
              <a:t>			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	Octal	Permission      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Notes</a:t>
            </a:r>
            <a:endParaRPr lang="en-GB" sz="2200" dirty="0">
              <a:solidFill>
                <a:schemeClr val="tx1"/>
              </a:solidFill>
              <a:latin typeface="Arial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200" dirty="0">
                <a:solidFill>
                  <a:srgbClr val="5D53DD"/>
                </a:solidFill>
                <a:latin typeface="Arial" charset="0"/>
              </a:rPr>
              <a:t> </a:t>
            </a:r>
            <a:r>
              <a:rPr lang="en-AU" sz="2200" b="1" dirty="0" err="1">
                <a:solidFill>
                  <a:schemeClr val="tx2"/>
                </a:solidFill>
                <a:latin typeface="Arial" charset="0"/>
              </a:rPr>
              <a:t>chmod</a:t>
            </a:r>
            <a:r>
              <a:rPr lang="en-AU" sz="2200" b="1" dirty="0">
                <a:solidFill>
                  <a:schemeClr val="tx2"/>
                </a:solidFill>
                <a:latin typeface="Arial" charset="0"/>
              </a:rPr>
              <a:t>  644  perm 	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644	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rw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-r--r--	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Default 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for files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2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AU" sz="2200" b="1" dirty="0" err="1">
                <a:solidFill>
                  <a:schemeClr val="tx2"/>
                </a:solidFill>
                <a:latin typeface="Arial" charset="0"/>
              </a:rPr>
              <a:t>chmod</a:t>
            </a:r>
            <a:r>
              <a:rPr lang="en-AU" sz="2200" b="1" dirty="0">
                <a:solidFill>
                  <a:schemeClr val="tx2"/>
                </a:solidFill>
                <a:latin typeface="Arial" charset="0"/>
              </a:rPr>
              <a:t>  755  perm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    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755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rwxr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-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xr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-x	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Default 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for Directories</a:t>
            </a:r>
            <a:r>
              <a:rPr lang="en-GB" sz="2200" dirty="0">
                <a:solidFill>
                  <a:srgbClr val="5D53DD"/>
                </a:solidFill>
                <a:latin typeface="Arial" charset="0"/>
              </a:rPr>
              <a:t> 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GB" sz="2200" dirty="0">
              <a:solidFill>
                <a:srgbClr val="5D53DD"/>
              </a:solidFill>
              <a:latin typeface="Arial" charset="0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AU" sz="2200" b="1" dirty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AU" sz="2200" b="1" dirty="0" err="1">
                <a:solidFill>
                  <a:schemeClr val="tx2"/>
                </a:solidFill>
                <a:latin typeface="Arial" charset="0"/>
              </a:rPr>
              <a:t>chmod</a:t>
            </a:r>
            <a:r>
              <a:rPr lang="en-AU" sz="2200" b="1" dirty="0">
                <a:solidFill>
                  <a:schemeClr val="tx2"/>
                </a:solidFill>
                <a:latin typeface="Arial" charset="0"/>
              </a:rPr>
              <a:t>   555 perm   </a:t>
            </a:r>
            <a:r>
              <a:rPr lang="en-AU" sz="2200" b="1" dirty="0" smtClean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555	r-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xr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-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xr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-x		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2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AU" sz="2200" b="1" dirty="0" err="1">
                <a:solidFill>
                  <a:schemeClr val="tx2"/>
                </a:solidFill>
                <a:latin typeface="Arial" charset="0"/>
              </a:rPr>
              <a:t>chmod</a:t>
            </a:r>
            <a:r>
              <a:rPr lang="en-AU" sz="2200" b="1" dirty="0">
                <a:solidFill>
                  <a:schemeClr val="tx2"/>
                </a:solidFill>
                <a:latin typeface="Arial" charset="0"/>
              </a:rPr>
              <a:t>  744  perm   </a:t>
            </a:r>
            <a:r>
              <a:rPr lang="en-AU" sz="2200" b="1" dirty="0" smtClean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744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rwxr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--r--	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Typical 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for user scripts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GB" sz="2200" dirty="0">
                <a:solidFill>
                  <a:schemeClr val="tx1"/>
                </a:solidFill>
                <a:latin typeface="Arial" charset="0"/>
              </a:rPr>
              <a:t> </a:t>
            </a:r>
            <a:r>
              <a:rPr lang="en-AU" sz="2200" b="1" dirty="0" err="1">
                <a:solidFill>
                  <a:schemeClr val="tx2"/>
                </a:solidFill>
                <a:latin typeface="Arial" charset="0"/>
              </a:rPr>
              <a:t>chmod</a:t>
            </a:r>
            <a:r>
              <a:rPr lang="en-AU" sz="2200" b="1" dirty="0">
                <a:solidFill>
                  <a:schemeClr val="tx2"/>
                </a:solidFill>
                <a:latin typeface="Arial" charset="0"/>
              </a:rPr>
              <a:t>  777  perm   </a:t>
            </a:r>
            <a:r>
              <a:rPr lang="en-AU" sz="2200" b="1" dirty="0" smtClean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en-GB" sz="2200" dirty="0" smtClean="0">
                <a:solidFill>
                  <a:schemeClr val="tx1"/>
                </a:solidFill>
                <a:latin typeface="Arial" charset="0"/>
              </a:rPr>
              <a:t>777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	</a:t>
            </a:r>
            <a:r>
              <a:rPr lang="en-GB" sz="2200" dirty="0" err="1">
                <a:solidFill>
                  <a:schemeClr val="tx1"/>
                </a:solidFill>
                <a:latin typeface="Arial" charset="0"/>
              </a:rPr>
              <a:t>rwxrwxrwx</a:t>
            </a:r>
            <a:r>
              <a:rPr lang="en-GB" sz="2200" dirty="0">
                <a:solidFill>
                  <a:schemeClr val="tx1"/>
                </a:solidFill>
                <a:latin typeface="Arial" charset="0"/>
              </a:rPr>
              <a:t>	All permissions to all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endParaRPr lang="en-GB" sz="1800" dirty="0">
              <a:solidFill>
                <a:schemeClr val="tx1"/>
              </a:solidFill>
              <a:latin typeface="Arial" charset="0"/>
            </a:endParaRPr>
          </a:p>
          <a:p>
            <a:pPr marL="1022350" lvl="2" indent="-350838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AU" sz="1800" b="1" dirty="0">
                <a:solidFill>
                  <a:schemeClr val="tx2"/>
                </a:solidFill>
                <a:latin typeface="Arial" charset="0"/>
              </a:rPr>
              <a:t>	</a:t>
            </a:r>
          </a:p>
          <a:p>
            <a:pPr marL="1022350" lvl="2" indent="-350838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None/>
            </a:pPr>
            <a:r>
              <a:rPr lang="en-AU" sz="1800" b="1" dirty="0">
                <a:solidFill>
                  <a:schemeClr val="tx2"/>
                </a:solidFill>
                <a:latin typeface="Arial" charset="0"/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1184432487"/>
      </p:ext>
    </p:extLst>
  </p:cSld>
  <p:clrMapOvr>
    <a:masterClrMapping/>
  </p:clrMapOvr>
</p:sld>
</file>

<file path=ppt/theme/theme1.xml><?xml version="1.0" encoding="utf-8"?>
<a:theme xmlns:a="http://schemas.openxmlformats.org/drawingml/2006/main" name="HND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47D6EB70-AC5D-4C93-8EC9-DDBA92A97C78}" vid="{AD4A3A70-3E62-4EFF-A645-92967231B9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SLIATE LMS Template Powerpoint</Template>
  <TotalTime>3224</TotalTime>
  <Words>268</Words>
  <Application>Microsoft Office PowerPoint</Application>
  <PresentationFormat>On-screen Show (4:3)</PresentationFormat>
  <Paragraphs>85</Paragraphs>
  <Slides>10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Times New Roman</vt:lpstr>
      <vt:lpstr>Wingdings</vt:lpstr>
      <vt:lpstr>HNDIT</vt:lpstr>
      <vt:lpstr>Bitmap Image</vt:lpstr>
      <vt:lpstr>IT2402-Free and Open Source Software Solutions</vt:lpstr>
      <vt:lpstr>File Permissions</vt:lpstr>
      <vt:lpstr>Sections of a file/directory permission</vt:lpstr>
      <vt:lpstr>PowerPoint Presentation</vt:lpstr>
      <vt:lpstr>Files &amp; Directory permissions</vt:lpstr>
      <vt:lpstr>Assigning Permission</vt:lpstr>
      <vt:lpstr>Changing Permissions</vt:lpstr>
      <vt:lpstr>Symbolic Permission</vt:lpstr>
      <vt:lpstr>Octal Permission</vt:lpstr>
      <vt:lpstr>Octal Permission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admini</cp:lastModifiedBy>
  <cp:revision>60</cp:revision>
  <dcterms:created xsi:type="dcterms:W3CDTF">2020-01-03T07:42:12Z</dcterms:created>
  <dcterms:modified xsi:type="dcterms:W3CDTF">2020-02-06T08:51:37Z</dcterms:modified>
</cp:coreProperties>
</file>