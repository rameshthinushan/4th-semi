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5" r:id="rId1"/>
  </p:sldMasterIdLst>
  <p:notesMasterIdLst>
    <p:notesMasterId r:id="rId13"/>
  </p:notesMasterIdLst>
  <p:sldIdLst>
    <p:sldId id="539" r:id="rId2"/>
    <p:sldId id="540" r:id="rId3"/>
    <p:sldId id="541" r:id="rId4"/>
    <p:sldId id="542" r:id="rId5"/>
    <p:sldId id="543" r:id="rId6"/>
    <p:sldId id="544" r:id="rId7"/>
    <p:sldId id="545" r:id="rId8"/>
    <p:sldId id="546" r:id="rId9"/>
    <p:sldId id="547" r:id="rId10"/>
    <p:sldId id="548" r:id="rId11"/>
    <p:sldId id="51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FFFFFF"/>
    <a:srgbClr val="008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4" autoAdjust="0"/>
    <p:restoredTop sz="83025" autoAdjust="0"/>
  </p:normalViewPr>
  <p:slideViewPr>
    <p:cSldViewPr>
      <p:cViewPr varScale="1">
        <p:scale>
          <a:sx n="72" d="100"/>
          <a:sy n="72" d="100"/>
        </p:scale>
        <p:origin x="1757" y="53"/>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67EA41F-F937-4695-ABB5-3DD9FC03DBB8}" type="datetimeFigureOut">
              <a:rPr lang="en-US"/>
              <a:pPr>
                <a:defRPr/>
              </a:pPr>
              <a:t>3/23/2020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09806739-C791-46CE-93F0-517719BD1947}" type="slidenum">
              <a:rPr lang="en-US"/>
              <a:pPr>
                <a:defRPr/>
              </a:pPr>
              <a:t>‹#›</a:t>
            </a:fld>
            <a:endParaRPr lang="en-US"/>
          </a:p>
        </p:txBody>
      </p:sp>
    </p:spTree>
    <p:extLst>
      <p:ext uri="{BB962C8B-B14F-4D97-AF65-F5344CB8AC3E}">
        <p14:creationId xmlns:p14="http://schemas.microsoft.com/office/powerpoint/2010/main" val="31194523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pPr>
              <a:defRPr/>
            </a:pPr>
            <a:fld id="{EC4AE668-F1CA-43CC-B224-31C4FB1DBC35}" type="datetimeFigureOut">
              <a:rPr lang="en-US" smtClean="0"/>
              <a:pPr>
                <a:defRPr/>
              </a:pPr>
              <a:t>3/23/2020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p>
            <a:pPr>
              <a:defRPr/>
            </a:pPr>
            <a:fld id="{C17EFC5B-740B-4522-A0AB-5F62F4C7676E}" type="slidenum">
              <a:rPr lang="en-US" smtClean="0"/>
              <a:pPr>
                <a:defRPr/>
              </a:pPr>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782482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2A8C5B54-1915-4CCF-BFE8-35A322F52A79}" type="datetimeFigureOut">
              <a:rPr lang="en-US" smtClean="0"/>
              <a:pPr>
                <a:defRPr/>
              </a:pPr>
              <a:t>3/23/2020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E6D9CF1-302D-4F0B-92B7-33217D1A59D2}" type="slidenum">
              <a:rPr lang="en-US" smtClean="0"/>
              <a:pPr>
                <a:defRPr/>
              </a:pPr>
              <a:t>‹#›</a:t>
            </a:fld>
            <a:endParaRPr lang="en-US"/>
          </a:p>
        </p:txBody>
      </p:sp>
    </p:spTree>
    <p:extLst>
      <p:ext uri="{BB962C8B-B14F-4D97-AF65-F5344CB8AC3E}">
        <p14:creationId xmlns:p14="http://schemas.microsoft.com/office/powerpoint/2010/main" val="1531121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72DBDF9C-0C2C-44E4-A845-2D25F1BABF6B}" type="datetimeFigureOut">
              <a:rPr lang="en-US" smtClean="0"/>
              <a:pPr>
                <a:defRPr/>
              </a:pPr>
              <a:t>3/23/2020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A5E5768-A308-4713-BFA1-B86A1A28879A}" type="slidenum">
              <a:rPr lang="en-US" smtClean="0"/>
              <a:pPr>
                <a:defRPr/>
              </a:pPr>
              <a:t>‹#›</a:t>
            </a:fld>
            <a:endParaRPr lang="en-US"/>
          </a:p>
        </p:txBody>
      </p:sp>
    </p:spTree>
    <p:extLst>
      <p:ext uri="{BB962C8B-B14F-4D97-AF65-F5344CB8AC3E}">
        <p14:creationId xmlns:p14="http://schemas.microsoft.com/office/powerpoint/2010/main" val="2069111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165772F5-FBC4-4CEF-AE3F-43F45729A248}" type="datetimeFigureOut">
              <a:rPr lang="en-US" smtClean="0"/>
              <a:pPr>
                <a:defRPr/>
              </a:pPr>
              <a:t>3/23/2020</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4C6ADA-1504-4291-A2C4-533E1D2E0AEF}" type="slidenum">
              <a:rPr lang="en-US" smtClean="0"/>
              <a:pPr>
                <a:defRPr/>
              </a:pPr>
              <a:t>‹#›</a:t>
            </a:fld>
            <a:endParaRPr lang="en-US"/>
          </a:p>
        </p:txBody>
      </p:sp>
    </p:spTree>
    <p:extLst>
      <p:ext uri="{BB962C8B-B14F-4D97-AF65-F5344CB8AC3E}">
        <p14:creationId xmlns:p14="http://schemas.microsoft.com/office/powerpoint/2010/main" val="2009851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DE2E72A5-4903-410D-8791-A372FD1F24FD}" type="datetimeFigureOut">
              <a:rPr lang="en-US" smtClean="0"/>
              <a:pPr>
                <a:defRPr/>
              </a:pPr>
              <a:t>3/23/2020</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C3AE5CF-A03A-4DBF-B1DB-DF3D5CB2024E}" type="slidenum">
              <a:rPr lang="en-US" smtClean="0"/>
              <a:pPr>
                <a:defRPr/>
              </a:pPr>
              <a:t>‹#›</a:t>
            </a:fld>
            <a:endParaRPr lang="en-US"/>
          </a:p>
        </p:txBody>
      </p:sp>
    </p:spTree>
    <p:extLst>
      <p:ext uri="{BB962C8B-B14F-4D97-AF65-F5344CB8AC3E}">
        <p14:creationId xmlns:p14="http://schemas.microsoft.com/office/powerpoint/2010/main" val="4168379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FDD1508-1772-4A02-80CA-2EB513C787D2}" type="datetimeFigureOut">
              <a:rPr lang="en-US" smtClean="0"/>
              <a:pPr>
                <a:defRPr/>
              </a:pPr>
              <a:t>3/23/2020</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2B3ED1E-04D3-4624-AA03-F86959AA640D}" type="slidenum">
              <a:rPr lang="en-US" smtClean="0"/>
              <a:pPr>
                <a:defRPr/>
              </a:pPr>
              <a:t>‹#›</a:t>
            </a:fld>
            <a:endParaRPr lang="en-US"/>
          </a:p>
        </p:txBody>
      </p:sp>
    </p:spTree>
    <p:extLst>
      <p:ext uri="{BB962C8B-B14F-4D97-AF65-F5344CB8AC3E}">
        <p14:creationId xmlns:p14="http://schemas.microsoft.com/office/powerpoint/2010/main" val="1753579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51E7AA6-C5F1-48F7-90D3-6DDD94D4EDA2}" type="datetimeFigureOut">
              <a:rPr lang="en-US" smtClean="0"/>
              <a:pPr>
                <a:defRPr/>
              </a:pPr>
              <a:t>3/23/2020</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40B0EBB-2F9F-409B-93E8-4092BA6839E2}" type="slidenum">
              <a:rPr lang="en-US" smtClean="0"/>
              <a:pPr>
                <a:defRPr/>
              </a:pPr>
              <a:t>‹#›</a:t>
            </a:fld>
            <a:endParaRPr lang="en-US"/>
          </a:p>
        </p:txBody>
      </p:sp>
    </p:spTree>
    <p:extLst>
      <p:ext uri="{BB962C8B-B14F-4D97-AF65-F5344CB8AC3E}">
        <p14:creationId xmlns:p14="http://schemas.microsoft.com/office/powerpoint/2010/main" val="141810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C16DCCC5-D01C-4F8B-9B0D-7F7EDD315DC6}" type="datetimeFigureOut">
              <a:rPr lang="en-US" smtClean="0"/>
              <a:pPr>
                <a:defRPr/>
              </a:pPr>
              <a:t>3/23/2020</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C1EBEA3-F81C-42D0-B78D-3014A771B646}" type="slidenum">
              <a:rPr lang="en-US" smtClean="0"/>
              <a:pPr>
                <a:defRPr/>
              </a:pPr>
              <a:t>‹#›</a:t>
            </a:fld>
            <a:endParaRPr lang="en-US"/>
          </a:p>
        </p:txBody>
      </p:sp>
    </p:spTree>
    <p:extLst>
      <p:ext uri="{BB962C8B-B14F-4D97-AF65-F5344CB8AC3E}">
        <p14:creationId xmlns:p14="http://schemas.microsoft.com/office/powerpoint/2010/main" val="1300292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6BE074C9-74CC-4DE2-B1F3-373E5E47989D}" type="datetimeFigureOut">
              <a:rPr lang="en-US" smtClean="0"/>
              <a:pPr>
                <a:defRPr/>
              </a:pPr>
              <a:t>3/23/2020</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F5F67E-9C63-49F9-856D-181D3B7A99D0}" type="slidenum">
              <a:rPr lang="en-US" smtClean="0"/>
              <a:pPr>
                <a:defRPr/>
              </a:pPr>
              <a:t>‹#›</a:t>
            </a:fld>
            <a:endParaRPr lang="en-US"/>
          </a:p>
        </p:txBody>
      </p:sp>
    </p:spTree>
    <p:extLst>
      <p:ext uri="{BB962C8B-B14F-4D97-AF65-F5344CB8AC3E}">
        <p14:creationId xmlns:p14="http://schemas.microsoft.com/office/powerpoint/2010/main" val="3638849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6CD99824-1F69-4447-A1FA-885D9A971CFD}" type="datetimeFigureOut">
              <a:rPr lang="en-US" smtClean="0"/>
              <a:pPr>
                <a:defRPr/>
              </a:pPr>
              <a:t>3/23/2020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F3F0F90-7C74-4A0B-8F64-E4025412BFDF}" type="slidenum">
              <a:rPr lang="en-US" smtClean="0"/>
              <a:pPr>
                <a:defRPr/>
              </a:pPr>
              <a:t>‹#›</a:t>
            </a:fld>
            <a:endParaRPr lang="en-US"/>
          </a:p>
        </p:txBody>
      </p:sp>
    </p:spTree>
    <p:extLst>
      <p:ext uri="{BB962C8B-B14F-4D97-AF65-F5344CB8AC3E}">
        <p14:creationId xmlns:p14="http://schemas.microsoft.com/office/powerpoint/2010/main" val="2550421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96A6526-D663-48E6-9215-CEB195B25779}" type="datetimeFigureOut">
              <a:rPr lang="en-US" smtClean="0"/>
              <a:pPr>
                <a:defRPr/>
              </a:pPr>
              <a:t>3/23/2020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8A039B4-C0FB-4C68-9D23-BFF8BCD28163}" type="slidenum">
              <a:rPr lang="en-US" smtClean="0"/>
              <a:pPr>
                <a:defRPr/>
              </a:pPr>
              <a:t>‹#›</a:t>
            </a:fld>
            <a:endParaRPr lang="en-US"/>
          </a:p>
        </p:txBody>
      </p:sp>
    </p:spTree>
    <p:extLst>
      <p:ext uri="{BB962C8B-B14F-4D97-AF65-F5344CB8AC3E}">
        <p14:creationId xmlns:p14="http://schemas.microsoft.com/office/powerpoint/2010/main" val="349920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78CB468-4193-42D6-A575-D53A1410C8CC}" type="datetimeFigureOut">
              <a:rPr lang="en-US" smtClean="0"/>
              <a:pPr>
                <a:defRPr/>
              </a:pPr>
              <a:t>3/23/2020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5F4C108-F6EC-4FF6-A109-4D6046DA9A05}" type="slidenum">
              <a:rPr lang="en-US" smtClean="0"/>
              <a:pPr>
                <a:defRPr/>
              </a:pPr>
              <a:t>‹#›</a:t>
            </a:fld>
            <a:endParaRPr lang="en-US"/>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2092669713"/>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ubtitle 2"/>
          <p:cNvSpPr>
            <a:spLocks noGrp="1"/>
          </p:cNvSpPr>
          <p:nvPr>
            <p:ph type="subTitle" idx="1"/>
          </p:nvPr>
        </p:nvSpPr>
        <p:spPr>
          <a:xfrm>
            <a:off x="381000" y="4800600"/>
            <a:ext cx="8077200" cy="1500188"/>
          </a:xfrm>
        </p:spPr>
        <p:txBody>
          <a:bodyPr>
            <a:normAutofit/>
          </a:bodyPr>
          <a:lstStyle/>
          <a:p>
            <a:r>
              <a:rPr lang="en-US" sz="4400" dirty="0"/>
              <a:t>Local Mail Server Using Postfix, Dovecot And </a:t>
            </a:r>
            <a:r>
              <a:rPr lang="en-US" sz="4400" dirty="0" err="1"/>
              <a:t>Squirrelmail</a:t>
            </a:r>
            <a:endParaRPr lang="en-US" sz="4400" dirty="0"/>
          </a:p>
        </p:txBody>
      </p:sp>
      <p:sp>
        <p:nvSpPr>
          <p:cNvPr id="2" name="Title 1"/>
          <p:cNvSpPr>
            <a:spLocks noGrp="1"/>
          </p:cNvSpPr>
          <p:nvPr>
            <p:ph type="ctrTitle"/>
          </p:nvPr>
        </p:nvSpPr>
        <p:spPr>
          <a:xfrm>
            <a:off x="5029200" y="2592324"/>
            <a:ext cx="3733800" cy="1673352"/>
          </a:xfrm>
        </p:spPr>
        <p:txBody>
          <a:bodyPr>
            <a:normAutofit fontScale="90000"/>
          </a:bodyPr>
          <a:lstStyle/>
          <a:p>
            <a:pPr>
              <a:defRPr/>
            </a:pPr>
            <a:r>
              <a:rPr lang="en-US" sz="3200" dirty="0"/>
              <a:t>IT2402 </a:t>
            </a:r>
            <a:br>
              <a:rPr lang="en-US" sz="3200" dirty="0"/>
            </a:br>
            <a:r>
              <a:rPr lang="en-US" sz="3200" dirty="0"/>
              <a:t> Free and Open Source Software Solutions</a:t>
            </a:r>
          </a:p>
        </p:txBody>
      </p:sp>
    </p:spTree>
    <p:extLst>
      <p:ext uri="{BB962C8B-B14F-4D97-AF65-F5344CB8AC3E}">
        <p14:creationId xmlns:p14="http://schemas.microsoft.com/office/powerpoint/2010/main" val="3284371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39825"/>
          </a:xfrm>
        </p:spPr>
        <p:txBody>
          <a:bodyPr/>
          <a:lstStyle/>
          <a:p>
            <a:r>
              <a:rPr lang="en-US" b="1" dirty="0"/>
              <a:t>Postfix</a:t>
            </a:r>
            <a:endParaRPr lang="en-US" dirty="0"/>
          </a:p>
        </p:txBody>
      </p:sp>
      <p:sp>
        <p:nvSpPr>
          <p:cNvPr id="3" name="Content Placeholder 2"/>
          <p:cNvSpPr>
            <a:spLocks noGrp="1"/>
          </p:cNvSpPr>
          <p:nvPr>
            <p:ph idx="1"/>
          </p:nvPr>
        </p:nvSpPr>
        <p:spPr>
          <a:xfrm>
            <a:off x="0" y="1828800"/>
            <a:ext cx="9144000" cy="4800600"/>
          </a:xfrm>
        </p:spPr>
        <p:txBody>
          <a:bodyPr/>
          <a:lstStyle/>
          <a:p>
            <a:pPr algn="just">
              <a:lnSpc>
                <a:spcPct val="150000"/>
              </a:lnSpc>
              <a:buNone/>
            </a:pPr>
            <a:r>
              <a:rPr lang="en-US" b="1" dirty="0"/>
              <a:t>	Postfix</a:t>
            </a:r>
            <a:r>
              <a:rPr lang="en-US" dirty="0"/>
              <a:t> is a free and open-source mail transfer agent (MTA) that routes and delivers electronic mail.</a:t>
            </a:r>
          </a:p>
          <a:p>
            <a:pPr algn="just">
              <a:lnSpc>
                <a:spcPct val="150000"/>
              </a:lnSpc>
              <a:buNone/>
            </a:pPr>
            <a:r>
              <a:rPr lang="en-US" dirty="0"/>
              <a:t>	</a:t>
            </a:r>
            <a:r>
              <a:rPr lang="en-US" dirty="0" err="1"/>
              <a:t>Sendmail</a:t>
            </a:r>
            <a:r>
              <a:rPr lang="en-US" dirty="0"/>
              <a:t> is the default MTA on the </a:t>
            </a:r>
            <a:r>
              <a:rPr lang="en-US" dirty="0" err="1"/>
              <a:t>RedHat</a:t>
            </a:r>
            <a:r>
              <a:rPr lang="en-US" dirty="0"/>
              <a:t> Linux distribution</a:t>
            </a:r>
          </a:p>
        </p:txBody>
      </p:sp>
    </p:spTree>
    <p:extLst>
      <p:ext uri="{BB962C8B-B14F-4D97-AF65-F5344CB8AC3E}">
        <p14:creationId xmlns:p14="http://schemas.microsoft.com/office/powerpoint/2010/main" val="364362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1"/>
            <a:ext cx="8229600" cy="762000"/>
          </a:xfrm>
        </p:spPr>
        <p:txBody>
          <a:bodyPr/>
          <a:lstStyle/>
          <a:p>
            <a:r>
              <a:rPr lang="en-US" dirty="0"/>
              <a:t>Dovecot</a:t>
            </a:r>
          </a:p>
        </p:txBody>
      </p:sp>
      <p:sp>
        <p:nvSpPr>
          <p:cNvPr id="3" name="Content Placeholder 2"/>
          <p:cNvSpPr>
            <a:spLocks noGrp="1"/>
          </p:cNvSpPr>
          <p:nvPr>
            <p:ph idx="1"/>
          </p:nvPr>
        </p:nvSpPr>
        <p:spPr>
          <a:xfrm>
            <a:off x="0" y="1641475"/>
            <a:ext cx="9144000" cy="5216525"/>
          </a:xfrm>
        </p:spPr>
        <p:txBody>
          <a:bodyPr/>
          <a:lstStyle/>
          <a:p>
            <a:pPr algn="just">
              <a:lnSpc>
                <a:spcPct val="150000"/>
              </a:lnSpc>
              <a:buNone/>
            </a:pPr>
            <a:r>
              <a:rPr lang="en-US" dirty="0"/>
              <a:t>	As an IMAP and POP3 server, </a:t>
            </a:r>
            <a:r>
              <a:rPr lang="en-US" b="1" dirty="0"/>
              <a:t>Dovecot</a:t>
            </a:r>
            <a:r>
              <a:rPr lang="en-US" dirty="0"/>
              <a:t> provides a way for Mail User Agents (MUAs) to access their mail. So when a user's MUA contacts the mail server, the software which answers that request is an IMAP or POP3 server.</a:t>
            </a:r>
          </a:p>
        </p:txBody>
      </p:sp>
    </p:spTree>
    <p:extLst>
      <p:ext uri="{BB962C8B-B14F-4D97-AF65-F5344CB8AC3E}">
        <p14:creationId xmlns:p14="http://schemas.microsoft.com/office/powerpoint/2010/main" val="808545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3906" t="35417" r="46875" b="16667"/>
          <a:stretch>
            <a:fillRect/>
          </a:stretch>
        </p:blipFill>
        <p:spPr bwMode="auto">
          <a:xfrm>
            <a:off x="838200" y="1405467"/>
            <a:ext cx="7467600" cy="5452533"/>
          </a:xfrm>
          <a:prstGeom prst="rect">
            <a:avLst/>
          </a:prstGeom>
          <a:noFill/>
          <a:ln w="9525">
            <a:noFill/>
            <a:miter lim="800000"/>
            <a:headEnd/>
            <a:tailEnd/>
          </a:ln>
          <a:effectLst/>
        </p:spPr>
      </p:pic>
      <p:sp>
        <p:nvSpPr>
          <p:cNvPr id="5" name="Title 1"/>
          <p:cNvSpPr>
            <a:spLocks noGrp="1"/>
          </p:cNvSpPr>
          <p:nvPr>
            <p:ph type="title"/>
          </p:nvPr>
        </p:nvSpPr>
        <p:spPr>
          <a:xfrm>
            <a:off x="457200" y="685801"/>
            <a:ext cx="8229600" cy="762000"/>
          </a:xfrm>
        </p:spPr>
        <p:txBody>
          <a:bodyPr/>
          <a:lstStyle/>
          <a:p>
            <a:r>
              <a:rPr lang="en-US" dirty="0"/>
              <a:t>Dovecot</a:t>
            </a:r>
          </a:p>
        </p:txBody>
      </p:sp>
    </p:spTree>
    <p:extLst>
      <p:ext uri="{BB962C8B-B14F-4D97-AF65-F5344CB8AC3E}">
        <p14:creationId xmlns:p14="http://schemas.microsoft.com/office/powerpoint/2010/main" val="3759920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1139825"/>
          </a:xfrm>
        </p:spPr>
        <p:txBody>
          <a:bodyPr/>
          <a:lstStyle/>
          <a:p>
            <a:r>
              <a:rPr lang="fr-FR" sz="4000" b="1" dirty="0"/>
              <a:t>Internet Message Access Protocol </a:t>
            </a:r>
            <a:r>
              <a:rPr lang="fr-FR" sz="4000" dirty="0"/>
              <a:t> (</a:t>
            </a:r>
            <a:r>
              <a:rPr lang="fr-FR" sz="4000" b="1" dirty="0"/>
              <a:t>IMAP</a:t>
            </a:r>
            <a:r>
              <a:rPr lang="fr-FR" sz="4000" dirty="0"/>
              <a:t>)</a:t>
            </a:r>
            <a:endParaRPr lang="en-US" sz="4000" dirty="0"/>
          </a:p>
        </p:txBody>
      </p:sp>
      <p:sp>
        <p:nvSpPr>
          <p:cNvPr id="3" name="Content Placeholder 2"/>
          <p:cNvSpPr>
            <a:spLocks noGrp="1"/>
          </p:cNvSpPr>
          <p:nvPr>
            <p:ph idx="1"/>
          </p:nvPr>
        </p:nvSpPr>
        <p:spPr>
          <a:xfrm>
            <a:off x="0" y="2209800"/>
            <a:ext cx="9144000" cy="4267200"/>
          </a:xfrm>
        </p:spPr>
        <p:txBody>
          <a:bodyPr/>
          <a:lstStyle/>
          <a:p>
            <a:pPr algn="just">
              <a:lnSpc>
                <a:spcPct val="150000"/>
              </a:lnSpc>
              <a:buNone/>
            </a:pPr>
            <a:r>
              <a:rPr lang="en-US" dirty="0"/>
              <a:t>	is a protocol for e-mail retrieval and storage developed as an alternative to POP. </a:t>
            </a:r>
          </a:p>
          <a:p>
            <a:pPr algn="just">
              <a:buNone/>
            </a:pPr>
            <a:r>
              <a:rPr lang="en-US" dirty="0"/>
              <a:t>	</a:t>
            </a:r>
          </a:p>
        </p:txBody>
      </p:sp>
    </p:spTree>
    <p:extLst>
      <p:ext uri="{BB962C8B-B14F-4D97-AF65-F5344CB8AC3E}">
        <p14:creationId xmlns:p14="http://schemas.microsoft.com/office/powerpoint/2010/main" val="251090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1139825"/>
          </a:xfrm>
        </p:spPr>
        <p:txBody>
          <a:bodyPr>
            <a:normAutofit fontScale="90000"/>
          </a:bodyPr>
          <a:lstStyle/>
          <a:p>
            <a:r>
              <a:rPr lang="fr-FR" sz="4000" b="1" dirty="0"/>
              <a:t>Internet Message Access Protocol</a:t>
            </a:r>
            <a:br>
              <a:rPr lang="fr-FR" sz="4000" b="1" dirty="0"/>
            </a:br>
            <a:r>
              <a:rPr lang="fr-FR" sz="4000" dirty="0"/>
              <a:t> (</a:t>
            </a:r>
            <a:r>
              <a:rPr lang="fr-FR" sz="4000" b="1" dirty="0"/>
              <a:t>IMAP</a:t>
            </a:r>
            <a:r>
              <a:rPr lang="fr-FR" sz="4000" dirty="0"/>
              <a:t>)</a:t>
            </a:r>
            <a:endParaRPr lang="en-US" sz="4000" dirty="0"/>
          </a:p>
        </p:txBody>
      </p:sp>
      <p:sp>
        <p:nvSpPr>
          <p:cNvPr id="3" name="Content Placeholder 2"/>
          <p:cNvSpPr>
            <a:spLocks noGrp="1"/>
          </p:cNvSpPr>
          <p:nvPr>
            <p:ph idx="1"/>
          </p:nvPr>
        </p:nvSpPr>
        <p:spPr>
          <a:xfrm>
            <a:off x="0" y="1752600"/>
            <a:ext cx="9144000" cy="5105401"/>
          </a:xfrm>
        </p:spPr>
        <p:txBody>
          <a:bodyPr/>
          <a:lstStyle/>
          <a:p>
            <a:pPr algn="just">
              <a:lnSpc>
                <a:spcPct val="150000"/>
              </a:lnSpc>
              <a:buNone/>
            </a:pPr>
            <a:r>
              <a:rPr lang="en-US" dirty="0"/>
              <a:t>	IMAP, unlike POP, specifically allows multiple clients simultaneously connected to the same mailbox, </a:t>
            </a:r>
          </a:p>
          <a:p>
            <a:pPr algn="just">
              <a:lnSpc>
                <a:spcPct val="150000"/>
              </a:lnSpc>
              <a:buNone/>
            </a:pPr>
            <a:r>
              <a:rPr lang="en-US" dirty="0"/>
              <a:t>	different clients accessing the same mailbox at the same or different times can detect state changes made by other clients.</a:t>
            </a:r>
          </a:p>
        </p:txBody>
      </p:sp>
    </p:spTree>
    <p:extLst>
      <p:ext uri="{BB962C8B-B14F-4D97-AF65-F5344CB8AC3E}">
        <p14:creationId xmlns:p14="http://schemas.microsoft.com/office/powerpoint/2010/main" val="2098826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636587"/>
          </a:xfrm>
        </p:spPr>
        <p:txBody>
          <a:bodyPr>
            <a:normAutofit fontScale="90000"/>
          </a:bodyPr>
          <a:lstStyle/>
          <a:p>
            <a:r>
              <a:rPr lang="en-US" dirty="0"/>
              <a:t>POP </a:t>
            </a:r>
            <a:r>
              <a:rPr lang="en-US" dirty="0" err="1"/>
              <a:t>vs</a:t>
            </a:r>
            <a:r>
              <a:rPr lang="en-US" dirty="0"/>
              <a:t> IMAP</a:t>
            </a:r>
          </a:p>
        </p:txBody>
      </p:sp>
      <p:sp>
        <p:nvSpPr>
          <p:cNvPr id="3" name="Content Placeholder 2"/>
          <p:cNvSpPr>
            <a:spLocks noGrp="1"/>
          </p:cNvSpPr>
          <p:nvPr>
            <p:ph idx="1"/>
          </p:nvPr>
        </p:nvSpPr>
        <p:spPr>
          <a:xfrm>
            <a:off x="0" y="1600200"/>
            <a:ext cx="9144000" cy="4800600"/>
          </a:xfrm>
        </p:spPr>
        <p:txBody>
          <a:bodyPr/>
          <a:lstStyle/>
          <a:p>
            <a:pPr algn="just">
              <a:lnSpc>
                <a:spcPct val="150000"/>
              </a:lnSpc>
              <a:buNone/>
            </a:pPr>
            <a:r>
              <a:rPr lang="en-US" sz="2800" dirty="0"/>
              <a:t>	</a:t>
            </a:r>
            <a:r>
              <a:rPr lang="en-US" dirty="0"/>
              <a:t>IMAP allows you to view your email from more than one place. E.g. from your desktop computer at work </a:t>
            </a:r>
            <a:r>
              <a:rPr lang="en-US" i="1" dirty="0"/>
              <a:t>and</a:t>
            </a:r>
            <a:r>
              <a:rPr lang="en-US" b="1" dirty="0"/>
              <a:t> </a:t>
            </a:r>
            <a:r>
              <a:rPr lang="en-US" dirty="0"/>
              <a:t>from your laptop at home </a:t>
            </a:r>
            <a:r>
              <a:rPr lang="en-US" i="1" dirty="0"/>
              <a:t>and</a:t>
            </a:r>
            <a:r>
              <a:rPr lang="en-US" dirty="0"/>
              <a:t> from abroad </a:t>
            </a:r>
            <a:r>
              <a:rPr lang="en-US" i="1" dirty="0"/>
              <a:t>and </a:t>
            </a:r>
            <a:r>
              <a:rPr lang="en-US" dirty="0"/>
              <a:t>from your mobile device - multiple locations</a:t>
            </a:r>
            <a:r>
              <a:rPr lang="en-US" sz="2800" dirty="0"/>
              <a:t>.</a:t>
            </a:r>
          </a:p>
          <a:p>
            <a:pPr algn="just">
              <a:lnSpc>
                <a:spcPct val="150000"/>
              </a:lnSpc>
              <a:buNone/>
            </a:pPr>
            <a:r>
              <a:rPr lang="en-US" sz="2800" dirty="0"/>
              <a:t>	</a:t>
            </a:r>
          </a:p>
        </p:txBody>
      </p:sp>
    </p:spTree>
    <p:extLst>
      <p:ext uri="{BB962C8B-B14F-4D97-AF65-F5344CB8AC3E}">
        <p14:creationId xmlns:p14="http://schemas.microsoft.com/office/powerpoint/2010/main" val="3251144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636587"/>
          </a:xfrm>
        </p:spPr>
        <p:txBody>
          <a:bodyPr>
            <a:normAutofit fontScale="90000"/>
          </a:bodyPr>
          <a:lstStyle/>
          <a:p>
            <a:r>
              <a:rPr lang="en-US" dirty="0"/>
              <a:t>POP </a:t>
            </a:r>
            <a:r>
              <a:rPr lang="en-US" dirty="0" err="1"/>
              <a:t>vs</a:t>
            </a:r>
            <a:r>
              <a:rPr lang="en-US" dirty="0"/>
              <a:t> IMAP</a:t>
            </a:r>
          </a:p>
        </p:txBody>
      </p:sp>
      <p:sp>
        <p:nvSpPr>
          <p:cNvPr id="3" name="Content Placeholder 2"/>
          <p:cNvSpPr>
            <a:spLocks noGrp="1"/>
          </p:cNvSpPr>
          <p:nvPr>
            <p:ph idx="1"/>
          </p:nvPr>
        </p:nvSpPr>
        <p:spPr>
          <a:xfrm>
            <a:off x="0" y="1295400"/>
            <a:ext cx="9144000" cy="5562600"/>
          </a:xfrm>
        </p:spPr>
        <p:txBody>
          <a:bodyPr/>
          <a:lstStyle/>
          <a:p>
            <a:pPr algn="just">
              <a:lnSpc>
                <a:spcPct val="150000"/>
              </a:lnSpc>
              <a:buNone/>
            </a:pPr>
            <a:r>
              <a:rPr lang="en-US" b="1" dirty="0"/>
              <a:t>	POP (Post Office Protocol)</a:t>
            </a:r>
          </a:p>
          <a:p>
            <a:pPr algn="just">
              <a:lnSpc>
                <a:spcPct val="150000"/>
              </a:lnSpc>
              <a:buNone/>
            </a:pPr>
            <a:r>
              <a:rPr lang="en-US" dirty="0"/>
              <a:t>	POP is suitable if you have no need to check your email in multiple locations. If you only ever check your UCL email on your computer at work, for example, then POP is fine for this purpose.</a:t>
            </a:r>
            <a:br>
              <a:rPr lang="en-US" dirty="0"/>
            </a:br>
            <a:endParaRPr lang="en-US" dirty="0"/>
          </a:p>
        </p:txBody>
      </p:sp>
    </p:spTree>
    <p:extLst>
      <p:ext uri="{BB962C8B-B14F-4D97-AF65-F5344CB8AC3E}">
        <p14:creationId xmlns:p14="http://schemas.microsoft.com/office/powerpoint/2010/main" val="2982945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39825"/>
          </a:xfrm>
        </p:spPr>
        <p:txBody>
          <a:bodyPr/>
          <a:lstStyle/>
          <a:p>
            <a:r>
              <a:rPr lang="en-US" dirty="0"/>
              <a:t>POP3 (Post Office Protocol 3)</a:t>
            </a:r>
          </a:p>
        </p:txBody>
      </p:sp>
      <p:sp>
        <p:nvSpPr>
          <p:cNvPr id="3" name="Content Placeholder 2"/>
          <p:cNvSpPr>
            <a:spLocks noGrp="1"/>
          </p:cNvSpPr>
          <p:nvPr>
            <p:ph idx="1"/>
          </p:nvPr>
        </p:nvSpPr>
        <p:spPr>
          <a:xfrm>
            <a:off x="0" y="2438400"/>
            <a:ext cx="9144000" cy="3276600"/>
          </a:xfrm>
        </p:spPr>
        <p:txBody>
          <a:bodyPr/>
          <a:lstStyle/>
          <a:p>
            <a:pPr algn="just">
              <a:lnSpc>
                <a:spcPct val="150000"/>
              </a:lnSpc>
              <a:buNone/>
            </a:pPr>
            <a:r>
              <a:rPr lang="en-US" dirty="0"/>
              <a:t>	POP3 (Post Office Protocol 3) is the most recent version of a standard protocol for receiving e-mail.</a:t>
            </a:r>
          </a:p>
          <a:p>
            <a:endParaRPr lang="en-US" dirty="0"/>
          </a:p>
        </p:txBody>
      </p:sp>
    </p:spTree>
    <p:extLst>
      <p:ext uri="{BB962C8B-B14F-4D97-AF65-F5344CB8AC3E}">
        <p14:creationId xmlns:p14="http://schemas.microsoft.com/office/powerpoint/2010/main" val="3982297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39825"/>
          </a:xfrm>
        </p:spPr>
        <p:txBody>
          <a:bodyPr/>
          <a:lstStyle/>
          <a:p>
            <a:r>
              <a:rPr lang="en-US" dirty="0"/>
              <a:t>Command to install EPL</a:t>
            </a:r>
          </a:p>
        </p:txBody>
      </p:sp>
      <p:sp>
        <p:nvSpPr>
          <p:cNvPr id="3" name="Content Placeholder 2"/>
          <p:cNvSpPr>
            <a:spLocks noGrp="1"/>
          </p:cNvSpPr>
          <p:nvPr>
            <p:ph idx="1"/>
          </p:nvPr>
        </p:nvSpPr>
        <p:spPr>
          <a:xfrm>
            <a:off x="0" y="2057400"/>
            <a:ext cx="9144000" cy="4267200"/>
          </a:xfrm>
        </p:spPr>
        <p:txBody>
          <a:bodyPr/>
          <a:lstStyle/>
          <a:p>
            <a:pPr>
              <a:buNone/>
            </a:pPr>
            <a:r>
              <a:rPr lang="en-US" dirty="0"/>
              <a:t>	</a:t>
            </a:r>
            <a:r>
              <a:rPr lang="en-US" dirty="0" err="1"/>
              <a:t>wget</a:t>
            </a:r>
            <a:r>
              <a:rPr lang="en-US" dirty="0"/>
              <a:t> http://dl.fedoraproject.org/pub/epel/6/x86_64/epel-release-6-8.noarch.rpm </a:t>
            </a:r>
            <a:r>
              <a:rPr lang="en-US" dirty="0" err="1"/>
              <a:t>sudo</a:t>
            </a:r>
            <a:r>
              <a:rPr lang="en-US" dirty="0"/>
              <a:t> rpm -</a:t>
            </a:r>
            <a:r>
              <a:rPr lang="en-US" dirty="0" err="1"/>
              <a:t>Uvh</a:t>
            </a:r>
            <a:r>
              <a:rPr lang="en-US" dirty="0"/>
              <a:t> epel-release-6*.rpm</a:t>
            </a:r>
          </a:p>
        </p:txBody>
      </p:sp>
    </p:spTree>
    <p:extLst>
      <p:ext uri="{BB962C8B-B14F-4D97-AF65-F5344CB8AC3E}">
        <p14:creationId xmlns:p14="http://schemas.microsoft.com/office/powerpoint/2010/main" val="1904614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86200" y="2971800"/>
            <a:ext cx="1752600" cy="1250950"/>
          </a:xfrm>
        </p:spPr>
        <p:txBody>
          <a:bodyPr/>
          <a:lstStyle/>
          <a:p>
            <a:r>
              <a:rPr lang="en-US" dirty="0"/>
              <a:t>END.</a:t>
            </a:r>
          </a:p>
        </p:txBody>
      </p:sp>
    </p:spTree>
    <p:extLst>
      <p:ext uri="{BB962C8B-B14F-4D97-AF65-F5344CB8AC3E}">
        <p14:creationId xmlns:p14="http://schemas.microsoft.com/office/powerpoint/2010/main" val="1457809355"/>
      </p:ext>
    </p:extLst>
  </p:cSld>
  <p:clrMapOvr>
    <a:masterClrMapping/>
  </p:clrMapOvr>
</p:sld>
</file>

<file path=ppt/theme/theme1.xml><?xml version="1.0" encoding="utf-8"?>
<a:theme xmlns:a="http://schemas.openxmlformats.org/drawingml/2006/main" name="moodle201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odle2019" id="{706F3948-5CF7-4044-AB3D-3E6D4A39D46D}" vid="{08034E9D-67D0-4A4F-A8FE-36E87C6CF4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moodle2019</Template>
  <TotalTime>5255</TotalTime>
  <Words>347</Words>
  <Application>Microsoft Office PowerPoint</Application>
  <PresentationFormat>On-screen Show (4:3)</PresentationFormat>
  <Paragraphs>25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moodle2019</vt:lpstr>
      <vt:lpstr>IT2402   Free and Open Source Software Solutions</vt:lpstr>
      <vt:lpstr>Postfix</vt:lpstr>
      <vt:lpstr>Dovecot</vt:lpstr>
      <vt:lpstr>Dovecot</vt:lpstr>
      <vt:lpstr>Internet Message Access Protocol  (IMAP)</vt:lpstr>
      <vt:lpstr>Internet Message Access Protocol  (IMAP)</vt:lpstr>
      <vt:lpstr>POP vs IMAP</vt:lpstr>
      <vt:lpstr>POP vs IMAP</vt:lpstr>
      <vt:lpstr>POP3 (Post Office Protocol 3)</vt:lpstr>
      <vt:lpstr>Command to install EPL</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side programming</dc:title>
  <dc:creator>tfn</dc:creator>
  <cp:lastModifiedBy>USER</cp:lastModifiedBy>
  <cp:revision>543</cp:revision>
  <dcterms:created xsi:type="dcterms:W3CDTF">2009-08-27T14:05:17Z</dcterms:created>
  <dcterms:modified xsi:type="dcterms:W3CDTF">2020-03-23T12:08:11Z</dcterms:modified>
</cp:coreProperties>
</file>