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256" r:id="rId2"/>
    <p:sldId id="296" r:id="rId3"/>
    <p:sldId id="319" r:id="rId4"/>
    <p:sldId id="314" r:id="rId5"/>
    <p:sldId id="297" r:id="rId6"/>
    <p:sldId id="299" r:id="rId7"/>
    <p:sldId id="300" r:id="rId8"/>
    <p:sldId id="302" r:id="rId9"/>
    <p:sldId id="301" r:id="rId10"/>
    <p:sldId id="281" r:id="rId11"/>
    <p:sldId id="303" r:id="rId12"/>
    <p:sldId id="304" r:id="rId13"/>
    <p:sldId id="305" r:id="rId14"/>
    <p:sldId id="306" r:id="rId15"/>
    <p:sldId id="315" r:id="rId16"/>
    <p:sldId id="307" r:id="rId17"/>
    <p:sldId id="308" r:id="rId18"/>
    <p:sldId id="309" r:id="rId19"/>
    <p:sldId id="310" r:id="rId20"/>
    <p:sldId id="311" r:id="rId21"/>
    <p:sldId id="313" r:id="rId22"/>
    <p:sldId id="316" r:id="rId23"/>
    <p:sldId id="31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6" autoAdjust="0"/>
    <p:restoredTop sz="93416" autoAdjust="0"/>
  </p:normalViewPr>
  <p:slideViewPr>
    <p:cSldViewPr>
      <p:cViewPr>
        <p:scale>
          <a:sx n="70" d="100"/>
          <a:sy n="70" d="100"/>
        </p:scale>
        <p:origin x="-1320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B1830-6508-4C11-808F-56C5790E9D9F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A3082-602E-4D44-BEB2-84D3721F4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5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/>
              <a:t>Application Components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Application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Activity</a:t>
            </a:r>
            <a:r>
              <a:rPr lang="en-US" dirty="0"/>
              <a:t>: </a:t>
            </a:r>
            <a:endParaRPr lang="en-US" dirty="0" smtClean="0"/>
          </a:p>
          <a:p>
            <a:pPr lvl="1" algn="just"/>
            <a:r>
              <a:rPr lang="en-US" dirty="0" smtClean="0"/>
              <a:t>A single screen  </a:t>
            </a:r>
            <a:r>
              <a:rPr lang="en-US" dirty="0"/>
              <a:t>that’s visible to user</a:t>
            </a:r>
          </a:p>
          <a:p>
            <a:pPr algn="just"/>
            <a:r>
              <a:rPr lang="en-US" b="1" dirty="0"/>
              <a:t>Service</a:t>
            </a:r>
            <a:r>
              <a:rPr lang="en-US" dirty="0"/>
              <a:t>: </a:t>
            </a:r>
            <a:endParaRPr lang="en-US" dirty="0" smtClean="0"/>
          </a:p>
          <a:p>
            <a:pPr lvl="1" algn="just"/>
            <a:r>
              <a:rPr lang="en-US" dirty="0" smtClean="0"/>
              <a:t>Long-running </a:t>
            </a:r>
            <a:r>
              <a:rPr lang="en-US" dirty="0"/>
              <a:t>background </a:t>
            </a:r>
            <a:r>
              <a:rPr lang="en-US" dirty="0" smtClean="0"/>
              <a:t>operation of app</a:t>
            </a:r>
          </a:p>
          <a:p>
            <a:pPr algn="just"/>
            <a:r>
              <a:rPr lang="en-US" b="1" dirty="0" err="1" smtClean="0"/>
              <a:t>ContentProvider</a:t>
            </a:r>
            <a:r>
              <a:rPr lang="en-US" dirty="0"/>
              <a:t>: </a:t>
            </a:r>
            <a:endParaRPr lang="en-US" dirty="0" smtClean="0"/>
          </a:p>
          <a:p>
            <a:pPr lvl="1" algn="just"/>
            <a:r>
              <a:rPr lang="en-US" dirty="0" smtClean="0"/>
              <a:t>Supplies </a:t>
            </a:r>
            <a:r>
              <a:rPr lang="en-US" dirty="0"/>
              <a:t>data from one application to others on request.</a:t>
            </a:r>
          </a:p>
          <a:p>
            <a:pPr algn="just"/>
            <a:r>
              <a:rPr lang="en-US" b="1" dirty="0" err="1"/>
              <a:t>BroadcastReceiver</a:t>
            </a:r>
            <a:r>
              <a:rPr lang="en-US" b="1" dirty="0"/>
              <a:t>: </a:t>
            </a:r>
            <a:endParaRPr lang="en-US" b="1" dirty="0" smtClean="0"/>
          </a:p>
          <a:p>
            <a:pPr lvl="1" algn="just"/>
            <a:r>
              <a:rPr lang="en-US" dirty="0" smtClean="0"/>
              <a:t>Deceive and respond </a:t>
            </a:r>
            <a:r>
              <a:rPr lang="en-US" dirty="0"/>
              <a:t>to broadcast messages from </a:t>
            </a:r>
            <a:r>
              <a:rPr lang="en-US" dirty="0" smtClean="0"/>
              <a:t>other applications </a:t>
            </a:r>
            <a:r>
              <a:rPr lang="en-US" dirty="0"/>
              <a:t>or from the system.</a:t>
            </a:r>
          </a:p>
        </p:txBody>
      </p:sp>
    </p:spTree>
    <p:extLst>
      <p:ext uri="{BB962C8B-B14F-4D97-AF65-F5344CB8AC3E}">
        <p14:creationId xmlns:p14="http://schemas.microsoft.com/office/powerpoint/2010/main" val="6927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Intent </a:t>
            </a:r>
            <a:r>
              <a:rPr lang="en-US" dirty="0"/>
              <a:t>- Message </a:t>
            </a:r>
            <a:r>
              <a:rPr lang="en-US" dirty="0" smtClean="0"/>
              <a:t>objects </a:t>
            </a:r>
            <a:r>
              <a:rPr lang="en-US" dirty="0"/>
              <a:t>that make a request to the Android runtime to start an activity or other app component </a:t>
            </a:r>
            <a:endParaRPr lang="en-US" dirty="0" smtClean="0"/>
          </a:p>
          <a:p>
            <a:pPr lvl="1"/>
            <a:r>
              <a:rPr lang="en-US" dirty="0"/>
              <a:t>Explicit  Intent </a:t>
            </a:r>
            <a:endParaRPr lang="en-US" dirty="0" smtClean="0"/>
          </a:p>
          <a:p>
            <a:pPr lvl="1"/>
            <a:r>
              <a:rPr lang="en-US" dirty="0"/>
              <a:t>Implicit Intent 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24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 smtClean="0"/>
              <a:t>One screen </a:t>
            </a:r>
            <a:r>
              <a:rPr lang="en-US" dirty="0"/>
              <a:t>of the </a:t>
            </a:r>
            <a:r>
              <a:rPr lang="en-US" b="1" dirty="0" smtClean="0"/>
              <a:t>Android </a:t>
            </a:r>
            <a:r>
              <a:rPr lang="en-US" dirty="0" smtClean="0"/>
              <a:t>app's </a:t>
            </a:r>
            <a:r>
              <a:rPr lang="en-US" dirty="0"/>
              <a:t>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125066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User interface screen </a:t>
            </a:r>
          </a:p>
          <a:p>
            <a:pPr algn="just"/>
            <a:r>
              <a:rPr lang="en-US" dirty="0" smtClean="0"/>
              <a:t>Application can have one or more activities</a:t>
            </a:r>
          </a:p>
          <a:p>
            <a:pPr algn="just"/>
            <a:r>
              <a:rPr lang="en-US" dirty="0" smtClean="0"/>
              <a:t>Activities extends Context class, so activities can used to get global information of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4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Life </a:t>
            </a:r>
            <a:r>
              <a:rPr lang="en-US" dirty="0"/>
              <a:t>C</a:t>
            </a:r>
            <a:r>
              <a:rPr lang="en-US" dirty="0" smtClean="0"/>
              <a:t>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 smtClean="0"/>
              <a:t>Developer do not have any control over activity state.</a:t>
            </a:r>
          </a:p>
          <a:p>
            <a:pPr algn="just"/>
            <a:r>
              <a:rPr lang="en-US" altLang="en-US" dirty="0" smtClean="0"/>
              <a:t>Activity state are managed by system.</a:t>
            </a:r>
          </a:p>
          <a:p>
            <a:pPr algn="just"/>
            <a:r>
              <a:rPr lang="en-US" altLang="en-US" dirty="0" err="1" smtClean="0"/>
              <a:t>Dalvik</a:t>
            </a:r>
            <a:r>
              <a:rPr lang="en-US" altLang="en-US" dirty="0" smtClean="0"/>
              <a:t> </a:t>
            </a:r>
            <a:r>
              <a:rPr lang="en-US" altLang="en-US" dirty="0"/>
              <a:t>VM can stop any 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Activity</a:t>
            </a:r>
            <a:r>
              <a:rPr lang="en-US" altLang="en-US" dirty="0"/>
              <a:t> without warning!</a:t>
            </a:r>
          </a:p>
          <a:p>
            <a:pPr algn="just"/>
            <a:r>
              <a:rPr lang="en-US" dirty="0"/>
              <a:t>Activity save it’s own state , so it can be restored later in application life cycle.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8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Life </a:t>
            </a:r>
            <a:r>
              <a:rPr lang="en-US" dirty="0" smtClean="0"/>
              <a:t>Cycle – State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52600"/>
            <a:ext cx="91440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73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Method </a:t>
            </a:r>
            <a:r>
              <a:rPr lang="en-US" dirty="0"/>
              <a:t>that gets called when an </a:t>
            </a:r>
            <a:r>
              <a:rPr lang="en-US" dirty="0" smtClean="0"/>
              <a:t>event occurs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99093"/>
              </p:ext>
            </p:extLst>
          </p:nvPr>
        </p:nvGraphicFramePr>
        <p:xfrm>
          <a:off x="228600" y="2667000"/>
          <a:ext cx="8763000" cy="2943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934200"/>
              </a:tblGrid>
              <a:tr h="5048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Callback method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Description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onCreate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smtClean="0">
                          <a:effectLst/>
                        </a:rPr>
                        <a:t>First </a:t>
                      </a:r>
                      <a:r>
                        <a:rPr lang="en-US" sz="2000" u="none" strike="noStrike" dirty="0">
                          <a:effectLst/>
                        </a:rPr>
                        <a:t>callback and called when the activity is first created.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onStart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smtClean="0">
                          <a:effectLst/>
                        </a:rPr>
                        <a:t>Called </a:t>
                      </a:r>
                      <a:r>
                        <a:rPr lang="en-US" sz="2000" u="none" strike="noStrike" dirty="0">
                          <a:effectLst/>
                        </a:rPr>
                        <a:t>when the activity becomes visible to the user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onResume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smtClean="0">
                          <a:effectLst/>
                        </a:rPr>
                        <a:t>Called </a:t>
                      </a:r>
                      <a:r>
                        <a:rPr lang="en-US" sz="2000" u="none" strike="noStrike" dirty="0">
                          <a:effectLst/>
                        </a:rPr>
                        <a:t>when the user starts interacting with the </a:t>
                      </a:r>
                      <a:r>
                        <a:rPr lang="en-US" sz="2000" u="none" strike="noStrike" dirty="0" smtClean="0">
                          <a:effectLst/>
                        </a:rPr>
                        <a:t>application.</a:t>
                      </a:r>
                      <a:r>
                        <a:rPr lang="en-US" sz="2000" dirty="0" smtClean="0"/>
                        <a:t> the activity is now at the top of the activity stack and is the activity with which the user is currently interacting.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onRestart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smtClean="0">
                          <a:effectLst/>
                        </a:rPr>
                        <a:t>Called </a:t>
                      </a:r>
                      <a:r>
                        <a:rPr lang="en-US" sz="2000" u="none" strike="noStrike" dirty="0">
                          <a:effectLst/>
                        </a:rPr>
                        <a:t>when the activity restarts after stopping it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23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Method </a:t>
            </a:r>
            <a:r>
              <a:rPr lang="en-US" dirty="0"/>
              <a:t>that gets called when an </a:t>
            </a:r>
            <a:r>
              <a:rPr lang="en-US" dirty="0" smtClean="0"/>
              <a:t>event occurs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22152"/>
              </p:ext>
            </p:extLst>
          </p:nvPr>
        </p:nvGraphicFramePr>
        <p:xfrm>
          <a:off x="228600" y="2667000"/>
          <a:ext cx="87630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934200"/>
              </a:tblGrid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Callback method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Description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onPause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called when the current activity is being paused and the previous activity is being resumed.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onStop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called when the activity is no longer visible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onDestroy</a:t>
                      </a:r>
                      <a:r>
                        <a:rPr lang="en-US" sz="2000" u="none" strike="noStrike" dirty="0">
                          <a:effectLst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called before the activity is destroyed by the system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75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Activity </a:t>
            </a:r>
            <a:r>
              <a:rPr lang="en-US" b="1" dirty="0" smtClean="0"/>
              <a:t>Lifetimes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Entire Lifetime</a:t>
            </a:r>
            <a:r>
              <a:rPr lang="en-US" dirty="0"/>
              <a:t> – The term “entire lifetime” is used to describe everything that takes place within an activity between the initial call to the </a:t>
            </a:r>
            <a:r>
              <a:rPr lang="en-US" dirty="0" err="1"/>
              <a:t>onCreate</a:t>
            </a:r>
            <a:r>
              <a:rPr lang="en-US" dirty="0"/>
              <a:t>() method and the call to </a:t>
            </a:r>
            <a:r>
              <a:rPr lang="en-US" dirty="0" err="1"/>
              <a:t>onDestroy</a:t>
            </a:r>
            <a:r>
              <a:rPr lang="en-US" dirty="0"/>
              <a:t>() prior to the activity terminating.</a:t>
            </a:r>
          </a:p>
          <a:p>
            <a:pPr lvl="0"/>
            <a:r>
              <a:rPr lang="en-US" b="1" dirty="0"/>
              <a:t>Visible Lifetime</a:t>
            </a:r>
            <a:r>
              <a:rPr lang="en-US" dirty="0"/>
              <a:t> – Covers the periods of execution of an activity between the call to </a:t>
            </a:r>
            <a:r>
              <a:rPr lang="en-US" dirty="0" err="1"/>
              <a:t>onStart</a:t>
            </a:r>
            <a:r>
              <a:rPr lang="en-US" dirty="0"/>
              <a:t>() and </a:t>
            </a:r>
            <a:r>
              <a:rPr lang="en-US" dirty="0" err="1"/>
              <a:t>onStop</a:t>
            </a:r>
            <a:r>
              <a:rPr lang="en-US" dirty="0"/>
              <a:t>(). During this period the activity is visible to the user though may not be the activity with which the user is currently interacting.</a:t>
            </a:r>
          </a:p>
          <a:p>
            <a:pPr lvl="0"/>
            <a:r>
              <a:rPr lang="en-US" b="1" dirty="0"/>
              <a:t>Foreground Lifetime</a:t>
            </a:r>
            <a:r>
              <a:rPr lang="en-US" dirty="0"/>
              <a:t> – Refers to the periods of execution between calls to the </a:t>
            </a:r>
            <a:r>
              <a:rPr lang="en-US" dirty="0" err="1"/>
              <a:t>onResume</a:t>
            </a:r>
            <a:r>
              <a:rPr lang="en-US" dirty="0"/>
              <a:t>()and </a:t>
            </a:r>
            <a:r>
              <a:rPr lang="en-US" dirty="0" err="1"/>
              <a:t>onPause</a:t>
            </a:r>
            <a:r>
              <a:rPr lang="en-US" dirty="0"/>
              <a:t>()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59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91000"/>
            <a:ext cx="8229600" cy="2239963"/>
          </a:xfrm>
        </p:spPr>
        <p:txBody>
          <a:bodyPr>
            <a:normAutofit/>
          </a:bodyPr>
          <a:lstStyle/>
          <a:p>
            <a:pPr lvl="1" algn="just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Play </a:t>
            </a:r>
            <a:r>
              <a:rPr lang="en-US" dirty="0"/>
              <a:t>music in the </a:t>
            </a:r>
            <a:r>
              <a:rPr lang="en-US" dirty="0" smtClean="0"/>
              <a:t>background</a:t>
            </a:r>
            <a:endParaRPr lang="en-US" dirty="0"/>
          </a:p>
          <a:p>
            <a:pPr lvl="2"/>
            <a:r>
              <a:rPr lang="en-US" dirty="0" smtClean="0"/>
              <a:t>Fetch </a:t>
            </a:r>
            <a:r>
              <a:rPr lang="en-US" dirty="0"/>
              <a:t>data over the network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057401"/>
            <a:ext cx="8229600" cy="2133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smtClean="0"/>
              <a:t>Service is a component that runs in the background to perform long-running operations without needing to interact with the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3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Life </a:t>
            </a:r>
            <a:r>
              <a:rPr lang="en-US" dirty="0"/>
              <a:t>Cycle – </a:t>
            </a:r>
            <a:r>
              <a:rPr lang="en-US" dirty="0" smtClean="0"/>
              <a:t>States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Started</a:t>
            </a:r>
          </a:p>
          <a:p>
            <a:pPr lvl="1" algn="just"/>
            <a:r>
              <a:rPr lang="en-US" dirty="0"/>
              <a:t>A service is </a:t>
            </a:r>
            <a:r>
              <a:rPr lang="en-US" b="1" dirty="0"/>
              <a:t>started </a:t>
            </a:r>
            <a:r>
              <a:rPr lang="en-US" dirty="0"/>
              <a:t>when an application component, such </a:t>
            </a:r>
            <a:r>
              <a:rPr lang="en-US" dirty="0" smtClean="0"/>
              <a:t>as an </a:t>
            </a:r>
            <a:r>
              <a:rPr lang="en-US" dirty="0"/>
              <a:t>activity, starts it by calling </a:t>
            </a:r>
            <a:r>
              <a:rPr lang="en-US" i="1" dirty="0" err="1"/>
              <a:t>startService</a:t>
            </a:r>
            <a:r>
              <a:rPr lang="en-US" i="1" dirty="0" smtClean="0"/>
              <a:t>()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Once </a:t>
            </a:r>
            <a:r>
              <a:rPr lang="en-US" dirty="0"/>
              <a:t>started, </a:t>
            </a:r>
            <a:r>
              <a:rPr lang="en-US" dirty="0" smtClean="0"/>
              <a:t>a service </a:t>
            </a:r>
            <a:r>
              <a:rPr lang="en-US" dirty="0"/>
              <a:t>can run in the background indefinitely, even </a:t>
            </a:r>
            <a:r>
              <a:rPr lang="en-US" dirty="0" smtClean="0"/>
              <a:t>if the component that started </a:t>
            </a:r>
            <a:r>
              <a:rPr lang="en-US" dirty="0"/>
              <a:t>it is destroyed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So use </a:t>
            </a:r>
            <a:r>
              <a:rPr lang="en-US" i="1" dirty="0" err="1"/>
              <a:t>stopSelf</a:t>
            </a:r>
            <a:r>
              <a:rPr lang="en-US" i="1" dirty="0"/>
              <a:t>() </a:t>
            </a:r>
            <a:r>
              <a:rPr lang="en-US" dirty="0"/>
              <a:t>or </a:t>
            </a:r>
            <a:r>
              <a:rPr lang="en-US" i="1" dirty="0" err="1"/>
              <a:t>stopService</a:t>
            </a:r>
            <a:r>
              <a:rPr lang="en-US" i="1" dirty="0" smtClean="0"/>
              <a:t>()</a:t>
            </a:r>
            <a:r>
              <a:rPr lang="en-US" dirty="0" smtClean="0"/>
              <a:t>to stop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2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Service Life </a:t>
            </a:r>
            <a:r>
              <a:rPr lang="en-US" dirty="0"/>
              <a:t>Cycle – </a:t>
            </a:r>
            <a:r>
              <a:rPr lang="en-US" dirty="0" smtClean="0"/>
              <a:t>States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Bound</a:t>
            </a:r>
          </a:p>
          <a:p>
            <a:pPr lvl="1" algn="just"/>
            <a:r>
              <a:rPr lang="en-US" dirty="0"/>
              <a:t>A service is </a:t>
            </a:r>
            <a:r>
              <a:rPr lang="en-US" b="1" dirty="0"/>
              <a:t>bound </a:t>
            </a:r>
            <a:r>
              <a:rPr lang="en-US" dirty="0"/>
              <a:t>when an </a:t>
            </a:r>
            <a:r>
              <a:rPr lang="en-US" dirty="0" smtClean="0"/>
              <a:t>application component binds </a:t>
            </a:r>
            <a:r>
              <a:rPr lang="en-US" dirty="0"/>
              <a:t>to </a:t>
            </a:r>
            <a:r>
              <a:rPr lang="en-US" dirty="0" smtClean="0"/>
              <a:t>it by </a:t>
            </a:r>
            <a:r>
              <a:rPr lang="en-US" dirty="0"/>
              <a:t>calling </a:t>
            </a:r>
            <a:r>
              <a:rPr lang="en-US" i="1" dirty="0" err="1"/>
              <a:t>bindService</a:t>
            </a:r>
            <a:r>
              <a:rPr lang="en-US" i="1" dirty="0" smtClean="0"/>
              <a:t>()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A </a:t>
            </a:r>
            <a:r>
              <a:rPr lang="en-US" dirty="0"/>
              <a:t>bound service offers a </a:t>
            </a:r>
            <a:r>
              <a:rPr lang="en-US" dirty="0" smtClean="0"/>
              <a:t>client-server interface </a:t>
            </a:r>
            <a:r>
              <a:rPr lang="en-US" dirty="0"/>
              <a:t>that allows components to interact with the </a:t>
            </a:r>
            <a:r>
              <a:rPr lang="en-US" dirty="0" smtClean="0"/>
              <a:t>service, send </a:t>
            </a:r>
            <a:r>
              <a:rPr lang="en-US" dirty="0"/>
              <a:t>requests, get results, and even do so across </a:t>
            </a:r>
            <a:r>
              <a:rPr lang="en-US" dirty="0" smtClean="0"/>
              <a:t>processes with inter-process communication (IPC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9028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09922"/>
              </p:ext>
            </p:extLst>
          </p:nvPr>
        </p:nvGraphicFramePr>
        <p:xfrm>
          <a:off x="228600" y="2667000"/>
          <a:ext cx="8763000" cy="3777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934200"/>
              </a:tblGrid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Callback method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Description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onStartCommand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called </a:t>
                      </a: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when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another component, requests the service  by calling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startService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onBind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called this method when another component wants to bind with the service by calling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bindService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onUnbind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called when all clients have disconnected from a particular interface published by the service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onRebind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new clients have connected to the service, after it had previously been notified that all had disconnected in its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onUnbind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(Intent)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service is first created using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onStartCommand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onBind</a:t>
                      </a:r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onDestroy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the service is </a:t>
                      </a:r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being destroyed.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54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Receivers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95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b="1" dirty="0"/>
              <a:t>Android</a:t>
            </a:r>
            <a:r>
              <a:rPr lang="en-US" dirty="0"/>
              <a:t> component which allows you to send or </a:t>
            </a:r>
            <a:r>
              <a:rPr lang="en-US" dirty="0" smtClean="0"/>
              <a:t>receive </a:t>
            </a:r>
            <a:r>
              <a:rPr lang="en-US" b="1" dirty="0" smtClean="0"/>
              <a:t>Android</a:t>
            </a:r>
            <a:r>
              <a:rPr lang="en-US" dirty="0"/>
              <a:t> system or application events.</a:t>
            </a:r>
          </a:p>
        </p:txBody>
      </p:sp>
    </p:spTree>
    <p:extLst>
      <p:ext uri="{BB962C8B-B14F-4D97-AF65-F5344CB8AC3E}">
        <p14:creationId xmlns:p14="http://schemas.microsoft.com/office/powerpoint/2010/main" val="231674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Receivers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Respond </a:t>
            </a:r>
            <a:r>
              <a:rPr lang="en-US" dirty="0"/>
              <a:t>to broadcast messages from </a:t>
            </a:r>
            <a:r>
              <a:rPr lang="en-US" dirty="0" smtClean="0"/>
              <a:t>other applications </a:t>
            </a:r>
            <a:r>
              <a:rPr lang="en-US" dirty="0"/>
              <a:t>or from the </a:t>
            </a:r>
            <a:r>
              <a:rPr lang="en-US" dirty="0" smtClean="0"/>
              <a:t>system.</a:t>
            </a:r>
          </a:p>
          <a:p>
            <a:pPr lvl="1" algn="just"/>
            <a:r>
              <a:rPr lang="en-US" dirty="0" smtClean="0"/>
              <a:t>Steps </a:t>
            </a:r>
            <a:r>
              <a:rPr lang="en-US" dirty="0"/>
              <a:t>to make </a:t>
            </a:r>
            <a:r>
              <a:rPr lang="en-US" dirty="0" smtClean="0"/>
              <a:t>Broadcast Receiver work</a:t>
            </a:r>
          </a:p>
          <a:p>
            <a:pPr lvl="2" algn="just"/>
            <a:r>
              <a:rPr lang="en-US" dirty="0" smtClean="0"/>
              <a:t>Creating </a:t>
            </a:r>
            <a:r>
              <a:rPr lang="en-US" dirty="0"/>
              <a:t>the Broadcast Receiver.</a:t>
            </a:r>
          </a:p>
          <a:p>
            <a:pPr lvl="2" algn="just"/>
            <a:r>
              <a:rPr lang="en-US" dirty="0" smtClean="0"/>
              <a:t>Registering </a:t>
            </a:r>
            <a:r>
              <a:rPr lang="en-US" dirty="0"/>
              <a:t>Broadcast </a:t>
            </a:r>
            <a:r>
              <a:rPr lang="en-US" dirty="0" smtClean="0"/>
              <a:t>Receiver</a:t>
            </a:r>
          </a:p>
          <a:p>
            <a:pPr algn="just"/>
            <a:r>
              <a:rPr lang="en-US" dirty="0"/>
              <a:t>A broadcast receiver is implemented as a subclass of </a:t>
            </a:r>
            <a:r>
              <a:rPr lang="en-US" b="1" dirty="0" err="1"/>
              <a:t>BroadcastReceiver</a:t>
            </a:r>
            <a:r>
              <a:rPr lang="en-US" b="1" dirty="0"/>
              <a:t> </a:t>
            </a:r>
            <a:r>
              <a:rPr lang="en-US" dirty="0" smtClean="0"/>
              <a:t>class and </a:t>
            </a:r>
            <a:r>
              <a:rPr lang="en-US" dirty="0"/>
              <a:t>overriding the </a:t>
            </a:r>
            <a:r>
              <a:rPr lang="en-US" dirty="0" err="1"/>
              <a:t>onReceive</a:t>
            </a:r>
            <a:r>
              <a:rPr lang="en-US" dirty="0"/>
              <a:t>() method where each message is received </a:t>
            </a:r>
            <a:r>
              <a:rPr lang="en-US" dirty="0" smtClean="0"/>
              <a:t>as an </a:t>
            </a:r>
            <a:r>
              <a:rPr lang="en-US" b="1" dirty="0"/>
              <a:t>Intent </a:t>
            </a:r>
            <a:r>
              <a:rPr lang="en-US" dirty="0"/>
              <a:t>object </a:t>
            </a:r>
            <a:r>
              <a:rPr lang="en-US" dirty="0" smtClean="0"/>
              <a:t>parameter.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00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Receivers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public class </a:t>
            </a:r>
            <a:r>
              <a:rPr lang="en-US" sz="2400" dirty="0" err="1"/>
              <a:t>MyReceiver</a:t>
            </a:r>
            <a:r>
              <a:rPr lang="en-US" sz="2400" dirty="0"/>
              <a:t> extends </a:t>
            </a:r>
            <a:r>
              <a:rPr lang="en-US" sz="2400" dirty="0" err="1"/>
              <a:t>BroadcastReceiver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{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@</a:t>
            </a:r>
            <a:r>
              <a:rPr lang="en-US" sz="2400" dirty="0"/>
              <a:t>Override</a:t>
            </a:r>
          </a:p>
          <a:p>
            <a:pPr marL="0" indent="0">
              <a:buNone/>
            </a:pPr>
            <a:r>
              <a:rPr lang="en-US" sz="2400" dirty="0" smtClean="0"/>
              <a:t>	public </a:t>
            </a:r>
            <a:r>
              <a:rPr lang="en-US" sz="2400" dirty="0"/>
              <a:t>void </a:t>
            </a:r>
            <a:r>
              <a:rPr lang="en-US" sz="2400" dirty="0" err="1"/>
              <a:t>onReceive</a:t>
            </a:r>
            <a:r>
              <a:rPr lang="en-US" sz="2400" dirty="0"/>
              <a:t>(Context </a:t>
            </a:r>
            <a:r>
              <a:rPr lang="en-US" sz="2400" dirty="0" err="1"/>
              <a:t>context</a:t>
            </a:r>
            <a:r>
              <a:rPr lang="en-US" sz="2400" dirty="0"/>
              <a:t>, Intent intent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 	{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……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	}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62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Broadcast 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1"/>
            <a:ext cx="8229600" cy="152399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Application </a:t>
            </a:r>
            <a:r>
              <a:rPr lang="en-US" dirty="0"/>
              <a:t>listens for specific broadcast intents by registering a </a:t>
            </a:r>
            <a:r>
              <a:rPr lang="en-US" dirty="0" smtClean="0"/>
              <a:t>broadcast receiver </a:t>
            </a:r>
            <a:r>
              <a:rPr lang="en-US" dirty="0"/>
              <a:t>in </a:t>
            </a:r>
            <a:r>
              <a:rPr lang="en-US" i="1" dirty="0"/>
              <a:t>AndroidManifest.xml </a:t>
            </a:r>
            <a:r>
              <a:rPr lang="en-US" dirty="0"/>
              <a:t>file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429000"/>
            <a:ext cx="8229600" cy="3200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&lt;application</a:t>
            </a:r>
          </a:p>
          <a:p>
            <a:pPr marL="0" indent="0">
              <a:buNone/>
            </a:pPr>
            <a:r>
              <a:rPr lang="en-US" sz="2000" dirty="0" smtClean="0"/>
              <a:t>&lt;</a:t>
            </a:r>
            <a:r>
              <a:rPr lang="en-US" sz="2000" dirty="0"/>
              <a:t>receiver </a:t>
            </a:r>
            <a:r>
              <a:rPr lang="en-US" sz="2000" dirty="0" err="1"/>
              <a:t>android:name</a:t>
            </a:r>
            <a:r>
              <a:rPr lang="en-US" sz="2000" dirty="0"/>
              <a:t>="</a:t>
            </a:r>
            <a:r>
              <a:rPr lang="en-US" sz="2000" dirty="0" err="1"/>
              <a:t>MyReceiver</a:t>
            </a:r>
            <a:r>
              <a:rPr lang="en-US" sz="2000" dirty="0"/>
              <a:t>"&gt;</a:t>
            </a:r>
          </a:p>
          <a:p>
            <a:pPr marL="0" indent="0">
              <a:buNone/>
            </a:pPr>
            <a:r>
              <a:rPr lang="en-US" sz="2000" dirty="0"/>
              <a:t>&lt;intent-filter&gt;</a:t>
            </a:r>
          </a:p>
          <a:p>
            <a:pPr marL="0" indent="0">
              <a:buNone/>
            </a:pPr>
            <a:r>
              <a:rPr lang="en-US" sz="2000" dirty="0"/>
              <a:t>&lt;action </a:t>
            </a:r>
            <a:r>
              <a:rPr lang="en-US" sz="2000" dirty="0" err="1"/>
              <a:t>android:name</a:t>
            </a:r>
            <a:r>
              <a:rPr lang="en-US" sz="2000" dirty="0" smtClean="0"/>
              <a:t>="</a:t>
            </a:r>
            <a:r>
              <a:rPr lang="en-US" sz="2000" dirty="0" err="1" smtClean="0"/>
              <a:t>android.net.conn.CONNECTIVITY_CHANGE</a:t>
            </a:r>
            <a:r>
              <a:rPr lang="en-US" sz="2000" dirty="0" smtClean="0"/>
              <a:t>"&gt;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&lt;/action&gt;</a:t>
            </a:r>
          </a:p>
          <a:p>
            <a:pPr marL="0" indent="0">
              <a:buNone/>
            </a:pPr>
            <a:r>
              <a:rPr lang="en-US" sz="2000" dirty="0"/>
              <a:t>&lt;/intent-filter&gt;</a:t>
            </a:r>
          </a:p>
          <a:p>
            <a:pPr marL="0" indent="0">
              <a:buNone/>
            </a:pPr>
            <a:r>
              <a:rPr lang="en-US" sz="2000" dirty="0"/>
              <a:t>&lt;/receiver&gt;</a:t>
            </a:r>
          </a:p>
          <a:p>
            <a:pPr marL="0" indent="0">
              <a:buNone/>
            </a:pPr>
            <a:r>
              <a:rPr lang="en-US" sz="2000" dirty="0"/>
              <a:t>&lt;/application&gt;</a:t>
            </a:r>
          </a:p>
        </p:txBody>
      </p:sp>
    </p:spTree>
    <p:extLst>
      <p:ext uri="{BB962C8B-B14F-4D97-AF65-F5344CB8AC3E}">
        <p14:creationId xmlns:p14="http://schemas.microsoft.com/office/powerpoint/2010/main" val="120124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Broadcast Event </a:t>
            </a:r>
            <a:r>
              <a:rPr lang="en-US" dirty="0" smtClean="0"/>
              <a:t>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android.intent.action.BATTERY_LOW</a:t>
            </a:r>
            <a:endParaRPr lang="en-US" dirty="0" smtClean="0"/>
          </a:p>
          <a:p>
            <a:r>
              <a:rPr lang="en-US" dirty="0" err="1" smtClean="0"/>
              <a:t>android.intent.action.BATTERY_OKAY</a:t>
            </a:r>
            <a:endParaRPr lang="en-US" dirty="0" smtClean="0"/>
          </a:p>
          <a:p>
            <a:r>
              <a:rPr lang="en-US" dirty="0" err="1" smtClean="0"/>
              <a:t>android.net.conn.CONNECTIVITY_CHANGE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Providers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19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 smtClean="0"/>
              <a:t>Supplies </a:t>
            </a:r>
            <a:r>
              <a:rPr lang="en-US" dirty="0"/>
              <a:t>data from one application to others on </a:t>
            </a:r>
            <a:r>
              <a:rPr lang="en-US" dirty="0" smtClean="0"/>
              <a:t>request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68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Each Android applications runs in its own process with keeps application data hidden from another </a:t>
            </a:r>
            <a:r>
              <a:rPr lang="en-US" dirty="0" smtClean="0"/>
              <a:t>application</a:t>
            </a:r>
          </a:p>
          <a:p>
            <a:pPr algn="just"/>
            <a:r>
              <a:rPr lang="en-US" dirty="0" smtClean="0"/>
              <a:t>Sometimes </a:t>
            </a:r>
            <a:r>
              <a:rPr lang="en-US" dirty="0"/>
              <a:t>it </a:t>
            </a:r>
            <a:r>
              <a:rPr lang="en-US" dirty="0" smtClean="0"/>
              <a:t>required </a:t>
            </a:r>
            <a:r>
              <a:rPr lang="en-US" dirty="0"/>
              <a:t>to share data across applications </a:t>
            </a:r>
            <a:endParaRPr lang="en-US" dirty="0" smtClean="0"/>
          </a:p>
          <a:p>
            <a:pPr algn="just"/>
            <a:r>
              <a:rPr lang="en-US" dirty="0"/>
              <a:t>Content </a:t>
            </a:r>
            <a:r>
              <a:rPr lang="en-US" dirty="0" smtClean="0"/>
              <a:t>Providers centralize </a:t>
            </a:r>
            <a:r>
              <a:rPr lang="en-US" dirty="0"/>
              <a:t>content in one place and have many different applications access </a:t>
            </a:r>
          </a:p>
        </p:txBody>
      </p:sp>
    </p:spTree>
    <p:extLst>
      <p:ext uri="{BB962C8B-B14F-4D97-AF65-F5344CB8AC3E}">
        <p14:creationId xmlns:p14="http://schemas.microsoft.com/office/powerpoint/2010/main" val="120482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Content </a:t>
            </a:r>
            <a:r>
              <a:rPr lang="en-US" dirty="0"/>
              <a:t>provider behaves very much like a database where you can query it, edit its content, as well as add or delete content </a:t>
            </a:r>
          </a:p>
        </p:txBody>
      </p:sp>
    </p:spTree>
    <p:extLst>
      <p:ext uri="{BB962C8B-B14F-4D97-AF65-F5344CB8AC3E}">
        <p14:creationId xmlns:p14="http://schemas.microsoft.com/office/powerpoint/2010/main" val="219921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 descr="content provi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15160"/>
            <a:ext cx="8686800" cy="429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27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1673</TotalTime>
  <Words>744</Words>
  <Application>Microsoft Office PowerPoint</Application>
  <PresentationFormat>On-screen Show (4:3)</PresentationFormat>
  <Paragraphs>122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HNDIT</vt:lpstr>
      <vt:lpstr>HNDIT2417 Mobile Application Development</vt:lpstr>
      <vt:lpstr>Main Application Components</vt:lpstr>
      <vt:lpstr>Additional Components </vt:lpstr>
      <vt:lpstr>Activity</vt:lpstr>
      <vt:lpstr>Activity </vt:lpstr>
      <vt:lpstr>Activity Life Cycle</vt:lpstr>
      <vt:lpstr>Activity Life Cycle – State Diagram</vt:lpstr>
      <vt:lpstr>Callback methods</vt:lpstr>
      <vt:lpstr>Callback methods</vt:lpstr>
      <vt:lpstr>Activity Lifetimes</vt:lpstr>
      <vt:lpstr>Service</vt:lpstr>
      <vt:lpstr>Service Life Cycle – States</vt:lpstr>
      <vt:lpstr>Service Life Cycle – States</vt:lpstr>
      <vt:lpstr>Callback methods</vt:lpstr>
      <vt:lpstr>Broadcast Receivers</vt:lpstr>
      <vt:lpstr>Broadcast Receivers</vt:lpstr>
      <vt:lpstr>Broadcast Receivers</vt:lpstr>
      <vt:lpstr>Registering Broadcast Receiver</vt:lpstr>
      <vt:lpstr>Few Broadcast Event Constants</vt:lpstr>
      <vt:lpstr>Content Providers</vt:lpstr>
      <vt:lpstr>Content Providers</vt:lpstr>
      <vt:lpstr>Content Providers</vt:lpstr>
      <vt:lpstr>Content Providers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344</cp:revision>
  <dcterms:created xsi:type="dcterms:W3CDTF">2012-08-16T13:03:13Z</dcterms:created>
  <dcterms:modified xsi:type="dcterms:W3CDTF">2019-01-01T03:52:38Z</dcterms:modified>
</cp:coreProperties>
</file>