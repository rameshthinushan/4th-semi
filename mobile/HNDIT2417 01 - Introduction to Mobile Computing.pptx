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1" r:id="rId3"/>
    <p:sldId id="302" r:id="rId4"/>
    <p:sldId id="318" r:id="rId5"/>
    <p:sldId id="303" r:id="rId6"/>
    <p:sldId id="319" r:id="rId7"/>
    <p:sldId id="317" r:id="rId8"/>
    <p:sldId id="311" r:id="rId9"/>
    <p:sldId id="312" r:id="rId10"/>
    <p:sldId id="316" r:id="rId11"/>
    <p:sldId id="315" r:id="rId12"/>
    <p:sldId id="314" r:id="rId13"/>
    <p:sldId id="313" r:id="rId14"/>
    <p:sldId id="304" r:id="rId15"/>
    <p:sldId id="305" r:id="rId16"/>
    <p:sldId id="306" r:id="rId17"/>
    <p:sldId id="307" r:id="rId18"/>
    <p:sldId id="308" r:id="rId19"/>
    <p:sldId id="30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87059" autoAdjust="0"/>
  </p:normalViewPr>
  <p:slideViewPr>
    <p:cSldViewPr>
      <p:cViewPr>
        <p:scale>
          <a:sx n="70" d="100"/>
          <a:sy n="70" d="100"/>
        </p:scale>
        <p:origin x="-13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A99AA-E18B-4813-816E-B07801F4AD93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 smtClean="0"/>
              <a:t>Janaka</a:t>
            </a:r>
            <a:r>
              <a:rPr lang="en-US" dirty="0" smtClean="0"/>
              <a:t> </a:t>
            </a:r>
            <a:r>
              <a:rPr lang="en-US" dirty="0" err="1" smtClean="0"/>
              <a:t>Rajakaruna</a:t>
            </a:r>
            <a:r>
              <a:rPr lang="en-US" dirty="0" smtClean="0"/>
              <a:t>, ATI- </a:t>
            </a:r>
            <a:r>
              <a:rPr lang="en-US" dirty="0" err="1" smtClean="0"/>
              <a:t>Dehiwal</a:t>
            </a:r>
            <a:r>
              <a:rPr lang="en-US" dirty="0" err="1"/>
              <a:t>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B6B07-0EF5-4A8C-BFB2-03E232BBA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12/25/2018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5348-62BD-4C73-B9B8-B6CEF0004C40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A0E2-BB4F-4F35-8FC2-1BECC1A03735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9AC2C-F734-4DAB-9B2F-6B0B4316BDB1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4B6-CFF2-4C19-8362-14A983EB9999}" type="datetime1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8087B-A3A9-4C71-B8FA-913C0D188475}" type="datetime1">
              <a:rPr lang="en-US" smtClean="0"/>
              <a:t>12/25/2018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8269-43D2-4062-8EE2-276038E59C96}" type="datetime1">
              <a:rPr lang="en-US" smtClean="0"/>
              <a:t>12/25/2018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7B3F-8592-4151-A4EE-3162DDB96308}" type="datetime1">
              <a:rPr lang="en-US" smtClean="0"/>
              <a:t>12/25/2018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8066F-136C-4DE2-BBA3-1BB1EAF1B21F}" type="datetime1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7A90-D8BC-45EA-9918-FDB053208B27}" type="datetime1">
              <a:rPr lang="en-US" smtClean="0"/>
              <a:t>12/25/2018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B887-A8C3-47E8-8805-E21E8023EA83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E91E-BA94-4DFD-A921-7E6D579FF3A2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652DD-E8B2-409E-B458-95A0563AFC14}" type="datetime1">
              <a:rPr lang="en-US" smtClean="0"/>
              <a:t>12/25/2018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Introduction to </a:t>
            </a:r>
            <a:r>
              <a:rPr lang="en-US" sz="2800" smtClean="0">
                <a:solidFill>
                  <a:schemeClr val="tx1"/>
                </a:solidFill>
              </a:rPr>
              <a:t>Mobile Computing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90" y="5486400"/>
            <a:ext cx="1770906" cy="132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1429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 smtClean="0"/>
              <a:t>Set of technologies which allow </a:t>
            </a:r>
            <a:r>
              <a:rPr lang="en-US" dirty="0"/>
              <a:t>people to access data and information from wherever they </a:t>
            </a:r>
            <a:r>
              <a:rPr lang="en-US" dirty="0" smtClean="0"/>
              <a:t>are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642" y="3657600"/>
            <a:ext cx="4687974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5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938913"/>
            <a:ext cx="4839835" cy="393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 smtClean="0"/>
              <a:t>A portable </a:t>
            </a:r>
            <a:r>
              <a:rPr lang="en-US" dirty="0"/>
              <a:t>computing device such as a smartphone or tablet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6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Two-way </a:t>
            </a:r>
            <a:r>
              <a:rPr lang="en-US" dirty="0" smtClean="0"/>
              <a:t>radio (1900) walkie-talkie</a:t>
            </a:r>
            <a:endParaRPr lang="en-US" dirty="0"/>
          </a:p>
          <a:p>
            <a:pPr lvl="1"/>
            <a:r>
              <a:rPr lang="en-US" dirty="0"/>
              <a:t> </a:t>
            </a:r>
            <a:r>
              <a:rPr lang="en-US" dirty="0" smtClean="0"/>
              <a:t>two-way</a:t>
            </a:r>
            <a:r>
              <a:rPr lang="en-US" dirty="0"/>
              <a:t> telegraphy traffic across the Atlantic </a:t>
            </a:r>
            <a:r>
              <a:rPr lang="en-US" dirty="0" smtClean="0"/>
              <a:t>Ocean (1907)</a:t>
            </a:r>
          </a:p>
          <a:p>
            <a:pPr lvl="1"/>
            <a:r>
              <a:rPr lang="en-US" dirty="0"/>
              <a:t>commercial and military ships carried </a:t>
            </a:r>
            <a:r>
              <a:rPr lang="en-US" dirty="0" smtClean="0"/>
              <a:t>both transmitters</a:t>
            </a:r>
            <a:r>
              <a:rPr lang="en-US" dirty="0"/>
              <a:t> </a:t>
            </a:r>
            <a:r>
              <a:rPr lang="en-US" dirty="0" smtClean="0"/>
              <a:t>and</a:t>
            </a:r>
            <a:r>
              <a:rPr lang="en-US" dirty="0"/>
              <a:t> </a:t>
            </a:r>
            <a:r>
              <a:rPr lang="en-US" dirty="0" smtClean="0"/>
              <a:t>receivers (1912)</a:t>
            </a:r>
          </a:p>
          <a:p>
            <a:pPr lvl="1"/>
            <a:r>
              <a:rPr lang="en-US" dirty="0"/>
              <a:t>Victorian </a:t>
            </a:r>
            <a:r>
              <a:rPr lang="en-US" dirty="0" smtClean="0"/>
              <a:t>Police, Australia (1923)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4</a:t>
            </a:fld>
            <a:endParaRPr lang="en-US"/>
          </a:p>
        </p:txBody>
      </p:sp>
      <p:pic>
        <p:nvPicPr>
          <p:cNvPr id="9218" name="Picture 2" descr="https://upload.wikimedia.org/wikipedia/commons/8/87/P25_hand-held_radio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772499"/>
            <a:ext cx="3084636" cy="205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92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portable </a:t>
            </a:r>
            <a:r>
              <a:rPr lang="en-US" b="1" dirty="0" smtClean="0"/>
              <a:t>computer (1975)</a:t>
            </a:r>
            <a:endParaRPr lang="en-US" b="1" dirty="0"/>
          </a:p>
          <a:p>
            <a:pPr lvl="1" algn="just"/>
            <a:r>
              <a:rPr lang="en-US" dirty="0" smtClean="0"/>
              <a:t>Computer </a:t>
            </a:r>
            <a:r>
              <a:rPr lang="en-US" dirty="0"/>
              <a:t>that is designed to be moved from one place to another and includes a display and </a:t>
            </a:r>
            <a:r>
              <a:rPr lang="en-US" dirty="0" smtClean="0"/>
              <a:t>keyboard</a:t>
            </a:r>
          </a:p>
          <a:p>
            <a:pPr lvl="1" algn="just"/>
            <a:r>
              <a:rPr lang="en-US" dirty="0" smtClean="0"/>
              <a:t>Military purposes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Image result for portable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10000"/>
            <a:ext cx="3162300" cy="258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1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Mobile Phone</a:t>
            </a:r>
          </a:p>
          <a:p>
            <a:pPr lvl="1"/>
            <a:r>
              <a:rPr lang="en-US" dirty="0" smtClean="0"/>
              <a:t>Demonstrated </a:t>
            </a:r>
            <a:r>
              <a:rPr lang="en-US" dirty="0"/>
              <a:t>by John F. Mitchell  and Martin Cooper of Motorola in </a:t>
            </a:r>
            <a:r>
              <a:rPr lang="en-US" dirty="0" smtClean="0"/>
              <a:t>1973</a:t>
            </a:r>
          </a:p>
          <a:p>
            <a:pPr lvl="1"/>
            <a:r>
              <a:rPr lang="en-US" dirty="0" smtClean="0"/>
              <a:t>First </a:t>
            </a:r>
            <a:r>
              <a:rPr lang="en-US" dirty="0"/>
              <a:t>commercial </a:t>
            </a:r>
            <a:r>
              <a:rPr lang="en-US" dirty="0" smtClean="0"/>
              <a:t>cellular </a:t>
            </a:r>
            <a:r>
              <a:rPr lang="en-US" dirty="0"/>
              <a:t>network (1G) analog was launched in Japan by Nippon Telegraph and Telephone in 1979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6</a:t>
            </a:fld>
            <a:endParaRPr lang="en-US"/>
          </a:p>
        </p:txBody>
      </p:sp>
      <p:pic>
        <p:nvPicPr>
          <p:cNvPr id="8196" name="Picture 4" descr="https://upload.wikimedia.org/wikipedia/commons/thumb/7/74/DynaTAC8000X.jpg/320px-DynaTAC8000X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4057650"/>
            <a:ext cx="11430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62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Touchscreen</a:t>
            </a:r>
          </a:p>
          <a:p>
            <a:pPr lvl="1" algn="just"/>
            <a:r>
              <a:rPr lang="en-US" dirty="0" smtClean="0"/>
              <a:t>Eric </a:t>
            </a:r>
            <a:r>
              <a:rPr lang="en-US" dirty="0"/>
              <a:t>Johnson, of the Royal Radar Establishment</a:t>
            </a:r>
            <a:r>
              <a:rPr lang="en-US" dirty="0" smtClean="0"/>
              <a:t>, </a:t>
            </a:r>
            <a:r>
              <a:rPr lang="en-US" dirty="0"/>
              <a:t>England, </a:t>
            </a:r>
            <a:r>
              <a:rPr lang="en-US" dirty="0" smtClean="0"/>
              <a:t>explained capacitive touchscreens in 1965</a:t>
            </a:r>
            <a:endParaRPr lang="en-US" dirty="0"/>
          </a:p>
          <a:p>
            <a:pPr lvl="1" algn="just"/>
            <a:r>
              <a:rPr lang="en-US" dirty="0" smtClean="0"/>
              <a:t>First </a:t>
            </a:r>
            <a:r>
              <a:rPr lang="en-US" dirty="0"/>
              <a:t>touchscreen phone </a:t>
            </a:r>
            <a:r>
              <a:rPr lang="en-US" dirty="0" smtClean="0"/>
              <a:t>is IBM </a:t>
            </a:r>
            <a:r>
              <a:rPr lang="en-US" i="1" dirty="0" smtClean="0"/>
              <a:t>Simon </a:t>
            </a:r>
            <a:r>
              <a:rPr lang="en-US" i="1" dirty="0"/>
              <a:t>Personal </a:t>
            </a:r>
            <a:r>
              <a:rPr lang="en-US" i="1" dirty="0" smtClean="0"/>
              <a:t>Communicator </a:t>
            </a:r>
            <a:r>
              <a:rPr lang="en-US" dirty="0" smtClean="0"/>
              <a:t>(1992)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7</a:t>
            </a:fld>
            <a:endParaRPr lang="en-US"/>
          </a:p>
        </p:txBody>
      </p:sp>
      <p:pic>
        <p:nvPicPr>
          <p:cNvPr id="7170" name="Picture 2" descr="first touchscreen ph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681" y="4152900"/>
            <a:ext cx="1455344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71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Laptop (end of 1990)</a:t>
            </a:r>
          </a:p>
          <a:p>
            <a:pPr lvl="1"/>
            <a:r>
              <a:rPr lang="en-US" dirty="0" smtClean="0"/>
              <a:t>Small</a:t>
            </a:r>
            <a:r>
              <a:rPr lang="en-US" dirty="0"/>
              <a:t>, portable personal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https://upload.wikimedia.org/wikipedia/commons/thumb/e/e4/Lenovo_G500s_laptop-2905.jpg/290px-Lenovo_G500s_laptop-29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487070"/>
            <a:ext cx="3295650" cy="246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1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Tablet computer (1990)</a:t>
            </a:r>
          </a:p>
          <a:p>
            <a:pPr lvl="1" algn="just"/>
            <a:r>
              <a:rPr lang="en-US" dirty="0" smtClean="0"/>
              <a:t>Commonly </a:t>
            </a:r>
            <a:r>
              <a:rPr lang="en-US" dirty="0"/>
              <a:t>shortened to </a:t>
            </a:r>
            <a:r>
              <a:rPr lang="en-US" b="1" dirty="0"/>
              <a:t>tablet</a:t>
            </a:r>
            <a:r>
              <a:rPr lang="en-US" dirty="0"/>
              <a:t>, is a mobile device, typically with a mobile operating system and </a:t>
            </a:r>
            <a:r>
              <a:rPr lang="en-US" dirty="0" smtClean="0"/>
              <a:t>LCD touchscreen</a:t>
            </a:r>
            <a:r>
              <a:rPr lang="en-US" dirty="0"/>
              <a:t> display processing circuitry, and a rechargeable battery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9</a:t>
            </a:fld>
            <a:endParaRPr lang="en-US"/>
          </a:p>
        </p:txBody>
      </p:sp>
      <p:pic>
        <p:nvPicPr>
          <p:cNvPr id="5122" name="Picture 2" descr="Image result for tablet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364" y="4038600"/>
            <a:ext cx="3943350" cy="229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65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Smartphone</a:t>
            </a:r>
          </a:p>
          <a:p>
            <a:pPr lvl="1" algn="just"/>
            <a:r>
              <a:rPr lang="en-US" dirty="0" smtClean="0"/>
              <a:t>Multi-purpose handheld computing and communication devices</a:t>
            </a:r>
            <a:r>
              <a:rPr lang="en-US" dirty="0"/>
              <a:t>.</a:t>
            </a:r>
          </a:p>
          <a:p>
            <a:pPr lvl="2"/>
            <a:r>
              <a:rPr lang="en-US" dirty="0" smtClean="0"/>
              <a:t>IBM </a:t>
            </a:r>
            <a:r>
              <a:rPr lang="en-US" dirty="0"/>
              <a:t>Simon Personal Communicator (1992)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iOS</a:t>
            </a:r>
            <a:r>
              <a:rPr lang="en-US" dirty="0"/>
              <a:t> </a:t>
            </a:r>
            <a:endParaRPr lang="en-US" dirty="0" smtClean="0"/>
          </a:p>
          <a:p>
            <a:pPr lvl="1" algn="just"/>
            <a:r>
              <a:rPr lang="en-US" dirty="0" smtClean="0"/>
              <a:t>(</a:t>
            </a:r>
            <a:r>
              <a:rPr lang="en-US" dirty="0"/>
              <a:t>formerly </a:t>
            </a:r>
            <a:r>
              <a:rPr lang="en-US" b="1" dirty="0"/>
              <a:t>iPhone OS</a:t>
            </a:r>
            <a:r>
              <a:rPr lang="en-US" dirty="0"/>
              <a:t>) is a mobile operating </a:t>
            </a:r>
            <a:r>
              <a:rPr lang="en-US" dirty="0" smtClean="0"/>
              <a:t>system created and </a:t>
            </a:r>
            <a:r>
              <a:rPr lang="en-US" dirty="0"/>
              <a:t>developed by Apple Inc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/>
              <a:t>Originally unveiled in 2007 for the iPhone,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11</a:t>
            </a:fld>
            <a:endParaRPr lang="en-US"/>
          </a:p>
        </p:txBody>
      </p:sp>
      <p:sp>
        <p:nvSpPr>
          <p:cNvPr id="5" name="AutoShape 2" descr="Image result for i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io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93022"/>
            <a:ext cx="2895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489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iPhone (2007)</a:t>
            </a:r>
          </a:p>
          <a:p>
            <a:pPr lvl="1"/>
            <a:r>
              <a:rPr lang="en-US" dirty="0" smtClean="0"/>
              <a:t>Smartphone</a:t>
            </a:r>
            <a:r>
              <a:rPr lang="en-US" dirty="0"/>
              <a:t> model designed and marketed by Apple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12</a:t>
            </a:fld>
            <a:endParaRPr lang="en-US"/>
          </a:p>
        </p:txBody>
      </p:sp>
      <p:pic>
        <p:nvPicPr>
          <p:cNvPr id="4098" name="Picture 2" descr="Image result for iphon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410824"/>
            <a:ext cx="3257550" cy="323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02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Android Operating System</a:t>
            </a:r>
          </a:p>
          <a:p>
            <a:pPr lvl="1" algn="just"/>
            <a:r>
              <a:rPr lang="en-US" dirty="0" smtClean="0"/>
              <a:t>Unveiled </a:t>
            </a:r>
            <a:r>
              <a:rPr lang="en-US" dirty="0"/>
              <a:t>in </a:t>
            </a:r>
            <a:r>
              <a:rPr lang="en-US" dirty="0" smtClean="0"/>
              <a:t>2007</a:t>
            </a:r>
          </a:p>
          <a:p>
            <a:pPr lvl="1" algn="just"/>
            <a:r>
              <a:rPr lang="en-US" dirty="0" smtClean="0"/>
              <a:t>First </a:t>
            </a:r>
            <a:r>
              <a:rPr lang="en-US" dirty="0"/>
              <a:t>commercial Android device launched </a:t>
            </a:r>
            <a:r>
              <a:rPr lang="en-US" dirty="0" smtClean="0"/>
              <a:t>in September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13</a:t>
            </a:fld>
            <a:endParaRPr lang="en-US"/>
          </a:p>
        </p:txBody>
      </p:sp>
      <p:pic>
        <p:nvPicPr>
          <p:cNvPr id="3076" name="Picture 4" descr="File:Android robot 2014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874" y="4114800"/>
            <a:ext cx="2141601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00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Portability: </a:t>
            </a:r>
            <a:endParaRPr lang="en-US" dirty="0" smtClean="0"/>
          </a:p>
          <a:p>
            <a:pPr lvl="1"/>
            <a:r>
              <a:rPr lang="en-US" dirty="0" smtClean="0"/>
              <a:t>Devices </a:t>
            </a:r>
            <a:r>
              <a:rPr lang="en-US" dirty="0"/>
              <a:t>connected within the mobile computing system should facilitate </a:t>
            </a:r>
            <a:r>
              <a:rPr lang="en-US" dirty="0" smtClean="0"/>
              <a:t>mobility</a:t>
            </a:r>
          </a:p>
          <a:p>
            <a:r>
              <a:rPr lang="en-US" dirty="0" smtClean="0"/>
              <a:t>Connectivity</a:t>
            </a:r>
          </a:p>
          <a:p>
            <a:pPr lvl="1"/>
            <a:r>
              <a:rPr lang="en-US" dirty="0" smtClean="0"/>
              <a:t>Ability </a:t>
            </a:r>
            <a:r>
              <a:rPr lang="en-US" dirty="0"/>
              <a:t>to continuously stay </a:t>
            </a:r>
            <a:r>
              <a:rPr lang="en-US" dirty="0" smtClean="0"/>
              <a:t>connected with others</a:t>
            </a:r>
          </a:p>
          <a:p>
            <a:r>
              <a:rPr lang="en-US" dirty="0"/>
              <a:t>Social </a:t>
            </a:r>
            <a:r>
              <a:rPr lang="en-US" dirty="0" smtClean="0"/>
              <a:t>Interactivity</a:t>
            </a:r>
          </a:p>
          <a:p>
            <a:pPr lvl="1"/>
            <a:r>
              <a:rPr lang="en-US" dirty="0" smtClean="0"/>
              <a:t>Collaborate </a:t>
            </a:r>
            <a:r>
              <a:rPr lang="en-US" dirty="0"/>
              <a:t>with other </a:t>
            </a:r>
            <a:r>
              <a:rPr lang="en-US" dirty="0" smtClean="0"/>
              <a:t>users</a:t>
            </a:r>
          </a:p>
          <a:p>
            <a:r>
              <a:rPr lang="en-US" dirty="0" smtClean="0"/>
              <a:t>Individuality</a:t>
            </a:r>
          </a:p>
          <a:p>
            <a:pPr lvl="1"/>
            <a:r>
              <a:rPr lang="en-US" dirty="0" smtClean="0"/>
              <a:t>Adapting </a:t>
            </a:r>
            <a:r>
              <a:rPr lang="en-US" dirty="0"/>
              <a:t>the technology to suit individual 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9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r>
              <a:rPr lang="en-US" dirty="0"/>
              <a:t>Range and </a:t>
            </a:r>
            <a:r>
              <a:rPr lang="en-US" dirty="0" smtClean="0"/>
              <a:t>bandwidth</a:t>
            </a:r>
          </a:p>
          <a:p>
            <a:pPr lvl="1"/>
            <a:r>
              <a:rPr lang="en-US" dirty="0" smtClean="0"/>
              <a:t>Slower than cable</a:t>
            </a:r>
          </a:p>
          <a:p>
            <a:r>
              <a:rPr lang="en-US" dirty="0" smtClean="0"/>
              <a:t>Security</a:t>
            </a:r>
          </a:p>
          <a:p>
            <a:pPr lvl="1"/>
            <a:r>
              <a:rPr lang="en-US" dirty="0" smtClean="0"/>
              <a:t>Vulnerable to unknown access</a:t>
            </a:r>
          </a:p>
          <a:p>
            <a:r>
              <a:rPr lang="en-US" dirty="0" smtClean="0"/>
              <a:t>Power consumption </a:t>
            </a:r>
            <a:endParaRPr lang="en-US" dirty="0"/>
          </a:p>
          <a:p>
            <a:pPr lvl="1"/>
            <a:r>
              <a:rPr lang="en-US" dirty="0" smtClean="0"/>
              <a:t>Must </a:t>
            </a:r>
            <a:r>
              <a:rPr lang="en-US" dirty="0"/>
              <a:t>rely entirely on battery </a:t>
            </a:r>
            <a:r>
              <a:rPr lang="en-US" dirty="0" smtClean="0"/>
              <a:t>power</a:t>
            </a:r>
          </a:p>
          <a:p>
            <a:r>
              <a:rPr lang="en-US" dirty="0"/>
              <a:t>Potential health </a:t>
            </a:r>
            <a:r>
              <a:rPr lang="en-US" dirty="0" smtClean="0"/>
              <a:t>hazards </a:t>
            </a:r>
          </a:p>
          <a:p>
            <a:pPr lvl="1"/>
            <a:r>
              <a:rPr lang="en-US" dirty="0" smtClean="0"/>
              <a:t>Traffic hazards , Affect of  radiation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6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Location </a:t>
            </a:r>
            <a:r>
              <a:rPr lang="en-US" dirty="0" smtClean="0"/>
              <a:t>Flexibility</a:t>
            </a:r>
          </a:p>
          <a:p>
            <a:pPr lvl="1" algn="just"/>
            <a:r>
              <a:rPr lang="en-US" dirty="0" smtClean="0"/>
              <a:t>Enabled </a:t>
            </a:r>
            <a:r>
              <a:rPr lang="en-US" dirty="0"/>
              <a:t>users to work from </a:t>
            </a:r>
            <a:r>
              <a:rPr lang="en-US" dirty="0" smtClean="0"/>
              <a:t>anywhere</a:t>
            </a:r>
          </a:p>
          <a:p>
            <a:pPr algn="just"/>
            <a:r>
              <a:rPr lang="en-US" dirty="0"/>
              <a:t>Saves </a:t>
            </a:r>
            <a:r>
              <a:rPr lang="en-US" dirty="0" smtClean="0"/>
              <a:t>Time</a:t>
            </a:r>
          </a:p>
          <a:p>
            <a:pPr lvl="1" algn="just"/>
            <a:r>
              <a:rPr lang="en-US" dirty="0" smtClean="0"/>
              <a:t>Time wasted </a:t>
            </a:r>
            <a:r>
              <a:rPr lang="en-US" dirty="0"/>
              <a:t>while travelling from different locations or to the office and </a:t>
            </a:r>
            <a:r>
              <a:rPr lang="en-US" dirty="0" smtClean="0"/>
              <a:t>back</a:t>
            </a:r>
          </a:p>
          <a:p>
            <a:pPr algn="just"/>
            <a:r>
              <a:rPr lang="en-US" dirty="0"/>
              <a:t>Enhanced </a:t>
            </a:r>
            <a:r>
              <a:rPr lang="en-US" dirty="0" smtClean="0"/>
              <a:t>Productivity</a:t>
            </a:r>
          </a:p>
          <a:p>
            <a:pPr lvl="1" algn="just"/>
            <a:r>
              <a:rPr lang="en-US" dirty="0"/>
              <a:t>Users can work efficiently and effectively from whichever location they find 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4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Entertainment</a:t>
            </a:r>
          </a:p>
          <a:p>
            <a:pPr lvl="1" algn="just"/>
            <a:r>
              <a:rPr lang="en-US" dirty="0"/>
              <a:t>Video and audio recordings can now be streamed </a:t>
            </a:r>
            <a:r>
              <a:rPr lang="en-US" dirty="0" smtClean="0"/>
              <a:t>wherever  </a:t>
            </a:r>
            <a:r>
              <a:rPr lang="en-US" dirty="0"/>
              <a:t>using mobile computing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Streamlining of Business </a:t>
            </a:r>
            <a:r>
              <a:rPr lang="en-US" dirty="0" smtClean="0"/>
              <a:t>Processes</a:t>
            </a:r>
          </a:p>
          <a:p>
            <a:pPr lvl="1" algn="just"/>
            <a:r>
              <a:rPr lang="en-US" dirty="0" smtClean="0"/>
              <a:t>Business </a:t>
            </a:r>
            <a:r>
              <a:rPr lang="en-US" dirty="0"/>
              <a:t>functions can be run over secure links and sharing of information between business partners can also take </a:t>
            </a:r>
            <a:r>
              <a:rPr lang="en-US" dirty="0" smtClean="0"/>
              <a:t>place</a:t>
            </a:r>
          </a:p>
          <a:p>
            <a:pPr lvl="1" algn="just"/>
            <a:r>
              <a:rPr lang="en-US" dirty="0"/>
              <a:t>Meetings, seminars and other informative services can be conducted using video and voice conferencing.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6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Immerging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Mobile </a:t>
            </a:r>
            <a:r>
              <a:rPr lang="en-US" dirty="0" smtClean="0"/>
              <a:t>Commerce</a:t>
            </a:r>
          </a:p>
          <a:p>
            <a:pPr lvl="1" algn="just"/>
            <a:endParaRPr lang="en-US" dirty="0" smtClean="0"/>
          </a:p>
          <a:p>
            <a:pPr algn="just"/>
            <a:r>
              <a:rPr lang="en-US" dirty="0"/>
              <a:t>Mobile </a:t>
            </a:r>
            <a:r>
              <a:rPr lang="en-US" dirty="0" smtClean="0"/>
              <a:t>Banking</a:t>
            </a:r>
          </a:p>
          <a:p>
            <a:pPr lvl="1" algn="just"/>
            <a:endParaRPr lang="en-US" dirty="0" smtClean="0"/>
          </a:p>
          <a:p>
            <a:pPr algn="just"/>
            <a:r>
              <a:rPr lang="en-US" dirty="0" smtClean="0"/>
              <a:t>Mobile Wallet </a:t>
            </a:r>
          </a:p>
          <a:p>
            <a:pPr lvl="1" algn="just"/>
            <a:r>
              <a:rPr lang="en-US" dirty="0" smtClean="0"/>
              <a:t>A type </a:t>
            </a:r>
            <a:r>
              <a:rPr lang="en-US" dirty="0"/>
              <a:t>of payment service through which businesses and individuals can receive and send money via mobile </a:t>
            </a:r>
            <a:r>
              <a:rPr lang="en-US" dirty="0" smtClean="0"/>
              <a:t>devices</a:t>
            </a:r>
          </a:p>
          <a:p>
            <a:pPr marL="457200" lvl="1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2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GPS tracking</a:t>
            </a:r>
          </a:p>
          <a:p>
            <a:pPr lvl="1"/>
            <a:r>
              <a:rPr lang="en-US" dirty="0" smtClean="0"/>
              <a:t>Locating a location or moving entity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8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4265</TotalTime>
  <Words>363</Words>
  <Application>Microsoft Office PowerPoint</Application>
  <PresentationFormat>On-screen Show (4:3)</PresentationFormat>
  <Paragraphs>105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HNDIT</vt:lpstr>
      <vt:lpstr>HNDIT2417 Mobile Application Development</vt:lpstr>
      <vt:lpstr>Mobile Computing</vt:lpstr>
      <vt:lpstr>Mobile Devices</vt:lpstr>
      <vt:lpstr>History of Development</vt:lpstr>
      <vt:lpstr>History of Development</vt:lpstr>
      <vt:lpstr>History of Development</vt:lpstr>
      <vt:lpstr>History of Development</vt:lpstr>
      <vt:lpstr>History of Development</vt:lpstr>
      <vt:lpstr>History of Development</vt:lpstr>
      <vt:lpstr>History of Development</vt:lpstr>
      <vt:lpstr>Development</vt:lpstr>
      <vt:lpstr>Development</vt:lpstr>
      <vt:lpstr>History of Development</vt:lpstr>
      <vt:lpstr>Principles</vt:lpstr>
      <vt:lpstr>Limitations</vt:lpstr>
      <vt:lpstr>Advantages</vt:lpstr>
      <vt:lpstr>Advantages</vt:lpstr>
      <vt:lpstr>Immerging Trends</vt:lpstr>
      <vt:lpstr>Immerging Trends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337</cp:revision>
  <dcterms:created xsi:type="dcterms:W3CDTF">2012-08-16T13:03:13Z</dcterms:created>
  <dcterms:modified xsi:type="dcterms:W3CDTF">2018-12-25T06:57:40Z</dcterms:modified>
</cp:coreProperties>
</file>