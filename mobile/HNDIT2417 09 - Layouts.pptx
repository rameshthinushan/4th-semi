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handoutMasterIdLst>
    <p:handoutMasterId r:id="rId21"/>
  </p:handoutMasterIdLst>
  <p:sldIdLst>
    <p:sldId id="256" r:id="rId2"/>
    <p:sldId id="314" r:id="rId3"/>
    <p:sldId id="317" r:id="rId4"/>
    <p:sldId id="319" r:id="rId5"/>
    <p:sldId id="265" r:id="rId6"/>
    <p:sldId id="266" r:id="rId7"/>
    <p:sldId id="267" r:id="rId8"/>
    <p:sldId id="268" r:id="rId9"/>
    <p:sldId id="270" r:id="rId10"/>
    <p:sldId id="316" r:id="rId11"/>
    <p:sldId id="284" r:id="rId12"/>
    <p:sldId id="318" r:id="rId13"/>
    <p:sldId id="285" r:id="rId14"/>
    <p:sldId id="290" r:id="rId15"/>
    <p:sldId id="292" r:id="rId16"/>
    <p:sldId id="296" r:id="rId17"/>
    <p:sldId id="320" r:id="rId18"/>
    <p:sldId id="32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87059" autoAdjust="0"/>
  </p:normalViewPr>
  <p:slideViewPr>
    <p:cSldViewPr>
      <p:cViewPr>
        <p:scale>
          <a:sx n="65" d="100"/>
          <a:sy n="65" d="100"/>
        </p:scale>
        <p:origin x="-150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36F7F-4FFD-4910-A5B1-EF6989913578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 smtClean="0"/>
              <a:t>Janaka</a:t>
            </a:r>
            <a:r>
              <a:rPr lang="en-US" dirty="0" smtClean="0"/>
              <a:t> </a:t>
            </a:r>
            <a:r>
              <a:rPr lang="en-US" dirty="0" err="1" smtClean="0"/>
              <a:t>Rajakaruna</a:t>
            </a:r>
            <a:r>
              <a:rPr lang="en-US" dirty="0" smtClean="0"/>
              <a:t>, ATI- </a:t>
            </a:r>
            <a:r>
              <a:rPr lang="en-US" dirty="0" err="1" smtClean="0"/>
              <a:t>Dehiwala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BE4FA-50A6-40A2-976A-2A710147C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3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FA2C1-307D-4FC7-A5E0-140B8A765D7E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8BF15-7F91-4F61-BBC8-F8783FE2E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9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3886200" cy="19811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A4AF-1913-4289-86F7-8CC148495CD5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724400"/>
            <a:ext cx="7406640" cy="1752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Layouts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HNDIT2417</a:t>
            </a:r>
            <a:br>
              <a:rPr lang="en-US" sz="3600" dirty="0" smtClean="0"/>
            </a:br>
            <a:r>
              <a:rPr lang="en-US" sz="3600" dirty="0" smtClean="0"/>
              <a:t>Mobile Application Development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8139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Basic building block in an app.</a:t>
            </a:r>
          </a:p>
          <a:p>
            <a:pPr algn="just"/>
            <a:r>
              <a:rPr lang="en-US" dirty="0" smtClean="0"/>
              <a:t>A</a:t>
            </a:r>
            <a:r>
              <a:rPr lang="en-US" dirty="0"/>
              <a:t> </a:t>
            </a:r>
            <a:r>
              <a:rPr lang="en-US" b="1" dirty="0"/>
              <a:t>layout</a:t>
            </a:r>
            <a:r>
              <a:rPr lang="en-US" dirty="0"/>
              <a:t> defines the visual </a:t>
            </a:r>
            <a:r>
              <a:rPr lang="en-US" dirty="0" smtClean="0"/>
              <a:t>structure of arranging components  </a:t>
            </a:r>
            <a:r>
              <a:rPr lang="en-US" dirty="0"/>
              <a:t>for a user </a:t>
            </a:r>
            <a:r>
              <a:rPr lang="en-US" dirty="0" smtClean="0"/>
              <a:t>interface.</a:t>
            </a:r>
          </a:p>
          <a:p>
            <a:pPr algn="just"/>
            <a:r>
              <a:rPr lang="en-US" dirty="0"/>
              <a:t>Layouts are usually defined using XML</a:t>
            </a:r>
          </a:p>
        </p:txBody>
      </p:sp>
    </p:spTree>
    <p:extLst>
      <p:ext uri="{BB962C8B-B14F-4D97-AF65-F5344CB8AC3E}">
        <p14:creationId xmlns:p14="http://schemas.microsoft.com/office/powerpoint/2010/main" val="307718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Layouts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Frame layout</a:t>
            </a:r>
          </a:p>
          <a:p>
            <a:r>
              <a:rPr lang="en-US" dirty="0" smtClean="0"/>
              <a:t>Linear Layout  </a:t>
            </a:r>
            <a:r>
              <a:rPr lang="en-US" dirty="0"/>
              <a:t> </a:t>
            </a:r>
            <a:endParaRPr lang="en-US" dirty="0" smtClean="0"/>
          </a:p>
          <a:p>
            <a:pPr lvl="1"/>
            <a:r>
              <a:rPr lang="en-US" dirty="0" smtClean="0"/>
              <a:t>Horizontal</a:t>
            </a:r>
            <a:endParaRPr lang="en-US" dirty="0"/>
          </a:p>
          <a:p>
            <a:pPr lvl="1"/>
            <a:r>
              <a:rPr lang="en-US" dirty="0" smtClean="0"/>
              <a:t>Vertical</a:t>
            </a:r>
          </a:p>
          <a:p>
            <a:r>
              <a:rPr lang="en-US" dirty="0" smtClean="0"/>
              <a:t>Table layout</a:t>
            </a:r>
          </a:p>
          <a:p>
            <a:r>
              <a:rPr lang="en-US" dirty="0" smtClean="0"/>
              <a:t>Grid Layout</a:t>
            </a:r>
          </a:p>
          <a:p>
            <a:r>
              <a:rPr lang="en-US" dirty="0" smtClean="0"/>
              <a:t>Relative layout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7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1429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view group that aligns all children </a:t>
            </a:r>
            <a:r>
              <a:rPr lang="en-US" dirty="0" smtClean="0"/>
              <a:t>in linearly  either </a:t>
            </a:r>
            <a:r>
              <a:rPr lang="en-US" i="1" dirty="0" smtClean="0"/>
              <a:t>vertically</a:t>
            </a:r>
            <a:r>
              <a:rPr lang="en-US" dirty="0" smtClean="0"/>
              <a:t> or</a:t>
            </a:r>
            <a:r>
              <a:rPr lang="en-US" dirty="0"/>
              <a:t> </a:t>
            </a:r>
            <a:r>
              <a:rPr lang="en-US" i="1" dirty="0"/>
              <a:t>horizontally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365760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 smtClean="0"/>
              <a:t>Horizontal</a:t>
            </a:r>
            <a:endParaRPr lang="en-US" dirty="0"/>
          </a:p>
          <a:p>
            <a:pPr lvl="2"/>
            <a:r>
              <a:rPr lang="en-US" dirty="0" smtClean="0"/>
              <a:t> Aligns all the views it contains horizontally</a:t>
            </a:r>
          </a:p>
          <a:p>
            <a:pPr lvl="1"/>
            <a:r>
              <a:rPr lang="en-US" dirty="0" smtClean="0"/>
              <a:t>Vertical</a:t>
            </a:r>
          </a:p>
          <a:p>
            <a:pPr lvl="2"/>
            <a:r>
              <a:rPr lang="en-US" dirty="0" smtClean="0"/>
              <a:t>Aligns all the views it contains vertically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76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</a:t>
            </a:r>
            <a:r>
              <a:rPr lang="en-US" dirty="0" smtClean="0"/>
              <a:t>Layout - Horizontal Orientation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row, many columns</a:t>
            </a:r>
          </a:p>
          <a:p>
            <a:r>
              <a:rPr lang="en-US" dirty="0" smtClean="0"/>
              <a:t>Items placed beside each other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8600" y="5105400"/>
            <a:ext cx="8686800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&lt;</a:t>
            </a:r>
            <a:r>
              <a:rPr lang="en-US" sz="2000" b="1" dirty="0" err="1">
                <a:solidFill>
                  <a:srgbClr val="FF0000"/>
                </a:solidFill>
              </a:rPr>
              <a:t>LinearLayout</a:t>
            </a:r>
            <a:r>
              <a:rPr lang="en-US" sz="2000" dirty="0"/>
              <a:t> </a:t>
            </a:r>
            <a:r>
              <a:rPr lang="en-US" sz="2000" dirty="0" err="1" smtClean="0"/>
              <a:t>xmlns:android</a:t>
            </a:r>
            <a:r>
              <a:rPr lang="en-US" sz="2000" dirty="0" smtClean="0"/>
              <a:t>=http</a:t>
            </a:r>
            <a:r>
              <a:rPr lang="en-US" sz="2000" dirty="0"/>
              <a:t>://</a:t>
            </a:r>
            <a:r>
              <a:rPr lang="en-US" sz="2000" dirty="0" smtClean="0"/>
              <a:t>schemas.android.com/apk/res/android</a:t>
            </a:r>
          </a:p>
          <a:p>
            <a:r>
              <a:rPr lang="en-US" sz="2000" dirty="0" smtClean="0"/>
              <a:t>.</a:t>
            </a:r>
          </a:p>
          <a:p>
            <a:r>
              <a:rPr lang="en-US" sz="2000" dirty="0" smtClean="0"/>
              <a:t>.</a:t>
            </a:r>
          </a:p>
          <a:p>
            <a:r>
              <a:rPr lang="en-US" sz="2000" dirty="0"/>
              <a:t> </a:t>
            </a:r>
            <a:r>
              <a:rPr lang="en-US" sz="2000" dirty="0" err="1"/>
              <a:t>android:orientation</a:t>
            </a:r>
            <a:r>
              <a:rPr lang="en-US" sz="2000" dirty="0"/>
              <a:t>="</a:t>
            </a:r>
            <a:r>
              <a:rPr lang="en-US" sz="2000" b="1" dirty="0">
                <a:solidFill>
                  <a:srgbClr val="FF0000"/>
                </a:solidFill>
              </a:rPr>
              <a:t>horizontal</a:t>
            </a:r>
            <a:r>
              <a:rPr lang="en-US" sz="2000" dirty="0"/>
              <a:t>"</a:t>
            </a:r>
            <a:endParaRPr lang="en-US" sz="2000" dirty="0" smtClean="0"/>
          </a:p>
          <a:p>
            <a:r>
              <a:rPr lang="en-US" sz="2000" dirty="0" smtClean="0"/>
              <a:t>/&gt;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676" y="1600201"/>
            <a:ext cx="1812324" cy="2438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459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</a:t>
            </a:r>
            <a:r>
              <a:rPr lang="en-US" dirty="0" smtClean="0"/>
              <a:t>Layout - Vertical Orientation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column, many rows</a:t>
            </a:r>
          </a:p>
          <a:p>
            <a:r>
              <a:rPr lang="en-US" dirty="0" smtClean="0"/>
              <a:t>Items stacked on top of each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105400"/>
            <a:ext cx="8703215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&lt;</a:t>
            </a:r>
            <a:r>
              <a:rPr lang="en-US" sz="2000" b="1" dirty="0" err="1">
                <a:solidFill>
                  <a:srgbClr val="FF0000"/>
                </a:solidFill>
              </a:rPr>
              <a:t>LinearLayout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/>
              <a:t>xmlns:android</a:t>
            </a:r>
            <a:r>
              <a:rPr lang="en-US" sz="2000" dirty="0" smtClean="0"/>
              <a:t>=http</a:t>
            </a:r>
            <a:r>
              <a:rPr lang="en-US" sz="2000" dirty="0"/>
              <a:t>://</a:t>
            </a:r>
            <a:r>
              <a:rPr lang="en-US" sz="2000" dirty="0" smtClean="0"/>
              <a:t>schemas.android.com/apk/res/android</a:t>
            </a:r>
          </a:p>
          <a:p>
            <a:r>
              <a:rPr lang="en-US" sz="2000" dirty="0" smtClean="0"/>
              <a:t>.</a:t>
            </a:r>
          </a:p>
          <a:p>
            <a:r>
              <a:rPr lang="en-US" sz="2000" dirty="0" smtClean="0"/>
              <a:t>.</a:t>
            </a:r>
          </a:p>
          <a:p>
            <a:r>
              <a:rPr lang="en-US" sz="2000" dirty="0"/>
              <a:t> </a:t>
            </a:r>
            <a:r>
              <a:rPr lang="en-US" sz="2000" dirty="0" err="1"/>
              <a:t>android:orientation</a:t>
            </a:r>
            <a:r>
              <a:rPr lang="en-US" sz="2000" dirty="0" smtClean="0"/>
              <a:t>=“</a:t>
            </a:r>
            <a:r>
              <a:rPr lang="en-US" sz="2000" b="1" dirty="0" smtClean="0">
                <a:solidFill>
                  <a:srgbClr val="FF0000"/>
                </a:solidFill>
              </a:rPr>
              <a:t>vertical</a:t>
            </a:r>
            <a:r>
              <a:rPr lang="en-US" sz="2000" dirty="0" smtClean="0"/>
              <a:t>"</a:t>
            </a:r>
          </a:p>
          <a:p>
            <a:r>
              <a:rPr lang="en-US" sz="2000" dirty="0" smtClean="0"/>
              <a:t>/&gt;</a:t>
            </a:r>
            <a:endParaRPr lang="en-US" sz="2000" dirty="0"/>
          </a:p>
        </p:txBody>
      </p:sp>
      <p:pic>
        <p:nvPicPr>
          <p:cNvPr id="6" name="Picture 2" descr="https://developer.android.com/images/ui/linearlayout-smal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608701" y="1925699"/>
            <a:ext cx="2503838" cy="185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58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Gravity provides the </a:t>
            </a:r>
            <a:r>
              <a:rPr lang="en-US" dirty="0" smtClean="0"/>
              <a:t>placing of an </a:t>
            </a:r>
            <a:r>
              <a:rPr lang="en-US" dirty="0"/>
              <a:t>object within a larger container. </a:t>
            </a:r>
            <a:endParaRPr lang="en-US" dirty="0" smtClean="0"/>
          </a:p>
          <a:p>
            <a:r>
              <a:rPr lang="en-US" dirty="0" smtClean="0"/>
              <a:t>Two types of Gravity in Android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gravity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 smtClean="0"/>
              <a:t>layout_gravity</a:t>
            </a: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00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099" y="2667000"/>
            <a:ext cx="5948024" cy="4001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android:gravity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Specifies </a:t>
            </a:r>
            <a:r>
              <a:rPr lang="en-US" dirty="0"/>
              <a:t>how an object should position its content</a:t>
            </a:r>
          </a:p>
          <a:p>
            <a:r>
              <a:rPr lang="en-US" dirty="0" smtClean="0"/>
              <a:t>Has several values: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t</a:t>
            </a:r>
            <a:r>
              <a:rPr lang="en-US" dirty="0" smtClean="0"/>
              <a:t>op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b</a:t>
            </a:r>
            <a:r>
              <a:rPr lang="en-US" dirty="0" smtClean="0"/>
              <a:t>ottom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l</a:t>
            </a:r>
            <a:r>
              <a:rPr lang="en-US" dirty="0" smtClean="0"/>
              <a:t>eft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right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center (horizontal and vertical)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 smtClean="0"/>
              <a:t>center_vertical</a:t>
            </a:r>
            <a:endParaRPr lang="en-US" dirty="0" smtClean="0"/>
          </a:p>
          <a:p>
            <a:pPr marL="914400" lvl="1" indent="-514350">
              <a:buFont typeface="+mj-lt"/>
              <a:buAutoNum type="arabicPeriod"/>
            </a:pPr>
            <a:r>
              <a:rPr lang="en-US" dirty="0" err="1" smtClean="0"/>
              <a:t>center_horizontal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13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android:layout_gravity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Positions the view with respect to its parent</a:t>
            </a:r>
          </a:p>
          <a:p>
            <a:r>
              <a:rPr lang="en-US" dirty="0" smtClean="0"/>
              <a:t>Supports same values as </a:t>
            </a:r>
            <a:r>
              <a:rPr lang="en-US" dirty="0" err="1" smtClean="0"/>
              <a:t>android:gravity</a:t>
            </a:r>
            <a:endParaRPr lang="en-US" dirty="0" smtClean="0"/>
          </a:p>
          <a:p>
            <a:r>
              <a:rPr lang="en-US" b="1" dirty="0" smtClean="0"/>
              <a:t>Not all </a:t>
            </a:r>
            <a:r>
              <a:rPr lang="en-US" b="1" dirty="0" err="1" smtClean="0"/>
              <a:t>ViewGroups</a:t>
            </a:r>
            <a:r>
              <a:rPr lang="en-US" b="1" dirty="0" smtClean="0"/>
              <a:t> support this attribute.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51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62000"/>
          </a:xfrm>
        </p:spPr>
        <p:txBody>
          <a:bodyPr/>
          <a:lstStyle/>
          <a:p>
            <a:r>
              <a:rPr lang="en-US" dirty="0"/>
              <a:t>gravity vs. </a:t>
            </a:r>
            <a:r>
              <a:rPr lang="en-US" dirty="0" err="1"/>
              <a:t>layout_gravity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gravity</a:t>
            </a:r>
            <a:r>
              <a:rPr lang="en-US" dirty="0"/>
              <a:t> </a:t>
            </a:r>
            <a:endParaRPr lang="en-US" dirty="0" smtClean="0"/>
          </a:p>
          <a:p>
            <a:pPr marL="457200" lvl="1" indent="0" algn="just" fontAlgn="base">
              <a:buNone/>
            </a:pPr>
            <a:r>
              <a:rPr lang="en-US" dirty="0" smtClean="0"/>
              <a:t>Arranges </a:t>
            </a:r>
            <a:r>
              <a:rPr lang="en-US" dirty="0"/>
              <a:t>the content </a:t>
            </a:r>
            <a:r>
              <a:rPr lang="en-US" i="1" dirty="0"/>
              <a:t>inside</a:t>
            </a:r>
            <a:r>
              <a:rPr lang="en-US" dirty="0"/>
              <a:t> </a:t>
            </a:r>
            <a:endParaRPr lang="en-US" dirty="0" smtClean="0"/>
          </a:p>
          <a:p>
            <a:pPr marL="457200" lvl="1" indent="0" algn="just" fontAlgn="base">
              <a:buNone/>
            </a:pPr>
            <a:r>
              <a:rPr lang="en-US" dirty="0" smtClean="0"/>
              <a:t>the </a:t>
            </a:r>
            <a:r>
              <a:rPr lang="en-US" dirty="0"/>
              <a:t>view</a:t>
            </a:r>
            <a:r>
              <a:rPr lang="en-US" dirty="0" smtClean="0"/>
              <a:t>.</a:t>
            </a:r>
          </a:p>
          <a:p>
            <a:pPr marL="457200" lvl="1" indent="0" fontAlgn="base">
              <a:buNone/>
            </a:pPr>
            <a:endParaRPr lang="en-US" dirty="0"/>
          </a:p>
          <a:p>
            <a:pPr marL="457200" lvl="1" indent="0" fontAlgn="base">
              <a:buNone/>
            </a:pPr>
            <a:endParaRPr lang="en-US" dirty="0"/>
          </a:p>
          <a:p>
            <a:pPr fontAlgn="base"/>
            <a:r>
              <a:rPr lang="en-US" b="1" dirty="0" err="1"/>
              <a:t>layout_gravity</a:t>
            </a:r>
            <a:r>
              <a:rPr lang="en-US" dirty="0"/>
              <a:t> </a:t>
            </a:r>
            <a:endParaRPr lang="en-US" dirty="0" smtClean="0"/>
          </a:p>
          <a:p>
            <a:pPr marL="457200" lvl="1" indent="0" algn="just" fontAlgn="base">
              <a:buNone/>
            </a:pPr>
            <a:r>
              <a:rPr lang="en-US" dirty="0" smtClean="0"/>
              <a:t>Arranges </a:t>
            </a:r>
            <a:r>
              <a:rPr lang="en-US" dirty="0"/>
              <a:t>the view's </a:t>
            </a:r>
            <a:r>
              <a:rPr lang="en-US" dirty="0" smtClean="0"/>
              <a:t> </a:t>
            </a:r>
          </a:p>
          <a:p>
            <a:pPr marL="457200" lvl="1" indent="0" algn="just" fontAlgn="base">
              <a:buNone/>
            </a:pPr>
            <a:r>
              <a:rPr lang="en-US" dirty="0" smtClean="0"/>
              <a:t>position</a:t>
            </a:r>
            <a:r>
              <a:rPr lang="en-US" dirty="0"/>
              <a:t> </a:t>
            </a:r>
            <a:r>
              <a:rPr lang="en-US" i="1" dirty="0"/>
              <a:t>outside</a:t>
            </a:r>
            <a:r>
              <a:rPr lang="en-US" dirty="0"/>
              <a:t> of itself.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574" y="1143000"/>
            <a:ext cx="3418458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009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layout_gravity</a:t>
            </a:r>
            <a:r>
              <a:rPr lang="en-US" dirty="0" smtClean="0"/>
              <a:t> &amp; gravity Example</a:t>
            </a:r>
            <a:endParaRPr lang="en-US" dirty="0"/>
          </a:p>
        </p:txBody>
      </p:sp>
      <p:pic>
        <p:nvPicPr>
          <p:cNvPr id="7173" name="Picture 5" descr="http://docs.google.com/drawings/pub?id=17MRxVUYtP-ZMp1YO03Ku3H2OGZD8gfDu4Y7mIp5NsGo&amp;w=575&amp;h=53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071" y="1665268"/>
            <a:ext cx="5324475" cy="493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69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Layout Width and Height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wrap_content</a:t>
            </a:r>
            <a:r>
              <a:rPr lang="en-US" dirty="0" smtClean="0"/>
              <a:t> : Wrap the layout to its content</a:t>
            </a:r>
          </a:p>
          <a:p>
            <a:r>
              <a:rPr lang="en-US" dirty="0" err="1" smtClean="0"/>
              <a:t>match_parent</a:t>
            </a:r>
            <a:r>
              <a:rPr lang="en-US" dirty="0" smtClean="0"/>
              <a:t> :Set to its parents size</a:t>
            </a:r>
          </a:p>
          <a:p>
            <a:r>
              <a:rPr lang="en-US" dirty="0" err="1"/>
              <a:t>d</a:t>
            </a:r>
            <a:r>
              <a:rPr lang="en-US" dirty="0" err="1" smtClean="0"/>
              <a:t>p</a:t>
            </a:r>
            <a:r>
              <a:rPr lang="en-US" dirty="0" smtClean="0"/>
              <a:t> : Specify in density independent pixels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2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layout_weight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Attribute only works for </a:t>
            </a:r>
            <a:r>
              <a:rPr lang="en-US" dirty="0" err="1" smtClean="0"/>
              <a:t>LinearLayout</a:t>
            </a:r>
            <a:endParaRPr lang="en-US" dirty="0" smtClean="0"/>
          </a:p>
          <a:p>
            <a:endParaRPr lang="en-US" dirty="0"/>
          </a:p>
          <a:p>
            <a:pPr algn="just"/>
            <a:r>
              <a:rPr lang="en-US" dirty="0" smtClean="0"/>
              <a:t>Indicates how much of the extra space in the </a:t>
            </a:r>
            <a:r>
              <a:rPr lang="en-US" dirty="0" err="1" smtClean="0"/>
              <a:t>LinearLayout</a:t>
            </a:r>
            <a:r>
              <a:rPr lang="en-US" dirty="0" smtClean="0"/>
              <a:t> will be allocated to the child view associated with this attribute.</a:t>
            </a:r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358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err="1" smtClean="0"/>
              <a:t>layout_weight</a:t>
            </a:r>
            <a:r>
              <a:rPr lang="en-US" dirty="0" smtClean="0"/>
              <a:t> to the rescue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715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8080"/>
                </a:solidFill>
                <a:latin typeface="Consolas"/>
              </a:rPr>
              <a:t>&lt;?</a:t>
            </a:r>
            <a:r>
              <a:rPr lang="en-US" sz="1100" dirty="0">
                <a:solidFill>
                  <a:srgbClr val="3F7F7F"/>
                </a:solidFill>
                <a:latin typeface="Consolas"/>
              </a:rPr>
              <a:t>xml </a:t>
            </a:r>
            <a:r>
              <a:rPr lang="en-US" sz="1100" dirty="0">
                <a:solidFill>
                  <a:srgbClr val="7F007F"/>
                </a:solidFill>
                <a:latin typeface="Consolas"/>
              </a:rPr>
              <a:t>version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"1.0" </a:t>
            </a:r>
            <a:r>
              <a:rPr lang="en-US" sz="1100" i="1" dirty="0">
                <a:solidFill>
                  <a:srgbClr val="7F007F"/>
                </a:solidFill>
                <a:latin typeface="Consolas"/>
              </a:rPr>
              <a:t>encoding</a:t>
            </a:r>
            <a:r>
              <a:rPr lang="en-US" sz="1100" i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"utf-8"</a:t>
            </a:r>
            <a:r>
              <a:rPr lang="en-US" sz="1100" i="1" dirty="0">
                <a:solidFill>
                  <a:srgbClr val="008080"/>
                </a:solidFill>
                <a:latin typeface="Consolas"/>
              </a:rPr>
              <a:t>?&gt;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sz="1100" dirty="0" err="1">
                <a:solidFill>
                  <a:srgbClr val="3F7F7F"/>
                </a:solidFill>
                <a:latin typeface="Consolas"/>
              </a:rPr>
              <a:t>LinearLayout</a:t>
            </a:r>
            <a:r>
              <a:rPr lang="en-US" sz="1100" dirty="0">
                <a:solidFill>
                  <a:srgbClr val="3F7F7F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7F007F"/>
                </a:solidFill>
                <a:latin typeface="Consolas"/>
              </a:rPr>
              <a:t>xmlns:android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"http://schemas.android.com/</a:t>
            </a:r>
            <a:r>
              <a:rPr lang="en-US" sz="1100" i="1" dirty="0" err="1">
                <a:solidFill>
                  <a:srgbClr val="2A00FF"/>
                </a:solidFill>
                <a:latin typeface="Consolas"/>
              </a:rPr>
              <a:t>apk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/res/android"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"@+id/pink"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android:layout_width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1100" i="1" dirty="0" err="1">
                <a:solidFill>
                  <a:srgbClr val="2A00FF"/>
                </a:solidFill>
                <a:latin typeface="Consolas"/>
              </a:rPr>
              <a:t>match_parent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android:layout_height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1100" i="1" dirty="0" err="1">
                <a:solidFill>
                  <a:srgbClr val="2A00FF"/>
                </a:solidFill>
                <a:latin typeface="Consolas"/>
              </a:rPr>
              <a:t>match_parent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android:orientation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"horizontal"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android:background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"#00F" </a:t>
            </a:r>
            <a:r>
              <a:rPr lang="en-US" sz="1100" i="1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sz="1100" dirty="0">
                <a:solidFill>
                  <a:srgbClr val="3F7F7F"/>
                </a:solidFill>
                <a:latin typeface="Consolas"/>
              </a:rPr>
              <a:t>View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android:layout_width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"0dp"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android:layout_height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1100" i="1" dirty="0" err="1">
                <a:solidFill>
                  <a:srgbClr val="2A00FF"/>
                </a:solidFill>
                <a:latin typeface="Consolas"/>
              </a:rPr>
              <a:t>match_parent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android:layout_weight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".25"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android:background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"#0F0"</a:t>
            </a:r>
            <a:r>
              <a:rPr lang="en-US" sz="1100" i="1" dirty="0">
                <a:solidFill>
                  <a:srgbClr val="008080"/>
                </a:solidFill>
                <a:latin typeface="Consolas"/>
              </a:rPr>
              <a:t>/&gt;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sz="1100" dirty="0">
                <a:solidFill>
                  <a:srgbClr val="3F7F7F"/>
                </a:solidFill>
                <a:latin typeface="Consolas"/>
              </a:rPr>
              <a:t>View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android:layout_width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"0dp"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android:layout_height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1100" i="1" dirty="0" err="1">
                <a:solidFill>
                  <a:srgbClr val="2A00FF"/>
                </a:solidFill>
                <a:latin typeface="Consolas"/>
              </a:rPr>
              <a:t>match_parent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android:layout_weight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".25"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android:background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"#F00"</a:t>
            </a:r>
            <a:r>
              <a:rPr lang="en-US" sz="1100" i="1" dirty="0">
                <a:solidFill>
                  <a:srgbClr val="008080"/>
                </a:solidFill>
                <a:latin typeface="Consolas"/>
              </a:rPr>
              <a:t>/&gt;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sz="1100" dirty="0">
                <a:solidFill>
                  <a:srgbClr val="3F7F7F"/>
                </a:solidFill>
                <a:latin typeface="Consolas"/>
              </a:rPr>
              <a:t>View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android:layout_width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"0dp"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android:layout_height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1100" i="1" dirty="0" err="1">
                <a:solidFill>
                  <a:srgbClr val="2A00FF"/>
                </a:solidFill>
                <a:latin typeface="Consolas"/>
              </a:rPr>
              <a:t>match_parent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android:layout_weight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".25"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android:background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"#FC0"</a:t>
            </a:r>
            <a:r>
              <a:rPr lang="en-US" sz="1100" i="1" dirty="0">
                <a:solidFill>
                  <a:srgbClr val="008080"/>
                </a:solidFill>
                <a:latin typeface="Consolas"/>
              </a:rPr>
              <a:t>/&gt;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sz="1100" dirty="0">
                <a:solidFill>
                  <a:srgbClr val="3F7F7F"/>
                </a:solidFill>
                <a:latin typeface="Consolas"/>
              </a:rPr>
              <a:t>View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android:layout_width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"0dp"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android:layout_height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1100" i="1" dirty="0" err="1">
                <a:solidFill>
                  <a:srgbClr val="2A00FF"/>
                </a:solidFill>
                <a:latin typeface="Consolas"/>
              </a:rPr>
              <a:t>match_parent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android:layout_weight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".25"</a:t>
            </a:r>
          </a:p>
          <a:p>
            <a:pPr marL="0" indent="0">
              <a:buNone/>
            </a:pPr>
            <a:r>
              <a:rPr lang="en-US" sz="1100" dirty="0">
                <a:latin typeface="Consolas"/>
              </a:rPr>
              <a:t>    </a:t>
            </a:r>
            <a:r>
              <a:rPr lang="en-US" sz="1100" dirty="0" err="1">
                <a:solidFill>
                  <a:srgbClr val="7F007F"/>
                </a:solidFill>
                <a:latin typeface="Consolas"/>
              </a:rPr>
              <a:t>android:background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100" i="1" dirty="0">
                <a:solidFill>
                  <a:srgbClr val="2A00FF"/>
                </a:solidFill>
                <a:latin typeface="Consolas"/>
              </a:rPr>
              <a:t>"#FF0"</a:t>
            </a:r>
            <a:r>
              <a:rPr lang="en-US" sz="1100" i="1" dirty="0">
                <a:solidFill>
                  <a:srgbClr val="008080"/>
                </a:solidFill>
                <a:latin typeface="Consolas"/>
              </a:rPr>
              <a:t>/&gt;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sz="1100" dirty="0" err="1">
                <a:solidFill>
                  <a:srgbClr val="3F7F7F"/>
                </a:solidFill>
                <a:latin typeface="Consolas"/>
              </a:rPr>
              <a:t>LinearLayout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&gt;</a:t>
            </a:r>
            <a:endParaRPr lang="en-US" sz="11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057400"/>
            <a:ext cx="2688423" cy="450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885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RelativeLayout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 smtClean="0"/>
              <a:t>RelativeLayout</a:t>
            </a:r>
            <a:r>
              <a:rPr lang="en-US" dirty="0" smtClean="0"/>
              <a:t> is </a:t>
            </a:r>
            <a:r>
              <a:rPr lang="en-US" dirty="0"/>
              <a:t>a view group that displays child views in </a:t>
            </a:r>
            <a:r>
              <a:rPr lang="en-US" dirty="0" smtClean="0"/>
              <a:t>relative </a:t>
            </a:r>
            <a:r>
              <a:rPr lang="en-US" dirty="0"/>
              <a:t>positions.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200400"/>
            <a:ext cx="3810000" cy="280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94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</a:t>
            </a:r>
            <a:r>
              <a:rPr lang="en-US" dirty="0" err="1" smtClean="0"/>
              <a:t>RelativeLayout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Unless you specify a vertical position/alignment, a child view will match the top of its parent.</a:t>
            </a:r>
          </a:p>
          <a:p>
            <a:endParaRPr lang="en-US" dirty="0"/>
          </a:p>
          <a:p>
            <a:r>
              <a:rPr lang="en-US" dirty="0" smtClean="0"/>
              <a:t>Unless you specify a horizontal position/alignment, a child view will match the left of its parent.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44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</p:txBody>
      </p:sp>
      <p:grpSp>
        <p:nvGrpSpPr>
          <p:cNvPr id="9" name="Group 8"/>
          <p:cNvGrpSpPr/>
          <p:nvPr/>
        </p:nvGrpSpPr>
        <p:grpSpPr>
          <a:xfrm>
            <a:off x="457200" y="1600200"/>
            <a:ext cx="5029200" cy="2438400"/>
            <a:chOff x="762000" y="2057400"/>
            <a:chExt cx="7696200" cy="3429000"/>
          </a:xfrm>
        </p:grpSpPr>
        <p:sp>
          <p:nvSpPr>
            <p:cNvPr id="3" name="Rectangle 2"/>
            <p:cNvSpPr/>
            <p:nvPr/>
          </p:nvSpPr>
          <p:spPr>
            <a:xfrm>
              <a:off x="762000" y="2057400"/>
              <a:ext cx="7696200" cy="3429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914400" y="2209800"/>
              <a:ext cx="7543800" cy="1676400"/>
              <a:chOff x="914400" y="2209800"/>
              <a:chExt cx="7543800" cy="167640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914400" y="2209800"/>
                <a:ext cx="7543800" cy="1676400"/>
              </a:xfrm>
              <a:prstGeom prst="rect">
                <a:avLst/>
              </a:prstGeom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914400" y="2209800"/>
                <a:ext cx="4267200" cy="14478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smtClean="0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914400" y="2209800"/>
                <a:ext cx="3048000" cy="14478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smtClean="0"/>
              </a:p>
              <a:p>
                <a:pPr algn="ctr"/>
                <a:endParaRPr lang="en-US" dirty="0"/>
              </a:p>
            </p:txBody>
          </p:sp>
        </p:grpSp>
      </p:grpSp>
      <p:grpSp>
        <p:nvGrpSpPr>
          <p:cNvPr id="11" name="Group 10"/>
          <p:cNvGrpSpPr/>
          <p:nvPr/>
        </p:nvGrpSpPr>
        <p:grpSpPr>
          <a:xfrm>
            <a:off x="4114800" y="4495800"/>
            <a:ext cx="5029200" cy="2286000"/>
            <a:chOff x="762000" y="2057400"/>
            <a:chExt cx="7848600" cy="3657600"/>
          </a:xfrm>
        </p:grpSpPr>
        <p:sp>
          <p:nvSpPr>
            <p:cNvPr id="12" name="Rectangle 11"/>
            <p:cNvSpPr/>
            <p:nvPr/>
          </p:nvSpPr>
          <p:spPr>
            <a:xfrm>
              <a:off x="762000" y="2057400"/>
              <a:ext cx="7848600" cy="36576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" y="2209800"/>
              <a:ext cx="7543800" cy="1676400"/>
            </a:xfrm>
            <a:prstGeom prst="rect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layout_alignParentTop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914400" y="4114800"/>
              <a:ext cx="4267200" cy="144780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layout_below</a:t>
              </a:r>
              <a:endParaRPr lang="en-US" dirty="0" smtClean="0"/>
            </a:p>
            <a:p>
              <a:pPr algn="ctr"/>
              <a:r>
                <a:rPr lang="en-US" dirty="0" err="1" smtClean="0"/>
                <a:t>layout_alignParentLeft</a:t>
              </a:r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410200" y="4114800"/>
              <a:ext cx="3048000" cy="14478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layout_below</a:t>
              </a:r>
              <a:endParaRPr lang="en-US" dirty="0" smtClean="0"/>
            </a:p>
            <a:p>
              <a:pPr algn="ctr"/>
              <a:r>
                <a:rPr lang="en-US" dirty="0" err="1"/>
                <a:t>l</a:t>
              </a:r>
              <a:r>
                <a:rPr lang="en-US" dirty="0" err="1" smtClean="0"/>
                <a:t>ayout_alignParentRight</a:t>
              </a:r>
              <a:endParaRPr lang="en-US" dirty="0"/>
            </a:p>
          </p:txBody>
        </p:sp>
      </p:grpSp>
      <p:sp>
        <p:nvSpPr>
          <p:cNvPr id="16" name="Right Arrow 15"/>
          <p:cNvSpPr/>
          <p:nvPr/>
        </p:nvSpPr>
        <p:spPr>
          <a:xfrm rot="2799606">
            <a:off x="4232728" y="4152899"/>
            <a:ext cx="838200" cy="6858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4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Layout </a:t>
            </a:r>
            <a:r>
              <a:rPr lang="en-US" dirty="0" smtClean="0"/>
              <a:t>Editor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Using layout editor user can quickly </a:t>
            </a:r>
            <a:r>
              <a:rPr lang="en-US" dirty="0"/>
              <a:t>build layouts by dragging UI elements into a visual design editor instead of writing the layout XML by hand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881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1859</TotalTime>
  <Words>451</Words>
  <Application>Microsoft Office PowerPoint</Application>
  <PresentationFormat>On-screen Show (4:3)</PresentationFormat>
  <Paragraphs>118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HNDIT</vt:lpstr>
      <vt:lpstr>HNDIT2417 Mobile Application Development</vt:lpstr>
      <vt:lpstr>Layout</vt:lpstr>
      <vt:lpstr>Layouts</vt:lpstr>
      <vt:lpstr>Linear Layout</vt:lpstr>
      <vt:lpstr>Linear Layout - Horizontal Orientation</vt:lpstr>
      <vt:lpstr>Linear Layout - Vertical Orientation</vt:lpstr>
      <vt:lpstr>Gravity</vt:lpstr>
      <vt:lpstr>android:gravity</vt:lpstr>
      <vt:lpstr>android:layout_gravity</vt:lpstr>
      <vt:lpstr>gravity vs. layout_gravity</vt:lpstr>
      <vt:lpstr>layout_gravity &amp; gravity Example</vt:lpstr>
      <vt:lpstr>Layout Width and Height</vt:lpstr>
      <vt:lpstr>layout_weight</vt:lpstr>
      <vt:lpstr>layout_weight to the rescue</vt:lpstr>
      <vt:lpstr>RelativeLayout</vt:lpstr>
      <vt:lpstr>About RelativeLayout</vt:lpstr>
      <vt:lpstr>How</vt:lpstr>
      <vt:lpstr>Layout Editor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Nayomi Gamlath</dc:creator>
  <cp:lastModifiedBy>pc</cp:lastModifiedBy>
  <cp:revision>236</cp:revision>
  <dcterms:created xsi:type="dcterms:W3CDTF">2012-08-16T13:03:13Z</dcterms:created>
  <dcterms:modified xsi:type="dcterms:W3CDTF">2018-12-25T05:11:02Z</dcterms:modified>
</cp:coreProperties>
</file>