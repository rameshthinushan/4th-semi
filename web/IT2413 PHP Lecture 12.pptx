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53" r:id="rId1"/>
  </p:sldMasterIdLst>
  <p:notesMasterIdLst>
    <p:notesMasterId r:id="rId38"/>
  </p:notesMasterIdLst>
  <p:sldIdLst>
    <p:sldId id="539" r:id="rId2"/>
    <p:sldId id="525" r:id="rId3"/>
    <p:sldId id="526" r:id="rId4"/>
    <p:sldId id="527" r:id="rId5"/>
    <p:sldId id="528" r:id="rId6"/>
    <p:sldId id="529" r:id="rId7"/>
    <p:sldId id="530" r:id="rId8"/>
    <p:sldId id="531" r:id="rId9"/>
    <p:sldId id="532" r:id="rId10"/>
    <p:sldId id="533" r:id="rId11"/>
    <p:sldId id="534" r:id="rId12"/>
    <p:sldId id="535" r:id="rId13"/>
    <p:sldId id="536" r:id="rId14"/>
    <p:sldId id="312" r:id="rId15"/>
    <p:sldId id="313" r:id="rId16"/>
    <p:sldId id="413" r:id="rId17"/>
    <p:sldId id="315" r:id="rId18"/>
    <p:sldId id="414" r:id="rId19"/>
    <p:sldId id="314" r:id="rId20"/>
    <p:sldId id="415" r:id="rId21"/>
    <p:sldId id="316" r:id="rId22"/>
    <p:sldId id="416" r:id="rId23"/>
    <p:sldId id="317" r:id="rId24"/>
    <p:sldId id="417" r:id="rId25"/>
    <p:sldId id="318" r:id="rId26"/>
    <p:sldId id="418" r:id="rId27"/>
    <p:sldId id="319" r:id="rId28"/>
    <p:sldId id="487" r:id="rId29"/>
    <p:sldId id="423" r:id="rId30"/>
    <p:sldId id="320" r:id="rId31"/>
    <p:sldId id="419" r:id="rId32"/>
    <p:sldId id="323" r:id="rId33"/>
    <p:sldId id="422" r:id="rId34"/>
    <p:sldId id="322" r:id="rId35"/>
    <p:sldId id="420" r:id="rId36"/>
    <p:sldId id="524" r:id="rId37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CC33"/>
    <a:srgbClr val="FFFFFF"/>
    <a:srgbClr val="008000"/>
    <a:srgbClr val="0000FF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64" autoAdjust="0"/>
    <p:restoredTop sz="83025" autoAdjust="0"/>
  </p:normalViewPr>
  <p:slideViewPr>
    <p:cSldViewPr>
      <p:cViewPr varScale="1">
        <p:scale>
          <a:sx n="46" d="100"/>
          <a:sy n="46" d="100"/>
        </p:scale>
        <p:origin x="1382" y="38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F67EA41F-F937-4695-ABB5-3DD9FC03DBB8}" type="datetimeFigureOut">
              <a:rPr lang="en-US"/>
              <a:pPr>
                <a:defRPr/>
              </a:pPr>
              <a:t>1/9/2019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smtClean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09806739-C791-46CE-93F0-517719BD194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945237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endParaRPr lang="en-US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9806739-C791-46CE-93F0-517719BD1947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61608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Creating an Object</a:t>
            </a:r>
            <a:endParaRPr lang="en-US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create an object, you must first design the template from which it can be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instantiated. This template is known as a class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class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first_class</a:t>
            </a:r>
            <a:endParaRPr lang="en-US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a very minimal class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first_class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class is the basis from which you can instantiate any number of</a:t>
            </a:r>
          </a:p>
          <a:p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first_class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objects. To create an instance of an object, you must use the new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statement: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$obj1 = new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first_class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();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$obj2 = new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first_class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();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print "\$obj1 is a ".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gettype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($obj1)."&lt;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&gt;";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print "\$obj2 is a ".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gettype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($obj2)."&lt;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&gt;";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can test that $obj1 and $obj2 contain objects with PHP's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gettype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 function.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the previous code fragment,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gettype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returns the string "object", which is then written to the browser.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9806739-C791-46CE-93F0-517719BD1947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98347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Object Properties</a:t>
            </a:r>
            <a:endParaRPr lang="en-US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endParaRPr lang="en-US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Objects have access to special variables called properties. These can be declared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anywhere within the body of your class, but for the sake of clarity should be defined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 the top. A property can be a value, an array, or even another object: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class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first_class</a:t>
            </a:r>
            <a:endParaRPr lang="en-US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var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$name = "harry";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Notice that we declared our variable with the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var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keyword. This is essential in the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context of a class, and you will be rewarded with a parse error if you forget it. Now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any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first_class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object that is created will contain a property called name with the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value of "harry". You can access this property from outside the object and even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change it: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class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first_class</a:t>
            </a:r>
            <a:endParaRPr lang="en-US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var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$name = "harry";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$obj1 = new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first_class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();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$obj2 = new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first_class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();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$obj1-&gt;name = "bob";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print "$obj1-&gt;name&lt;BR&gt;";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print "$obj2-&gt;name&lt;BR&gt;";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-&gt; operator allows you to access or change the properties of an object.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Although $obj1 and $obj2 were born with the name of "harry", we have helped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$obj2 to change its mind by assigning the string "bob" to its name property, before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using the -&gt; operator once again to print each object's name property to the screen.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9806739-C791-46CE-93F0-517719BD1947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92936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9806739-C791-46CE-93F0-517719BD1947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91962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method is a function defined within a class. Every object instantiated from the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class will have the method's functionality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&lt;html&gt;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&lt;head&gt;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&lt;body&gt;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&lt;?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php</a:t>
            </a:r>
            <a:endParaRPr lang="en-US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class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first_class</a:t>
            </a:r>
            <a:endParaRPr lang="en-US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{</a:t>
            </a:r>
          </a:p>
          <a:p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var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$name;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function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sayHello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print "hello";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}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}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$obj1 = new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first_class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();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$obj1-&gt;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sayHello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(); // outputs "hello"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?&gt;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&lt;/body&gt;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&lt;/html&gt;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9806739-C791-46CE-93F0-517719BD1947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20330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9062" indent="0">
              <a:buNone/>
            </a:pPr>
            <a:r>
              <a:rPr lang="en-US" sz="1200" dirty="0" smtClean="0"/>
              <a:t>&lt;?</a:t>
            </a:r>
            <a:r>
              <a:rPr lang="en-US" sz="1200" dirty="0" err="1" smtClean="0"/>
              <a:t>php</a:t>
            </a:r>
            <a:r>
              <a:rPr lang="en-US" sz="1200" dirty="0" smtClean="0"/>
              <a:t>  		// include function start a car</a:t>
            </a:r>
          </a:p>
          <a:p>
            <a:pPr marL="119062" indent="0">
              <a:buNone/>
            </a:pPr>
            <a:r>
              <a:rPr lang="en-US" sz="1200" dirty="0" smtClean="0"/>
              <a:t>class car{</a:t>
            </a:r>
          </a:p>
          <a:p>
            <a:pPr marL="119062" indent="0">
              <a:buNone/>
            </a:pPr>
            <a:r>
              <a:rPr lang="en-US" sz="1200" dirty="0" err="1" smtClean="0"/>
              <a:t>var</a:t>
            </a:r>
            <a:r>
              <a:rPr lang="en-US" sz="1200" dirty="0" smtClean="0"/>
              <a:t> $</a:t>
            </a:r>
            <a:r>
              <a:rPr lang="en-US" sz="1200" dirty="0" err="1" smtClean="0"/>
              <a:t>regno</a:t>
            </a:r>
            <a:r>
              <a:rPr lang="en-US" sz="1200" dirty="0" smtClean="0"/>
              <a:t>=1787;</a:t>
            </a:r>
          </a:p>
          <a:p>
            <a:pPr marL="119062" indent="0">
              <a:buNone/>
            </a:pPr>
            <a:r>
              <a:rPr lang="en-US" sz="1200" dirty="0" err="1" smtClean="0"/>
              <a:t>var</a:t>
            </a:r>
            <a:r>
              <a:rPr lang="en-US" sz="1200" dirty="0" smtClean="0"/>
              <a:t> $brand="none";</a:t>
            </a:r>
          </a:p>
          <a:p>
            <a:pPr marL="119062" indent="0">
              <a:buNone/>
            </a:pPr>
            <a:r>
              <a:rPr lang="en-US" sz="1200" dirty="0" err="1" smtClean="0"/>
              <a:t>var</a:t>
            </a:r>
            <a:r>
              <a:rPr lang="en-US" sz="1200" dirty="0" smtClean="0"/>
              <a:t> $color="none";</a:t>
            </a:r>
          </a:p>
          <a:p>
            <a:pPr marL="119062" indent="0">
              <a:buNone/>
            </a:pPr>
            <a:r>
              <a:rPr lang="en-US" sz="1200" dirty="0" smtClean="0"/>
              <a:t>function start() {</a:t>
            </a:r>
          </a:p>
          <a:p>
            <a:pPr marL="119062" indent="0">
              <a:buNone/>
            </a:pPr>
            <a:r>
              <a:rPr lang="en-US" sz="1200" dirty="0" smtClean="0"/>
              <a:t>echo “Starting the car </a:t>
            </a:r>
            <a:r>
              <a:rPr lang="en-US" sz="1200" dirty="0" err="1" smtClean="0"/>
              <a:t>reg</a:t>
            </a:r>
            <a:r>
              <a:rPr lang="en-US" sz="1200" dirty="0" smtClean="0"/>
              <a:t> no:”.$this-&gt;</a:t>
            </a:r>
            <a:r>
              <a:rPr lang="en-US" sz="1200" dirty="0" err="1" smtClean="0"/>
              <a:t>regno</a:t>
            </a:r>
            <a:r>
              <a:rPr lang="en-US" sz="1200" dirty="0" smtClean="0"/>
              <a:t>;</a:t>
            </a:r>
          </a:p>
          <a:p>
            <a:pPr marL="119062" indent="0">
              <a:buNone/>
            </a:pPr>
            <a:r>
              <a:rPr lang="en-US" sz="1200" dirty="0" smtClean="0"/>
              <a:t>}</a:t>
            </a:r>
          </a:p>
          <a:p>
            <a:pPr marL="119062" indent="0">
              <a:buNone/>
            </a:pPr>
            <a:r>
              <a:rPr lang="en-US" sz="1200" dirty="0" smtClean="0"/>
              <a:t>}</a:t>
            </a:r>
          </a:p>
          <a:p>
            <a:pPr marL="119062" indent="0">
              <a:buNone/>
            </a:pPr>
            <a:r>
              <a:rPr lang="en-US" sz="1200" dirty="0" smtClean="0"/>
              <a:t>$</a:t>
            </a:r>
            <a:r>
              <a:rPr lang="en-US" sz="1200" dirty="0" err="1" smtClean="0"/>
              <a:t>obj</a:t>
            </a:r>
            <a:r>
              <a:rPr lang="en-US" sz="1200" dirty="0" smtClean="0"/>
              <a:t>=new car();</a:t>
            </a:r>
          </a:p>
          <a:p>
            <a:pPr marL="119062" indent="0">
              <a:buNone/>
            </a:pPr>
            <a:r>
              <a:rPr lang="en-US" sz="1200" dirty="0" smtClean="0"/>
              <a:t>$</a:t>
            </a:r>
            <a:r>
              <a:rPr lang="en-US" sz="1200" dirty="0" err="1" smtClean="0"/>
              <a:t>obj</a:t>
            </a:r>
            <a:r>
              <a:rPr lang="en-US" sz="1200" dirty="0" smtClean="0"/>
              <a:t>-&gt;start();</a:t>
            </a:r>
          </a:p>
          <a:p>
            <a:pPr marL="119062" indent="0">
              <a:buNone/>
            </a:pPr>
            <a:r>
              <a:rPr lang="en-US" sz="1200" dirty="0" smtClean="0"/>
              <a:t>?&gt;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9806739-C791-46CE-93F0-517719BD1947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55232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9806739-C791-46CE-93F0-517719BD1947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55831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9806739-C791-46CE-93F0-517719BD1947}" type="slidenum">
              <a:rPr lang="en-US" smtClean="0"/>
              <a:pPr>
                <a:defRPr/>
              </a:pPr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65066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C4AE668-F1CA-43CC-B224-31C4FB1DBC35}" type="datetimeFigureOut">
              <a:rPr lang="en-US" smtClean="0"/>
              <a:pPr>
                <a:defRPr/>
              </a:pPr>
              <a:t>1/9/2019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17EFC5B-740B-4522-A0AB-5F62F4C7676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1027" name="Picture 3" descr="C:\Users\Dell PC\Desktop\mainpage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8738" y="2133600"/>
            <a:ext cx="9162738" cy="2362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5431" y="4800600"/>
            <a:ext cx="8696169" cy="609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600" y="2247901"/>
            <a:ext cx="3886200" cy="198119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212749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A8C5B54-1915-4CCF-BFE8-35A322F52A79}" type="datetimeFigureOut">
              <a:rPr lang="en-US" smtClean="0"/>
              <a:pPr>
                <a:defRPr/>
              </a:pPr>
              <a:t>1/9/2019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E6D9CF1-302D-4F0B-92B7-33217D1A59D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1026" name="Picture 2" descr="C:\Users\Dell PC\Desktop\template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63"/>
            <a:ext cx="9144000" cy="355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7817285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2DBDF9C-0C2C-44E4-A845-2D25F1BABF6B}" type="datetimeFigureOut">
              <a:rPr lang="en-US" smtClean="0"/>
              <a:pPr>
                <a:defRPr/>
              </a:pPr>
              <a:t>1/9/2019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A5E5768-A308-4713-BFA1-B86A1A28879A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41087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65772F5-FBC4-4CEF-AE3F-43F45729A248}" type="datetimeFigureOut">
              <a:rPr lang="en-US" smtClean="0"/>
              <a:pPr>
                <a:defRPr/>
              </a:pPr>
              <a:t>1/9/2019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34C6ADA-1504-4291-A2C4-533E1D2E0AEF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81567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E2E72A5-4903-410D-8791-A372FD1F24FD}" type="datetimeFigureOut">
              <a:rPr lang="en-US" smtClean="0"/>
              <a:pPr>
                <a:defRPr/>
              </a:pPr>
              <a:t>1/9/2019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C3AE5CF-A03A-4DBF-B1DB-DF3D5CB2024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186128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FDD1508-1772-4A02-80CA-2EB513C787D2}" type="datetimeFigureOut">
              <a:rPr lang="en-US" smtClean="0"/>
              <a:pPr>
                <a:defRPr/>
              </a:pPr>
              <a:t>1/9/2019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2B3ED1E-04D3-4624-AA03-F86959AA640D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1964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51E7AA6-C5F1-48F7-90D3-6DDD94D4EDA2}" type="datetimeFigureOut">
              <a:rPr lang="en-US" smtClean="0"/>
              <a:pPr>
                <a:defRPr/>
              </a:pPr>
              <a:t>1/9/2019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40B0EBB-2F9F-409B-93E8-4092BA6839E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64064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16DCCC5-D01C-4F8B-9B0D-7F7EDD315DC6}" type="datetimeFigureOut">
              <a:rPr lang="en-US" smtClean="0"/>
              <a:pPr>
                <a:defRPr/>
              </a:pPr>
              <a:t>1/9/2019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C1EBEA3-F81C-42D0-B78D-3014A771B646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93237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BE074C9-74CC-4DE2-B1F3-373E5E47989D}" type="datetimeFigureOut">
              <a:rPr lang="en-US" smtClean="0"/>
              <a:pPr>
                <a:defRPr/>
              </a:pPr>
              <a:t>1/9/2019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9F5F67E-9C63-49F9-856D-181D3B7A99D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471842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CD99824-1F69-4447-A1FA-885D9A971CFD}" type="datetimeFigureOut">
              <a:rPr lang="en-US" smtClean="0"/>
              <a:pPr>
                <a:defRPr/>
              </a:pPr>
              <a:t>1/9/2019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F3F0F90-7C74-4A0B-8F64-E4025412BFDF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77444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96A6526-D663-48E6-9215-CEB195B25779}" type="datetimeFigureOut">
              <a:rPr lang="en-US" smtClean="0"/>
              <a:pPr>
                <a:defRPr/>
              </a:pPr>
              <a:t>1/9/2019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8A039B4-C0FB-4C68-9D23-BFF8BCD2816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135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60960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905000"/>
            <a:ext cx="8229600" cy="42211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E78CB468-4193-42D6-A575-D53A1410C8CC}" type="datetimeFigureOut">
              <a:rPr lang="en-US" smtClean="0"/>
              <a:pPr>
                <a:defRPr/>
              </a:pPr>
              <a:t>1/9/2019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F5F4C108-F6EC-4FF6-A109-4D6046DA9A05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8" name="Picture 2" descr="C:\Users\Dell PC\Desktop\template2.jpg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63"/>
            <a:ext cx="9144000" cy="355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20384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54" r:id="rId1"/>
    <p:sldLayoutId id="2147483955" r:id="rId2"/>
    <p:sldLayoutId id="2147483956" r:id="rId3"/>
    <p:sldLayoutId id="2147483957" r:id="rId4"/>
    <p:sldLayoutId id="2147483958" r:id="rId5"/>
    <p:sldLayoutId id="2147483959" r:id="rId6"/>
    <p:sldLayoutId id="2147483960" r:id="rId7"/>
    <p:sldLayoutId id="2147483961" r:id="rId8"/>
    <p:sldLayoutId id="2147483962" r:id="rId9"/>
    <p:sldLayoutId id="2147483963" r:id="rId10"/>
    <p:sldLayoutId id="2147483964" r:id="rId11"/>
  </p:sldLayoutIdLst>
  <p:timing>
    <p:tnLst>
      <p:par>
        <p:cTn id="1" dur="indefinite" restart="never" nodeType="tmRoot"/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Subtitle 2"/>
          <p:cNvSpPr>
            <a:spLocks noGrp="1"/>
          </p:cNvSpPr>
          <p:nvPr>
            <p:ph type="subTitle" idx="1"/>
          </p:nvPr>
        </p:nvSpPr>
        <p:spPr>
          <a:xfrm>
            <a:off x="381000" y="4800600"/>
            <a:ext cx="8077200" cy="1500188"/>
          </a:xfrm>
        </p:spPr>
        <p:txBody>
          <a:bodyPr>
            <a:normAutofit fontScale="62500" lnSpcReduction="20000"/>
          </a:bodyPr>
          <a:lstStyle/>
          <a:p>
            <a:pPr eaLnBrk="1" hangingPunct="1"/>
            <a:endParaRPr lang="en-US" sz="2400" b="1" dirty="0" smtClean="0"/>
          </a:p>
          <a:p>
            <a:pPr eaLnBrk="1" hangingPunct="1"/>
            <a:r>
              <a:rPr lang="en-US" sz="2400" b="1" dirty="0" smtClean="0">
                <a:solidFill>
                  <a:schemeClr val="accent2">
                    <a:lumMod val="40000"/>
                    <a:lumOff val="60000"/>
                  </a:schemeClr>
                </a:solidFill>
              </a:rPr>
              <a:t>Week 7 Server </a:t>
            </a:r>
            <a:r>
              <a:rPr lang="en-US" sz="2400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side programming</a:t>
            </a:r>
            <a:endParaRPr lang="en-US" sz="2400" b="1" dirty="0" smtClean="0"/>
          </a:p>
          <a:p>
            <a:pPr eaLnBrk="1" hangingPunct="1"/>
            <a:r>
              <a:rPr lang="en-US" dirty="0" smtClean="0"/>
              <a:t>PHP Scripting Language</a:t>
            </a:r>
          </a:p>
          <a:p>
            <a:pPr eaLnBrk="1" hangingPunct="1"/>
            <a:r>
              <a:rPr lang="en-US" dirty="0" smtClean="0"/>
              <a:t>MySQL Database</a:t>
            </a:r>
          </a:p>
          <a:p>
            <a:pPr eaLnBrk="1" hangingPunct="1"/>
            <a:r>
              <a:rPr lang="en-US" dirty="0" smtClean="0"/>
              <a:t>Apache Server</a:t>
            </a:r>
          </a:p>
          <a:p>
            <a:pPr eaLnBrk="1" hangingPunct="1"/>
            <a:endParaRPr lang="en-US" dirty="0" smtClean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2543175"/>
            <a:ext cx="3733800" cy="1673352"/>
          </a:xfrm>
        </p:spPr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200" dirty="0" smtClean="0"/>
              <a:t>IT2413</a:t>
            </a:r>
            <a:r>
              <a:rPr lang="en-US" sz="3200" dirty="0" smtClean="0"/>
              <a:t/>
            </a:r>
            <a:br>
              <a:rPr lang="en-US" sz="3200" dirty="0" smtClean="0"/>
            </a:br>
            <a:r>
              <a:rPr lang="en-US" sz="3200" dirty="0" smtClean="0"/>
              <a:t> </a:t>
            </a:r>
            <a:r>
              <a:rPr lang="en-US" sz="3200" dirty="0"/>
              <a:t>W</a:t>
            </a:r>
            <a:r>
              <a:rPr lang="en-US" sz="3200" dirty="0" smtClean="0"/>
              <a:t>eb Programming</a:t>
            </a:r>
            <a:endParaRPr lang="en-US" sz="3200" dirty="0"/>
          </a:p>
        </p:txBody>
      </p:sp>
      <p:pic>
        <p:nvPicPr>
          <p:cNvPr id="819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2801" y="5181600"/>
            <a:ext cx="1524000" cy="13454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843718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OOP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876800"/>
          </a:xfrm>
        </p:spPr>
        <p:txBody>
          <a:bodyPr>
            <a:normAutofit/>
          </a:bodyPr>
          <a:lstStyle/>
          <a:p>
            <a:pPr marL="119062" indent="0">
              <a:buNone/>
            </a:pPr>
            <a:r>
              <a:rPr lang="en-US" sz="2800" b="1" dirty="0"/>
              <a:t>What Is an Object?</a:t>
            </a:r>
            <a:endParaRPr lang="en-US" sz="2800" dirty="0"/>
          </a:p>
          <a:p>
            <a:pPr marL="119062" indent="0">
              <a:buNone/>
            </a:pPr>
            <a:r>
              <a:rPr lang="en-US" sz="2400" dirty="0"/>
              <a:t>An object is an enclosed bundle of variables and functions forged from a </a:t>
            </a:r>
            <a:r>
              <a:rPr lang="en-US" sz="2400" dirty="0" smtClean="0"/>
              <a:t>special template </a:t>
            </a:r>
            <a:r>
              <a:rPr lang="en-US" sz="2400" dirty="0"/>
              <a:t>called a class. Objects hide a lot of their inner workings away from </a:t>
            </a:r>
            <a:r>
              <a:rPr lang="en-US" sz="2400" dirty="0" smtClean="0"/>
              <a:t>the code </a:t>
            </a:r>
            <a:r>
              <a:rPr lang="en-US" sz="2400" dirty="0"/>
              <a:t>that uses them, providing instead easy interfaces through which you can </a:t>
            </a:r>
            <a:r>
              <a:rPr lang="en-US" sz="2400" dirty="0" smtClean="0"/>
              <a:t>send them </a:t>
            </a:r>
            <a:r>
              <a:rPr lang="en-US" sz="2400" dirty="0"/>
              <a:t>orders and they can return information. These interfaces are special </a:t>
            </a:r>
            <a:r>
              <a:rPr lang="en-US" sz="2400" dirty="0" smtClean="0"/>
              <a:t>functions called </a:t>
            </a:r>
            <a:r>
              <a:rPr lang="en-US" sz="2400" dirty="0"/>
              <a:t>methods. All the methods of an object have access to special variables </a:t>
            </a:r>
            <a:r>
              <a:rPr lang="en-US" sz="2400" dirty="0" smtClean="0"/>
              <a:t>called properties</a:t>
            </a:r>
            <a:r>
              <a:rPr lang="en-US" sz="2400" dirty="0"/>
              <a:t>.</a:t>
            </a:r>
          </a:p>
          <a:p>
            <a:pPr marL="119062" indent="0">
              <a:buNone/>
            </a:pPr>
            <a:r>
              <a:rPr lang="en-US" sz="2400" dirty="0"/>
              <a:t> </a:t>
            </a:r>
            <a:r>
              <a:rPr lang="en-US" sz="2400" dirty="0" smtClean="0"/>
              <a:t>By </a:t>
            </a:r>
            <a:r>
              <a:rPr lang="en-US" sz="2400" dirty="0"/>
              <a:t>defining a class, you lay down a set </a:t>
            </a:r>
            <a:r>
              <a:rPr lang="en-US" sz="2400" dirty="0" smtClean="0"/>
              <a:t>of characteristics</a:t>
            </a:r>
            <a:r>
              <a:rPr lang="en-US" sz="2400" dirty="0"/>
              <a:t>. By creating objects of </a:t>
            </a:r>
            <a:r>
              <a:rPr lang="en-US" sz="2400" dirty="0" smtClean="0"/>
              <a:t>that type</a:t>
            </a:r>
            <a:r>
              <a:rPr lang="en-US" sz="2400" dirty="0"/>
              <a:t>, you create entities that share these characteristics but might initialize them </a:t>
            </a:r>
            <a:r>
              <a:rPr lang="en-US" sz="2400" dirty="0" smtClean="0"/>
              <a:t>as different </a:t>
            </a:r>
            <a:r>
              <a:rPr lang="en-US" sz="2400" dirty="0"/>
              <a:t>values.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62694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OOP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i="1" dirty="0"/>
              <a:t>class </a:t>
            </a:r>
            <a:r>
              <a:rPr lang="en-US" dirty="0"/>
              <a:t>is a collection of special functions called methods and special variables </a:t>
            </a:r>
            <a:r>
              <a:rPr lang="en-US" dirty="0" smtClean="0"/>
              <a:t>(attributes) called properties</a:t>
            </a:r>
            <a:r>
              <a:rPr lang="en-US" dirty="0"/>
              <a:t>. </a:t>
            </a:r>
            <a:endParaRPr lang="en-US" dirty="0" smtClean="0"/>
          </a:p>
          <a:p>
            <a:r>
              <a:rPr lang="en-US" dirty="0" smtClean="0"/>
              <a:t>You </a:t>
            </a:r>
            <a:r>
              <a:rPr lang="en-US" dirty="0"/>
              <a:t>can declare a class with the class keyword</a:t>
            </a:r>
            <a:r>
              <a:rPr lang="en-US" dirty="0" smtClean="0"/>
              <a:t>.</a:t>
            </a:r>
          </a:p>
          <a:p>
            <a:r>
              <a:rPr lang="en-US" dirty="0" smtClean="0"/>
              <a:t> </a:t>
            </a:r>
            <a:r>
              <a:rPr lang="en-US" dirty="0"/>
              <a:t>Classes are </a:t>
            </a:r>
            <a:r>
              <a:rPr lang="en-US" dirty="0" smtClean="0"/>
              <a:t>the templates </a:t>
            </a:r>
            <a:r>
              <a:rPr lang="en-US" dirty="0"/>
              <a:t>from which objects are created</a:t>
            </a:r>
            <a:r>
              <a:rPr lang="en-US" dirty="0" smtClean="0"/>
              <a:t>.</a:t>
            </a:r>
            <a:endParaRPr lang="en-US" dirty="0"/>
          </a:p>
          <a:p>
            <a:r>
              <a:rPr lang="en-US" dirty="0"/>
              <a:t>an </a:t>
            </a:r>
            <a:r>
              <a:rPr lang="en-US" b="1" i="1" dirty="0"/>
              <a:t>object </a:t>
            </a:r>
            <a:r>
              <a:rPr lang="en-US" dirty="0"/>
              <a:t>is an instance of a </a:t>
            </a:r>
            <a:r>
              <a:rPr lang="en-US" b="1" dirty="0"/>
              <a:t> </a:t>
            </a:r>
            <a:r>
              <a:rPr lang="en-US" dirty="0"/>
              <a:t>class.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82601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Creating a Class &amp; an Object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purpose of using object is to create reusable code </a:t>
            </a:r>
          </a:p>
          <a:p>
            <a:pPr marL="411162" lvl="1" indent="0">
              <a:buNone/>
            </a:pPr>
            <a:r>
              <a:rPr lang="en-US" b="1" dirty="0" smtClean="0">
                <a:solidFill>
                  <a:srgbClr val="00B0F0"/>
                </a:solidFill>
              </a:rPr>
              <a:t>class </a:t>
            </a:r>
            <a:r>
              <a:rPr lang="en-US" b="1" dirty="0" err="1" smtClean="0">
                <a:solidFill>
                  <a:srgbClr val="00B0F0"/>
                </a:solidFill>
              </a:rPr>
              <a:t>myclass</a:t>
            </a:r>
            <a:r>
              <a:rPr lang="en-US" b="1" dirty="0" smtClean="0">
                <a:solidFill>
                  <a:srgbClr val="00B0F0"/>
                </a:solidFill>
              </a:rPr>
              <a:t>   {</a:t>
            </a:r>
          </a:p>
          <a:p>
            <a:pPr marL="411162" lvl="1" indent="0">
              <a:buNone/>
            </a:pPr>
            <a:r>
              <a:rPr lang="en-US" sz="2000" b="1" i="1" dirty="0" smtClean="0">
                <a:solidFill>
                  <a:srgbClr val="00B0F0"/>
                </a:solidFill>
              </a:rPr>
              <a:t>//class definition goes here</a:t>
            </a:r>
          </a:p>
          <a:p>
            <a:pPr marL="411162" lvl="1" indent="0">
              <a:buNone/>
            </a:pPr>
            <a:r>
              <a:rPr lang="en-US" b="1" dirty="0" smtClean="0">
                <a:solidFill>
                  <a:srgbClr val="00B0F0"/>
                </a:solidFill>
              </a:rPr>
              <a:t>}</a:t>
            </a:r>
          </a:p>
          <a:p>
            <a:r>
              <a:rPr lang="en-US" dirty="0" smtClean="0"/>
              <a:t>To create new instance of an object</a:t>
            </a:r>
          </a:p>
          <a:p>
            <a:pPr marL="119062" indent="0">
              <a:buNone/>
            </a:pPr>
            <a:r>
              <a:rPr lang="en-US" dirty="0">
                <a:solidFill>
                  <a:srgbClr val="00B0F0"/>
                </a:solidFill>
              </a:rPr>
              <a:t>	</a:t>
            </a:r>
            <a:r>
              <a:rPr lang="en-US" sz="2800" b="1" dirty="0" smtClean="0">
                <a:solidFill>
                  <a:srgbClr val="00B0F0"/>
                </a:solidFill>
              </a:rPr>
              <a:t>$obj1=new </a:t>
            </a:r>
            <a:r>
              <a:rPr lang="en-US" sz="2800" b="1" dirty="0" err="1" smtClean="0">
                <a:solidFill>
                  <a:srgbClr val="00B0F0"/>
                </a:solidFill>
              </a:rPr>
              <a:t>myclass</a:t>
            </a:r>
            <a:r>
              <a:rPr lang="en-US" sz="2800" b="1" dirty="0" smtClean="0">
                <a:solidFill>
                  <a:srgbClr val="00B0F0"/>
                </a:solidFill>
              </a:rPr>
              <a:t>();</a:t>
            </a:r>
            <a:endParaRPr lang="en-US" sz="28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44380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dirty="0"/>
              <a:t>Defining A Class and </a:t>
            </a:r>
            <a:r>
              <a:rPr lang="en-US" sz="4800" dirty="0" smtClean="0"/>
              <a:t>Objects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76400"/>
            <a:ext cx="8229600" cy="5181600"/>
          </a:xfrm>
        </p:spPr>
        <p:txBody>
          <a:bodyPr>
            <a:normAutofit fontScale="77500" lnSpcReduction="20000"/>
          </a:bodyPr>
          <a:lstStyle/>
          <a:p>
            <a:pPr marL="119062" indent="0">
              <a:buNone/>
            </a:pPr>
            <a:r>
              <a:rPr lang="en-US" sz="2300" dirty="0"/>
              <a:t> </a:t>
            </a:r>
            <a:r>
              <a:rPr lang="en-US" sz="2300" dirty="0" smtClean="0"/>
              <a:t>The </a:t>
            </a:r>
            <a:r>
              <a:rPr lang="en-US" sz="2300" dirty="0"/>
              <a:t>structure of a class can be described as follows.</a:t>
            </a:r>
          </a:p>
          <a:p>
            <a:pPr marL="119062" indent="0">
              <a:buNone/>
            </a:pPr>
            <a:r>
              <a:rPr lang="en-US" sz="2300" dirty="0"/>
              <a:t> </a:t>
            </a:r>
            <a:r>
              <a:rPr lang="en-US" sz="2300" dirty="0" smtClean="0"/>
              <a:t>&lt;?</a:t>
            </a:r>
            <a:r>
              <a:rPr lang="en-US" sz="2300" dirty="0" err="1"/>
              <a:t>php</a:t>
            </a:r>
            <a:endParaRPr lang="en-US" sz="2300" dirty="0"/>
          </a:p>
          <a:p>
            <a:pPr marL="119062" indent="0">
              <a:buNone/>
            </a:pPr>
            <a:r>
              <a:rPr lang="en-US" sz="2300" dirty="0"/>
              <a:t>	class </a:t>
            </a:r>
            <a:r>
              <a:rPr lang="en-US" sz="2300" b="1" dirty="0" err="1"/>
              <a:t>className</a:t>
            </a:r>
            <a:r>
              <a:rPr lang="en-US" sz="2300" b="1" dirty="0"/>
              <a:t> </a:t>
            </a:r>
            <a:r>
              <a:rPr lang="en-US" sz="2300" dirty="0"/>
              <a:t>{</a:t>
            </a:r>
          </a:p>
          <a:p>
            <a:pPr marL="119062" indent="0">
              <a:buNone/>
            </a:pPr>
            <a:r>
              <a:rPr lang="en-US" sz="2300" dirty="0"/>
              <a:t>		//Variable declarations…….</a:t>
            </a:r>
          </a:p>
          <a:p>
            <a:pPr marL="119062" indent="0">
              <a:buNone/>
            </a:pPr>
            <a:r>
              <a:rPr lang="en-US" sz="2300" dirty="0"/>
              <a:t>                        </a:t>
            </a:r>
            <a:r>
              <a:rPr lang="en-US" sz="2300" b="1" dirty="0" err="1"/>
              <a:t>Var</a:t>
            </a:r>
            <a:r>
              <a:rPr lang="en-US" sz="2300" b="1" dirty="0"/>
              <a:t> $</a:t>
            </a:r>
            <a:r>
              <a:rPr lang="en-US" sz="2300" b="1" dirty="0" err="1"/>
              <a:t>varName</a:t>
            </a:r>
            <a:r>
              <a:rPr lang="en-US" sz="2300" b="1" dirty="0"/>
              <a:t>;</a:t>
            </a:r>
            <a:endParaRPr lang="en-US" sz="2300" dirty="0"/>
          </a:p>
          <a:p>
            <a:pPr marL="119062" indent="0">
              <a:buNone/>
            </a:pPr>
            <a:r>
              <a:rPr lang="en-US" sz="2300" dirty="0"/>
              <a:t>		……………………………………….</a:t>
            </a:r>
          </a:p>
          <a:p>
            <a:pPr marL="119062" indent="0">
              <a:buNone/>
            </a:pPr>
            <a:r>
              <a:rPr lang="en-US" sz="2300" dirty="0"/>
              <a:t>	</a:t>
            </a:r>
            <a:r>
              <a:rPr lang="en-US" sz="2300" dirty="0" smtClean="0"/>
              <a:t>function </a:t>
            </a:r>
            <a:r>
              <a:rPr lang="en-US" sz="2300" dirty="0"/>
              <a:t>function1(){</a:t>
            </a:r>
          </a:p>
          <a:p>
            <a:pPr marL="119062" indent="0">
              <a:buNone/>
            </a:pPr>
            <a:r>
              <a:rPr lang="en-US" sz="2300" dirty="0"/>
              <a:t>		</a:t>
            </a:r>
            <a:r>
              <a:rPr lang="en-US" sz="2300" dirty="0" smtClean="0"/>
              <a:t>//Codes here</a:t>
            </a:r>
            <a:endParaRPr lang="en-US" sz="2300" dirty="0"/>
          </a:p>
          <a:p>
            <a:pPr marL="119062" indent="0">
              <a:buNone/>
            </a:pPr>
            <a:r>
              <a:rPr lang="en-US" sz="2300" dirty="0" smtClean="0"/>
              <a:t>		}</a:t>
            </a:r>
            <a:endParaRPr lang="en-US" sz="2300" dirty="0"/>
          </a:p>
          <a:p>
            <a:pPr marL="119062" indent="0">
              <a:buNone/>
            </a:pPr>
            <a:r>
              <a:rPr lang="en-US" sz="2300" dirty="0" smtClean="0"/>
              <a:t>	 function function2</a:t>
            </a:r>
            <a:r>
              <a:rPr lang="en-US" sz="2300" dirty="0"/>
              <a:t>(){</a:t>
            </a:r>
          </a:p>
          <a:p>
            <a:pPr marL="119062" indent="0">
              <a:buNone/>
            </a:pPr>
            <a:r>
              <a:rPr lang="en-US" sz="2300" dirty="0"/>
              <a:t>		</a:t>
            </a:r>
            <a:r>
              <a:rPr lang="en-US" sz="2300" dirty="0" smtClean="0"/>
              <a:t>//codes here</a:t>
            </a:r>
            <a:endParaRPr lang="en-US" sz="2300" dirty="0"/>
          </a:p>
          <a:p>
            <a:pPr marL="119062" indent="0">
              <a:buNone/>
            </a:pPr>
            <a:r>
              <a:rPr lang="en-US" sz="2300" dirty="0" smtClean="0"/>
              <a:t>		}</a:t>
            </a:r>
            <a:endParaRPr lang="en-US" sz="2300" dirty="0"/>
          </a:p>
          <a:p>
            <a:pPr marL="119062" indent="0">
              <a:buNone/>
            </a:pPr>
            <a:r>
              <a:rPr lang="en-US" sz="2300" dirty="0"/>
              <a:t>	}</a:t>
            </a:r>
          </a:p>
          <a:p>
            <a:pPr marL="119062" indent="0">
              <a:buNone/>
            </a:pPr>
            <a:r>
              <a:rPr lang="en-US" sz="2300" dirty="0"/>
              <a:t> 	</a:t>
            </a:r>
            <a:r>
              <a:rPr lang="en-US" sz="2300" b="1" dirty="0"/>
              <a:t>$object_Name1=new </a:t>
            </a:r>
            <a:r>
              <a:rPr lang="en-US" sz="2300" b="1" dirty="0" err="1"/>
              <a:t>className</a:t>
            </a:r>
            <a:r>
              <a:rPr lang="en-US" sz="2300" b="1" dirty="0"/>
              <a:t>;</a:t>
            </a:r>
            <a:endParaRPr lang="en-US" sz="2300" dirty="0"/>
          </a:p>
          <a:p>
            <a:pPr marL="119062" indent="0">
              <a:buNone/>
            </a:pPr>
            <a:r>
              <a:rPr lang="en-US" sz="2300" b="1" dirty="0"/>
              <a:t>	$object_Name2=new </a:t>
            </a:r>
            <a:r>
              <a:rPr lang="en-US" sz="2300" b="1" dirty="0" err="1"/>
              <a:t>className</a:t>
            </a:r>
            <a:r>
              <a:rPr lang="en-US" sz="2300" b="1" dirty="0"/>
              <a:t>;</a:t>
            </a:r>
            <a:endParaRPr lang="en-US" sz="2300" dirty="0"/>
          </a:p>
          <a:p>
            <a:pPr marL="119062" indent="0">
              <a:buNone/>
            </a:pPr>
            <a:r>
              <a:rPr lang="en-US" sz="2300" dirty="0"/>
              <a:t> </a:t>
            </a:r>
            <a:r>
              <a:rPr lang="en-US" sz="2300" dirty="0" smtClean="0"/>
              <a:t>?&gt;</a:t>
            </a:r>
            <a:endParaRPr lang="en-US" sz="2300" dirty="0"/>
          </a:p>
          <a:p>
            <a:pPr marL="119062" indent="0">
              <a:buNone/>
            </a:pPr>
            <a:r>
              <a:rPr lang="en-US" sz="2400" dirty="0"/>
              <a:t> </a:t>
            </a:r>
          </a:p>
          <a:p>
            <a:pPr marL="119062" indent="0">
              <a:buNone/>
            </a:pPr>
            <a:r>
              <a:rPr lang="en-US" sz="2400" dirty="0"/>
              <a:t> </a:t>
            </a:r>
          </a:p>
          <a:p>
            <a:pPr marL="119062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20603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Exercise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19062" indent="0">
              <a:buNone/>
            </a:pPr>
            <a:r>
              <a:rPr lang="en-US" dirty="0" smtClean="0"/>
              <a:t>&lt;?</a:t>
            </a:r>
            <a:r>
              <a:rPr lang="en-US" dirty="0" err="1" smtClean="0"/>
              <a:t>php</a:t>
            </a:r>
            <a:endParaRPr lang="en-US" dirty="0" smtClean="0"/>
          </a:p>
          <a:p>
            <a:pPr marL="119062" indent="0">
              <a:buNone/>
            </a:pPr>
            <a:r>
              <a:rPr lang="en-US" dirty="0"/>
              <a:t>c</a:t>
            </a:r>
            <a:r>
              <a:rPr lang="en-US" dirty="0" smtClean="0"/>
              <a:t>lass </a:t>
            </a:r>
            <a:r>
              <a:rPr lang="en-US" dirty="0" err="1" smtClean="0"/>
              <a:t>myclass</a:t>
            </a:r>
            <a:r>
              <a:rPr lang="en-US" dirty="0" smtClean="0"/>
              <a:t>{</a:t>
            </a:r>
          </a:p>
          <a:p>
            <a:pPr marL="119062" indent="0">
              <a:buNone/>
            </a:pPr>
            <a:r>
              <a:rPr lang="en-US" dirty="0" smtClean="0"/>
              <a:t>// class definition goes here</a:t>
            </a:r>
          </a:p>
          <a:p>
            <a:pPr marL="119062" indent="0">
              <a:buNone/>
            </a:pPr>
            <a:r>
              <a:rPr lang="en-US" dirty="0" smtClean="0"/>
              <a:t>}</a:t>
            </a:r>
          </a:p>
          <a:p>
            <a:pPr marL="119062" indent="0">
              <a:buNone/>
            </a:pPr>
            <a:r>
              <a:rPr lang="en-US" dirty="0" smtClean="0"/>
              <a:t>$</a:t>
            </a:r>
            <a:r>
              <a:rPr lang="en-US" dirty="0" err="1" smtClean="0"/>
              <a:t>obj</a:t>
            </a:r>
            <a:r>
              <a:rPr lang="en-US" dirty="0" smtClean="0"/>
              <a:t>=new </a:t>
            </a:r>
            <a:r>
              <a:rPr lang="en-US" dirty="0" err="1" smtClean="0"/>
              <a:t>myclass</a:t>
            </a:r>
            <a:r>
              <a:rPr lang="en-US" dirty="0" smtClean="0"/>
              <a:t>();</a:t>
            </a:r>
          </a:p>
          <a:p>
            <a:pPr marL="119062" indent="0">
              <a:buNone/>
            </a:pPr>
            <a:r>
              <a:rPr lang="en-US" dirty="0"/>
              <a:t>e</a:t>
            </a:r>
            <a:r>
              <a:rPr lang="en-US" dirty="0" smtClean="0"/>
              <a:t>cho </a:t>
            </a:r>
            <a:r>
              <a:rPr lang="en-US" dirty="0" err="1" smtClean="0"/>
              <a:t>gettype</a:t>
            </a:r>
            <a:r>
              <a:rPr lang="en-US" dirty="0" smtClean="0"/>
              <a:t>($</a:t>
            </a:r>
            <a:r>
              <a:rPr lang="en-US" dirty="0" err="1" smtClean="0"/>
              <a:t>obj</a:t>
            </a:r>
            <a:r>
              <a:rPr lang="en-US" dirty="0" smtClean="0"/>
              <a:t>);</a:t>
            </a:r>
          </a:p>
          <a:p>
            <a:pPr marL="119062" indent="0">
              <a:buNone/>
            </a:pPr>
            <a:r>
              <a:rPr lang="en-US" dirty="0" smtClean="0"/>
              <a:t>?&gt;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90634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Properties of Object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19062" indent="0">
              <a:buNone/>
            </a:pPr>
            <a:r>
              <a:rPr lang="en-US" dirty="0" smtClean="0"/>
              <a:t>&lt;? </a:t>
            </a:r>
            <a:r>
              <a:rPr lang="en-US" dirty="0" err="1" smtClean="0"/>
              <a:t>php</a:t>
            </a:r>
            <a:endParaRPr lang="en-US" dirty="0" smtClean="0"/>
          </a:p>
          <a:p>
            <a:pPr marL="119062" indent="0">
              <a:buNone/>
            </a:pPr>
            <a:r>
              <a:rPr lang="en-US" dirty="0" smtClean="0"/>
              <a:t>class car{</a:t>
            </a:r>
          </a:p>
          <a:p>
            <a:pPr marL="119062" indent="0">
              <a:buNone/>
            </a:pPr>
            <a:r>
              <a:rPr lang="en-US" dirty="0" err="1" smtClean="0">
                <a:solidFill>
                  <a:srgbClr val="00B0F0"/>
                </a:solidFill>
              </a:rPr>
              <a:t>var</a:t>
            </a:r>
            <a:r>
              <a:rPr lang="en-US" dirty="0" smtClean="0">
                <a:solidFill>
                  <a:srgbClr val="00B0F0"/>
                </a:solidFill>
              </a:rPr>
              <a:t> $</a:t>
            </a:r>
            <a:r>
              <a:rPr lang="en-US" dirty="0" err="1" smtClean="0">
                <a:solidFill>
                  <a:srgbClr val="00B0F0"/>
                </a:solidFill>
              </a:rPr>
              <a:t>regno</a:t>
            </a:r>
            <a:r>
              <a:rPr lang="en-US" dirty="0" smtClean="0">
                <a:solidFill>
                  <a:srgbClr val="00B0F0"/>
                </a:solidFill>
              </a:rPr>
              <a:t>=1789;</a:t>
            </a:r>
          </a:p>
          <a:p>
            <a:pPr marL="119062" indent="0">
              <a:buNone/>
            </a:pPr>
            <a:r>
              <a:rPr lang="en-US" dirty="0" err="1" smtClean="0">
                <a:solidFill>
                  <a:srgbClr val="00B0F0"/>
                </a:solidFill>
              </a:rPr>
              <a:t>var</a:t>
            </a:r>
            <a:r>
              <a:rPr lang="en-US" dirty="0" smtClean="0">
                <a:solidFill>
                  <a:srgbClr val="00B0F0"/>
                </a:solidFill>
              </a:rPr>
              <a:t> $brand=“</a:t>
            </a:r>
            <a:r>
              <a:rPr lang="en-US" dirty="0" err="1" smtClean="0">
                <a:solidFill>
                  <a:srgbClr val="00B0F0"/>
                </a:solidFill>
              </a:rPr>
              <a:t>susuki</a:t>
            </a:r>
            <a:r>
              <a:rPr lang="en-US" dirty="0" smtClean="0">
                <a:solidFill>
                  <a:srgbClr val="00B0F0"/>
                </a:solidFill>
              </a:rPr>
              <a:t>”;</a:t>
            </a:r>
          </a:p>
          <a:p>
            <a:pPr marL="119062" indent="0">
              <a:buNone/>
            </a:pPr>
            <a:r>
              <a:rPr lang="en-US" dirty="0" err="1" smtClean="0">
                <a:solidFill>
                  <a:srgbClr val="00B0F0"/>
                </a:solidFill>
              </a:rPr>
              <a:t>var</a:t>
            </a:r>
            <a:r>
              <a:rPr lang="en-US" dirty="0" smtClean="0">
                <a:solidFill>
                  <a:srgbClr val="00B0F0"/>
                </a:solidFill>
              </a:rPr>
              <a:t> $color=“red”;</a:t>
            </a:r>
          </a:p>
          <a:p>
            <a:pPr marL="119062" indent="0">
              <a:buNone/>
            </a:pPr>
            <a:r>
              <a:rPr lang="en-US" dirty="0" smtClean="0"/>
              <a:t>}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78707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Exercise1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774825"/>
            <a:ext cx="8915400" cy="4625975"/>
          </a:xfrm>
        </p:spPr>
        <p:txBody>
          <a:bodyPr>
            <a:normAutofit fontScale="70000" lnSpcReduction="20000"/>
          </a:bodyPr>
          <a:lstStyle/>
          <a:p>
            <a:r>
              <a:rPr lang="en-US" dirty="0" smtClean="0"/>
              <a:t>Create a initial class  called car and display </a:t>
            </a:r>
            <a:r>
              <a:rPr lang="en-US" dirty="0" err="1" smtClean="0"/>
              <a:t>regno</a:t>
            </a:r>
            <a:r>
              <a:rPr lang="en-US" dirty="0" smtClean="0"/>
              <a:t> .</a:t>
            </a:r>
          </a:p>
          <a:p>
            <a:pPr marL="119062" indent="0">
              <a:buNone/>
            </a:pPr>
            <a:r>
              <a:rPr lang="en-US" dirty="0"/>
              <a:t>&lt;? </a:t>
            </a:r>
            <a:r>
              <a:rPr lang="en-US" dirty="0" err="1"/>
              <a:t>php</a:t>
            </a:r>
            <a:endParaRPr lang="en-US" dirty="0"/>
          </a:p>
          <a:p>
            <a:pPr marL="119062" indent="0">
              <a:buNone/>
            </a:pPr>
            <a:r>
              <a:rPr lang="en-US" dirty="0"/>
              <a:t>class car{</a:t>
            </a:r>
          </a:p>
          <a:p>
            <a:pPr marL="119062" indent="0">
              <a:buNone/>
            </a:pPr>
            <a:r>
              <a:rPr lang="en-US" dirty="0" err="1"/>
              <a:t>var</a:t>
            </a:r>
            <a:r>
              <a:rPr lang="en-US" dirty="0"/>
              <a:t> $</a:t>
            </a:r>
            <a:r>
              <a:rPr lang="en-US" dirty="0" err="1"/>
              <a:t>regno</a:t>
            </a:r>
            <a:r>
              <a:rPr lang="en-US" dirty="0"/>
              <a:t>=1789;</a:t>
            </a:r>
          </a:p>
          <a:p>
            <a:pPr marL="119062" indent="0">
              <a:buNone/>
            </a:pPr>
            <a:r>
              <a:rPr lang="en-US" dirty="0" err="1"/>
              <a:t>var</a:t>
            </a:r>
            <a:r>
              <a:rPr lang="en-US" dirty="0"/>
              <a:t> $</a:t>
            </a:r>
            <a:r>
              <a:rPr lang="en-US" dirty="0" smtClean="0"/>
              <a:t>brand</a:t>
            </a:r>
            <a:r>
              <a:rPr lang="en-US" dirty="0"/>
              <a:t>=“</a:t>
            </a:r>
            <a:r>
              <a:rPr lang="en-US" dirty="0" err="1"/>
              <a:t>susuki</a:t>
            </a:r>
            <a:r>
              <a:rPr lang="en-US" dirty="0"/>
              <a:t>”;</a:t>
            </a:r>
          </a:p>
          <a:p>
            <a:pPr marL="119062" indent="0">
              <a:buNone/>
            </a:pPr>
            <a:r>
              <a:rPr lang="en-US" dirty="0" err="1"/>
              <a:t>var</a:t>
            </a:r>
            <a:r>
              <a:rPr lang="en-US" dirty="0"/>
              <a:t> $</a:t>
            </a:r>
            <a:r>
              <a:rPr lang="en-US" dirty="0" smtClean="0"/>
              <a:t>color</a:t>
            </a:r>
            <a:r>
              <a:rPr lang="en-US" dirty="0"/>
              <a:t>=“red</a:t>
            </a:r>
            <a:r>
              <a:rPr lang="en-US" dirty="0" smtClean="0"/>
              <a:t>”;</a:t>
            </a:r>
          </a:p>
          <a:p>
            <a:pPr marL="119062" indent="0">
              <a:buNone/>
            </a:pPr>
            <a:r>
              <a:rPr lang="en-US" dirty="0"/>
              <a:t>}</a:t>
            </a:r>
            <a:endParaRPr lang="en-US" dirty="0" smtClean="0"/>
          </a:p>
          <a:p>
            <a:pPr marL="119062" indent="0">
              <a:buNone/>
            </a:pPr>
            <a:r>
              <a:rPr lang="en-US" dirty="0"/>
              <a:t>$</a:t>
            </a:r>
            <a:r>
              <a:rPr lang="en-US" dirty="0" err="1"/>
              <a:t>obj</a:t>
            </a:r>
            <a:r>
              <a:rPr lang="en-US" dirty="0"/>
              <a:t>=new </a:t>
            </a:r>
            <a:r>
              <a:rPr lang="en-US" dirty="0" smtClean="0"/>
              <a:t>car();</a:t>
            </a:r>
          </a:p>
          <a:p>
            <a:pPr marL="119062" indent="0">
              <a:buNone/>
            </a:pPr>
            <a:r>
              <a:rPr lang="en-US" dirty="0"/>
              <a:t>e</a:t>
            </a:r>
            <a:r>
              <a:rPr lang="en-US" dirty="0" smtClean="0"/>
              <a:t>cho($</a:t>
            </a:r>
            <a:r>
              <a:rPr lang="en-US" dirty="0" err="1" smtClean="0"/>
              <a:t>obj</a:t>
            </a:r>
            <a:r>
              <a:rPr lang="en-US" dirty="0" smtClean="0"/>
              <a:t>-&gt;</a:t>
            </a:r>
            <a:r>
              <a:rPr lang="en-US" dirty="0" err="1" smtClean="0"/>
              <a:t>regno</a:t>
            </a:r>
            <a:r>
              <a:rPr lang="en-US" dirty="0" smtClean="0"/>
              <a:t>);</a:t>
            </a:r>
          </a:p>
          <a:p>
            <a:pPr marL="119062" indent="0">
              <a:buNone/>
            </a:pPr>
            <a:r>
              <a:rPr lang="en-US" dirty="0" smtClean="0"/>
              <a:t>?&gt;</a:t>
            </a:r>
          </a:p>
          <a:p>
            <a:pPr marL="119062" indent="0">
              <a:buNone/>
            </a:pPr>
            <a:endParaRPr lang="en-US" dirty="0"/>
          </a:p>
          <a:p>
            <a:pPr marL="119062" indent="0">
              <a:buNone/>
            </a:pPr>
            <a:endParaRPr lang="en-US" dirty="0">
              <a:solidFill>
                <a:srgbClr val="00B0F0"/>
              </a:solidFill>
            </a:endParaRPr>
          </a:p>
          <a:p>
            <a:pPr marL="119062" indent="0">
              <a:buNone/>
            </a:pPr>
            <a:r>
              <a:rPr lang="en-US" dirty="0"/>
              <a:t>}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30658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Exercise2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600200"/>
            <a:ext cx="8229600" cy="4625975"/>
          </a:xfrm>
        </p:spPr>
        <p:txBody>
          <a:bodyPr>
            <a:normAutofit fontScale="92500" lnSpcReduction="20000"/>
          </a:bodyPr>
          <a:lstStyle/>
          <a:p>
            <a:pPr marL="119062" indent="0">
              <a:buNone/>
            </a:pPr>
            <a:r>
              <a:rPr lang="en-US" sz="2800" dirty="0"/>
              <a:t>&lt;? </a:t>
            </a:r>
            <a:r>
              <a:rPr lang="en-US" sz="2800" dirty="0" err="1"/>
              <a:t>php</a:t>
            </a:r>
            <a:endParaRPr lang="en-US" sz="2800" dirty="0"/>
          </a:p>
          <a:p>
            <a:pPr marL="119062" indent="0">
              <a:buNone/>
            </a:pPr>
            <a:r>
              <a:rPr lang="en-US" sz="2800" dirty="0"/>
              <a:t>class car{</a:t>
            </a:r>
          </a:p>
          <a:p>
            <a:pPr marL="119062" indent="0">
              <a:buNone/>
            </a:pPr>
            <a:r>
              <a:rPr lang="en-US" sz="2800" dirty="0" err="1"/>
              <a:t>var</a:t>
            </a:r>
            <a:r>
              <a:rPr lang="en-US" sz="2800" dirty="0"/>
              <a:t> $</a:t>
            </a:r>
            <a:r>
              <a:rPr lang="en-US" sz="2800" dirty="0" err="1" smtClean="0"/>
              <a:t>regno</a:t>
            </a:r>
            <a:r>
              <a:rPr lang="en-US" sz="2800" dirty="0" smtClean="0"/>
              <a:t>=1787;</a:t>
            </a:r>
            <a:endParaRPr lang="en-US" sz="2800" dirty="0"/>
          </a:p>
          <a:p>
            <a:pPr marL="119062" indent="0">
              <a:buNone/>
            </a:pPr>
            <a:r>
              <a:rPr lang="en-US" sz="2800" dirty="0" err="1"/>
              <a:t>var</a:t>
            </a:r>
            <a:r>
              <a:rPr lang="en-US" sz="2800" dirty="0"/>
              <a:t> $brand</a:t>
            </a:r>
            <a:r>
              <a:rPr lang="en-US" sz="2800" dirty="0" smtClean="0"/>
              <a:t>=“</a:t>
            </a:r>
            <a:r>
              <a:rPr lang="en-US" sz="2800" dirty="0" err="1" smtClean="0"/>
              <a:t>sareena</a:t>
            </a:r>
            <a:r>
              <a:rPr lang="en-US" sz="2800" dirty="0" smtClean="0"/>
              <a:t>”;</a:t>
            </a:r>
            <a:endParaRPr lang="en-US" sz="2800" dirty="0"/>
          </a:p>
          <a:p>
            <a:pPr marL="119062" indent="0">
              <a:buNone/>
            </a:pPr>
            <a:r>
              <a:rPr lang="en-US" sz="2800" dirty="0" err="1"/>
              <a:t>var</a:t>
            </a:r>
            <a:r>
              <a:rPr lang="en-US" sz="2800" dirty="0"/>
              <a:t> $color</a:t>
            </a:r>
            <a:r>
              <a:rPr lang="en-US" sz="2800" dirty="0" smtClean="0"/>
              <a:t>=“red”;</a:t>
            </a:r>
          </a:p>
          <a:p>
            <a:pPr marL="411162" lvl="1" indent="0">
              <a:buNone/>
            </a:pPr>
            <a:r>
              <a:rPr lang="en-US" dirty="0"/>
              <a:t>f</a:t>
            </a:r>
            <a:r>
              <a:rPr lang="en-US" dirty="0" smtClean="0"/>
              <a:t>unction </a:t>
            </a:r>
            <a:r>
              <a:rPr lang="en-US" dirty="0" err="1" smtClean="0"/>
              <a:t>displayregno</a:t>
            </a:r>
            <a:r>
              <a:rPr lang="en-US" dirty="0" smtClean="0"/>
              <a:t>() {</a:t>
            </a:r>
          </a:p>
          <a:p>
            <a:pPr marL="411162" lvl="1" indent="0">
              <a:buNone/>
            </a:pPr>
            <a:r>
              <a:rPr lang="en-US" dirty="0"/>
              <a:t>e</a:t>
            </a:r>
            <a:r>
              <a:rPr lang="en-US" dirty="0" smtClean="0"/>
              <a:t>cho $this-&gt;</a:t>
            </a:r>
            <a:r>
              <a:rPr lang="en-US" dirty="0" err="1" smtClean="0"/>
              <a:t>regno</a:t>
            </a:r>
            <a:r>
              <a:rPr lang="en-US" dirty="0" smtClean="0"/>
              <a:t>;</a:t>
            </a:r>
            <a:endParaRPr lang="en-US" dirty="0"/>
          </a:p>
          <a:p>
            <a:pPr marL="411162" lvl="1" indent="0">
              <a:buNone/>
            </a:pPr>
            <a:r>
              <a:rPr lang="en-US" dirty="0" smtClean="0"/>
              <a:t>} }</a:t>
            </a:r>
            <a:endParaRPr lang="en-US" dirty="0"/>
          </a:p>
          <a:p>
            <a:pPr marL="119062" indent="0">
              <a:buNone/>
            </a:pPr>
            <a:r>
              <a:rPr lang="en-US" sz="2800" dirty="0" smtClean="0"/>
              <a:t>$</a:t>
            </a:r>
            <a:r>
              <a:rPr lang="en-US" sz="2800" dirty="0" err="1" smtClean="0"/>
              <a:t>caroven</a:t>
            </a:r>
            <a:r>
              <a:rPr lang="en-US" sz="2800" dirty="0" smtClean="0"/>
              <a:t>=new car();</a:t>
            </a:r>
            <a:endParaRPr lang="en-US" sz="2800" dirty="0"/>
          </a:p>
          <a:p>
            <a:pPr marL="119062" indent="0">
              <a:buNone/>
            </a:pPr>
            <a:r>
              <a:rPr lang="en-US" sz="2800" dirty="0"/>
              <a:t>$</a:t>
            </a:r>
            <a:r>
              <a:rPr lang="en-US" sz="2800" dirty="0" err="1" smtClean="0"/>
              <a:t>caroven</a:t>
            </a:r>
            <a:r>
              <a:rPr lang="en-US" sz="2800" dirty="0" smtClean="0"/>
              <a:t>-&gt;</a:t>
            </a:r>
            <a:r>
              <a:rPr lang="en-US" sz="2800" dirty="0" err="1" smtClean="0"/>
              <a:t>displayregno</a:t>
            </a:r>
            <a:r>
              <a:rPr lang="en-US" sz="2800" dirty="0" smtClean="0"/>
              <a:t>();</a:t>
            </a:r>
            <a:endParaRPr lang="en-US" sz="2800" dirty="0"/>
          </a:p>
          <a:p>
            <a:pPr marL="119062" indent="0">
              <a:buNone/>
            </a:pPr>
            <a:r>
              <a:rPr lang="en-US" sz="2800" dirty="0"/>
              <a:t>?&gt;</a:t>
            </a:r>
          </a:p>
          <a:p>
            <a:endParaRPr lang="en-US" dirty="0"/>
          </a:p>
          <a:p>
            <a:pPr marL="119062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0349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119062" indent="0">
              <a:buNone/>
            </a:pPr>
            <a:r>
              <a:rPr lang="en-US" sz="2400" dirty="0"/>
              <a:t>&lt;?</a:t>
            </a:r>
            <a:r>
              <a:rPr lang="en-US" sz="2400" dirty="0" err="1"/>
              <a:t>php</a:t>
            </a:r>
            <a:endParaRPr lang="en-US" sz="2400" dirty="0"/>
          </a:p>
          <a:p>
            <a:pPr marL="119062" indent="0">
              <a:buNone/>
            </a:pPr>
            <a:r>
              <a:rPr lang="en-US" sz="2400" dirty="0"/>
              <a:t>	class Car{</a:t>
            </a:r>
          </a:p>
          <a:p>
            <a:pPr marL="119062" indent="0">
              <a:buNone/>
            </a:pPr>
            <a:r>
              <a:rPr lang="en-US" sz="2400" dirty="0"/>
              <a:t>		</a:t>
            </a:r>
            <a:r>
              <a:rPr lang="en-US" sz="2400" dirty="0" err="1"/>
              <a:t>var</a:t>
            </a:r>
            <a:r>
              <a:rPr lang="en-US" sz="2400" dirty="0"/>
              <a:t> $brand = "Nissan";</a:t>
            </a:r>
          </a:p>
          <a:p>
            <a:pPr marL="119062" indent="0">
              <a:buNone/>
            </a:pPr>
            <a:r>
              <a:rPr lang="en-US" sz="2400" dirty="0"/>
              <a:t>		</a:t>
            </a:r>
            <a:r>
              <a:rPr lang="en-US" sz="2400" dirty="0" err="1"/>
              <a:t>var</a:t>
            </a:r>
            <a:r>
              <a:rPr lang="en-US" sz="2400" dirty="0"/>
              <a:t> $model = "Sunny";</a:t>
            </a:r>
          </a:p>
          <a:p>
            <a:pPr marL="119062" indent="0">
              <a:buNone/>
            </a:pPr>
            <a:r>
              <a:rPr lang="en-US" sz="2400" dirty="0"/>
              <a:t>		</a:t>
            </a:r>
            <a:r>
              <a:rPr lang="en-US" sz="2400" dirty="0" err="1"/>
              <a:t>var</a:t>
            </a:r>
            <a:r>
              <a:rPr lang="en-US" sz="2400" dirty="0"/>
              <a:t> $color = "red";</a:t>
            </a:r>
          </a:p>
          <a:p>
            <a:pPr marL="119062" indent="0">
              <a:buNone/>
            </a:pPr>
            <a:r>
              <a:rPr lang="en-US" sz="2400" dirty="0"/>
              <a:t>		</a:t>
            </a:r>
          </a:p>
          <a:p>
            <a:pPr marL="119062" indent="0">
              <a:buNone/>
            </a:pPr>
            <a:r>
              <a:rPr lang="en-US" sz="2400" dirty="0"/>
              <a:t>		function start(){</a:t>
            </a:r>
          </a:p>
          <a:p>
            <a:pPr marL="119062" indent="0">
              <a:buNone/>
            </a:pPr>
            <a:r>
              <a:rPr lang="en-US" sz="2400" dirty="0"/>
              <a:t>			echo $this-&gt;model." car is started...";</a:t>
            </a:r>
          </a:p>
          <a:p>
            <a:pPr marL="119062" indent="0">
              <a:buNone/>
            </a:pPr>
            <a:r>
              <a:rPr lang="en-US" sz="2400" dirty="0"/>
              <a:t>		}</a:t>
            </a:r>
          </a:p>
          <a:p>
            <a:pPr marL="119062" indent="0">
              <a:buNone/>
            </a:pPr>
            <a:r>
              <a:rPr lang="en-US" sz="2400" dirty="0"/>
              <a:t>	</a:t>
            </a:r>
            <a:r>
              <a:rPr lang="en-US" sz="2400" dirty="0" smtClean="0"/>
              <a:t>}</a:t>
            </a:r>
            <a:endParaRPr lang="en-US" sz="2400" dirty="0"/>
          </a:p>
          <a:p>
            <a:pPr marL="119062" indent="0">
              <a:buNone/>
            </a:pPr>
            <a:r>
              <a:rPr lang="en-US" sz="2400" dirty="0"/>
              <a:t>	$</a:t>
            </a:r>
            <a:r>
              <a:rPr lang="en-US" sz="2400" dirty="0" err="1"/>
              <a:t>carone</a:t>
            </a:r>
            <a:r>
              <a:rPr lang="en-US" sz="2400" dirty="0"/>
              <a:t> = new Car();</a:t>
            </a:r>
          </a:p>
          <a:p>
            <a:pPr marL="119062" indent="0">
              <a:buNone/>
            </a:pPr>
            <a:r>
              <a:rPr lang="en-US" sz="2400" dirty="0"/>
              <a:t>	$</a:t>
            </a:r>
            <a:r>
              <a:rPr lang="en-US" sz="2400" dirty="0" err="1"/>
              <a:t>carone</a:t>
            </a:r>
            <a:r>
              <a:rPr lang="en-US" sz="2400" dirty="0"/>
              <a:t>-&gt;start();</a:t>
            </a:r>
          </a:p>
          <a:p>
            <a:pPr marL="119062" indent="0">
              <a:buNone/>
            </a:pPr>
            <a:r>
              <a:rPr lang="en-US" sz="2400" dirty="0"/>
              <a:t>?&gt;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80780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Exercise4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05400"/>
          </a:xfrm>
        </p:spPr>
        <p:txBody>
          <a:bodyPr>
            <a:normAutofit fontScale="92500" lnSpcReduction="20000"/>
          </a:bodyPr>
          <a:lstStyle/>
          <a:p>
            <a:pPr marL="119062" indent="0">
              <a:buNone/>
            </a:pPr>
            <a:r>
              <a:rPr lang="en-US" sz="2000" dirty="0"/>
              <a:t>&lt;?</a:t>
            </a:r>
            <a:r>
              <a:rPr lang="en-US" sz="2000" dirty="0" err="1"/>
              <a:t>php</a:t>
            </a:r>
            <a:endParaRPr lang="en-US" sz="2000" dirty="0"/>
          </a:p>
          <a:p>
            <a:pPr marL="119062" indent="0">
              <a:buNone/>
            </a:pPr>
            <a:r>
              <a:rPr lang="en-US" sz="2000" dirty="0"/>
              <a:t>class car</a:t>
            </a:r>
          </a:p>
          <a:p>
            <a:pPr marL="119062" indent="0">
              <a:buNone/>
            </a:pPr>
            <a:r>
              <a:rPr lang="en-US" sz="2000" dirty="0"/>
              <a:t>{</a:t>
            </a:r>
          </a:p>
          <a:p>
            <a:pPr marL="119062" indent="0">
              <a:buNone/>
            </a:pPr>
            <a:r>
              <a:rPr lang="en-US" sz="2000" dirty="0" err="1"/>
              <a:t>var</a:t>
            </a:r>
            <a:r>
              <a:rPr lang="en-US" sz="2000" dirty="0"/>
              <a:t> $</a:t>
            </a:r>
            <a:r>
              <a:rPr lang="en-US" sz="2000" dirty="0" err="1"/>
              <a:t>regno</a:t>
            </a:r>
            <a:r>
              <a:rPr lang="en-US" sz="2000" dirty="0"/>
              <a:t>;</a:t>
            </a:r>
          </a:p>
          <a:p>
            <a:pPr marL="119062" indent="0">
              <a:buNone/>
            </a:pPr>
            <a:r>
              <a:rPr lang="en-US" sz="2000" dirty="0" err="1"/>
              <a:t>var</a:t>
            </a:r>
            <a:r>
              <a:rPr lang="en-US" sz="2000" dirty="0"/>
              <a:t> $model;</a:t>
            </a:r>
          </a:p>
          <a:p>
            <a:pPr marL="119062" indent="0">
              <a:buNone/>
            </a:pPr>
            <a:r>
              <a:rPr lang="en-US" sz="2000" dirty="0" err="1"/>
              <a:t>var</a:t>
            </a:r>
            <a:r>
              <a:rPr lang="en-US" sz="2000" dirty="0"/>
              <a:t> $color;</a:t>
            </a:r>
          </a:p>
          <a:p>
            <a:pPr marL="119062" indent="0">
              <a:buNone/>
            </a:pPr>
            <a:r>
              <a:rPr lang="en-US" sz="2000" dirty="0"/>
              <a:t>	function car($</a:t>
            </a:r>
            <a:r>
              <a:rPr lang="en-US" sz="2000" dirty="0" err="1"/>
              <a:t>r,$m,$c</a:t>
            </a:r>
            <a:r>
              <a:rPr lang="en-US" sz="2000" dirty="0"/>
              <a:t>) {</a:t>
            </a:r>
          </a:p>
          <a:p>
            <a:pPr marL="119062" indent="0">
              <a:buNone/>
            </a:pPr>
            <a:r>
              <a:rPr lang="en-US" sz="2000" dirty="0"/>
              <a:t>	$this-&gt;</a:t>
            </a:r>
            <a:r>
              <a:rPr lang="en-US" sz="2000" dirty="0" err="1"/>
              <a:t>regno</a:t>
            </a:r>
            <a:r>
              <a:rPr lang="en-US" sz="2000" dirty="0"/>
              <a:t>=$r;</a:t>
            </a:r>
          </a:p>
          <a:p>
            <a:pPr marL="119062" indent="0">
              <a:buNone/>
            </a:pPr>
            <a:r>
              <a:rPr lang="en-US" sz="2000" dirty="0"/>
              <a:t>	$this-&gt;model=$m;</a:t>
            </a:r>
          </a:p>
          <a:p>
            <a:pPr marL="119062" indent="0">
              <a:buNone/>
            </a:pPr>
            <a:r>
              <a:rPr lang="en-US" sz="2000" dirty="0"/>
              <a:t>	$this-&gt;color=$c;</a:t>
            </a:r>
          </a:p>
          <a:p>
            <a:pPr marL="119062" indent="0">
              <a:buNone/>
            </a:pPr>
            <a:r>
              <a:rPr lang="en-US" sz="2000" dirty="0"/>
              <a:t>	} </a:t>
            </a:r>
          </a:p>
          <a:p>
            <a:pPr marL="119062" indent="0">
              <a:buNone/>
            </a:pPr>
            <a:r>
              <a:rPr lang="en-US" sz="2000" dirty="0"/>
              <a:t>}</a:t>
            </a:r>
          </a:p>
          <a:p>
            <a:pPr marL="119062" indent="0">
              <a:buNone/>
            </a:pPr>
            <a:r>
              <a:rPr lang="en-US" sz="2000" dirty="0"/>
              <a:t>$</a:t>
            </a:r>
            <a:r>
              <a:rPr lang="en-US" sz="2000" dirty="0" err="1"/>
              <a:t>obj</a:t>
            </a:r>
            <a:r>
              <a:rPr lang="en-US" sz="2000" dirty="0"/>
              <a:t>=new car(1001,'sareena','blue');</a:t>
            </a:r>
          </a:p>
          <a:p>
            <a:pPr marL="119062" indent="0">
              <a:buNone/>
            </a:pPr>
            <a:r>
              <a:rPr lang="en-US" sz="2000" dirty="0"/>
              <a:t>echo "</a:t>
            </a:r>
            <a:r>
              <a:rPr lang="en-US" sz="2000" dirty="0" err="1"/>
              <a:t>reg</a:t>
            </a:r>
            <a:r>
              <a:rPr lang="en-US" sz="2000" dirty="0"/>
              <a:t> no :".($</a:t>
            </a:r>
            <a:r>
              <a:rPr lang="en-US" sz="2000" dirty="0" err="1"/>
              <a:t>obj</a:t>
            </a:r>
            <a:r>
              <a:rPr lang="en-US" sz="2000" dirty="0"/>
              <a:t>-&gt;</a:t>
            </a:r>
            <a:r>
              <a:rPr lang="en-US" sz="2000" dirty="0" err="1"/>
              <a:t>regno</a:t>
            </a:r>
            <a:r>
              <a:rPr lang="en-US" sz="2000" dirty="0"/>
              <a:t>)."&lt;</a:t>
            </a:r>
            <a:r>
              <a:rPr lang="en-US" sz="2000" dirty="0" err="1"/>
              <a:t>br</a:t>
            </a:r>
            <a:r>
              <a:rPr lang="en-US" sz="2000" dirty="0"/>
              <a:t>/&gt;";</a:t>
            </a:r>
          </a:p>
          <a:p>
            <a:pPr marL="119062" indent="0">
              <a:buNone/>
            </a:pPr>
            <a:r>
              <a:rPr lang="en-US" sz="2000" dirty="0"/>
              <a:t>echo "model:".($</a:t>
            </a:r>
            <a:r>
              <a:rPr lang="en-US" sz="2000" dirty="0" err="1"/>
              <a:t>obj</a:t>
            </a:r>
            <a:r>
              <a:rPr lang="en-US" sz="2000" dirty="0"/>
              <a:t>-&gt;model)."&lt;</a:t>
            </a:r>
            <a:r>
              <a:rPr lang="en-US" sz="2000" dirty="0" err="1"/>
              <a:t>br</a:t>
            </a:r>
            <a:r>
              <a:rPr lang="en-US" sz="2000" dirty="0"/>
              <a:t>/&gt;";</a:t>
            </a:r>
          </a:p>
          <a:p>
            <a:pPr marL="119062" indent="0">
              <a:buNone/>
            </a:pPr>
            <a:r>
              <a:rPr lang="en-US" sz="2000" dirty="0"/>
              <a:t>echo "color:".($</a:t>
            </a:r>
            <a:r>
              <a:rPr lang="en-US" sz="2000" dirty="0" err="1"/>
              <a:t>obj</a:t>
            </a:r>
            <a:r>
              <a:rPr lang="en-US" sz="2000" dirty="0"/>
              <a:t>-&gt;color)."&lt;</a:t>
            </a:r>
            <a:r>
              <a:rPr lang="en-US" sz="2000" dirty="0" err="1"/>
              <a:t>br</a:t>
            </a:r>
            <a:r>
              <a:rPr lang="en-US" sz="2000" dirty="0"/>
              <a:t>/&gt;";</a:t>
            </a:r>
          </a:p>
          <a:p>
            <a:pPr marL="119062" indent="0">
              <a:buNone/>
            </a:pPr>
            <a:r>
              <a:rPr lang="en-US" sz="2000" dirty="0"/>
              <a:t>?&gt;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42792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Example5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5181600"/>
          </a:xfrm>
        </p:spPr>
        <p:txBody>
          <a:bodyPr>
            <a:normAutofit fontScale="85000" lnSpcReduction="10000"/>
          </a:bodyPr>
          <a:lstStyle/>
          <a:p>
            <a:pPr marL="119062" indent="0">
              <a:buNone/>
            </a:pPr>
            <a:r>
              <a:rPr lang="en-US" sz="1900" dirty="0"/>
              <a:t>&lt;?</a:t>
            </a:r>
            <a:r>
              <a:rPr lang="en-US" sz="1900" dirty="0" err="1"/>
              <a:t>php</a:t>
            </a:r>
            <a:endParaRPr lang="en-US" sz="1900" dirty="0"/>
          </a:p>
          <a:p>
            <a:pPr marL="119062" indent="0">
              <a:buNone/>
            </a:pPr>
            <a:r>
              <a:rPr lang="en-US" sz="1900" dirty="0"/>
              <a:t>	class Car{</a:t>
            </a:r>
          </a:p>
          <a:p>
            <a:pPr marL="119062" indent="0">
              <a:buNone/>
            </a:pPr>
            <a:r>
              <a:rPr lang="en-US" sz="1900" dirty="0"/>
              <a:t>		</a:t>
            </a:r>
            <a:r>
              <a:rPr lang="en-US" sz="1900" dirty="0" err="1"/>
              <a:t>var</a:t>
            </a:r>
            <a:r>
              <a:rPr lang="en-US" sz="1900" dirty="0"/>
              <a:t> $brand;</a:t>
            </a:r>
          </a:p>
          <a:p>
            <a:pPr marL="119062" indent="0">
              <a:buNone/>
            </a:pPr>
            <a:r>
              <a:rPr lang="en-US" sz="1900" dirty="0"/>
              <a:t>		</a:t>
            </a:r>
            <a:r>
              <a:rPr lang="en-US" sz="1900" dirty="0" err="1"/>
              <a:t>var</a:t>
            </a:r>
            <a:r>
              <a:rPr lang="en-US" sz="1900" dirty="0"/>
              <a:t> $model;</a:t>
            </a:r>
          </a:p>
          <a:p>
            <a:pPr marL="119062" indent="0">
              <a:buNone/>
            </a:pPr>
            <a:r>
              <a:rPr lang="en-US" sz="1900" dirty="0"/>
              <a:t>		</a:t>
            </a:r>
            <a:r>
              <a:rPr lang="en-US" sz="1900" dirty="0" err="1"/>
              <a:t>var</a:t>
            </a:r>
            <a:r>
              <a:rPr lang="en-US" sz="1900" dirty="0"/>
              <a:t> $color;</a:t>
            </a:r>
          </a:p>
          <a:p>
            <a:pPr marL="119062" indent="0">
              <a:buNone/>
            </a:pPr>
            <a:r>
              <a:rPr lang="en-US" sz="1900" dirty="0"/>
              <a:t> </a:t>
            </a:r>
          </a:p>
          <a:p>
            <a:pPr marL="119062" indent="0">
              <a:buNone/>
            </a:pPr>
            <a:r>
              <a:rPr lang="en-US" sz="1900" dirty="0"/>
              <a:t>		function Car($</a:t>
            </a:r>
            <a:r>
              <a:rPr lang="en-US" sz="1900" dirty="0" err="1"/>
              <a:t>b,$m,$c</a:t>
            </a:r>
            <a:r>
              <a:rPr lang="en-US" sz="1900" dirty="0"/>
              <a:t>){</a:t>
            </a:r>
          </a:p>
          <a:p>
            <a:pPr marL="119062" indent="0">
              <a:buNone/>
            </a:pPr>
            <a:r>
              <a:rPr lang="en-US" sz="1900" dirty="0"/>
              <a:t>			$this-&gt;brand = $b;</a:t>
            </a:r>
          </a:p>
          <a:p>
            <a:pPr marL="119062" indent="0">
              <a:buNone/>
            </a:pPr>
            <a:r>
              <a:rPr lang="en-US" sz="1900" dirty="0"/>
              <a:t>			$this-&gt;model = $m;</a:t>
            </a:r>
          </a:p>
          <a:p>
            <a:pPr marL="119062" indent="0">
              <a:buNone/>
            </a:pPr>
            <a:r>
              <a:rPr lang="en-US" sz="1900" dirty="0"/>
              <a:t>			$this-&gt;color = $c;</a:t>
            </a:r>
          </a:p>
          <a:p>
            <a:pPr marL="119062" indent="0">
              <a:buNone/>
            </a:pPr>
            <a:r>
              <a:rPr lang="en-US" sz="1900" dirty="0"/>
              <a:t>		}</a:t>
            </a:r>
          </a:p>
          <a:p>
            <a:pPr marL="119062" indent="0">
              <a:buNone/>
            </a:pPr>
            <a:r>
              <a:rPr lang="en-US" sz="1900" dirty="0"/>
              <a:t>		</a:t>
            </a:r>
          </a:p>
          <a:p>
            <a:pPr marL="119062" indent="0">
              <a:buNone/>
            </a:pPr>
            <a:r>
              <a:rPr lang="en-US" sz="1900" dirty="0"/>
              <a:t>		function start(){</a:t>
            </a:r>
          </a:p>
          <a:p>
            <a:pPr marL="119062" indent="0">
              <a:buNone/>
            </a:pPr>
            <a:r>
              <a:rPr lang="en-US" sz="1900" dirty="0"/>
              <a:t>			echo $this-&gt;model." car is started...";</a:t>
            </a:r>
          </a:p>
          <a:p>
            <a:pPr marL="119062" indent="0">
              <a:buNone/>
            </a:pPr>
            <a:r>
              <a:rPr lang="en-US" sz="1900" dirty="0"/>
              <a:t>		}</a:t>
            </a:r>
          </a:p>
          <a:p>
            <a:pPr marL="119062" indent="0">
              <a:buNone/>
            </a:pPr>
            <a:r>
              <a:rPr lang="en-US" sz="1900" dirty="0"/>
              <a:t>	}</a:t>
            </a:r>
          </a:p>
          <a:p>
            <a:pPr marL="119062" indent="0">
              <a:buNone/>
            </a:pPr>
            <a:r>
              <a:rPr lang="en-US" sz="1900" dirty="0"/>
              <a:t>	$</a:t>
            </a:r>
            <a:r>
              <a:rPr lang="en-US" sz="1900" dirty="0" err="1"/>
              <a:t>carone</a:t>
            </a:r>
            <a:r>
              <a:rPr lang="en-US" sz="1900" dirty="0"/>
              <a:t> = new Car("</a:t>
            </a:r>
            <a:r>
              <a:rPr lang="en-US" sz="1900" dirty="0" err="1"/>
              <a:t>Nissan","Riva-L","Green</a:t>
            </a:r>
            <a:r>
              <a:rPr lang="en-US" sz="1900" dirty="0"/>
              <a:t>");</a:t>
            </a:r>
          </a:p>
          <a:p>
            <a:pPr marL="119062" indent="0">
              <a:buNone/>
            </a:pPr>
            <a:r>
              <a:rPr lang="en-US" sz="1900" dirty="0"/>
              <a:t>	$</a:t>
            </a:r>
            <a:r>
              <a:rPr lang="en-US" sz="1900" dirty="0" err="1"/>
              <a:t>carone</a:t>
            </a:r>
            <a:r>
              <a:rPr lang="en-US" sz="1900" dirty="0"/>
              <a:t>-&gt;start();</a:t>
            </a:r>
          </a:p>
          <a:p>
            <a:pPr marL="119062" indent="0">
              <a:buNone/>
            </a:pPr>
            <a:r>
              <a:rPr lang="en-US" sz="1900" dirty="0"/>
              <a:t>?&gt;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21356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Example6-Inheritance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5333999"/>
          </a:xfrm>
        </p:spPr>
        <p:txBody>
          <a:bodyPr>
            <a:normAutofit fontScale="92500" lnSpcReduction="20000"/>
          </a:bodyPr>
          <a:lstStyle/>
          <a:p>
            <a:pPr marL="119062" indent="0">
              <a:buNone/>
            </a:pPr>
            <a:r>
              <a:rPr lang="en-US" sz="1400" dirty="0"/>
              <a:t>&lt;?</a:t>
            </a:r>
            <a:r>
              <a:rPr lang="en-US" sz="1400" dirty="0" err="1"/>
              <a:t>php</a:t>
            </a:r>
            <a:endParaRPr lang="en-US" sz="1400" dirty="0"/>
          </a:p>
          <a:p>
            <a:pPr marL="119062" indent="0">
              <a:buNone/>
            </a:pPr>
            <a:r>
              <a:rPr lang="en-US" sz="1400" dirty="0"/>
              <a:t>	class car</a:t>
            </a:r>
          </a:p>
          <a:p>
            <a:pPr marL="119062" indent="0">
              <a:buNone/>
            </a:pPr>
            <a:r>
              <a:rPr lang="en-US" sz="1400" dirty="0"/>
              <a:t>{</a:t>
            </a:r>
          </a:p>
          <a:p>
            <a:pPr marL="119062" indent="0">
              <a:buNone/>
            </a:pPr>
            <a:r>
              <a:rPr lang="en-US" sz="1400" dirty="0" err="1"/>
              <a:t>var</a:t>
            </a:r>
            <a:r>
              <a:rPr lang="en-US" sz="1400" dirty="0"/>
              <a:t> $</a:t>
            </a:r>
            <a:r>
              <a:rPr lang="en-US" sz="1400" dirty="0" err="1"/>
              <a:t>regno</a:t>
            </a:r>
            <a:r>
              <a:rPr lang="en-US" sz="1400" dirty="0"/>
              <a:t>;</a:t>
            </a:r>
          </a:p>
          <a:p>
            <a:pPr marL="119062" indent="0">
              <a:buNone/>
            </a:pPr>
            <a:r>
              <a:rPr lang="en-US" sz="1400" dirty="0" err="1"/>
              <a:t>var</a:t>
            </a:r>
            <a:r>
              <a:rPr lang="en-US" sz="1400" dirty="0"/>
              <a:t> $model;</a:t>
            </a:r>
          </a:p>
          <a:p>
            <a:pPr marL="119062" indent="0">
              <a:buNone/>
            </a:pPr>
            <a:r>
              <a:rPr lang="en-US" sz="1400" dirty="0" err="1"/>
              <a:t>var</a:t>
            </a:r>
            <a:r>
              <a:rPr lang="en-US" sz="1400" dirty="0"/>
              <a:t> $color;</a:t>
            </a:r>
          </a:p>
          <a:p>
            <a:pPr marL="119062" indent="0">
              <a:buNone/>
            </a:pPr>
            <a:r>
              <a:rPr lang="en-US" sz="1400" dirty="0"/>
              <a:t>	function car($</a:t>
            </a:r>
            <a:r>
              <a:rPr lang="en-US" sz="1400" dirty="0" err="1"/>
              <a:t>r,$m,$c</a:t>
            </a:r>
            <a:r>
              <a:rPr lang="en-US" sz="1400" dirty="0"/>
              <a:t>) {</a:t>
            </a:r>
          </a:p>
          <a:p>
            <a:pPr marL="119062" indent="0">
              <a:buNone/>
            </a:pPr>
            <a:r>
              <a:rPr lang="en-US" sz="1400" dirty="0"/>
              <a:t>	$this-&gt;</a:t>
            </a:r>
            <a:r>
              <a:rPr lang="en-US" sz="1400" dirty="0" err="1"/>
              <a:t>regno</a:t>
            </a:r>
            <a:r>
              <a:rPr lang="en-US" sz="1400" dirty="0"/>
              <a:t>=$r;</a:t>
            </a:r>
          </a:p>
          <a:p>
            <a:pPr marL="119062" indent="0">
              <a:buNone/>
            </a:pPr>
            <a:r>
              <a:rPr lang="en-US" sz="1400" dirty="0"/>
              <a:t>	$this-&gt;model=$m;</a:t>
            </a:r>
          </a:p>
          <a:p>
            <a:pPr marL="119062" indent="0">
              <a:buNone/>
            </a:pPr>
            <a:r>
              <a:rPr lang="en-US" sz="1400" dirty="0"/>
              <a:t>	$this-&gt;color=$c;</a:t>
            </a:r>
          </a:p>
          <a:p>
            <a:pPr marL="119062" indent="0">
              <a:buNone/>
            </a:pPr>
            <a:r>
              <a:rPr lang="en-US" sz="1400" dirty="0"/>
              <a:t>	} </a:t>
            </a:r>
          </a:p>
          <a:p>
            <a:pPr marL="119062" indent="0">
              <a:buNone/>
            </a:pPr>
            <a:endParaRPr lang="en-US" sz="1400" dirty="0"/>
          </a:p>
          <a:p>
            <a:pPr marL="119062" indent="0">
              <a:buNone/>
            </a:pPr>
            <a:r>
              <a:rPr lang="en-US" sz="1400" dirty="0"/>
              <a:t>		function start(){</a:t>
            </a:r>
          </a:p>
          <a:p>
            <a:pPr marL="119062" indent="0">
              <a:buNone/>
            </a:pPr>
            <a:r>
              <a:rPr lang="en-US" sz="1400" dirty="0"/>
              <a:t>			echo $this-&gt;model." car is started...&lt;</a:t>
            </a:r>
            <a:r>
              <a:rPr lang="en-US" sz="1400" dirty="0" err="1"/>
              <a:t>br</a:t>
            </a:r>
            <a:r>
              <a:rPr lang="en-US" sz="1400" dirty="0"/>
              <a:t>/&gt;";</a:t>
            </a:r>
          </a:p>
          <a:p>
            <a:pPr marL="119062" indent="0">
              <a:buNone/>
            </a:pPr>
            <a:r>
              <a:rPr lang="en-US" sz="1400" dirty="0"/>
              <a:t>		}</a:t>
            </a:r>
          </a:p>
          <a:p>
            <a:pPr marL="119062" indent="0">
              <a:buNone/>
            </a:pPr>
            <a:r>
              <a:rPr lang="en-US" sz="1400" dirty="0"/>
              <a:t>	}</a:t>
            </a:r>
          </a:p>
          <a:p>
            <a:pPr marL="119062" indent="0">
              <a:buNone/>
            </a:pPr>
            <a:r>
              <a:rPr lang="en-US" sz="1400" dirty="0"/>
              <a:t>	class Wagon extends car{</a:t>
            </a:r>
          </a:p>
          <a:p>
            <a:pPr marL="119062" indent="0">
              <a:buNone/>
            </a:pPr>
            <a:r>
              <a:rPr lang="en-US" sz="1400" dirty="0"/>
              <a:t>		function start2(){</a:t>
            </a:r>
          </a:p>
          <a:p>
            <a:pPr marL="119062" indent="0">
              <a:buNone/>
            </a:pPr>
            <a:r>
              <a:rPr lang="en-US" sz="1400" dirty="0"/>
              <a:t>			echo </a:t>
            </a:r>
            <a:r>
              <a:rPr lang="en-US" sz="1400" dirty="0" smtClean="0"/>
              <a:t>$this-</a:t>
            </a:r>
            <a:r>
              <a:rPr lang="en-US" sz="1400" dirty="0"/>
              <a:t>&gt;model." wagon is started...";</a:t>
            </a:r>
          </a:p>
          <a:p>
            <a:pPr marL="119062" indent="0">
              <a:buNone/>
            </a:pPr>
            <a:r>
              <a:rPr lang="en-US" sz="1400" dirty="0"/>
              <a:t>		}</a:t>
            </a:r>
          </a:p>
          <a:p>
            <a:pPr marL="119062" indent="0">
              <a:buNone/>
            </a:pPr>
            <a:r>
              <a:rPr lang="en-US" sz="1400" dirty="0"/>
              <a:t>	}</a:t>
            </a:r>
          </a:p>
          <a:p>
            <a:pPr marL="119062" indent="0">
              <a:buNone/>
            </a:pPr>
            <a:r>
              <a:rPr lang="en-US" sz="1400" dirty="0"/>
              <a:t>	$</a:t>
            </a:r>
            <a:r>
              <a:rPr lang="en-US" sz="1400" dirty="0" err="1"/>
              <a:t>wagonone</a:t>
            </a:r>
            <a:r>
              <a:rPr lang="en-US" sz="1400" dirty="0"/>
              <a:t> = new Wagon("</a:t>
            </a:r>
            <a:r>
              <a:rPr lang="en-US" sz="1400" dirty="0" err="1"/>
              <a:t>Mitshubishi</a:t>
            </a:r>
            <a:r>
              <a:rPr lang="en-US" sz="1400" dirty="0"/>
              <a:t>","Space </a:t>
            </a:r>
            <a:r>
              <a:rPr lang="en-US" sz="1400" dirty="0" err="1"/>
              <a:t>Gear","Black</a:t>
            </a:r>
            <a:r>
              <a:rPr lang="en-US" sz="1400" dirty="0"/>
              <a:t>");</a:t>
            </a:r>
          </a:p>
          <a:p>
            <a:pPr marL="119062" indent="0">
              <a:buNone/>
            </a:pPr>
            <a:r>
              <a:rPr lang="en-US" sz="1400" dirty="0"/>
              <a:t>	$</a:t>
            </a:r>
            <a:r>
              <a:rPr lang="en-US" sz="1400" dirty="0" err="1"/>
              <a:t>wagonone</a:t>
            </a:r>
            <a:r>
              <a:rPr lang="en-US" sz="1400" dirty="0"/>
              <a:t>-&gt;start();</a:t>
            </a:r>
          </a:p>
          <a:p>
            <a:pPr marL="119062" indent="0">
              <a:buNone/>
            </a:pPr>
            <a:r>
              <a:rPr lang="en-US" sz="1400" dirty="0"/>
              <a:t>	$</a:t>
            </a:r>
            <a:r>
              <a:rPr lang="en-US" sz="1400" dirty="0" err="1"/>
              <a:t>wagonone</a:t>
            </a:r>
            <a:r>
              <a:rPr lang="en-US" sz="1400" dirty="0"/>
              <a:t>-&gt;start2();</a:t>
            </a:r>
          </a:p>
          <a:p>
            <a:pPr marL="119062" indent="0">
              <a:buNone/>
            </a:pPr>
            <a:r>
              <a:rPr lang="en-US" sz="1400" dirty="0"/>
              <a:t>?&gt;</a:t>
            </a:r>
          </a:p>
          <a:p>
            <a:pPr marL="119062" indent="0">
              <a:buNone/>
            </a:pPr>
            <a:endParaRPr lang="en-US" sz="1400" dirty="0"/>
          </a:p>
          <a:p>
            <a:pPr marL="119062" indent="0">
              <a:buNone/>
            </a:pP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7869275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/>
          <p:cNvSpPr>
            <a:spLocks noGrp="1"/>
          </p:cNvSpPr>
          <p:nvPr>
            <p:ph type="title"/>
          </p:nvPr>
        </p:nvSpPr>
        <p:spPr bwMode="auto">
          <a:xfrm>
            <a:off x="457200" y="152400"/>
            <a:ext cx="8229600" cy="1250950"/>
          </a:xfrm>
        </p:spPr>
        <p:txBody>
          <a:bodyPr wrap="square" tIns="45720" bIns="45720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en-US" smtClean="0"/>
              <a:t>MySQL Introduction</a:t>
            </a:r>
          </a:p>
        </p:txBody>
      </p:sp>
      <p:sp>
        <p:nvSpPr>
          <p:cNvPr id="63491" name="Rectangle 3"/>
          <p:cNvSpPr>
            <a:spLocks noGrp="1"/>
          </p:cNvSpPr>
          <p:nvPr>
            <p:ph idx="1"/>
          </p:nvPr>
        </p:nvSpPr>
        <p:spPr>
          <a:xfrm>
            <a:off x="533400" y="1524000"/>
            <a:ext cx="8229600" cy="50292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mtClean="0"/>
              <a:t>MySQL is a database.</a:t>
            </a:r>
          </a:p>
          <a:p>
            <a:pPr>
              <a:lnSpc>
                <a:spcPct val="90000"/>
              </a:lnSpc>
            </a:pPr>
            <a:r>
              <a:rPr lang="en-US" smtClean="0"/>
              <a:t>The data in MySQL is stored in database objects called tables.</a:t>
            </a:r>
          </a:p>
          <a:p>
            <a:pPr>
              <a:lnSpc>
                <a:spcPct val="90000"/>
              </a:lnSpc>
            </a:pPr>
            <a:r>
              <a:rPr lang="en-US" smtClean="0"/>
              <a:t>A table is a collections of related data entries and it consists of columns and rows.</a:t>
            </a:r>
          </a:p>
          <a:p>
            <a:pPr>
              <a:lnSpc>
                <a:spcPct val="90000"/>
              </a:lnSpc>
            </a:pPr>
            <a:r>
              <a:rPr lang="en-US" smtClean="0"/>
              <a:t>Databases are useful when storing information categorically. A company may have a database with the following tables: "Employees", "Products", "Customers" and "Orders".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/>
          <p:cNvSpPr>
            <a:spLocks noGrp="1"/>
          </p:cNvSpPr>
          <p:nvPr>
            <p:ph type="title"/>
          </p:nvPr>
        </p:nvSpPr>
        <p:spPr bwMode="auto">
          <a:xfrm>
            <a:off x="457200" y="152400"/>
            <a:ext cx="8382000" cy="1250950"/>
          </a:xfrm>
        </p:spPr>
        <p:txBody>
          <a:bodyPr wrap="square" tIns="45720" bIns="45720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en-US" sz="4100" b="0" dirty="0" err="1" smtClean="0"/>
              <a:t>PHP+MySQL</a:t>
            </a:r>
            <a:r>
              <a:rPr lang="en-US" sz="4100" b="0" dirty="0" smtClean="0"/>
              <a:t> Connect to Database</a:t>
            </a:r>
          </a:p>
        </p:txBody>
      </p:sp>
      <p:sp>
        <p:nvSpPr>
          <p:cNvPr id="64515" name="Rectangle 3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5105400"/>
          </a:xfrm>
        </p:spPr>
        <p:txBody>
          <a:bodyPr>
            <a:normAutofit lnSpcReduction="10000"/>
          </a:bodyPr>
          <a:lstStyle/>
          <a:p>
            <a:r>
              <a:rPr lang="en-US" sz="2800" smtClean="0"/>
              <a:t>PHP uses the </a:t>
            </a:r>
            <a:r>
              <a:rPr lang="en-US" sz="2800" b="1" smtClean="0"/>
              <a:t>mysql_connect()</a:t>
            </a:r>
            <a:r>
              <a:rPr lang="en-US" sz="2800" smtClean="0"/>
              <a:t> function to connect to the database.</a:t>
            </a:r>
          </a:p>
          <a:p>
            <a:r>
              <a:rPr lang="en-US" sz="2800" b="1" smtClean="0"/>
              <a:t>Syntax</a:t>
            </a:r>
          </a:p>
          <a:p>
            <a:endParaRPr lang="en-US" sz="2800" b="1" smtClean="0"/>
          </a:p>
          <a:p>
            <a:endParaRPr lang="en-US" sz="2800" b="1" smtClean="0"/>
          </a:p>
          <a:p>
            <a:r>
              <a:rPr lang="en-US" sz="2800" b="1" smtClean="0"/>
              <a:t>Servername-</a:t>
            </a:r>
            <a:r>
              <a:rPr lang="en-US" sz="2800" smtClean="0"/>
              <a:t>Optional. Specifies the server to connect to. Default value is "localhost“</a:t>
            </a:r>
          </a:p>
          <a:p>
            <a:r>
              <a:rPr lang="en-US" sz="2800" b="1" smtClean="0"/>
              <a:t>Username-</a:t>
            </a:r>
            <a:r>
              <a:rPr lang="en-US" sz="2800" smtClean="0"/>
              <a:t>Optional. Specifies the username to log in with. </a:t>
            </a:r>
          </a:p>
          <a:p>
            <a:r>
              <a:rPr lang="en-US" sz="2800" b="1" smtClean="0"/>
              <a:t>Password-</a:t>
            </a:r>
            <a:r>
              <a:rPr lang="en-US" sz="2800" smtClean="0"/>
              <a:t>Optional. Specifies the password to log in with. Default is ""</a:t>
            </a:r>
          </a:p>
        </p:txBody>
      </p:sp>
      <p:sp>
        <p:nvSpPr>
          <p:cNvPr id="4" name="Rectangle 3"/>
          <p:cNvSpPr/>
          <p:nvPr/>
        </p:nvSpPr>
        <p:spPr>
          <a:xfrm>
            <a:off x="533400" y="2895600"/>
            <a:ext cx="8382000" cy="6858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r>
              <a:rPr lang="en-US" sz="2400" b="1">
                <a:solidFill>
                  <a:schemeClr val="tx1"/>
                </a:solidFill>
                <a:latin typeface="Arial" charset="0"/>
                <a:cs typeface="Arial" charset="0"/>
              </a:rPr>
              <a:t>mysql_connect(“servername”,”username”,”password”);</a:t>
            </a:r>
            <a:r>
              <a:rPr lang="en-US" sz="2400">
                <a:solidFill>
                  <a:schemeClr val="tx1"/>
                </a:solidFill>
                <a:latin typeface="Arial" charset="0"/>
                <a:cs typeface="Arial" charset="0"/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800" b="0" dirty="0" err="1"/>
              <a:t>PHP+MySQL</a:t>
            </a:r>
            <a:r>
              <a:rPr lang="en-US" sz="4800" b="0" dirty="0"/>
              <a:t> Connect to Database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8229600" cy="4625975"/>
          </a:xfrm>
        </p:spPr>
        <p:txBody>
          <a:bodyPr/>
          <a:lstStyle/>
          <a:p>
            <a:pPr>
              <a:defRPr/>
            </a:pPr>
            <a:r>
              <a:rPr lang="en-US" b="1" dirty="0">
                <a:solidFill>
                  <a:srgbClr val="FF3300"/>
                </a:solidFill>
                <a:latin typeface="Arial" charset="0"/>
                <a:cs typeface="Arial" charset="0"/>
              </a:rPr>
              <a:t>&lt;?</a:t>
            </a:r>
            <a:r>
              <a:rPr lang="en-US" b="1" dirty="0" err="1" smtClean="0">
                <a:solidFill>
                  <a:srgbClr val="FF3300"/>
                </a:solidFill>
                <a:latin typeface="Arial" charset="0"/>
                <a:cs typeface="Arial" charset="0"/>
              </a:rPr>
              <a:t>php</a:t>
            </a:r>
            <a:r>
              <a:rPr lang="en-US" b="1" dirty="0">
                <a:solidFill>
                  <a:srgbClr val="FF3300"/>
                </a:solidFill>
                <a:latin typeface="Arial" charset="0"/>
                <a:cs typeface="Arial" charset="0"/>
              </a:rPr>
              <a:t/>
            </a:r>
            <a:br>
              <a:rPr lang="en-US" b="1" dirty="0">
                <a:solidFill>
                  <a:srgbClr val="FF3300"/>
                </a:solidFill>
                <a:latin typeface="Arial" charset="0"/>
                <a:cs typeface="Arial" charset="0"/>
              </a:rPr>
            </a:br>
            <a:r>
              <a:rPr lang="en-US" b="1" dirty="0">
                <a:solidFill>
                  <a:srgbClr val="FF3300"/>
                </a:solidFill>
                <a:latin typeface="Arial" charset="0"/>
                <a:cs typeface="Arial" charset="0"/>
              </a:rPr>
              <a:t>	</a:t>
            </a:r>
            <a:r>
              <a:rPr lang="en-US" b="1" dirty="0">
                <a:solidFill>
                  <a:srgbClr val="000000"/>
                </a:solidFill>
                <a:cs typeface="Arial" charset="0"/>
              </a:rPr>
              <a:t>$con = </a:t>
            </a:r>
            <a:r>
              <a:rPr lang="en-US" b="1" dirty="0" err="1">
                <a:solidFill>
                  <a:srgbClr val="000000"/>
                </a:solidFill>
                <a:cs typeface="Arial" charset="0"/>
              </a:rPr>
              <a:t>mysql_connect</a:t>
            </a:r>
            <a:r>
              <a:rPr lang="en-US" b="1" dirty="0">
                <a:solidFill>
                  <a:srgbClr val="000000"/>
                </a:solidFill>
                <a:cs typeface="Arial" charset="0"/>
              </a:rPr>
              <a:t>("</a:t>
            </a:r>
            <a:r>
              <a:rPr lang="en-US" b="1" dirty="0" err="1">
                <a:solidFill>
                  <a:srgbClr val="000000"/>
                </a:solidFill>
                <a:cs typeface="Arial" charset="0"/>
              </a:rPr>
              <a:t>localhost</a:t>
            </a:r>
            <a:r>
              <a:rPr lang="en-US" b="1" dirty="0">
                <a:solidFill>
                  <a:srgbClr val="000000"/>
                </a:solidFill>
                <a:cs typeface="Arial" charset="0"/>
              </a:rPr>
              <a:t>",“root","");</a:t>
            </a:r>
            <a:br>
              <a:rPr lang="en-US" b="1" dirty="0">
                <a:solidFill>
                  <a:srgbClr val="000000"/>
                </a:solidFill>
                <a:cs typeface="Arial" charset="0"/>
              </a:rPr>
            </a:br>
            <a:r>
              <a:rPr lang="en-US" b="1" dirty="0">
                <a:solidFill>
                  <a:srgbClr val="000000"/>
                </a:solidFill>
                <a:cs typeface="Arial" charset="0"/>
              </a:rPr>
              <a:t>	if (!$con)</a:t>
            </a:r>
            <a:br>
              <a:rPr lang="en-US" b="1" dirty="0">
                <a:solidFill>
                  <a:srgbClr val="000000"/>
                </a:solidFill>
                <a:cs typeface="Arial" charset="0"/>
              </a:rPr>
            </a:br>
            <a:r>
              <a:rPr lang="en-US" b="1" dirty="0">
                <a:solidFill>
                  <a:srgbClr val="000000"/>
                </a:solidFill>
                <a:cs typeface="Arial" charset="0"/>
              </a:rPr>
              <a:t> 	 {</a:t>
            </a:r>
            <a:br>
              <a:rPr lang="en-US" b="1" dirty="0">
                <a:solidFill>
                  <a:srgbClr val="000000"/>
                </a:solidFill>
                <a:cs typeface="Arial" charset="0"/>
              </a:rPr>
            </a:br>
            <a:r>
              <a:rPr lang="en-US" b="1" dirty="0">
                <a:solidFill>
                  <a:srgbClr val="000000"/>
                </a:solidFill>
                <a:cs typeface="Arial" charset="0"/>
              </a:rPr>
              <a:t> </a:t>
            </a:r>
            <a:r>
              <a:rPr lang="en-US" b="1" dirty="0" smtClean="0">
                <a:solidFill>
                  <a:srgbClr val="000000"/>
                </a:solidFill>
                <a:cs typeface="Arial" charset="0"/>
              </a:rPr>
              <a:t> </a:t>
            </a:r>
            <a:r>
              <a:rPr lang="en-US" b="1" dirty="0">
                <a:solidFill>
                  <a:srgbClr val="000000"/>
                </a:solidFill>
                <a:cs typeface="Arial" charset="0"/>
              </a:rPr>
              <a:t>die('Could not connect: ' . </a:t>
            </a:r>
            <a:r>
              <a:rPr lang="en-US" b="1" dirty="0" err="1">
                <a:solidFill>
                  <a:srgbClr val="000000"/>
                </a:solidFill>
                <a:cs typeface="Arial" charset="0"/>
              </a:rPr>
              <a:t>mysql_error</a:t>
            </a:r>
            <a:r>
              <a:rPr lang="en-US" b="1" dirty="0">
                <a:solidFill>
                  <a:srgbClr val="000000"/>
                </a:solidFill>
                <a:cs typeface="Arial" charset="0"/>
              </a:rPr>
              <a:t>());</a:t>
            </a:r>
            <a:br>
              <a:rPr lang="en-US" b="1" dirty="0">
                <a:solidFill>
                  <a:srgbClr val="000000"/>
                </a:solidFill>
                <a:cs typeface="Arial" charset="0"/>
              </a:rPr>
            </a:br>
            <a:r>
              <a:rPr lang="en-US" b="1" dirty="0">
                <a:solidFill>
                  <a:srgbClr val="000000"/>
                </a:solidFill>
                <a:cs typeface="Arial" charset="0"/>
              </a:rPr>
              <a:t>  	  </a:t>
            </a:r>
            <a:r>
              <a:rPr lang="en-US" b="1" dirty="0" smtClean="0">
                <a:solidFill>
                  <a:srgbClr val="000000"/>
                </a:solidFill>
                <a:cs typeface="Arial" charset="0"/>
              </a:rPr>
              <a:t>}</a:t>
            </a:r>
            <a:r>
              <a:rPr lang="en-US" b="1" dirty="0">
                <a:solidFill>
                  <a:srgbClr val="000000"/>
                </a:solidFill>
                <a:cs typeface="Arial" charset="0"/>
              </a:rPr>
              <a:t/>
            </a:r>
            <a:br>
              <a:rPr lang="en-US" b="1" dirty="0">
                <a:solidFill>
                  <a:srgbClr val="000000"/>
                </a:solidFill>
                <a:cs typeface="Arial" charset="0"/>
              </a:rPr>
            </a:br>
            <a:r>
              <a:rPr lang="en-US" b="1" dirty="0">
                <a:solidFill>
                  <a:srgbClr val="000000"/>
                </a:solidFill>
                <a:cs typeface="Arial" charset="0"/>
              </a:rPr>
              <a:t>                     // some </a:t>
            </a:r>
            <a:r>
              <a:rPr lang="en-US" b="1" dirty="0" smtClean="0">
                <a:solidFill>
                  <a:srgbClr val="000000"/>
                </a:solidFill>
                <a:cs typeface="Arial" charset="0"/>
              </a:rPr>
              <a:t>code</a:t>
            </a:r>
            <a:endParaRPr lang="en-US" b="1" dirty="0">
              <a:solidFill>
                <a:srgbClr val="000000"/>
              </a:solidFill>
              <a:cs typeface="Arial" charset="0"/>
            </a:endParaRPr>
          </a:p>
          <a:p>
            <a:pPr>
              <a:defRPr/>
            </a:pPr>
            <a:r>
              <a:rPr lang="en-US" b="1" dirty="0">
                <a:solidFill>
                  <a:srgbClr val="FF3300"/>
                </a:solidFill>
                <a:latin typeface="Arial" charset="0"/>
                <a:cs typeface="Arial" charset="0"/>
              </a:rPr>
              <a:t>?&gt;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94929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Closing a Connection</a:t>
            </a:r>
            <a:endParaRPr lang="en-US" dirty="0"/>
          </a:p>
        </p:txBody>
      </p:sp>
      <p:sp>
        <p:nvSpPr>
          <p:cNvPr id="6553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Close the created database connection as follows</a:t>
            </a:r>
          </a:p>
          <a:p>
            <a:endParaRPr lang="en-US" dirty="0" smtClean="0"/>
          </a:p>
          <a:p>
            <a:r>
              <a:rPr lang="en-US" b="1" dirty="0" err="1" smtClean="0"/>
              <a:t>Mysql_close</a:t>
            </a:r>
            <a:r>
              <a:rPr lang="en-US" b="1" dirty="0" smtClean="0"/>
              <a:t>($con);</a:t>
            </a:r>
          </a:p>
          <a:p>
            <a:pPr marL="119062" indent="0">
              <a:buNone/>
            </a:pPr>
            <a:endParaRPr lang="en-US" b="1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Closing a Connection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524001"/>
            <a:ext cx="9144000" cy="4876800"/>
          </a:xfrm>
        </p:spPr>
        <p:txBody>
          <a:bodyPr/>
          <a:lstStyle/>
          <a:p>
            <a:pPr marL="119062" indent="0">
              <a:buNone/>
              <a:defRPr/>
            </a:pPr>
            <a:r>
              <a:rPr lang="en-US" b="1" dirty="0">
                <a:solidFill>
                  <a:srgbClr val="FF3300"/>
                </a:solidFill>
                <a:latin typeface="Arial" charset="0"/>
                <a:cs typeface="Arial" charset="0"/>
              </a:rPr>
              <a:t>&lt;?</a:t>
            </a:r>
            <a:r>
              <a:rPr lang="en-US" b="1" dirty="0" err="1" smtClean="0">
                <a:solidFill>
                  <a:srgbClr val="FF3300"/>
                </a:solidFill>
                <a:latin typeface="Arial" charset="0"/>
                <a:cs typeface="Arial" charset="0"/>
              </a:rPr>
              <a:t>php</a:t>
            </a:r>
            <a:r>
              <a:rPr lang="en-US" b="1" dirty="0">
                <a:solidFill>
                  <a:srgbClr val="FF3300"/>
                </a:solidFill>
                <a:latin typeface="Arial" charset="0"/>
                <a:cs typeface="Arial" charset="0"/>
              </a:rPr>
              <a:t/>
            </a:r>
            <a:br>
              <a:rPr lang="en-US" b="1" dirty="0">
                <a:solidFill>
                  <a:srgbClr val="FF3300"/>
                </a:solidFill>
                <a:latin typeface="Arial" charset="0"/>
                <a:cs typeface="Arial" charset="0"/>
              </a:rPr>
            </a:br>
            <a:r>
              <a:rPr lang="en-US" b="1" dirty="0" smtClean="0">
                <a:solidFill>
                  <a:srgbClr val="000000"/>
                </a:solidFill>
                <a:cs typeface="Arial" charset="0"/>
              </a:rPr>
              <a:t>$con=</a:t>
            </a:r>
            <a:r>
              <a:rPr lang="en-US" b="1" dirty="0" err="1" smtClean="0">
                <a:solidFill>
                  <a:srgbClr val="000000"/>
                </a:solidFill>
                <a:cs typeface="Arial" charset="0"/>
              </a:rPr>
              <a:t>mysql_connect</a:t>
            </a:r>
            <a:r>
              <a:rPr lang="en-US" b="1" dirty="0">
                <a:solidFill>
                  <a:srgbClr val="000000"/>
                </a:solidFill>
                <a:cs typeface="Arial" charset="0"/>
              </a:rPr>
              <a:t>("localhost</a:t>
            </a:r>
            <a:r>
              <a:rPr lang="en-US" b="1" dirty="0" smtClean="0">
                <a:solidFill>
                  <a:srgbClr val="000000"/>
                </a:solidFill>
                <a:cs typeface="Arial" charset="0"/>
              </a:rPr>
              <a:t>","root","");</a:t>
            </a:r>
            <a:r>
              <a:rPr lang="en-US" b="1" dirty="0">
                <a:solidFill>
                  <a:srgbClr val="000000"/>
                </a:solidFill>
                <a:cs typeface="Arial" charset="0"/>
              </a:rPr>
              <a:t/>
            </a:r>
            <a:br>
              <a:rPr lang="en-US" b="1" dirty="0">
                <a:solidFill>
                  <a:srgbClr val="000000"/>
                </a:solidFill>
                <a:cs typeface="Arial" charset="0"/>
              </a:rPr>
            </a:br>
            <a:r>
              <a:rPr lang="en-US" b="1" dirty="0">
                <a:solidFill>
                  <a:srgbClr val="000000"/>
                </a:solidFill>
                <a:cs typeface="Arial" charset="0"/>
              </a:rPr>
              <a:t>	if (!$con)</a:t>
            </a:r>
            <a:br>
              <a:rPr lang="en-US" b="1" dirty="0">
                <a:solidFill>
                  <a:srgbClr val="000000"/>
                </a:solidFill>
                <a:cs typeface="Arial" charset="0"/>
              </a:rPr>
            </a:br>
            <a:r>
              <a:rPr lang="en-US" b="1" dirty="0">
                <a:solidFill>
                  <a:srgbClr val="000000"/>
                </a:solidFill>
                <a:cs typeface="Arial" charset="0"/>
              </a:rPr>
              <a:t>  	{</a:t>
            </a:r>
            <a:br>
              <a:rPr lang="en-US" b="1" dirty="0">
                <a:solidFill>
                  <a:srgbClr val="000000"/>
                </a:solidFill>
                <a:cs typeface="Arial" charset="0"/>
              </a:rPr>
            </a:br>
            <a:r>
              <a:rPr lang="en-US" b="1" dirty="0" smtClean="0">
                <a:solidFill>
                  <a:srgbClr val="000000"/>
                </a:solidFill>
                <a:cs typeface="Arial" charset="0"/>
              </a:rPr>
              <a:t>die</a:t>
            </a:r>
            <a:r>
              <a:rPr lang="en-US" b="1" dirty="0">
                <a:solidFill>
                  <a:srgbClr val="000000"/>
                </a:solidFill>
                <a:cs typeface="Arial" charset="0"/>
              </a:rPr>
              <a:t>('Could not connect: ' . </a:t>
            </a:r>
            <a:r>
              <a:rPr lang="en-US" b="1" dirty="0" err="1">
                <a:solidFill>
                  <a:srgbClr val="000000"/>
                </a:solidFill>
                <a:cs typeface="Arial" charset="0"/>
              </a:rPr>
              <a:t>mysql_error</a:t>
            </a:r>
            <a:r>
              <a:rPr lang="en-US" b="1" dirty="0">
                <a:solidFill>
                  <a:srgbClr val="000000"/>
                </a:solidFill>
                <a:cs typeface="Arial" charset="0"/>
              </a:rPr>
              <a:t>());</a:t>
            </a:r>
            <a:br>
              <a:rPr lang="en-US" b="1" dirty="0">
                <a:solidFill>
                  <a:srgbClr val="000000"/>
                </a:solidFill>
                <a:cs typeface="Arial" charset="0"/>
              </a:rPr>
            </a:br>
            <a:r>
              <a:rPr lang="en-US" b="1" dirty="0">
                <a:solidFill>
                  <a:srgbClr val="000000"/>
                </a:solidFill>
                <a:cs typeface="Arial" charset="0"/>
              </a:rPr>
              <a:t>  	</a:t>
            </a:r>
            <a:r>
              <a:rPr lang="en-US" b="1" dirty="0" smtClean="0">
                <a:solidFill>
                  <a:srgbClr val="000000"/>
                </a:solidFill>
                <a:cs typeface="Arial" charset="0"/>
              </a:rPr>
              <a:t>}</a:t>
            </a:r>
            <a:r>
              <a:rPr lang="en-US" b="1" dirty="0">
                <a:solidFill>
                  <a:srgbClr val="000000"/>
                </a:solidFill>
                <a:cs typeface="Arial" charset="0"/>
              </a:rPr>
              <a:t/>
            </a:r>
            <a:br>
              <a:rPr lang="en-US" b="1" dirty="0">
                <a:solidFill>
                  <a:srgbClr val="000000"/>
                </a:solidFill>
                <a:cs typeface="Arial" charset="0"/>
              </a:rPr>
            </a:br>
            <a:r>
              <a:rPr lang="en-US" b="1" dirty="0">
                <a:solidFill>
                  <a:srgbClr val="000000"/>
                </a:solidFill>
                <a:cs typeface="Arial" charset="0"/>
              </a:rPr>
              <a:t>	// some </a:t>
            </a:r>
            <a:r>
              <a:rPr lang="en-US" b="1" dirty="0" smtClean="0">
                <a:solidFill>
                  <a:srgbClr val="000000"/>
                </a:solidFill>
                <a:cs typeface="Arial" charset="0"/>
              </a:rPr>
              <a:t>code</a:t>
            </a:r>
            <a:r>
              <a:rPr lang="en-US" b="1" dirty="0">
                <a:solidFill>
                  <a:srgbClr val="000000"/>
                </a:solidFill>
                <a:cs typeface="Arial" charset="0"/>
              </a:rPr>
              <a:t/>
            </a:r>
            <a:br>
              <a:rPr lang="en-US" b="1" dirty="0">
                <a:solidFill>
                  <a:srgbClr val="000000"/>
                </a:solidFill>
                <a:cs typeface="Arial" charset="0"/>
              </a:rPr>
            </a:br>
            <a:r>
              <a:rPr lang="en-US" b="1" dirty="0">
                <a:solidFill>
                  <a:srgbClr val="000000"/>
                </a:solidFill>
                <a:cs typeface="Arial" charset="0"/>
              </a:rPr>
              <a:t> 	</a:t>
            </a:r>
            <a:r>
              <a:rPr lang="en-US" b="1" dirty="0" err="1">
                <a:solidFill>
                  <a:srgbClr val="0000FF"/>
                </a:solidFill>
                <a:cs typeface="Arial" charset="0"/>
              </a:rPr>
              <a:t>mysql_close</a:t>
            </a:r>
            <a:r>
              <a:rPr lang="en-US" b="1" dirty="0">
                <a:solidFill>
                  <a:srgbClr val="0000FF"/>
                </a:solidFill>
                <a:cs typeface="Arial" charset="0"/>
              </a:rPr>
              <a:t>($con</a:t>
            </a:r>
            <a:r>
              <a:rPr lang="en-US" b="1" dirty="0" smtClean="0">
                <a:solidFill>
                  <a:srgbClr val="0000FF"/>
                </a:solidFill>
                <a:cs typeface="Arial" charset="0"/>
              </a:rPr>
              <a:t>);</a:t>
            </a:r>
            <a:endParaRPr lang="en-US" b="1" dirty="0">
              <a:solidFill>
                <a:srgbClr val="000000"/>
              </a:solidFill>
              <a:cs typeface="Arial" charset="0"/>
            </a:endParaRPr>
          </a:p>
          <a:p>
            <a:pPr marL="119062" indent="0">
              <a:buNone/>
              <a:defRPr/>
            </a:pPr>
            <a:r>
              <a:rPr lang="en-US" b="1" dirty="0">
                <a:solidFill>
                  <a:srgbClr val="FF3300"/>
                </a:solidFill>
                <a:latin typeface="Arial" charset="0"/>
                <a:cs typeface="Arial" charset="0"/>
              </a:rPr>
              <a:t>?&gt;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39251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/>
          <p:cNvSpPr>
            <a:spLocks noGrp="1"/>
          </p:cNvSpPr>
          <p:nvPr>
            <p:ph type="title"/>
          </p:nvPr>
        </p:nvSpPr>
        <p:spPr bwMode="auto">
          <a:xfrm>
            <a:off x="457200" y="152400"/>
            <a:ext cx="8229600" cy="1250950"/>
          </a:xfrm>
        </p:spPr>
        <p:txBody>
          <a:bodyPr wrap="square" tIns="45720" bIns="45720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en-US" sz="4100" dirty="0" err="1" smtClean="0"/>
              <a:t>PHP+MySQL</a:t>
            </a:r>
            <a:r>
              <a:rPr lang="en-US" sz="4100" dirty="0" smtClean="0"/>
              <a:t> - Create Database</a:t>
            </a:r>
          </a:p>
        </p:txBody>
      </p:sp>
      <p:sp>
        <p:nvSpPr>
          <p:cNvPr id="66563" name="Rectangle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Syntax</a:t>
            </a:r>
          </a:p>
          <a:p>
            <a:endParaRPr lang="en-US" b="1" dirty="0" smtClean="0"/>
          </a:p>
          <a:p>
            <a:endParaRPr lang="en-US" b="1" dirty="0" smtClean="0"/>
          </a:p>
          <a:p>
            <a:pPr marL="119062" indent="0">
              <a:buNone/>
            </a:pPr>
            <a:r>
              <a:rPr lang="en-US" sz="2400" dirty="0" smtClean="0"/>
              <a:t/>
            </a:r>
            <a:br>
              <a:rPr lang="en-US" sz="2400" dirty="0" smtClean="0"/>
            </a:br>
            <a:endParaRPr lang="en-US" sz="2400" dirty="0" smtClean="0"/>
          </a:p>
        </p:txBody>
      </p:sp>
      <p:sp>
        <p:nvSpPr>
          <p:cNvPr id="4" name="Rectangle 3"/>
          <p:cNvSpPr/>
          <p:nvPr/>
        </p:nvSpPr>
        <p:spPr>
          <a:xfrm>
            <a:off x="1066800" y="2971800"/>
            <a:ext cx="7162800" cy="9144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r>
              <a:rPr lang="en-US" sz="2800" b="1" dirty="0">
                <a:solidFill>
                  <a:schemeClr val="tx1"/>
                </a:solidFill>
                <a:latin typeface="Arial" charset="0"/>
                <a:cs typeface="Arial" charset="0"/>
              </a:rPr>
              <a:t>CREATE  DATABASE </a:t>
            </a:r>
            <a:r>
              <a:rPr lang="en-US" sz="2800" b="1" dirty="0" err="1">
                <a:solidFill>
                  <a:schemeClr val="tx1"/>
                </a:solidFill>
                <a:latin typeface="Arial" charset="0"/>
                <a:cs typeface="Arial" charset="0"/>
              </a:rPr>
              <a:t>database_name</a:t>
            </a:r>
            <a:r>
              <a:rPr lang="en-US" sz="2800" dirty="0">
                <a:solidFill>
                  <a:schemeClr val="tx1"/>
                </a:solidFill>
                <a:latin typeface="Arial" charset="0"/>
                <a:cs typeface="Arial" charset="0"/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dirty="0" err="1"/>
              <a:t>PHP+MySQL</a:t>
            </a:r>
            <a:r>
              <a:rPr lang="en-US" sz="4800" dirty="0"/>
              <a:t> - Create Database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8534400" cy="4625975"/>
          </a:xfrm>
        </p:spPr>
        <p:txBody>
          <a:bodyPr>
            <a:normAutofit fontScale="92500" lnSpcReduction="20000"/>
          </a:bodyPr>
          <a:lstStyle/>
          <a:p>
            <a:pPr marL="119062" indent="0">
              <a:buNone/>
              <a:defRPr/>
            </a:pPr>
            <a:r>
              <a:rPr lang="en-US" sz="1600" b="1" dirty="0">
                <a:latin typeface="Arial" charset="0"/>
                <a:cs typeface="Arial" charset="0"/>
              </a:rPr>
              <a:t>&lt;?</a:t>
            </a:r>
            <a:r>
              <a:rPr lang="en-US" sz="1600" b="1" dirty="0" err="1">
                <a:latin typeface="Arial" charset="0"/>
                <a:cs typeface="Arial" charset="0"/>
              </a:rPr>
              <a:t>php</a:t>
            </a:r>
            <a:endParaRPr lang="en-US" sz="1600" b="1" dirty="0">
              <a:latin typeface="Arial" charset="0"/>
              <a:cs typeface="Arial" charset="0"/>
            </a:endParaRPr>
          </a:p>
          <a:p>
            <a:pPr marL="119062" indent="0">
              <a:buNone/>
              <a:defRPr/>
            </a:pPr>
            <a:r>
              <a:rPr lang="en-US" sz="1600" b="1" dirty="0">
                <a:latin typeface="Arial" charset="0"/>
                <a:cs typeface="Arial" charset="0"/>
              </a:rPr>
              <a:t>$con = </a:t>
            </a:r>
            <a:r>
              <a:rPr lang="en-US" sz="1600" b="1" dirty="0" err="1">
                <a:latin typeface="Arial" charset="0"/>
                <a:cs typeface="Arial" charset="0"/>
              </a:rPr>
              <a:t>mysql_connect</a:t>
            </a:r>
            <a:r>
              <a:rPr lang="en-US" sz="1600" b="1" dirty="0">
                <a:latin typeface="Arial" charset="0"/>
                <a:cs typeface="Arial" charset="0"/>
              </a:rPr>
              <a:t>("</a:t>
            </a:r>
            <a:r>
              <a:rPr lang="en-US" sz="1600" b="1" dirty="0" err="1">
                <a:latin typeface="Arial" charset="0"/>
                <a:cs typeface="Arial" charset="0"/>
              </a:rPr>
              <a:t>localhost</a:t>
            </a:r>
            <a:r>
              <a:rPr lang="en-US" sz="1600" b="1" dirty="0">
                <a:latin typeface="Arial" charset="0"/>
                <a:cs typeface="Arial" charset="0"/>
              </a:rPr>
              <a:t>","root","");</a:t>
            </a:r>
          </a:p>
          <a:p>
            <a:pPr marL="119062" indent="0">
              <a:buNone/>
              <a:defRPr/>
            </a:pPr>
            <a:r>
              <a:rPr lang="en-US" sz="1600" b="1" dirty="0">
                <a:latin typeface="Arial" charset="0"/>
                <a:cs typeface="Arial" charset="0"/>
              </a:rPr>
              <a:t>if (!$con)</a:t>
            </a:r>
          </a:p>
          <a:p>
            <a:pPr marL="119062" indent="0">
              <a:buNone/>
              <a:defRPr/>
            </a:pPr>
            <a:r>
              <a:rPr lang="en-US" sz="1600" b="1" dirty="0">
                <a:latin typeface="Arial" charset="0"/>
                <a:cs typeface="Arial" charset="0"/>
              </a:rPr>
              <a:t>  {</a:t>
            </a:r>
          </a:p>
          <a:p>
            <a:pPr marL="119062" indent="0">
              <a:buNone/>
              <a:defRPr/>
            </a:pPr>
            <a:r>
              <a:rPr lang="en-US" sz="1600" b="1" dirty="0">
                <a:latin typeface="Arial" charset="0"/>
                <a:cs typeface="Arial" charset="0"/>
              </a:rPr>
              <a:t>  die('Could not connect: ' . </a:t>
            </a:r>
            <a:r>
              <a:rPr lang="en-US" sz="1600" b="1" dirty="0" err="1">
                <a:latin typeface="Arial" charset="0"/>
                <a:cs typeface="Arial" charset="0"/>
              </a:rPr>
              <a:t>mysql_error</a:t>
            </a:r>
            <a:r>
              <a:rPr lang="en-US" sz="1600" b="1" dirty="0">
                <a:latin typeface="Arial" charset="0"/>
                <a:cs typeface="Arial" charset="0"/>
              </a:rPr>
              <a:t>());</a:t>
            </a:r>
          </a:p>
          <a:p>
            <a:pPr marL="119062" indent="0">
              <a:buNone/>
              <a:defRPr/>
            </a:pPr>
            <a:r>
              <a:rPr lang="en-US" sz="1600" b="1" dirty="0">
                <a:latin typeface="Arial" charset="0"/>
                <a:cs typeface="Arial" charset="0"/>
              </a:rPr>
              <a:t>  }</a:t>
            </a:r>
          </a:p>
          <a:p>
            <a:pPr marL="119062" indent="0">
              <a:buNone/>
              <a:defRPr/>
            </a:pPr>
            <a:endParaRPr lang="en-US" sz="1600" b="1" dirty="0">
              <a:latin typeface="Arial" charset="0"/>
              <a:cs typeface="Arial" charset="0"/>
            </a:endParaRPr>
          </a:p>
          <a:p>
            <a:pPr marL="119062" indent="0">
              <a:buNone/>
              <a:defRPr/>
            </a:pPr>
            <a:endParaRPr lang="en-US" sz="1600" b="1" dirty="0">
              <a:latin typeface="Arial" charset="0"/>
              <a:cs typeface="Arial" charset="0"/>
            </a:endParaRPr>
          </a:p>
          <a:p>
            <a:pPr marL="119062" indent="0">
              <a:buNone/>
              <a:defRPr/>
            </a:pPr>
            <a:r>
              <a:rPr lang="en-US" sz="1600" b="1" dirty="0">
                <a:latin typeface="Arial" charset="0"/>
                <a:cs typeface="Arial" charset="0"/>
              </a:rPr>
              <a:t>if (</a:t>
            </a:r>
            <a:r>
              <a:rPr lang="en-US" sz="1600" b="1" dirty="0" err="1">
                <a:latin typeface="Arial" charset="0"/>
                <a:cs typeface="Arial" charset="0"/>
              </a:rPr>
              <a:t>mysql_query</a:t>
            </a:r>
            <a:r>
              <a:rPr lang="en-US" sz="1600" b="1" dirty="0">
                <a:latin typeface="Arial" charset="0"/>
                <a:cs typeface="Arial" charset="0"/>
              </a:rPr>
              <a:t>("CREATE DATABASE </a:t>
            </a:r>
            <a:r>
              <a:rPr lang="en-US" sz="1600" b="1" dirty="0" smtClean="0">
                <a:latin typeface="Arial" charset="0"/>
                <a:cs typeface="Arial" charset="0"/>
              </a:rPr>
              <a:t>my_</a:t>
            </a:r>
            <a:r>
              <a:rPr lang="en-US" sz="1600" b="1" dirty="0" err="1" smtClean="0">
                <a:latin typeface="Arial" charset="0"/>
                <a:cs typeface="Arial" charset="0"/>
              </a:rPr>
              <a:t>db</a:t>
            </a:r>
            <a:r>
              <a:rPr lang="en-US" sz="1600" b="1" dirty="0" smtClean="0">
                <a:latin typeface="Arial" charset="0"/>
                <a:cs typeface="Arial" charset="0"/>
              </a:rPr>
              <a:t>",$</a:t>
            </a:r>
            <a:r>
              <a:rPr lang="en-US" sz="1600" b="1" dirty="0">
                <a:latin typeface="Arial" charset="0"/>
                <a:cs typeface="Arial" charset="0"/>
              </a:rPr>
              <a:t>con))</a:t>
            </a:r>
          </a:p>
          <a:p>
            <a:pPr marL="119062" indent="0">
              <a:buNone/>
              <a:defRPr/>
            </a:pPr>
            <a:r>
              <a:rPr lang="en-US" sz="1600" b="1" dirty="0">
                <a:latin typeface="Arial" charset="0"/>
                <a:cs typeface="Arial" charset="0"/>
              </a:rPr>
              <a:t>  {</a:t>
            </a:r>
          </a:p>
          <a:p>
            <a:pPr marL="119062" indent="0">
              <a:buNone/>
              <a:defRPr/>
            </a:pPr>
            <a:r>
              <a:rPr lang="en-US" sz="1600" b="1" dirty="0">
                <a:latin typeface="Arial" charset="0"/>
                <a:cs typeface="Arial" charset="0"/>
              </a:rPr>
              <a:t>  echo "Successfully Database created";</a:t>
            </a:r>
          </a:p>
          <a:p>
            <a:pPr marL="119062" indent="0">
              <a:buNone/>
              <a:defRPr/>
            </a:pPr>
            <a:r>
              <a:rPr lang="en-US" sz="1600" b="1" dirty="0">
                <a:latin typeface="Arial" charset="0"/>
                <a:cs typeface="Arial" charset="0"/>
              </a:rPr>
              <a:t>  }</a:t>
            </a:r>
          </a:p>
          <a:p>
            <a:pPr marL="119062" indent="0">
              <a:buNone/>
              <a:defRPr/>
            </a:pPr>
            <a:r>
              <a:rPr lang="en-US" sz="1600" b="1" dirty="0">
                <a:latin typeface="Arial" charset="0"/>
                <a:cs typeface="Arial" charset="0"/>
              </a:rPr>
              <a:t>else</a:t>
            </a:r>
          </a:p>
          <a:p>
            <a:pPr marL="119062" indent="0">
              <a:buNone/>
              <a:defRPr/>
            </a:pPr>
            <a:r>
              <a:rPr lang="en-US" sz="1600" b="1" dirty="0">
                <a:latin typeface="Arial" charset="0"/>
                <a:cs typeface="Arial" charset="0"/>
              </a:rPr>
              <a:t>  {</a:t>
            </a:r>
          </a:p>
          <a:p>
            <a:pPr marL="119062" indent="0">
              <a:buNone/>
              <a:defRPr/>
            </a:pPr>
            <a:r>
              <a:rPr lang="en-US" sz="1600" b="1" dirty="0">
                <a:latin typeface="Arial" charset="0"/>
                <a:cs typeface="Arial" charset="0"/>
              </a:rPr>
              <a:t>  echo "Error creating database: " . </a:t>
            </a:r>
            <a:r>
              <a:rPr lang="en-US" sz="1600" b="1" dirty="0" err="1">
                <a:latin typeface="Arial" charset="0"/>
                <a:cs typeface="Arial" charset="0"/>
              </a:rPr>
              <a:t>mysql_error</a:t>
            </a:r>
            <a:r>
              <a:rPr lang="en-US" sz="1600" b="1" dirty="0">
                <a:latin typeface="Arial" charset="0"/>
                <a:cs typeface="Arial" charset="0"/>
              </a:rPr>
              <a:t>();</a:t>
            </a:r>
          </a:p>
          <a:p>
            <a:pPr marL="119062" indent="0">
              <a:buNone/>
              <a:defRPr/>
            </a:pPr>
            <a:r>
              <a:rPr lang="en-US" sz="1600" b="1" dirty="0">
                <a:latin typeface="Arial" charset="0"/>
                <a:cs typeface="Arial" charset="0"/>
              </a:rPr>
              <a:t>  }</a:t>
            </a:r>
          </a:p>
          <a:p>
            <a:pPr marL="119062" indent="0">
              <a:buNone/>
              <a:defRPr/>
            </a:pPr>
            <a:endParaRPr lang="en-US" sz="1600" b="1" dirty="0">
              <a:latin typeface="Arial" charset="0"/>
              <a:cs typeface="Arial" charset="0"/>
            </a:endParaRPr>
          </a:p>
          <a:p>
            <a:pPr marL="119062" indent="0">
              <a:buNone/>
              <a:defRPr/>
            </a:pPr>
            <a:r>
              <a:rPr lang="en-US" sz="1600" b="1" dirty="0" err="1">
                <a:latin typeface="Arial" charset="0"/>
                <a:cs typeface="Arial" charset="0"/>
              </a:rPr>
              <a:t>mysql_close</a:t>
            </a:r>
            <a:r>
              <a:rPr lang="en-US" sz="1600" b="1" dirty="0">
                <a:latin typeface="Arial" charset="0"/>
                <a:cs typeface="Arial" charset="0"/>
              </a:rPr>
              <a:t>($con);</a:t>
            </a:r>
          </a:p>
          <a:p>
            <a:pPr marL="119062" indent="0">
              <a:buNone/>
              <a:defRPr/>
            </a:pPr>
            <a:r>
              <a:rPr lang="en-US" sz="1600" b="1" dirty="0">
                <a:latin typeface="Arial" charset="0"/>
                <a:cs typeface="Arial" charset="0"/>
              </a:rPr>
              <a:t>?&gt; </a:t>
            </a:r>
          </a:p>
          <a:p>
            <a:pPr marL="119062" indent="0">
              <a:buNone/>
              <a:defRPr/>
            </a:pPr>
            <a:r>
              <a:rPr lang="en-US" sz="1600" b="1" dirty="0">
                <a:latin typeface="Arial" charset="0"/>
                <a:cs typeface="Arial" charset="0"/>
              </a:rPr>
              <a:t> 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6773595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err="1" smtClean="0"/>
              <a:t>PHP+MySQL</a:t>
            </a:r>
            <a:r>
              <a:rPr lang="en-US" dirty="0" smtClean="0"/>
              <a:t> Create Table</a:t>
            </a:r>
            <a:endParaRPr lang="en-US" dirty="0"/>
          </a:p>
        </p:txBody>
      </p:sp>
      <p:sp>
        <p:nvSpPr>
          <p:cNvPr id="67587" name="Content Placeholder 2"/>
          <p:cNvSpPr>
            <a:spLocks noGrp="1"/>
          </p:cNvSpPr>
          <p:nvPr>
            <p:ph idx="1"/>
          </p:nvPr>
        </p:nvSpPr>
        <p:spPr>
          <a:xfrm>
            <a:off x="381000" y="1524000"/>
            <a:ext cx="8229600" cy="4625975"/>
          </a:xfrm>
        </p:spPr>
        <p:txBody>
          <a:bodyPr>
            <a:normAutofit lnSpcReduction="10000"/>
          </a:bodyPr>
          <a:lstStyle/>
          <a:p>
            <a:r>
              <a:rPr lang="en-US" b="1" smtClean="0"/>
              <a:t>Syntax</a:t>
            </a:r>
          </a:p>
          <a:p>
            <a:endParaRPr lang="en-US" b="1" smtClean="0"/>
          </a:p>
          <a:p>
            <a:endParaRPr lang="en-US" b="1" smtClean="0"/>
          </a:p>
          <a:p>
            <a:endParaRPr lang="en-US" b="1" smtClean="0"/>
          </a:p>
          <a:p>
            <a:pPr>
              <a:buFont typeface="Wingdings 2" pitchFamily="18" charset="2"/>
              <a:buNone/>
            </a:pPr>
            <a:endParaRPr lang="en-US" b="1" smtClean="0"/>
          </a:p>
          <a:p>
            <a:pPr>
              <a:buFont typeface="Wingdings 2" pitchFamily="18" charset="2"/>
              <a:buNone/>
            </a:pPr>
            <a:endParaRPr lang="en-US" b="1" smtClean="0"/>
          </a:p>
          <a:p>
            <a:pPr>
              <a:buFont typeface="Wingdings 2" pitchFamily="18" charset="2"/>
              <a:buNone/>
            </a:pPr>
            <a:endParaRPr lang="en-US" b="1" smtClean="0"/>
          </a:p>
          <a:p>
            <a:r>
              <a:rPr lang="en-US" b="1" smtClean="0"/>
              <a:t>PHP code for creating table</a:t>
            </a:r>
          </a:p>
        </p:txBody>
      </p:sp>
      <p:sp>
        <p:nvSpPr>
          <p:cNvPr id="4" name="Rectangle 3"/>
          <p:cNvSpPr/>
          <p:nvPr/>
        </p:nvSpPr>
        <p:spPr>
          <a:xfrm>
            <a:off x="1600200" y="2209800"/>
            <a:ext cx="7010400" cy="25908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r>
              <a:rPr lang="en-US" sz="2400" b="1" dirty="0"/>
              <a:t>CREATE TABLE </a:t>
            </a:r>
            <a:r>
              <a:rPr lang="en-US" sz="2400" b="1" dirty="0" err="1"/>
              <a:t>table_name</a:t>
            </a:r>
            <a:r>
              <a:rPr lang="en-US" sz="2400" b="1" i="1" dirty="0"/>
              <a:t/>
            </a:r>
            <a:br>
              <a:rPr lang="en-US" sz="2400" b="1" i="1" dirty="0"/>
            </a:br>
            <a:r>
              <a:rPr lang="en-US" sz="2400" b="1" dirty="0"/>
              <a:t>(</a:t>
            </a:r>
            <a:br>
              <a:rPr lang="en-US" sz="2400" b="1" dirty="0"/>
            </a:br>
            <a:r>
              <a:rPr lang="en-US" sz="2400" b="1" dirty="0"/>
              <a:t>	column_name1 </a:t>
            </a:r>
            <a:r>
              <a:rPr lang="en-US" sz="2400" b="1" dirty="0" err="1"/>
              <a:t>data_type</a:t>
            </a:r>
            <a:r>
              <a:rPr lang="en-US" sz="2400" b="1" dirty="0"/>
              <a:t>,</a:t>
            </a:r>
            <a:r>
              <a:rPr lang="en-US" sz="2400" b="1" i="1" dirty="0"/>
              <a:t/>
            </a:r>
            <a:br>
              <a:rPr lang="en-US" sz="2400" b="1" i="1" dirty="0"/>
            </a:br>
            <a:r>
              <a:rPr lang="en-US" sz="2400" b="1" i="1" dirty="0"/>
              <a:t>	</a:t>
            </a:r>
            <a:r>
              <a:rPr lang="en-US" sz="2400" b="1" dirty="0"/>
              <a:t>column_name2 </a:t>
            </a:r>
            <a:r>
              <a:rPr lang="en-US" sz="2400" b="1" dirty="0" err="1"/>
              <a:t>data_type</a:t>
            </a:r>
            <a:r>
              <a:rPr lang="en-US" sz="2400" b="1" dirty="0"/>
              <a:t>,</a:t>
            </a:r>
            <a:r>
              <a:rPr lang="en-US" sz="2400" b="1" i="1" dirty="0"/>
              <a:t/>
            </a:r>
            <a:br>
              <a:rPr lang="en-US" sz="2400" b="1" i="1" dirty="0"/>
            </a:br>
            <a:r>
              <a:rPr lang="en-US" sz="2400" b="1" i="1" dirty="0"/>
              <a:t>	</a:t>
            </a:r>
            <a:r>
              <a:rPr lang="en-US" sz="2400" b="1" dirty="0"/>
              <a:t>column_name3 </a:t>
            </a:r>
            <a:r>
              <a:rPr lang="en-US" sz="2400" b="1" dirty="0" err="1"/>
              <a:t>data_type</a:t>
            </a:r>
            <a:r>
              <a:rPr lang="en-US" sz="2400" b="1" dirty="0"/>
              <a:t>,</a:t>
            </a:r>
            <a:r>
              <a:rPr lang="en-US" sz="2400" b="1" i="1" dirty="0"/>
              <a:t/>
            </a:r>
            <a:br>
              <a:rPr lang="en-US" sz="2400" b="1" i="1" dirty="0"/>
            </a:br>
            <a:r>
              <a:rPr lang="en-US" sz="2400" b="1" i="1" dirty="0"/>
              <a:t>	....</a:t>
            </a:r>
            <a:r>
              <a:rPr lang="en-US" sz="2400" b="1" dirty="0"/>
              <a:t/>
            </a:r>
            <a:br>
              <a:rPr lang="en-US" sz="2400" b="1" dirty="0"/>
            </a:br>
            <a:r>
              <a:rPr lang="en-US" sz="2400" b="1" dirty="0"/>
              <a:t>)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PHP+MySQL</a:t>
            </a:r>
            <a:r>
              <a:rPr lang="en-US" dirty="0"/>
              <a:t> Create Table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447800"/>
            <a:ext cx="9146628" cy="5257800"/>
          </a:xfrm>
        </p:spPr>
        <p:txBody>
          <a:bodyPr>
            <a:normAutofit fontScale="92500" lnSpcReduction="20000"/>
          </a:bodyPr>
          <a:lstStyle/>
          <a:p>
            <a:pPr marL="119062" indent="0">
              <a:buNone/>
              <a:defRPr/>
            </a:pPr>
            <a:r>
              <a:rPr lang="en-US" sz="2000" b="1" dirty="0">
                <a:latin typeface="Arial" charset="0"/>
                <a:cs typeface="Arial" charset="0"/>
              </a:rPr>
              <a:t>&lt;?</a:t>
            </a:r>
            <a:r>
              <a:rPr lang="en-US" sz="2000" b="1" dirty="0" err="1">
                <a:latin typeface="Arial" charset="0"/>
                <a:cs typeface="Arial" charset="0"/>
              </a:rPr>
              <a:t>php</a:t>
            </a:r>
            <a:endParaRPr lang="en-US" sz="2000" b="1" dirty="0">
              <a:latin typeface="Arial" charset="0"/>
              <a:cs typeface="Arial" charset="0"/>
            </a:endParaRPr>
          </a:p>
          <a:p>
            <a:pPr marL="119062" indent="0">
              <a:buNone/>
              <a:defRPr/>
            </a:pPr>
            <a:r>
              <a:rPr lang="en-US" sz="2000" b="1" dirty="0">
                <a:latin typeface="Arial" charset="0"/>
                <a:cs typeface="Arial" charset="0"/>
              </a:rPr>
              <a:t>	$con = </a:t>
            </a:r>
            <a:r>
              <a:rPr lang="en-US" sz="2000" b="1" dirty="0" err="1">
                <a:latin typeface="Arial" charset="0"/>
                <a:cs typeface="Arial" charset="0"/>
              </a:rPr>
              <a:t>mysql_connect</a:t>
            </a:r>
            <a:r>
              <a:rPr lang="en-US" sz="2000" b="1" dirty="0">
                <a:latin typeface="Arial" charset="0"/>
                <a:cs typeface="Arial" charset="0"/>
              </a:rPr>
              <a:t>("</a:t>
            </a:r>
            <a:r>
              <a:rPr lang="en-US" sz="2000" b="1" dirty="0" err="1">
                <a:latin typeface="Arial" charset="0"/>
                <a:cs typeface="Arial" charset="0"/>
              </a:rPr>
              <a:t>localhost</a:t>
            </a:r>
            <a:r>
              <a:rPr lang="en-US" sz="2000" b="1" dirty="0">
                <a:latin typeface="Arial" charset="0"/>
                <a:cs typeface="Arial" charset="0"/>
              </a:rPr>
              <a:t>","root","");   </a:t>
            </a:r>
            <a:r>
              <a:rPr lang="en-US" sz="2000" b="1" dirty="0" smtClean="0">
                <a:latin typeface="Arial" charset="0"/>
                <a:cs typeface="Arial" charset="0"/>
              </a:rPr>
              <a:t>//</a:t>
            </a:r>
            <a:r>
              <a:rPr lang="en-US" sz="2000" b="1" dirty="0">
                <a:latin typeface="Arial" charset="0"/>
                <a:cs typeface="Arial" charset="0"/>
              </a:rPr>
              <a:t>Connect to the database.</a:t>
            </a:r>
          </a:p>
          <a:p>
            <a:pPr marL="119062" indent="0">
              <a:buNone/>
              <a:defRPr/>
            </a:pPr>
            <a:r>
              <a:rPr lang="en-US" sz="2000" b="1" dirty="0">
                <a:latin typeface="Arial" charset="0"/>
                <a:cs typeface="Arial" charset="0"/>
              </a:rPr>
              <a:t>  	if (!$con)</a:t>
            </a:r>
          </a:p>
          <a:p>
            <a:pPr marL="119062" indent="0">
              <a:buNone/>
              <a:defRPr/>
            </a:pPr>
            <a:r>
              <a:rPr lang="en-US" sz="2000" b="1" dirty="0">
                <a:latin typeface="Arial" charset="0"/>
                <a:cs typeface="Arial" charset="0"/>
              </a:rPr>
              <a:t>  {</a:t>
            </a:r>
          </a:p>
          <a:p>
            <a:pPr marL="119062" indent="0">
              <a:buNone/>
              <a:defRPr/>
            </a:pPr>
            <a:r>
              <a:rPr lang="en-US" sz="2000" b="1" dirty="0">
                <a:latin typeface="Arial" charset="0"/>
                <a:cs typeface="Arial" charset="0"/>
              </a:rPr>
              <a:t>  die('Could not connect: ' . </a:t>
            </a:r>
            <a:r>
              <a:rPr lang="en-US" sz="2000" b="1" dirty="0" err="1">
                <a:latin typeface="Arial" charset="0"/>
                <a:cs typeface="Arial" charset="0"/>
              </a:rPr>
              <a:t>mysql_error</a:t>
            </a:r>
            <a:r>
              <a:rPr lang="en-US" sz="2000" b="1" dirty="0">
                <a:latin typeface="Arial" charset="0"/>
                <a:cs typeface="Arial" charset="0"/>
              </a:rPr>
              <a:t>());</a:t>
            </a:r>
          </a:p>
          <a:p>
            <a:pPr marL="119062" indent="0">
              <a:buNone/>
              <a:defRPr/>
            </a:pPr>
            <a:r>
              <a:rPr lang="en-US" sz="2000" b="1" dirty="0">
                <a:latin typeface="Arial" charset="0"/>
                <a:cs typeface="Arial" charset="0"/>
              </a:rPr>
              <a:t>  }</a:t>
            </a:r>
          </a:p>
          <a:p>
            <a:pPr marL="119062" indent="0">
              <a:buNone/>
              <a:defRPr/>
            </a:pPr>
            <a:r>
              <a:rPr lang="en-US" sz="2000" b="1" dirty="0">
                <a:latin typeface="Arial" charset="0"/>
                <a:cs typeface="Arial" charset="0"/>
              </a:rPr>
              <a:t>	</a:t>
            </a:r>
          </a:p>
          <a:p>
            <a:pPr marL="119062" indent="0">
              <a:buNone/>
              <a:defRPr/>
            </a:pPr>
            <a:endParaRPr lang="en-US" sz="2000" b="1" dirty="0">
              <a:latin typeface="Arial" charset="0"/>
              <a:cs typeface="Arial" charset="0"/>
            </a:endParaRPr>
          </a:p>
          <a:p>
            <a:pPr marL="119062" indent="0">
              <a:buNone/>
              <a:defRPr/>
            </a:pPr>
            <a:r>
              <a:rPr lang="en-US" sz="2000" b="1" dirty="0">
                <a:latin typeface="Arial" charset="0"/>
                <a:cs typeface="Arial" charset="0"/>
              </a:rPr>
              <a:t>//Select the database.</a:t>
            </a:r>
          </a:p>
          <a:p>
            <a:pPr marL="119062" indent="0">
              <a:buNone/>
              <a:defRPr/>
            </a:pPr>
            <a:r>
              <a:rPr lang="en-US" sz="2000" b="1" dirty="0">
                <a:latin typeface="Arial" charset="0"/>
                <a:cs typeface="Arial" charset="0"/>
              </a:rPr>
              <a:t>	</a:t>
            </a:r>
            <a:r>
              <a:rPr lang="en-US" sz="2000" b="1" dirty="0" err="1">
                <a:latin typeface="Arial" charset="0"/>
                <a:cs typeface="Arial" charset="0"/>
              </a:rPr>
              <a:t>mysql_select_db</a:t>
            </a:r>
            <a:r>
              <a:rPr lang="en-US" sz="2000" b="1" dirty="0">
                <a:latin typeface="Arial" charset="0"/>
                <a:cs typeface="Arial" charset="0"/>
              </a:rPr>
              <a:t>("</a:t>
            </a:r>
            <a:r>
              <a:rPr lang="en-US" sz="2000" b="1" dirty="0" err="1">
                <a:latin typeface="Arial" charset="0"/>
                <a:cs typeface="Arial" charset="0"/>
              </a:rPr>
              <a:t>my_db</a:t>
            </a:r>
            <a:r>
              <a:rPr lang="en-US" sz="2000" b="1" dirty="0">
                <a:latin typeface="Arial" charset="0"/>
                <a:cs typeface="Arial" charset="0"/>
              </a:rPr>
              <a:t>", $con</a:t>
            </a:r>
            <a:r>
              <a:rPr lang="en-US" sz="2000" b="1" dirty="0" smtClean="0">
                <a:latin typeface="Arial" charset="0"/>
                <a:cs typeface="Arial" charset="0"/>
              </a:rPr>
              <a:t>);</a:t>
            </a:r>
          </a:p>
          <a:p>
            <a:pPr marL="119062" indent="0">
              <a:buNone/>
              <a:defRPr/>
            </a:pPr>
            <a:r>
              <a:rPr lang="en-US" sz="2000" b="1" dirty="0" smtClean="0">
                <a:latin typeface="Arial" charset="0"/>
                <a:cs typeface="Arial" charset="0"/>
              </a:rPr>
              <a:t>// </a:t>
            </a:r>
            <a:r>
              <a:rPr lang="en-US" sz="2000" b="1" dirty="0">
                <a:latin typeface="Arial" charset="0"/>
                <a:cs typeface="Arial" charset="0"/>
              </a:rPr>
              <a:t>Create table</a:t>
            </a:r>
          </a:p>
          <a:p>
            <a:pPr marL="119062" indent="0">
              <a:buNone/>
              <a:defRPr/>
            </a:pPr>
            <a:r>
              <a:rPr lang="en-US" sz="2000" b="1" dirty="0">
                <a:latin typeface="Arial" charset="0"/>
                <a:cs typeface="Arial" charset="0"/>
              </a:rPr>
              <a:t>	$</a:t>
            </a:r>
            <a:r>
              <a:rPr lang="en-US" sz="2000" b="1" dirty="0" err="1">
                <a:latin typeface="Arial" charset="0"/>
                <a:cs typeface="Arial" charset="0"/>
              </a:rPr>
              <a:t>sql</a:t>
            </a:r>
            <a:r>
              <a:rPr lang="en-US" sz="2000" b="1" dirty="0">
                <a:latin typeface="Arial" charset="0"/>
                <a:cs typeface="Arial" charset="0"/>
              </a:rPr>
              <a:t> = "CREATE TABLE Persons (</a:t>
            </a:r>
            <a:r>
              <a:rPr lang="en-US" sz="2000" b="1" dirty="0" err="1">
                <a:latin typeface="Arial" charset="0"/>
                <a:cs typeface="Arial" charset="0"/>
              </a:rPr>
              <a:t>FirstName</a:t>
            </a:r>
            <a:r>
              <a:rPr lang="en-US" sz="2000" b="1" dirty="0">
                <a:latin typeface="Arial" charset="0"/>
                <a:cs typeface="Arial" charset="0"/>
              </a:rPr>
              <a:t> </a:t>
            </a:r>
            <a:r>
              <a:rPr lang="en-US" sz="2000" b="1" dirty="0" err="1">
                <a:latin typeface="Arial" charset="0"/>
                <a:cs typeface="Arial" charset="0"/>
              </a:rPr>
              <a:t>varchar</a:t>
            </a:r>
            <a:r>
              <a:rPr lang="en-US" sz="2000" b="1" dirty="0">
                <a:latin typeface="Arial" charset="0"/>
                <a:cs typeface="Arial" charset="0"/>
              </a:rPr>
              <a:t>(15),</a:t>
            </a:r>
            <a:r>
              <a:rPr lang="en-US" sz="2000" b="1" dirty="0" err="1">
                <a:latin typeface="Arial" charset="0"/>
                <a:cs typeface="Arial" charset="0"/>
              </a:rPr>
              <a:t>LastName</a:t>
            </a:r>
            <a:r>
              <a:rPr lang="en-US" sz="2000" b="1" dirty="0">
                <a:latin typeface="Arial" charset="0"/>
                <a:cs typeface="Arial" charset="0"/>
              </a:rPr>
              <a:t> </a:t>
            </a:r>
            <a:r>
              <a:rPr lang="en-US" sz="2000" b="1" dirty="0" err="1">
                <a:latin typeface="Arial" charset="0"/>
                <a:cs typeface="Arial" charset="0"/>
              </a:rPr>
              <a:t>varchar</a:t>
            </a:r>
            <a:r>
              <a:rPr lang="en-US" sz="2000" b="1" dirty="0">
                <a:latin typeface="Arial" charset="0"/>
                <a:cs typeface="Arial" charset="0"/>
              </a:rPr>
              <a:t>(15),Age </a:t>
            </a:r>
            <a:r>
              <a:rPr lang="en-US" sz="2000" b="1" dirty="0" err="1">
                <a:latin typeface="Arial" charset="0"/>
                <a:cs typeface="Arial" charset="0"/>
              </a:rPr>
              <a:t>int</a:t>
            </a:r>
            <a:r>
              <a:rPr lang="en-US" sz="2000" b="1" dirty="0">
                <a:latin typeface="Arial" charset="0"/>
                <a:cs typeface="Arial" charset="0"/>
              </a:rPr>
              <a:t>)";	// Execute query</a:t>
            </a:r>
          </a:p>
          <a:p>
            <a:pPr marL="119062" indent="0">
              <a:buNone/>
              <a:defRPr/>
            </a:pPr>
            <a:r>
              <a:rPr lang="en-US" sz="2000" b="1" dirty="0">
                <a:latin typeface="Arial" charset="0"/>
                <a:cs typeface="Arial" charset="0"/>
              </a:rPr>
              <a:t>	</a:t>
            </a:r>
            <a:r>
              <a:rPr lang="en-US" sz="2000" b="1" dirty="0" err="1">
                <a:latin typeface="Arial" charset="0"/>
                <a:cs typeface="Arial" charset="0"/>
              </a:rPr>
              <a:t>mysql_query</a:t>
            </a:r>
            <a:r>
              <a:rPr lang="en-US" sz="2000" b="1" dirty="0">
                <a:latin typeface="Arial" charset="0"/>
                <a:cs typeface="Arial" charset="0"/>
              </a:rPr>
              <a:t>($</a:t>
            </a:r>
            <a:r>
              <a:rPr lang="en-US" sz="2000" b="1" dirty="0" err="1">
                <a:latin typeface="Arial" charset="0"/>
                <a:cs typeface="Arial" charset="0"/>
              </a:rPr>
              <a:t>sql</a:t>
            </a:r>
            <a:r>
              <a:rPr lang="en-US" sz="2000" b="1" dirty="0">
                <a:latin typeface="Arial" charset="0"/>
                <a:cs typeface="Arial" charset="0"/>
              </a:rPr>
              <a:t>,$con);	//Close database connection.</a:t>
            </a:r>
          </a:p>
          <a:p>
            <a:pPr marL="119062" indent="0">
              <a:buNone/>
              <a:defRPr/>
            </a:pPr>
            <a:r>
              <a:rPr lang="en-US" sz="2000" b="1" dirty="0">
                <a:latin typeface="Arial" charset="0"/>
                <a:cs typeface="Arial" charset="0"/>
              </a:rPr>
              <a:t>	</a:t>
            </a:r>
            <a:r>
              <a:rPr lang="en-US" sz="2000" b="1" dirty="0" err="1">
                <a:latin typeface="Arial" charset="0"/>
                <a:cs typeface="Arial" charset="0"/>
              </a:rPr>
              <a:t>mysql_close</a:t>
            </a:r>
            <a:r>
              <a:rPr lang="en-US" sz="2000" b="1" dirty="0">
                <a:latin typeface="Arial" charset="0"/>
                <a:cs typeface="Arial" charset="0"/>
              </a:rPr>
              <a:t>($con); </a:t>
            </a:r>
          </a:p>
          <a:p>
            <a:pPr marL="119062" indent="0">
              <a:buNone/>
              <a:defRPr/>
            </a:pPr>
            <a:r>
              <a:rPr lang="en-US" sz="2000" b="1" dirty="0">
                <a:latin typeface="Arial" charset="0"/>
                <a:cs typeface="Arial" charset="0"/>
              </a:rPr>
              <a:t>?&gt;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38392898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 wrap="square" tIns="45720" bIns="45720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en-US" dirty="0" smtClean="0"/>
              <a:t>Create Table Continue…</a:t>
            </a:r>
          </a:p>
        </p:txBody>
      </p:sp>
      <p:sp>
        <p:nvSpPr>
          <p:cNvPr id="6861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smtClean="0"/>
              <a:t>Note:</a:t>
            </a:r>
            <a:r>
              <a:rPr lang="en-US" smtClean="0"/>
              <a:t> Before create table you must select the appropriate database. </a:t>
            </a:r>
          </a:p>
          <a:p>
            <a:r>
              <a:rPr lang="en-US" smtClean="0"/>
              <a:t>PHP function for selecting database:</a:t>
            </a:r>
            <a:br>
              <a:rPr lang="en-US" smtClean="0"/>
            </a:br>
            <a:r>
              <a:rPr lang="en-US" b="1" smtClean="0"/>
              <a:t>mysql_select_db(“database_name”,</a:t>
            </a:r>
            <a:br>
              <a:rPr lang="en-US" b="1" smtClean="0"/>
            </a:br>
            <a:r>
              <a:rPr lang="en-US" b="1" smtClean="0"/>
              <a:t>$connection_string);</a:t>
            </a:r>
          </a:p>
          <a:p>
            <a:r>
              <a:rPr lang="en-US" smtClean="0"/>
              <a:t>Add Primary Key and Auto increment field to table.</a:t>
            </a:r>
          </a:p>
          <a:p>
            <a:endParaRPr 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Table Continue…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524000"/>
            <a:ext cx="9144000" cy="5333999"/>
          </a:xfrm>
        </p:spPr>
        <p:txBody>
          <a:bodyPr>
            <a:normAutofit lnSpcReduction="10000"/>
          </a:bodyPr>
          <a:lstStyle/>
          <a:p>
            <a:pPr marL="119062" indent="0">
              <a:buNone/>
              <a:defRPr/>
            </a:pPr>
            <a:r>
              <a:rPr lang="en-US" sz="2000" b="1" dirty="0">
                <a:latin typeface="Arial" charset="0"/>
                <a:cs typeface="Arial" charset="0"/>
              </a:rPr>
              <a:t>&lt;?</a:t>
            </a:r>
            <a:r>
              <a:rPr lang="en-US" sz="2000" b="1" dirty="0" err="1">
                <a:latin typeface="Arial" charset="0"/>
                <a:cs typeface="Arial" charset="0"/>
              </a:rPr>
              <a:t>php</a:t>
            </a:r>
            <a:endParaRPr lang="en-US" sz="2000" b="1" dirty="0">
              <a:latin typeface="Arial" charset="0"/>
              <a:cs typeface="Arial" charset="0"/>
            </a:endParaRPr>
          </a:p>
          <a:p>
            <a:pPr marL="119062" indent="0">
              <a:buNone/>
              <a:defRPr/>
            </a:pPr>
            <a:r>
              <a:rPr lang="en-US" sz="2000" b="1" dirty="0">
                <a:latin typeface="Arial" charset="0"/>
                <a:cs typeface="Arial" charset="0"/>
              </a:rPr>
              <a:t>	$con = </a:t>
            </a:r>
            <a:r>
              <a:rPr lang="en-US" sz="2000" b="1" dirty="0" err="1">
                <a:latin typeface="Arial" charset="0"/>
                <a:cs typeface="Arial" charset="0"/>
              </a:rPr>
              <a:t>mysql_connect</a:t>
            </a:r>
            <a:r>
              <a:rPr lang="en-US" sz="2000" b="1" dirty="0">
                <a:latin typeface="Arial" charset="0"/>
                <a:cs typeface="Arial" charset="0"/>
              </a:rPr>
              <a:t>("</a:t>
            </a:r>
            <a:r>
              <a:rPr lang="en-US" sz="2000" b="1" dirty="0" err="1">
                <a:latin typeface="Arial" charset="0"/>
                <a:cs typeface="Arial" charset="0"/>
              </a:rPr>
              <a:t>localhost</a:t>
            </a:r>
            <a:r>
              <a:rPr lang="en-US" sz="2000" b="1" dirty="0">
                <a:latin typeface="Arial" charset="0"/>
                <a:cs typeface="Arial" charset="0"/>
              </a:rPr>
              <a:t>","root","");</a:t>
            </a:r>
          </a:p>
          <a:p>
            <a:pPr marL="119062" indent="0">
              <a:buNone/>
              <a:defRPr/>
            </a:pPr>
            <a:r>
              <a:rPr lang="en-US" sz="2000" b="1" dirty="0">
                <a:latin typeface="Arial" charset="0"/>
                <a:cs typeface="Arial" charset="0"/>
              </a:rPr>
              <a:t>		//Select the database.</a:t>
            </a:r>
          </a:p>
          <a:p>
            <a:pPr marL="119062" indent="0">
              <a:buNone/>
              <a:defRPr/>
            </a:pPr>
            <a:r>
              <a:rPr lang="en-US" sz="2000" b="1" dirty="0">
                <a:latin typeface="Arial" charset="0"/>
                <a:cs typeface="Arial" charset="0"/>
              </a:rPr>
              <a:t>if (!$con)</a:t>
            </a:r>
          </a:p>
          <a:p>
            <a:pPr marL="119062" indent="0">
              <a:buNone/>
              <a:defRPr/>
            </a:pPr>
            <a:r>
              <a:rPr lang="en-US" sz="2000" b="1" dirty="0">
                <a:latin typeface="Arial" charset="0"/>
                <a:cs typeface="Arial" charset="0"/>
              </a:rPr>
              <a:t>  {</a:t>
            </a:r>
          </a:p>
          <a:p>
            <a:pPr marL="119062" indent="0">
              <a:buNone/>
              <a:defRPr/>
            </a:pPr>
            <a:r>
              <a:rPr lang="en-US" sz="2000" b="1" dirty="0">
                <a:latin typeface="Arial" charset="0"/>
                <a:cs typeface="Arial" charset="0"/>
              </a:rPr>
              <a:t>  die('Could not connect: ' . </a:t>
            </a:r>
            <a:r>
              <a:rPr lang="en-US" sz="2000" b="1" dirty="0" err="1">
                <a:latin typeface="Arial" charset="0"/>
                <a:cs typeface="Arial" charset="0"/>
              </a:rPr>
              <a:t>mysql_error</a:t>
            </a:r>
            <a:r>
              <a:rPr lang="en-US" sz="2000" b="1" dirty="0">
                <a:latin typeface="Arial" charset="0"/>
                <a:cs typeface="Arial" charset="0"/>
              </a:rPr>
              <a:t>());</a:t>
            </a:r>
          </a:p>
          <a:p>
            <a:pPr marL="119062" indent="0">
              <a:buNone/>
              <a:defRPr/>
            </a:pPr>
            <a:r>
              <a:rPr lang="en-US" sz="2000" b="1" dirty="0">
                <a:latin typeface="Arial" charset="0"/>
                <a:cs typeface="Arial" charset="0"/>
              </a:rPr>
              <a:t>  }</a:t>
            </a:r>
          </a:p>
          <a:p>
            <a:pPr marL="119062" indent="0">
              <a:buNone/>
              <a:defRPr/>
            </a:pPr>
            <a:endParaRPr lang="en-US" sz="2000" b="1" dirty="0">
              <a:latin typeface="Arial" charset="0"/>
              <a:cs typeface="Arial" charset="0"/>
            </a:endParaRPr>
          </a:p>
          <a:p>
            <a:pPr marL="119062" indent="0">
              <a:buNone/>
              <a:defRPr/>
            </a:pPr>
            <a:r>
              <a:rPr lang="en-US" sz="2000" b="1" dirty="0">
                <a:latin typeface="Arial" charset="0"/>
                <a:cs typeface="Arial" charset="0"/>
              </a:rPr>
              <a:t>	</a:t>
            </a:r>
            <a:r>
              <a:rPr lang="en-US" sz="2000" b="1" dirty="0" err="1">
                <a:latin typeface="Arial" charset="0"/>
                <a:cs typeface="Arial" charset="0"/>
              </a:rPr>
              <a:t>mysql_select_db</a:t>
            </a:r>
            <a:r>
              <a:rPr lang="en-US" sz="2000" b="1" dirty="0">
                <a:latin typeface="Arial" charset="0"/>
                <a:cs typeface="Arial" charset="0"/>
              </a:rPr>
              <a:t>("</a:t>
            </a:r>
            <a:r>
              <a:rPr lang="en-US" sz="2000" b="1" dirty="0" err="1">
                <a:latin typeface="Arial" charset="0"/>
                <a:cs typeface="Arial" charset="0"/>
              </a:rPr>
              <a:t>my_db</a:t>
            </a:r>
            <a:r>
              <a:rPr lang="en-US" sz="2000" b="1" dirty="0">
                <a:latin typeface="Arial" charset="0"/>
                <a:cs typeface="Arial" charset="0"/>
              </a:rPr>
              <a:t>", $con);// Create table</a:t>
            </a:r>
          </a:p>
          <a:p>
            <a:pPr marL="119062" indent="0">
              <a:buNone/>
              <a:defRPr/>
            </a:pPr>
            <a:r>
              <a:rPr lang="en-US" sz="2000" b="1" dirty="0">
                <a:latin typeface="Arial" charset="0"/>
                <a:cs typeface="Arial" charset="0"/>
              </a:rPr>
              <a:t>	$</a:t>
            </a:r>
            <a:r>
              <a:rPr lang="en-US" sz="2000" b="1" dirty="0" err="1">
                <a:latin typeface="Arial" charset="0"/>
                <a:cs typeface="Arial" charset="0"/>
              </a:rPr>
              <a:t>sql</a:t>
            </a:r>
            <a:r>
              <a:rPr lang="en-US" sz="2000" b="1" dirty="0">
                <a:latin typeface="Arial" charset="0"/>
                <a:cs typeface="Arial" charset="0"/>
              </a:rPr>
              <a:t> = "CREATE TABLE Persons(</a:t>
            </a:r>
            <a:r>
              <a:rPr lang="en-US" sz="2000" b="1" dirty="0" err="1">
                <a:latin typeface="Arial" charset="0"/>
                <a:cs typeface="Arial" charset="0"/>
              </a:rPr>
              <a:t>personID</a:t>
            </a:r>
            <a:r>
              <a:rPr lang="en-US" sz="2000" b="1" dirty="0">
                <a:latin typeface="Arial" charset="0"/>
                <a:cs typeface="Arial" charset="0"/>
              </a:rPr>
              <a:t> </a:t>
            </a:r>
            <a:r>
              <a:rPr lang="en-US" sz="2000" b="1" dirty="0" err="1">
                <a:latin typeface="Arial" charset="0"/>
                <a:cs typeface="Arial" charset="0"/>
              </a:rPr>
              <a:t>int</a:t>
            </a:r>
            <a:r>
              <a:rPr lang="en-US" sz="2000" b="1" dirty="0">
                <a:latin typeface="Arial" charset="0"/>
                <a:cs typeface="Arial" charset="0"/>
              </a:rPr>
              <a:t> NOT NULL AUTO_INCREMENT,PRIMARY KEY(</a:t>
            </a:r>
            <a:r>
              <a:rPr lang="en-US" sz="2000" b="1" dirty="0" err="1">
                <a:latin typeface="Arial" charset="0"/>
                <a:cs typeface="Arial" charset="0"/>
              </a:rPr>
              <a:t>personID</a:t>
            </a:r>
            <a:r>
              <a:rPr lang="en-US" sz="2000" b="1" dirty="0">
                <a:latin typeface="Arial" charset="0"/>
                <a:cs typeface="Arial" charset="0"/>
              </a:rPr>
              <a:t>),</a:t>
            </a:r>
            <a:r>
              <a:rPr lang="en-US" sz="2000" b="1" dirty="0" err="1">
                <a:latin typeface="Arial" charset="0"/>
                <a:cs typeface="Arial" charset="0"/>
              </a:rPr>
              <a:t>FirstName</a:t>
            </a:r>
            <a:r>
              <a:rPr lang="en-US" sz="2000" b="1" dirty="0">
                <a:latin typeface="Arial" charset="0"/>
                <a:cs typeface="Arial" charset="0"/>
              </a:rPr>
              <a:t> </a:t>
            </a:r>
            <a:r>
              <a:rPr lang="en-US" sz="2000" b="1" dirty="0" err="1">
                <a:latin typeface="Arial" charset="0"/>
                <a:cs typeface="Arial" charset="0"/>
              </a:rPr>
              <a:t>varchar</a:t>
            </a:r>
            <a:r>
              <a:rPr lang="en-US" sz="2000" b="1" dirty="0">
                <a:latin typeface="Arial" charset="0"/>
                <a:cs typeface="Arial" charset="0"/>
              </a:rPr>
              <a:t>(15),</a:t>
            </a:r>
            <a:r>
              <a:rPr lang="en-US" sz="2000" b="1" dirty="0" err="1">
                <a:latin typeface="Arial" charset="0"/>
                <a:cs typeface="Arial" charset="0"/>
              </a:rPr>
              <a:t>LastName</a:t>
            </a:r>
            <a:r>
              <a:rPr lang="en-US" sz="2000" b="1" dirty="0">
                <a:latin typeface="Arial" charset="0"/>
                <a:cs typeface="Arial" charset="0"/>
              </a:rPr>
              <a:t> </a:t>
            </a:r>
            <a:r>
              <a:rPr lang="en-US" sz="2000" b="1" dirty="0" err="1">
                <a:latin typeface="Arial" charset="0"/>
                <a:cs typeface="Arial" charset="0"/>
              </a:rPr>
              <a:t>varchar</a:t>
            </a:r>
            <a:r>
              <a:rPr lang="en-US" sz="2000" b="1" dirty="0">
                <a:latin typeface="Arial" charset="0"/>
                <a:cs typeface="Arial" charset="0"/>
              </a:rPr>
              <a:t>(15),Age </a:t>
            </a:r>
            <a:r>
              <a:rPr lang="en-US" sz="2000" b="1" dirty="0" err="1">
                <a:latin typeface="Arial" charset="0"/>
                <a:cs typeface="Arial" charset="0"/>
              </a:rPr>
              <a:t>int</a:t>
            </a:r>
            <a:r>
              <a:rPr lang="en-US" sz="2000" b="1" dirty="0">
                <a:latin typeface="Arial" charset="0"/>
                <a:cs typeface="Arial" charset="0"/>
              </a:rPr>
              <a:t> )";	// Execute query</a:t>
            </a:r>
          </a:p>
          <a:p>
            <a:pPr marL="119062" indent="0">
              <a:buNone/>
              <a:defRPr/>
            </a:pPr>
            <a:r>
              <a:rPr lang="en-US" sz="2000" b="1" dirty="0">
                <a:latin typeface="Arial" charset="0"/>
                <a:cs typeface="Arial" charset="0"/>
              </a:rPr>
              <a:t>	</a:t>
            </a:r>
            <a:r>
              <a:rPr lang="en-US" sz="2000" b="1" dirty="0" err="1">
                <a:latin typeface="Arial" charset="0"/>
                <a:cs typeface="Arial" charset="0"/>
              </a:rPr>
              <a:t>mysql_query</a:t>
            </a:r>
            <a:r>
              <a:rPr lang="en-US" sz="2000" b="1" dirty="0">
                <a:latin typeface="Arial" charset="0"/>
                <a:cs typeface="Arial" charset="0"/>
              </a:rPr>
              <a:t>($</a:t>
            </a:r>
            <a:r>
              <a:rPr lang="en-US" sz="2000" b="1" dirty="0" err="1">
                <a:latin typeface="Arial" charset="0"/>
                <a:cs typeface="Arial" charset="0"/>
              </a:rPr>
              <a:t>sql</a:t>
            </a:r>
            <a:r>
              <a:rPr lang="en-US" sz="2000" b="1" dirty="0">
                <a:latin typeface="Arial" charset="0"/>
                <a:cs typeface="Arial" charset="0"/>
              </a:rPr>
              <a:t>,$con);//Close database connection.</a:t>
            </a:r>
          </a:p>
          <a:p>
            <a:pPr marL="119062" indent="0">
              <a:buNone/>
              <a:defRPr/>
            </a:pPr>
            <a:r>
              <a:rPr lang="en-US" sz="2000" b="1" dirty="0">
                <a:latin typeface="Arial" charset="0"/>
                <a:cs typeface="Arial" charset="0"/>
              </a:rPr>
              <a:t>	</a:t>
            </a:r>
            <a:r>
              <a:rPr lang="en-US" sz="2000" b="1" dirty="0" err="1">
                <a:latin typeface="Arial" charset="0"/>
                <a:cs typeface="Arial" charset="0"/>
              </a:rPr>
              <a:t>mysql_close</a:t>
            </a:r>
            <a:r>
              <a:rPr lang="en-US" sz="2000" b="1" dirty="0">
                <a:latin typeface="Arial" charset="0"/>
                <a:cs typeface="Arial" charset="0"/>
              </a:rPr>
              <a:t>($con); </a:t>
            </a:r>
          </a:p>
          <a:p>
            <a:pPr marL="119062" indent="0">
              <a:buNone/>
              <a:defRPr/>
            </a:pPr>
            <a:r>
              <a:rPr lang="en-US" sz="2000" b="1" dirty="0">
                <a:latin typeface="Arial" charset="0"/>
                <a:cs typeface="Arial" charset="0"/>
              </a:rPr>
              <a:t>?&gt; 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0372581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/>
          <p:cNvSpPr>
            <a:spLocks noGrp="1"/>
          </p:cNvSpPr>
          <p:nvPr>
            <p:ph type="title"/>
          </p:nvPr>
        </p:nvSpPr>
        <p:spPr bwMode="auto">
          <a:xfrm>
            <a:off x="457200" y="152400"/>
            <a:ext cx="8229600" cy="1250950"/>
          </a:xfrm>
        </p:spPr>
        <p:txBody>
          <a:bodyPr wrap="square" tIns="45720" bIns="45720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en-US" dirty="0" smtClean="0"/>
              <a:t>PHP MySQL INSERT INTO</a:t>
            </a:r>
          </a:p>
        </p:txBody>
      </p:sp>
      <p:sp>
        <p:nvSpPr>
          <p:cNvPr id="69635" name="Rectangle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To send a query or command to a MySQL connection PHP uses </a:t>
            </a:r>
            <a:r>
              <a:rPr lang="en-US" b="1" smtClean="0"/>
              <a:t>mysql_query (query_string, connection_string); </a:t>
            </a:r>
            <a:r>
              <a:rPr lang="en-US" smtClean="0"/>
              <a:t>function.</a:t>
            </a:r>
          </a:p>
          <a:p>
            <a:r>
              <a:rPr lang="en-US" b="1" smtClean="0"/>
              <a:t>Syntax</a:t>
            </a:r>
          </a:p>
          <a:p>
            <a:endParaRPr lang="en-US" b="1" smtClean="0"/>
          </a:p>
          <a:p>
            <a:r>
              <a:rPr lang="en-US" b="1" smtClean="0"/>
              <a:t>or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0" y="4267200"/>
            <a:ext cx="6096000" cy="8382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r>
              <a:rPr lang="en-US" sz="2000" b="1">
                <a:solidFill>
                  <a:schemeClr val="tx1"/>
                </a:solidFill>
                <a:latin typeface="Arial" charset="0"/>
                <a:cs typeface="Arial" charset="0"/>
              </a:rPr>
              <a:t>INSERT INTO table_name</a:t>
            </a:r>
            <a:r>
              <a:rPr lang="en-US" sz="2000" b="1" i="1">
                <a:solidFill>
                  <a:schemeClr val="tx1"/>
                </a:solidFill>
                <a:latin typeface="Arial" charset="0"/>
                <a:cs typeface="Arial" charset="0"/>
              </a:rPr>
              <a:t/>
            </a:r>
            <a:br>
              <a:rPr lang="en-US" sz="2000" b="1" i="1">
                <a:solidFill>
                  <a:schemeClr val="tx1"/>
                </a:solidFill>
                <a:latin typeface="Arial" charset="0"/>
                <a:cs typeface="Arial" charset="0"/>
              </a:rPr>
            </a:br>
            <a:r>
              <a:rPr lang="en-US" sz="2000" b="1">
                <a:solidFill>
                  <a:schemeClr val="tx1"/>
                </a:solidFill>
                <a:latin typeface="Arial" charset="0"/>
                <a:cs typeface="Arial" charset="0"/>
              </a:rPr>
              <a:t>VALUES (value1, value2, value3,...) </a:t>
            </a:r>
          </a:p>
        </p:txBody>
      </p:sp>
      <p:sp>
        <p:nvSpPr>
          <p:cNvPr id="2" name="Rectangle 3"/>
          <p:cNvSpPr/>
          <p:nvPr/>
        </p:nvSpPr>
        <p:spPr>
          <a:xfrm>
            <a:off x="381000" y="5562600"/>
            <a:ext cx="8534400" cy="9906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r>
              <a:rPr lang="en-US" sz="2000" b="1">
                <a:solidFill>
                  <a:schemeClr val="tx1"/>
                </a:solidFill>
                <a:latin typeface="Arial" charset="0"/>
                <a:cs typeface="Arial" charset="0"/>
              </a:rPr>
              <a:t>INSERT INTO table_name (column1, column2, column3,...)</a:t>
            </a:r>
            <a:br>
              <a:rPr lang="en-US" sz="2000" b="1">
                <a:solidFill>
                  <a:schemeClr val="tx1"/>
                </a:solidFill>
                <a:latin typeface="Arial" charset="0"/>
                <a:cs typeface="Arial" charset="0"/>
              </a:rPr>
            </a:br>
            <a:r>
              <a:rPr lang="en-US" sz="2000" b="1">
                <a:solidFill>
                  <a:schemeClr val="tx1"/>
                </a:solidFill>
                <a:latin typeface="Arial" charset="0"/>
                <a:cs typeface="Arial" charset="0"/>
              </a:rPr>
              <a:t>VALUES (value1, value2, value3,...)</a:t>
            </a:r>
            <a:r>
              <a:rPr lang="en-US" sz="2000">
                <a:solidFill>
                  <a:schemeClr val="tx1"/>
                </a:solidFill>
                <a:latin typeface="Arial" charset="0"/>
                <a:cs typeface="Arial" charset="0"/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PHP MySQL INSERT INTO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295400"/>
            <a:ext cx="8458200" cy="5257800"/>
          </a:xfrm>
        </p:spPr>
        <p:txBody>
          <a:bodyPr>
            <a:normAutofit fontScale="92500" lnSpcReduction="20000"/>
          </a:bodyPr>
          <a:lstStyle/>
          <a:p>
            <a:pPr marL="119062" indent="0">
              <a:buNone/>
              <a:defRPr/>
            </a:pPr>
            <a:r>
              <a:rPr lang="en-US" sz="2400" b="1" dirty="0">
                <a:latin typeface="Arial" charset="0"/>
                <a:cs typeface="Arial" charset="0"/>
              </a:rPr>
              <a:t>&lt;?</a:t>
            </a:r>
            <a:r>
              <a:rPr lang="en-US" sz="2400" b="1" dirty="0" err="1">
                <a:latin typeface="Arial" charset="0"/>
                <a:cs typeface="Arial" charset="0"/>
              </a:rPr>
              <a:t>php</a:t>
            </a:r>
            <a:endParaRPr lang="en-US" sz="2400" b="1" dirty="0">
              <a:latin typeface="Arial" charset="0"/>
              <a:cs typeface="Arial" charset="0"/>
            </a:endParaRPr>
          </a:p>
          <a:p>
            <a:pPr marL="119062" indent="0">
              <a:buNone/>
              <a:defRPr/>
            </a:pPr>
            <a:r>
              <a:rPr lang="en-US" sz="2400" b="1" dirty="0">
                <a:latin typeface="Arial" charset="0"/>
                <a:cs typeface="Arial" charset="0"/>
              </a:rPr>
              <a:t>	$con = </a:t>
            </a:r>
            <a:r>
              <a:rPr lang="en-US" sz="2400" b="1" dirty="0" err="1">
                <a:latin typeface="Arial" charset="0"/>
                <a:cs typeface="Arial" charset="0"/>
              </a:rPr>
              <a:t>mysql_connect</a:t>
            </a:r>
            <a:r>
              <a:rPr lang="en-US" sz="2400" b="1" dirty="0">
                <a:latin typeface="Arial" charset="0"/>
                <a:cs typeface="Arial" charset="0"/>
              </a:rPr>
              <a:t>("</a:t>
            </a:r>
            <a:r>
              <a:rPr lang="en-US" sz="2400" b="1" dirty="0" err="1">
                <a:latin typeface="Arial" charset="0"/>
                <a:cs typeface="Arial" charset="0"/>
              </a:rPr>
              <a:t>localhost</a:t>
            </a:r>
            <a:r>
              <a:rPr lang="en-US" sz="2400" b="1" dirty="0">
                <a:latin typeface="Arial" charset="0"/>
                <a:cs typeface="Arial" charset="0"/>
              </a:rPr>
              <a:t>","root","");</a:t>
            </a:r>
          </a:p>
          <a:p>
            <a:pPr marL="119062" indent="0">
              <a:buNone/>
              <a:defRPr/>
            </a:pPr>
            <a:r>
              <a:rPr lang="en-US" sz="2400" b="1" dirty="0">
                <a:latin typeface="Arial" charset="0"/>
                <a:cs typeface="Arial" charset="0"/>
              </a:rPr>
              <a:t>if(!$con)</a:t>
            </a:r>
          </a:p>
          <a:p>
            <a:pPr marL="119062" indent="0">
              <a:buNone/>
              <a:defRPr/>
            </a:pPr>
            <a:r>
              <a:rPr lang="en-US" sz="2400" b="1" dirty="0">
                <a:latin typeface="Arial" charset="0"/>
                <a:cs typeface="Arial" charset="0"/>
              </a:rPr>
              <a:t>{</a:t>
            </a:r>
          </a:p>
          <a:p>
            <a:pPr marL="119062" indent="0">
              <a:buNone/>
              <a:defRPr/>
            </a:pPr>
            <a:r>
              <a:rPr lang="en-US" sz="2400" b="1" dirty="0">
                <a:latin typeface="Arial" charset="0"/>
                <a:cs typeface="Arial" charset="0"/>
              </a:rPr>
              <a:t>die('could not connect:'.</a:t>
            </a:r>
            <a:r>
              <a:rPr lang="en-US" sz="2400" b="1" dirty="0" err="1">
                <a:latin typeface="Arial" charset="0"/>
                <a:cs typeface="Arial" charset="0"/>
              </a:rPr>
              <a:t>mysql_error</a:t>
            </a:r>
            <a:r>
              <a:rPr lang="en-US" sz="2400" b="1" dirty="0">
                <a:latin typeface="Arial" charset="0"/>
                <a:cs typeface="Arial" charset="0"/>
              </a:rPr>
              <a:t>());</a:t>
            </a:r>
          </a:p>
          <a:p>
            <a:pPr marL="119062" indent="0">
              <a:buNone/>
              <a:defRPr/>
            </a:pPr>
            <a:r>
              <a:rPr lang="en-US" sz="2400" b="1" dirty="0">
                <a:latin typeface="Arial" charset="0"/>
                <a:cs typeface="Arial" charset="0"/>
              </a:rPr>
              <a:t>}	</a:t>
            </a:r>
          </a:p>
          <a:p>
            <a:pPr marL="119062" indent="0">
              <a:buNone/>
              <a:defRPr/>
            </a:pPr>
            <a:r>
              <a:rPr lang="en-US" sz="2400" b="1" dirty="0" err="1">
                <a:latin typeface="Arial" charset="0"/>
                <a:cs typeface="Arial" charset="0"/>
              </a:rPr>
              <a:t>mysql_select_db</a:t>
            </a:r>
            <a:r>
              <a:rPr lang="en-US" sz="2400" b="1" dirty="0">
                <a:latin typeface="Arial" charset="0"/>
                <a:cs typeface="Arial" charset="0"/>
              </a:rPr>
              <a:t>("my_</a:t>
            </a:r>
            <a:r>
              <a:rPr lang="en-US" sz="2400" b="1" dirty="0" err="1">
                <a:latin typeface="Arial" charset="0"/>
                <a:cs typeface="Arial" charset="0"/>
              </a:rPr>
              <a:t>db</a:t>
            </a:r>
            <a:r>
              <a:rPr lang="en-US" sz="2400" b="1" dirty="0">
                <a:latin typeface="Arial" charset="0"/>
                <a:cs typeface="Arial" charset="0"/>
              </a:rPr>
              <a:t>",$con);</a:t>
            </a:r>
          </a:p>
          <a:p>
            <a:pPr marL="119062" indent="0">
              <a:buNone/>
              <a:defRPr/>
            </a:pPr>
            <a:r>
              <a:rPr lang="en-US" sz="2400" b="1" dirty="0">
                <a:latin typeface="Arial" charset="0"/>
                <a:cs typeface="Arial" charset="0"/>
              </a:rPr>
              <a:t>	</a:t>
            </a:r>
            <a:r>
              <a:rPr lang="en-US" sz="2400" b="1" dirty="0" err="1">
                <a:latin typeface="Arial" charset="0"/>
                <a:cs typeface="Arial" charset="0"/>
              </a:rPr>
              <a:t>mysql_query</a:t>
            </a:r>
            <a:r>
              <a:rPr lang="en-US" sz="2400" b="1" dirty="0">
                <a:latin typeface="Arial" charset="0"/>
                <a:cs typeface="Arial" charset="0"/>
              </a:rPr>
              <a:t>("INSERT INTO Persons (</a:t>
            </a:r>
            <a:r>
              <a:rPr lang="en-US" sz="2400" b="1" dirty="0" err="1">
                <a:latin typeface="Arial" charset="0"/>
                <a:cs typeface="Arial" charset="0"/>
              </a:rPr>
              <a:t>FirstName</a:t>
            </a:r>
            <a:r>
              <a:rPr lang="en-US" sz="2400" b="1" dirty="0">
                <a:latin typeface="Arial" charset="0"/>
                <a:cs typeface="Arial" charset="0"/>
              </a:rPr>
              <a:t>, </a:t>
            </a:r>
            <a:r>
              <a:rPr lang="en-US" sz="2400" b="1" dirty="0" err="1">
                <a:latin typeface="Arial" charset="0"/>
                <a:cs typeface="Arial" charset="0"/>
              </a:rPr>
              <a:t>LastName</a:t>
            </a:r>
            <a:r>
              <a:rPr lang="en-US" sz="2400" b="1" dirty="0">
                <a:latin typeface="Arial" charset="0"/>
                <a:cs typeface="Arial" charset="0"/>
              </a:rPr>
              <a:t>, Age) VALUES ('Peter', 'Griffin', '35')");</a:t>
            </a:r>
          </a:p>
          <a:p>
            <a:pPr marL="119062" indent="0">
              <a:buNone/>
              <a:defRPr/>
            </a:pPr>
            <a:r>
              <a:rPr lang="en-US" sz="2400" b="1" dirty="0">
                <a:latin typeface="Arial" charset="0"/>
                <a:cs typeface="Arial" charset="0"/>
              </a:rPr>
              <a:t>	</a:t>
            </a:r>
            <a:r>
              <a:rPr lang="en-US" sz="2400" b="1" dirty="0" err="1">
                <a:latin typeface="Arial" charset="0"/>
                <a:cs typeface="Arial" charset="0"/>
              </a:rPr>
              <a:t>mysql_query</a:t>
            </a:r>
            <a:r>
              <a:rPr lang="en-US" sz="2400" b="1" dirty="0">
                <a:latin typeface="Arial" charset="0"/>
                <a:cs typeface="Arial" charset="0"/>
              </a:rPr>
              <a:t>("INSERT INTO Persons (</a:t>
            </a:r>
            <a:r>
              <a:rPr lang="en-US" sz="2400" b="1" dirty="0" err="1">
                <a:latin typeface="Arial" charset="0"/>
                <a:cs typeface="Arial" charset="0"/>
              </a:rPr>
              <a:t>FirstName</a:t>
            </a:r>
            <a:r>
              <a:rPr lang="en-US" sz="2400" b="1" dirty="0">
                <a:latin typeface="Arial" charset="0"/>
                <a:cs typeface="Arial" charset="0"/>
              </a:rPr>
              <a:t>, </a:t>
            </a:r>
            <a:r>
              <a:rPr lang="en-US" sz="2400" b="1" dirty="0" err="1">
                <a:latin typeface="Arial" charset="0"/>
                <a:cs typeface="Arial" charset="0"/>
              </a:rPr>
              <a:t>LastName</a:t>
            </a:r>
            <a:r>
              <a:rPr lang="en-US" sz="2400" b="1" dirty="0">
                <a:latin typeface="Arial" charset="0"/>
                <a:cs typeface="Arial" charset="0"/>
              </a:rPr>
              <a:t>, Age) VALUES ('Glenn', 'Quagmire', '33')");	// Execute query	</a:t>
            </a:r>
            <a:endParaRPr lang="en-US" sz="2400" b="1" dirty="0" smtClean="0">
              <a:latin typeface="Arial" charset="0"/>
              <a:cs typeface="Arial" charset="0"/>
            </a:endParaRPr>
          </a:p>
          <a:p>
            <a:pPr marL="119062" indent="0">
              <a:buNone/>
              <a:defRPr/>
            </a:pPr>
            <a:r>
              <a:rPr lang="en-US" sz="2400" b="1" dirty="0">
                <a:latin typeface="Arial" charset="0"/>
                <a:cs typeface="Arial" charset="0"/>
              </a:rPr>
              <a:t>	</a:t>
            </a:r>
            <a:r>
              <a:rPr lang="en-US" sz="2400" b="1" dirty="0" err="1">
                <a:latin typeface="Arial" charset="0"/>
                <a:cs typeface="Arial" charset="0"/>
              </a:rPr>
              <a:t>mysql_close</a:t>
            </a:r>
            <a:r>
              <a:rPr lang="en-US" sz="2400" b="1" dirty="0">
                <a:latin typeface="Arial" charset="0"/>
                <a:cs typeface="Arial" charset="0"/>
              </a:rPr>
              <a:t>($con); );//Close database connection.</a:t>
            </a:r>
          </a:p>
          <a:p>
            <a:pPr marL="119062" indent="0">
              <a:buNone/>
              <a:defRPr/>
            </a:pPr>
            <a:endParaRPr lang="en-US" sz="2400" b="1" dirty="0">
              <a:latin typeface="Arial" charset="0"/>
              <a:cs typeface="Arial" charset="0"/>
            </a:endParaRPr>
          </a:p>
          <a:p>
            <a:pPr marL="119062" indent="0">
              <a:buNone/>
              <a:defRPr/>
            </a:pPr>
            <a:r>
              <a:rPr lang="en-US" sz="2400" b="1" dirty="0">
                <a:latin typeface="Arial" charset="0"/>
                <a:cs typeface="Arial" charset="0"/>
              </a:rPr>
              <a:t>?&gt; </a:t>
            </a:r>
          </a:p>
          <a:p>
            <a:pPr marL="119062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74907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/>
          <p:cNvSpPr>
            <a:spLocks noGrp="1"/>
          </p:cNvSpPr>
          <p:nvPr>
            <p:ph type="title"/>
          </p:nvPr>
        </p:nvSpPr>
        <p:spPr bwMode="auto">
          <a:xfrm>
            <a:off x="457200" y="152400"/>
            <a:ext cx="8229600" cy="1250950"/>
          </a:xfrm>
        </p:spPr>
        <p:txBody>
          <a:bodyPr wrap="square" tIns="45720" bIns="45720" numCol="1" anchorCtr="0" compatLnSpc="1">
            <a:prstTxWarp prst="textNoShape">
              <a:avLst/>
            </a:prstTxWarp>
            <a:normAutofit fontScale="90000"/>
          </a:bodyPr>
          <a:lstStyle/>
          <a:p>
            <a:pPr>
              <a:defRPr/>
            </a:pPr>
            <a:r>
              <a:rPr lang="en-US" dirty="0" smtClean="0"/>
              <a:t>Exercise-Inserting data using a form</a:t>
            </a:r>
          </a:p>
        </p:txBody>
      </p:sp>
      <p:sp>
        <p:nvSpPr>
          <p:cNvPr id="70659" name="Rectangle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728663" indent="-609600"/>
            <a:r>
              <a:rPr lang="en-US" smtClean="0"/>
              <a:t>Modify the above program to enter values using a html form and insert the data into the database.</a:t>
            </a:r>
          </a:p>
          <a:p>
            <a:pPr marL="728663" indent="-609600"/>
            <a:endParaRPr lang="en-US" smtClean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6400" y="2895600"/>
            <a:ext cx="3200400" cy="39648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Answer –</a:t>
            </a:r>
            <a:r>
              <a:rPr lang="en-US" dirty="0" smtClean="0"/>
              <a:t>insertdb.html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119062" indent="0">
              <a:buNone/>
            </a:pPr>
            <a:r>
              <a:rPr lang="en-US" sz="2000" dirty="0"/>
              <a:t>&lt;html&gt;</a:t>
            </a:r>
          </a:p>
          <a:p>
            <a:pPr marL="119062" indent="0">
              <a:buNone/>
            </a:pPr>
            <a:r>
              <a:rPr lang="en-US" sz="2000" dirty="0"/>
              <a:t>&lt;head&gt;&lt;title&gt;Insert&lt;/title&gt;&lt;/head&gt;</a:t>
            </a:r>
          </a:p>
          <a:p>
            <a:pPr marL="119062" indent="0">
              <a:buNone/>
            </a:pPr>
            <a:r>
              <a:rPr lang="en-US" sz="2000" dirty="0"/>
              <a:t>&lt;body&gt;</a:t>
            </a:r>
          </a:p>
          <a:p>
            <a:pPr marL="119062" indent="0">
              <a:buNone/>
            </a:pPr>
            <a:r>
              <a:rPr lang="en-US" sz="2000" dirty="0"/>
              <a:t>&lt;h1&gt;Insert Data&lt;/h1&gt;</a:t>
            </a:r>
          </a:p>
          <a:p>
            <a:pPr marL="119062" indent="0">
              <a:buNone/>
            </a:pPr>
            <a:r>
              <a:rPr lang="en-US" sz="2000" dirty="0"/>
              <a:t>&lt;form method="POST" action="</a:t>
            </a:r>
            <a:r>
              <a:rPr lang="en-US" sz="2000" dirty="0" err="1"/>
              <a:t>insertdb.php</a:t>
            </a:r>
            <a:r>
              <a:rPr lang="en-US" sz="2000" dirty="0"/>
              <a:t>"&gt;</a:t>
            </a:r>
          </a:p>
          <a:p>
            <a:pPr marL="119062" indent="0">
              <a:buNone/>
            </a:pPr>
            <a:r>
              <a:rPr lang="en-US" sz="2000" dirty="0"/>
              <a:t>&lt;p&gt; First Name &lt;/p&gt; &lt;input type="text" name="</a:t>
            </a:r>
            <a:r>
              <a:rPr lang="en-US" sz="2000" dirty="0" err="1"/>
              <a:t>firstname</a:t>
            </a:r>
            <a:r>
              <a:rPr lang="en-US" sz="2000" dirty="0"/>
              <a:t>" value="" size=20 /&gt;</a:t>
            </a:r>
          </a:p>
          <a:p>
            <a:pPr marL="119062" indent="0">
              <a:buNone/>
            </a:pPr>
            <a:r>
              <a:rPr lang="en-US" sz="2000" dirty="0"/>
              <a:t>&lt;p&gt; Last Name &lt;/p&gt; &lt;input type="text" name="</a:t>
            </a:r>
            <a:r>
              <a:rPr lang="en-US" sz="2000" dirty="0" err="1"/>
              <a:t>lastname</a:t>
            </a:r>
            <a:r>
              <a:rPr lang="en-US" sz="2000" dirty="0"/>
              <a:t>" value="" size=20 /&gt;</a:t>
            </a:r>
          </a:p>
          <a:p>
            <a:pPr marL="119062" indent="0">
              <a:buNone/>
            </a:pPr>
            <a:r>
              <a:rPr lang="en-US" sz="2000" dirty="0"/>
              <a:t>&lt;p&gt; Age &lt;/p&gt; &lt;input type="text" name="age" value="" size=20 </a:t>
            </a:r>
            <a:r>
              <a:rPr lang="en-US" sz="2000" dirty="0" smtClean="0"/>
              <a:t>/&gt;</a:t>
            </a:r>
            <a:endParaRPr lang="en-US" sz="2000" dirty="0"/>
          </a:p>
          <a:p>
            <a:pPr marL="119062" indent="0">
              <a:buNone/>
            </a:pPr>
            <a:r>
              <a:rPr lang="en-US" sz="2000" dirty="0"/>
              <a:t>&lt;input type="submit" name="Insert" value="Insert" </a:t>
            </a:r>
            <a:r>
              <a:rPr lang="en-US" sz="2000" dirty="0" smtClean="0"/>
              <a:t>/&gt;</a:t>
            </a:r>
            <a:endParaRPr lang="en-US" sz="2000" dirty="0"/>
          </a:p>
          <a:p>
            <a:pPr marL="119062" indent="0">
              <a:buNone/>
            </a:pPr>
            <a:r>
              <a:rPr lang="en-US" sz="2000" dirty="0"/>
              <a:t>&lt;/form&gt;</a:t>
            </a:r>
          </a:p>
          <a:p>
            <a:pPr marL="119062" indent="0">
              <a:buNone/>
            </a:pPr>
            <a:r>
              <a:rPr lang="en-US" sz="2000" dirty="0"/>
              <a:t>&lt;/body&gt;</a:t>
            </a:r>
          </a:p>
          <a:p>
            <a:pPr marL="119062" indent="0">
              <a:buNone/>
            </a:pPr>
            <a:r>
              <a:rPr lang="en-US" sz="2000" dirty="0"/>
              <a:t>&lt;/html&gt;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77659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Answer –</a:t>
            </a:r>
            <a:r>
              <a:rPr lang="en-US" dirty="0" err="1" smtClean="0"/>
              <a:t>insertdb.php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600200"/>
            <a:ext cx="8915400" cy="5105400"/>
          </a:xfrm>
        </p:spPr>
        <p:txBody>
          <a:bodyPr>
            <a:normAutofit fontScale="92500" lnSpcReduction="20000"/>
          </a:bodyPr>
          <a:lstStyle/>
          <a:p>
            <a:pPr marL="119062" indent="0">
              <a:buNone/>
            </a:pPr>
            <a:r>
              <a:rPr lang="en-US" sz="2000" dirty="0" smtClean="0"/>
              <a:t>&lt;?</a:t>
            </a:r>
            <a:r>
              <a:rPr lang="en-US" sz="2000" dirty="0" err="1"/>
              <a:t>php</a:t>
            </a:r>
            <a:endParaRPr lang="en-US" sz="2000" dirty="0"/>
          </a:p>
          <a:p>
            <a:pPr marL="119062" indent="0">
              <a:buNone/>
            </a:pPr>
            <a:r>
              <a:rPr lang="en-US" sz="2000" dirty="0" smtClean="0"/>
              <a:t>$</a:t>
            </a:r>
            <a:r>
              <a:rPr lang="en-US" sz="2000" dirty="0" err="1"/>
              <a:t>fname</a:t>
            </a:r>
            <a:r>
              <a:rPr lang="en-US" sz="2000" dirty="0"/>
              <a:t>=$_POST['</a:t>
            </a:r>
            <a:r>
              <a:rPr lang="en-US" sz="2000" dirty="0" err="1"/>
              <a:t>firstname</a:t>
            </a:r>
            <a:r>
              <a:rPr lang="en-US" sz="2000" dirty="0"/>
              <a:t>'];</a:t>
            </a:r>
          </a:p>
          <a:p>
            <a:pPr marL="119062" indent="0">
              <a:buNone/>
            </a:pPr>
            <a:r>
              <a:rPr lang="en-US" sz="2000" dirty="0"/>
              <a:t>$</a:t>
            </a:r>
            <a:r>
              <a:rPr lang="en-US" sz="2000" dirty="0" err="1"/>
              <a:t>lname</a:t>
            </a:r>
            <a:r>
              <a:rPr lang="en-US" sz="2000" dirty="0"/>
              <a:t>=$_POST['</a:t>
            </a:r>
            <a:r>
              <a:rPr lang="en-US" sz="2000" dirty="0" err="1"/>
              <a:t>lastname</a:t>
            </a:r>
            <a:r>
              <a:rPr lang="en-US" sz="2000" dirty="0"/>
              <a:t>'];</a:t>
            </a:r>
          </a:p>
          <a:p>
            <a:pPr marL="119062" indent="0">
              <a:buNone/>
            </a:pPr>
            <a:r>
              <a:rPr lang="en-US" sz="2000" dirty="0"/>
              <a:t>$age=$_POST['age'];</a:t>
            </a:r>
          </a:p>
          <a:p>
            <a:pPr marL="119062" indent="0">
              <a:buNone/>
            </a:pPr>
            <a:r>
              <a:rPr lang="en-US" sz="2000" dirty="0"/>
              <a:t>	$con = </a:t>
            </a:r>
            <a:r>
              <a:rPr lang="en-US" sz="2000" dirty="0" err="1"/>
              <a:t>mysql_connect</a:t>
            </a:r>
            <a:r>
              <a:rPr lang="en-US" sz="2000" dirty="0"/>
              <a:t>("</a:t>
            </a:r>
            <a:r>
              <a:rPr lang="en-US" sz="2000" dirty="0" err="1"/>
              <a:t>localhost</a:t>
            </a:r>
            <a:r>
              <a:rPr lang="en-US" sz="2000" dirty="0"/>
              <a:t>","root","");</a:t>
            </a:r>
          </a:p>
          <a:p>
            <a:pPr marL="119062" indent="0">
              <a:buNone/>
            </a:pPr>
            <a:r>
              <a:rPr lang="en-US" sz="2000" dirty="0"/>
              <a:t>if(!$con)</a:t>
            </a:r>
          </a:p>
          <a:p>
            <a:pPr marL="119062" indent="0">
              <a:buNone/>
            </a:pPr>
            <a:r>
              <a:rPr lang="en-US" sz="2000" dirty="0"/>
              <a:t>{</a:t>
            </a:r>
          </a:p>
          <a:p>
            <a:pPr marL="119062" indent="0">
              <a:buNone/>
            </a:pPr>
            <a:r>
              <a:rPr lang="en-US" sz="2000" dirty="0"/>
              <a:t>die('could not connect:'.</a:t>
            </a:r>
            <a:r>
              <a:rPr lang="en-US" sz="2000" dirty="0" err="1"/>
              <a:t>mysql_error</a:t>
            </a:r>
            <a:r>
              <a:rPr lang="en-US" sz="2000" dirty="0"/>
              <a:t>());</a:t>
            </a:r>
          </a:p>
          <a:p>
            <a:pPr marL="119062" indent="0">
              <a:buNone/>
            </a:pPr>
            <a:r>
              <a:rPr lang="en-US" sz="2000" dirty="0"/>
              <a:t>}	</a:t>
            </a:r>
          </a:p>
          <a:p>
            <a:pPr marL="119062" indent="0">
              <a:buNone/>
            </a:pPr>
            <a:r>
              <a:rPr lang="en-US" sz="2000" dirty="0" err="1"/>
              <a:t>mysql_select_db</a:t>
            </a:r>
            <a:r>
              <a:rPr lang="en-US" sz="2000" dirty="0"/>
              <a:t>("my_</a:t>
            </a:r>
            <a:r>
              <a:rPr lang="en-US" sz="2000" dirty="0" err="1"/>
              <a:t>db</a:t>
            </a:r>
            <a:r>
              <a:rPr lang="en-US" sz="2000" dirty="0"/>
              <a:t>",$con);</a:t>
            </a:r>
          </a:p>
          <a:p>
            <a:pPr marL="119062" indent="0">
              <a:buNone/>
            </a:pPr>
            <a:r>
              <a:rPr lang="en-US" sz="2000" dirty="0"/>
              <a:t>	</a:t>
            </a:r>
          </a:p>
          <a:p>
            <a:pPr marL="119062" indent="0">
              <a:buNone/>
            </a:pPr>
            <a:r>
              <a:rPr lang="en-US" sz="2000" dirty="0" err="1"/>
              <a:t>mysql_query</a:t>
            </a:r>
            <a:r>
              <a:rPr lang="en-US" sz="2000" dirty="0"/>
              <a:t>("INSERT INTO Persons (</a:t>
            </a:r>
            <a:r>
              <a:rPr lang="en-US" sz="2000" dirty="0" err="1"/>
              <a:t>FirstName</a:t>
            </a:r>
            <a:r>
              <a:rPr lang="en-US" sz="2000" dirty="0"/>
              <a:t>, </a:t>
            </a:r>
            <a:r>
              <a:rPr lang="en-US" sz="2000" dirty="0" err="1"/>
              <a:t>LastName</a:t>
            </a:r>
            <a:r>
              <a:rPr lang="en-US" sz="2000" dirty="0"/>
              <a:t>, Age) VALUES ('$</a:t>
            </a:r>
            <a:r>
              <a:rPr lang="en-US" sz="2000" dirty="0" err="1"/>
              <a:t>fname</a:t>
            </a:r>
            <a:r>
              <a:rPr lang="en-US" sz="2000" dirty="0"/>
              <a:t>', '$</a:t>
            </a:r>
            <a:r>
              <a:rPr lang="en-US" sz="2000" dirty="0" err="1"/>
              <a:t>lname</a:t>
            </a:r>
            <a:r>
              <a:rPr lang="en-US" sz="2000" dirty="0"/>
              <a:t>',$age)");	// Execute query	</a:t>
            </a:r>
          </a:p>
          <a:p>
            <a:pPr marL="119062" indent="0">
              <a:buNone/>
            </a:pPr>
            <a:r>
              <a:rPr lang="en-US" sz="2000" dirty="0" smtClean="0"/>
              <a:t>//</a:t>
            </a:r>
            <a:r>
              <a:rPr lang="en-US" sz="2000" dirty="0" err="1" smtClean="0"/>
              <a:t>mysql_query</a:t>
            </a:r>
            <a:r>
              <a:rPr lang="en-US" sz="2000" dirty="0"/>
              <a:t>($</a:t>
            </a:r>
            <a:r>
              <a:rPr lang="en-US" sz="2000" dirty="0" err="1"/>
              <a:t>sql</a:t>
            </a:r>
            <a:r>
              <a:rPr lang="en-US" sz="2000" dirty="0"/>
              <a:t>,$con</a:t>
            </a:r>
            <a:r>
              <a:rPr lang="en-US" sz="2000" dirty="0" smtClean="0"/>
              <a:t>);</a:t>
            </a:r>
          </a:p>
          <a:p>
            <a:pPr marL="119062" indent="0">
              <a:buNone/>
            </a:pPr>
            <a:r>
              <a:rPr lang="en-US" sz="2000" dirty="0" smtClean="0"/>
              <a:t> </a:t>
            </a:r>
            <a:r>
              <a:rPr lang="en-US" sz="2000" dirty="0"/>
              <a:t>	</a:t>
            </a:r>
            <a:r>
              <a:rPr lang="en-US" sz="2000" dirty="0" err="1"/>
              <a:t>mysql_close</a:t>
            </a:r>
            <a:r>
              <a:rPr lang="en-US" sz="2000" dirty="0"/>
              <a:t>($con); //Close database connection.</a:t>
            </a:r>
          </a:p>
          <a:p>
            <a:pPr marL="119062" indent="0">
              <a:buNone/>
            </a:pPr>
            <a:endParaRPr lang="en-US" sz="2000" dirty="0"/>
          </a:p>
          <a:p>
            <a:pPr marL="119062" indent="0">
              <a:buNone/>
            </a:pPr>
            <a:r>
              <a:rPr lang="en-US" sz="2000" dirty="0"/>
              <a:t>?&gt; </a:t>
            </a:r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6927189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2"/>
          <p:cNvSpPr>
            <a:spLocks noGrp="1"/>
          </p:cNvSpPr>
          <p:nvPr>
            <p:ph type="title"/>
          </p:nvPr>
        </p:nvSpPr>
        <p:spPr bwMode="auto">
          <a:xfrm>
            <a:off x="457200" y="152400"/>
            <a:ext cx="8229600" cy="1250950"/>
          </a:xfrm>
        </p:spPr>
        <p:txBody>
          <a:bodyPr wrap="square" tIns="45720" bIns="45720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en-US" dirty="0" smtClean="0"/>
              <a:t>PHP + MySQL SELECT</a:t>
            </a:r>
          </a:p>
        </p:txBody>
      </p:sp>
      <p:sp>
        <p:nvSpPr>
          <p:cNvPr id="71683" name="Rectangle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Syntax</a:t>
            </a:r>
          </a:p>
          <a:p>
            <a:endParaRPr lang="en-US" b="1" dirty="0" smtClean="0"/>
          </a:p>
          <a:p>
            <a:endParaRPr lang="en-US" b="1" dirty="0" smtClean="0"/>
          </a:p>
          <a:p>
            <a:pPr marL="119062" indent="0">
              <a:buNone/>
            </a:pPr>
            <a:endParaRPr lang="en-US" b="1" dirty="0" smtClean="0"/>
          </a:p>
          <a:p>
            <a:endParaRPr lang="en-US" b="1" dirty="0" smtClean="0"/>
          </a:p>
          <a:p>
            <a:endParaRPr lang="en-US" b="1" dirty="0" smtClean="0"/>
          </a:p>
          <a:p>
            <a:endParaRPr lang="en-US" b="1" dirty="0" smtClean="0"/>
          </a:p>
        </p:txBody>
      </p:sp>
      <p:sp>
        <p:nvSpPr>
          <p:cNvPr id="4" name="Rectangle 3"/>
          <p:cNvSpPr/>
          <p:nvPr/>
        </p:nvSpPr>
        <p:spPr>
          <a:xfrm>
            <a:off x="1066800" y="2781300"/>
            <a:ext cx="7391400" cy="6858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r>
              <a:rPr lang="en-US" b="1">
                <a:solidFill>
                  <a:schemeClr val="tx1"/>
                </a:solidFill>
                <a:latin typeface="Arial" charset="0"/>
                <a:cs typeface="Arial" charset="0"/>
              </a:rPr>
              <a:t>SELECT column_name(s) FROM table_name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252728"/>
          </a:xfrm>
        </p:spPr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4625975"/>
          </a:xfrm>
        </p:spPr>
        <p:txBody>
          <a:bodyPr>
            <a:normAutofit fontScale="85000" lnSpcReduction="10000"/>
          </a:bodyPr>
          <a:lstStyle/>
          <a:p>
            <a:pPr marL="119062" indent="0">
              <a:buNone/>
              <a:defRPr/>
            </a:pPr>
            <a:r>
              <a:rPr lang="en-US" sz="2000" b="1" dirty="0">
                <a:latin typeface="Arial" charset="0"/>
                <a:cs typeface="Arial" charset="0"/>
              </a:rPr>
              <a:t>&lt;?</a:t>
            </a:r>
            <a:r>
              <a:rPr lang="en-US" sz="2000" b="1" dirty="0" err="1">
                <a:latin typeface="Arial" charset="0"/>
                <a:cs typeface="Arial" charset="0"/>
              </a:rPr>
              <a:t>php</a:t>
            </a:r>
            <a:endParaRPr lang="en-US" sz="2000" b="1" dirty="0">
              <a:latin typeface="Arial" charset="0"/>
              <a:cs typeface="Arial" charset="0"/>
            </a:endParaRPr>
          </a:p>
          <a:p>
            <a:pPr marL="119062" indent="0">
              <a:buNone/>
              <a:defRPr/>
            </a:pPr>
            <a:r>
              <a:rPr lang="en-US" sz="2000" b="1" dirty="0">
                <a:latin typeface="Arial" charset="0"/>
                <a:cs typeface="Arial" charset="0"/>
              </a:rPr>
              <a:t>	$con = </a:t>
            </a:r>
            <a:r>
              <a:rPr lang="en-US" sz="2000" b="1" dirty="0" err="1">
                <a:latin typeface="Arial" charset="0"/>
                <a:cs typeface="Arial" charset="0"/>
              </a:rPr>
              <a:t>mysql_connect</a:t>
            </a:r>
            <a:r>
              <a:rPr lang="en-US" sz="2000" b="1" dirty="0">
                <a:latin typeface="Arial" charset="0"/>
                <a:cs typeface="Arial" charset="0"/>
              </a:rPr>
              <a:t>("</a:t>
            </a:r>
            <a:r>
              <a:rPr lang="en-US" sz="2000" b="1" dirty="0" err="1">
                <a:latin typeface="Arial" charset="0"/>
                <a:cs typeface="Arial" charset="0"/>
              </a:rPr>
              <a:t>localhost</a:t>
            </a:r>
            <a:r>
              <a:rPr lang="en-US" sz="2000" b="1" dirty="0">
                <a:latin typeface="Arial" charset="0"/>
                <a:cs typeface="Arial" charset="0"/>
              </a:rPr>
              <a:t>","root","");</a:t>
            </a:r>
          </a:p>
          <a:p>
            <a:pPr marL="119062" indent="0">
              <a:buNone/>
              <a:defRPr/>
            </a:pPr>
            <a:r>
              <a:rPr lang="en-US" sz="2000" b="1" dirty="0">
                <a:latin typeface="Arial" charset="0"/>
                <a:cs typeface="Arial" charset="0"/>
              </a:rPr>
              <a:t> 	if(!$con)</a:t>
            </a:r>
          </a:p>
          <a:p>
            <a:pPr marL="119062" indent="0">
              <a:buNone/>
              <a:defRPr/>
            </a:pPr>
            <a:r>
              <a:rPr lang="en-US" sz="2000" b="1" dirty="0">
                <a:latin typeface="Arial" charset="0"/>
                <a:cs typeface="Arial" charset="0"/>
              </a:rPr>
              <a:t>{</a:t>
            </a:r>
          </a:p>
          <a:p>
            <a:pPr marL="119062" indent="0">
              <a:buNone/>
              <a:defRPr/>
            </a:pPr>
            <a:r>
              <a:rPr lang="en-US" sz="2000" b="1" dirty="0">
                <a:latin typeface="Arial" charset="0"/>
                <a:cs typeface="Arial" charset="0"/>
              </a:rPr>
              <a:t>die('could not connect:'.</a:t>
            </a:r>
            <a:r>
              <a:rPr lang="en-US" sz="2000" b="1" dirty="0" err="1">
                <a:latin typeface="Arial" charset="0"/>
                <a:cs typeface="Arial" charset="0"/>
              </a:rPr>
              <a:t>mysql_error</a:t>
            </a:r>
            <a:r>
              <a:rPr lang="en-US" sz="2000" b="1" dirty="0">
                <a:latin typeface="Arial" charset="0"/>
                <a:cs typeface="Arial" charset="0"/>
              </a:rPr>
              <a:t>());</a:t>
            </a:r>
          </a:p>
          <a:p>
            <a:pPr marL="119062" indent="0">
              <a:buNone/>
              <a:defRPr/>
            </a:pPr>
            <a:r>
              <a:rPr lang="en-US" sz="2000" b="1" dirty="0">
                <a:latin typeface="Arial" charset="0"/>
                <a:cs typeface="Arial" charset="0"/>
              </a:rPr>
              <a:t>}</a:t>
            </a:r>
          </a:p>
          <a:p>
            <a:pPr marL="119062" indent="0">
              <a:buNone/>
              <a:defRPr/>
            </a:pPr>
            <a:r>
              <a:rPr lang="en-US" sz="2000" b="1" dirty="0">
                <a:latin typeface="Arial" charset="0"/>
                <a:cs typeface="Arial" charset="0"/>
              </a:rPr>
              <a:t>	</a:t>
            </a:r>
            <a:r>
              <a:rPr lang="en-US" sz="2000" b="1" dirty="0" err="1">
                <a:latin typeface="Arial" charset="0"/>
                <a:cs typeface="Arial" charset="0"/>
              </a:rPr>
              <a:t>mysql_select_db</a:t>
            </a:r>
            <a:r>
              <a:rPr lang="en-US" sz="2000" b="1" dirty="0">
                <a:latin typeface="Arial" charset="0"/>
                <a:cs typeface="Arial" charset="0"/>
              </a:rPr>
              <a:t>("</a:t>
            </a:r>
            <a:r>
              <a:rPr lang="en-US" sz="2000" b="1" dirty="0" err="1">
                <a:latin typeface="Arial" charset="0"/>
                <a:cs typeface="Arial" charset="0"/>
              </a:rPr>
              <a:t>my_db</a:t>
            </a:r>
            <a:r>
              <a:rPr lang="en-US" sz="2000" b="1" dirty="0">
                <a:latin typeface="Arial" charset="0"/>
                <a:cs typeface="Arial" charset="0"/>
              </a:rPr>
              <a:t>", $con);// Execute query	</a:t>
            </a:r>
          </a:p>
          <a:p>
            <a:pPr marL="119062" indent="0">
              <a:buNone/>
              <a:defRPr/>
            </a:pPr>
            <a:r>
              <a:rPr lang="en-US" sz="2000" b="1" dirty="0">
                <a:latin typeface="Arial" charset="0"/>
                <a:cs typeface="Arial" charset="0"/>
              </a:rPr>
              <a:t>$result = </a:t>
            </a:r>
            <a:r>
              <a:rPr lang="en-US" sz="2000" b="1" dirty="0" err="1">
                <a:latin typeface="Arial" charset="0"/>
                <a:cs typeface="Arial" charset="0"/>
              </a:rPr>
              <a:t>mysql_query</a:t>
            </a:r>
            <a:r>
              <a:rPr lang="en-US" sz="2000" b="1" dirty="0">
                <a:latin typeface="Arial" charset="0"/>
                <a:cs typeface="Arial" charset="0"/>
              </a:rPr>
              <a:t>("SELECT * FROM Persons");	//Display data.</a:t>
            </a:r>
          </a:p>
          <a:p>
            <a:pPr marL="119062" indent="0">
              <a:buNone/>
              <a:defRPr/>
            </a:pPr>
            <a:r>
              <a:rPr lang="en-US" sz="2000" b="1" dirty="0">
                <a:latin typeface="Arial" charset="0"/>
                <a:cs typeface="Arial" charset="0"/>
              </a:rPr>
              <a:t>while($row=</a:t>
            </a:r>
            <a:r>
              <a:rPr lang="en-US" sz="2000" b="1" dirty="0" err="1">
                <a:latin typeface="Arial" charset="0"/>
                <a:cs typeface="Arial" charset="0"/>
              </a:rPr>
              <a:t>mysql_fetch_array</a:t>
            </a:r>
            <a:r>
              <a:rPr lang="en-US" sz="2000" b="1" dirty="0">
                <a:latin typeface="Arial" charset="0"/>
                <a:cs typeface="Arial" charset="0"/>
              </a:rPr>
              <a:t>($result))</a:t>
            </a:r>
          </a:p>
          <a:p>
            <a:pPr marL="119062" indent="0">
              <a:buNone/>
              <a:defRPr/>
            </a:pPr>
            <a:r>
              <a:rPr lang="en-US" sz="2000" b="1" dirty="0">
                <a:latin typeface="Arial" charset="0"/>
                <a:cs typeface="Arial" charset="0"/>
              </a:rPr>
              <a:t>{</a:t>
            </a:r>
          </a:p>
          <a:p>
            <a:pPr marL="119062" indent="0">
              <a:buNone/>
              <a:defRPr/>
            </a:pPr>
            <a:r>
              <a:rPr lang="en-US" sz="2000" b="1" dirty="0">
                <a:latin typeface="Arial" charset="0"/>
                <a:cs typeface="Arial" charset="0"/>
              </a:rPr>
              <a:t>echo $row['</a:t>
            </a:r>
            <a:r>
              <a:rPr lang="en-US" sz="2000" b="1" dirty="0" err="1">
                <a:latin typeface="Arial" charset="0"/>
                <a:cs typeface="Arial" charset="0"/>
              </a:rPr>
              <a:t>FirstName</a:t>
            </a:r>
            <a:r>
              <a:rPr lang="en-US" sz="2000" b="1" dirty="0">
                <a:latin typeface="Arial" charset="0"/>
                <a:cs typeface="Arial" charset="0"/>
              </a:rPr>
              <a:t>']." ".$row['</a:t>
            </a:r>
            <a:r>
              <a:rPr lang="en-US" sz="2000" b="1" dirty="0" err="1">
                <a:latin typeface="Arial" charset="0"/>
                <a:cs typeface="Arial" charset="0"/>
              </a:rPr>
              <a:t>LastName</a:t>
            </a:r>
            <a:r>
              <a:rPr lang="en-US" sz="2000" b="1" dirty="0">
                <a:latin typeface="Arial" charset="0"/>
                <a:cs typeface="Arial" charset="0"/>
              </a:rPr>
              <a:t>']." ".$row['Age'];</a:t>
            </a:r>
          </a:p>
          <a:p>
            <a:pPr marL="119062" indent="0">
              <a:buNone/>
              <a:defRPr/>
            </a:pPr>
            <a:r>
              <a:rPr lang="en-US" sz="2000" b="1" dirty="0">
                <a:latin typeface="Arial" charset="0"/>
                <a:cs typeface="Arial" charset="0"/>
              </a:rPr>
              <a:t>echo "&lt;</a:t>
            </a:r>
            <a:r>
              <a:rPr lang="en-US" sz="2000" b="1" dirty="0" err="1">
                <a:latin typeface="Arial" charset="0"/>
                <a:cs typeface="Arial" charset="0"/>
              </a:rPr>
              <a:t>br</a:t>
            </a:r>
            <a:r>
              <a:rPr lang="en-US" sz="2000" b="1" dirty="0">
                <a:latin typeface="Arial" charset="0"/>
                <a:cs typeface="Arial" charset="0"/>
              </a:rPr>
              <a:t>/&gt;";</a:t>
            </a:r>
          </a:p>
          <a:p>
            <a:pPr marL="119062" indent="0">
              <a:buNone/>
              <a:defRPr/>
            </a:pPr>
            <a:r>
              <a:rPr lang="en-US" sz="2000" b="1" dirty="0" smtClean="0">
                <a:latin typeface="Arial" charset="0"/>
                <a:cs typeface="Arial" charset="0"/>
              </a:rPr>
              <a:t>}</a:t>
            </a:r>
            <a:endParaRPr lang="en-US" sz="2000" b="1" dirty="0">
              <a:latin typeface="Arial" charset="0"/>
              <a:cs typeface="Arial" charset="0"/>
            </a:endParaRPr>
          </a:p>
          <a:p>
            <a:pPr marL="119062" indent="0">
              <a:buNone/>
              <a:defRPr/>
            </a:pPr>
            <a:r>
              <a:rPr lang="en-US" sz="2000" b="1" dirty="0">
                <a:latin typeface="Arial" charset="0"/>
                <a:cs typeface="Arial" charset="0"/>
              </a:rPr>
              <a:t>	//Close database connection.</a:t>
            </a:r>
          </a:p>
          <a:p>
            <a:pPr marL="119062" indent="0">
              <a:buNone/>
              <a:defRPr/>
            </a:pPr>
            <a:r>
              <a:rPr lang="en-US" sz="2000" b="1" dirty="0">
                <a:latin typeface="Arial" charset="0"/>
                <a:cs typeface="Arial" charset="0"/>
              </a:rPr>
              <a:t>	</a:t>
            </a:r>
            <a:r>
              <a:rPr lang="en-US" sz="2000" b="1" dirty="0" err="1">
                <a:latin typeface="Arial" charset="0"/>
                <a:cs typeface="Arial" charset="0"/>
              </a:rPr>
              <a:t>mysql_close</a:t>
            </a:r>
            <a:r>
              <a:rPr lang="en-US" sz="2000" b="1" dirty="0">
                <a:latin typeface="Arial" charset="0"/>
                <a:cs typeface="Arial" charset="0"/>
              </a:rPr>
              <a:t>($con);  </a:t>
            </a:r>
          </a:p>
          <a:p>
            <a:pPr marL="119062" indent="0">
              <a:buNone/>
              <a:defRPr/>
            </a:pPr>
            <a:r>
              <a:rPr lang="en-US" sz="2000" b="1" dirty="0">
                <a:latin typeface="Arial" charset="0"/>
                <a:cs typeface="Arial" charset="0"/>
              </a:rPr>
              <a:t>?&gt;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0156929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2"/>
          <p:cNvSpPr>
            <a:spLocks noGrp="1"/>
          </p:cNvSpPr>
          <p:nvPr>
            <p:ph type="title"/>
          </p:nvPr>
        </p:nvSpPr>
        <p:spPr bwMode="auto">
          <a:xfrm>
            <a:off x="352097" y="23648"/>
            <a:ext cx="8229600" cy="1250950"/>
          </a:xfrm>
        </p:spPr>
        <p:txBody>
          <a:bodyPr wrap="square" tIns="45720" bIns="45720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en-US" dirty="0" smtClean="0"/>
              <a:t>SELECT with WHERE clause</a:t>
            </a:r>
          </a:p>
        </p:txBody>
      </p:sp>
      <p:sp>
        <p:nvSpPr>
          <p:cNvPr id="72707" name="Rectangle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Syntax</a:t>
            </a:r>
          </a:p>
          <a:p>
            <a:endParaRPr lang="en-US" b="1" dirty="0" smtClean="0"/>
          </a:p>
          <a:p>
            <a:endParaRPr lang="en-US" b="1" dirty="0" smtClean="0"/>
          </a:p>
          <a:p>
            <a:endParaRPr lang="en-US" b="1" dirty="0" smtClean="0"/>
          </a:p>
        </p:txBody>
      </p:sp>
      <p:sp>
        <p:nvSpPr>
          <p:cNvPr id="4" name="Rectangle 3"/>
          <p:cNvSpPr/>
          <p:nvPr/>
        </p:nvSpPr>
        <p:spPr>
          <a:xfrm>
            <a:off x="914400" y="2881148"/>
            <a:ext cx="7620000" cy="9906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r>
              <a:rPr lang="en-US" b="1">
                <a:solidFill>
                  <a:schemeClr val="tx1"/>
                </a:solidFill>
                <a:latin typeface="Arial" charset="0"/>
                <a:cs typeface="Arial" charset="0"/>
              </a:rPr>
              <a:t>SELECT column_name(s)</a:t>
            </a:r>
            <a:br>
              <a:rPr lang="en-US" b="1">
                <a:solidFill>
                  <a:schemeClr val="tx1"/>
                </a:solidFill>
                <a:latin typeface="Arial" charset="0"/>
                <a:cs typeface="Arial" charset="0"/>
              </a:rPr>
            </a:br>
            <a:r>
              <a:rPr lang="en-US" b="1">
                <a:solidFill>
                  <a:schemeClr val="tx1"/>
                </a:solidFill>
                <a:latin typeface="Arial" charset="0"/>
                <a:cs typeface="Arial" charset="0"/>
              </a:rPr>
              <a:t>FROM table_name</a:t>
            </a:r>
            <a:br>
              <a:rPr lang="en-US" b="1">
                <a:solidFill>
                  <a:schemeClr val="tx1"/>
                </a:solidFill>
                <a:latin typeface="Arial" charset="0"/>
                <a:cs typeface="Arial" charset="0"/>
              </a:rPr>
            </a:br>
            <a:r>
              <a:rPr lang="en-US" b="1">
                <a:solidFill>
                  <a:schemeClr val="tx1"/>
                </a:solidFill>
                <a:latin typeface="Arial" charset="0"/>
                <a:cs typeface="Arial" charset="0"/>
              </a:rPr>
              <a:t>WHERE column_name operator value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600200"/>
            <a:ext cx="8991600" cy="4625975"/>
          </a:xfrm>
        </p:spPr>
        <p:txBody>
          <a:bodyPr>
            <a:normAutofit fontScale="85000" lnSpcReduction="10000"/>
          </a:bodyPr>
          <a:lstStyle/>
          <a:p>
            <a:pPr marL="119062" indent="0">
              <a:buNone/>
            </a:pPr>
            <a:r>
              <a:rPr lang="en-US" sz="2000" dirty="0"/>
              <a:t>&lt;?</a:t>
            </a:r>
            <a:r>
              <a:rPr lang="en-US" sz="2000" dirty="0" err="1"/>
              <a:t>php</a:t>
            </a:r>
            <a:endParaRPr lang="en-US" sz="2000" dirty="0"/>
          </a:p>
          <a:p>
            <a:pPr marL="119062" indent="0">
              <a:buNone/>
            </a:pPr>
            <a:r>
              <a:rPr lang="en-US" sz="2000" dirty="0"/>
              <a:t>	$con = </a:t>
            </a:r>
            <a:r>
              <a:rPr lang="en-US" sz="2000" dirty="0" err="1"/>
              <a:t>mysql_connect</a:t>
            </a:r>
            <a:r>
              <a:rPr lang="en-US" sz="2000" dirty="0"/>
              <a:t>("</a:t>
            </a:r>
            <a:r>
              <a:rPr lang="en-US" sz="2000" dirty="0" err="1"/>
              <a:t>localhost</a:t>
            </a:r>
            <a:r>
              <a:rPr lang="en-US" sz="2000" dirty="0"/>
              <a:t>","root","");</a:t>
            </a:r>
          </a:p>
          <a:p>
            <a:pPr marL="119062" indent="0">
              <a:buNone/>
            </a:pPr>
            <a:r>
              <a:rPr lang="en-US" sz="2000" dirty="0"/>
              <a:t> 	if(!$con)</a:t>
            </a:r>
          </a:p>
          <a:p>
            <a:pPr marL="119062" indent="0">
              <a:buNone/>
            </a:pPr>
            <a:r>
              <a:rPr lang="en-US" sz="2000" dirty="0"/>
              <a:t>{</a:t>
            </a:r>
          </a:p>
          <a:p>
            <a:pPr marL="119062" indent="0">
              <a:buNone/>
            </a:pPr>
            <a:r>
              <a:rPr lang="en-US" sz="2000" dirty="0"/>
              <a:t>die('could not connect:'.</a:t>
            </a:r>
            <a:r>
              <a:rPr lang="en-US" sz="2000" dirty="0" err="1"/>
              <a:t>mysql_error</a:t>
            </a:r>
            <a:r>
              <a:rPr lang="en-US" sz="2000" dirty="0"/>
              <a:t>());</a:t>
            </a:r>
          </a:p>
          <a:p>
            <a:pPr marL="119062" indent="0">
              <a:buNone/>
            </a:pPr>
            <a:r>
              <a:rPr lang="en-US" sz="2000" dirty="0"/>
              <a:t>}</a:t>
            </a:r>
          </a:p>
          <a:p>
            <a:pPr marL="119062" indent="0">
              <a:buNone/>
            </a:pPr>
            <a:r>
              <a:rPr lang="en-US" sz="2000" dirty="0"/>
              <a:t>	</a:t>
            </a:r>
            <a:r>
              <a:rPr lang="en-US" sz="2000" dirty="0" err="1"/>
              <a:t>mysql_select_db</a:t>
            </a:r>
            <a:r>
              <a:rPr lang="en-US" sz="2000" dirty="0"/>
              <a:t>("</a:t>
            </a:r>
            <a:r>
              <a:rPr lang="en-US" sz="2000" dirty="0" err="1"/>
              <a:t>my_db</a:t>
            </a:r>
            <a:r>
              <a:rPr lang="en-US" sz="2000" dirty="0"/>
              <a:t>", $con);// Execute query	</a:t>
            </a:r>
          </a:p>
          <a:p>
            <a:pPr marL="119062" indent="0">
              <a:buNone/>
            </a:pPr>
            <a:r>
              <a:rPr lang="en-US" sz="2000" b="1" dirty="0">
                <a:solidFill>
                  <a:srgbClr val="92D050"/>
                </a:solidFill>
              </a:rPr>
              <a:t>$result = </a:t>
            </a:r>
            <a:r>
              <a:rPr lang="en-US" sz="2000" b="1" dirty="0" err="1">
                <a:solidFill>
                  <a:srgbClr val="92D050"/>
                </a:solidFill>
              </a:rPr>
              <a:t>mysql_query</a:t>
            </a:r>
            <a:r>
              <a:rPr lang="en-US" sz="2000" b="1" dirty="0">
                <a:solidFill>
                  <a:srgbClr val="92D050"/>
                </a:solidFill>
              </a:rPr>
              <a:t>("SELECT * FROM Persons where </a:t>
            </a:r>
            <a:r>
              <a:rPr lang="en-US" sz="2000" b="1" dirty="0" err="1">
                <a:solidFill>
                  <a:srgbClr val="92D050"/>
                </a:solidFill>
              </a:rPr>
              <a:t>firstname</a:t>
            </a:r>
            <a:r>
              <a:rPr lang="en-US" sz="2000" b="1" dirty="0">
                <a:solidFill>
                  <a:srgbClr val="92D050"/>
                </a:solidFill>
              </a:rPr>
              <a:t>='</a:t>
            </a:r>
            <a:r>
              <a:rPr lang="en-US" sz="2000" b="1" dirty="0" err="1">
                <a:solidFill>
                  <a:srgbClr val="92D050"/>
                </a:solidFill>
              </a:rPr>
              <a:t>nayomi</a:t>
            </a:r>
            <a:r>
              <a:rPr lang="en-US" sz="2000" b="1" dirty="0">
                <a:solidFill>
                  <a:srgbClr val="92D050"/>
                </a:solidFill>
              </a:rPr>
              <a:t>' ");</a:t>
            </a:r>
            <a:r>
              <a:rPr lang="en-US" sz="2000" dirty="0"/>
              <a:t>	//Display data.</a:t>
            </a:r>
          </a:p>
          <a:p>
            <a:pPr marL="119062" indent="0">
              <a:buNone/>
            </a:pPr>
            <a:r>
              <a:rPr lang="en-US" sz="2000" dirty="0"/>
              <a:t>while($row=</a:t>
            </a:r>
            <a:r>
              <a:rPr lang="en-US" sz="2000" dirty="0" err="1"/>
              <a:t>mysql_fetch_array</a:t>
            </a:r>
            <a:r>
              <a:rPr lang="en-US" sz="2000" dirty="0"/>
              <a:t>($result))</a:t>
            </a:r>
          </a:p>
          <a:p>
            <a:pPr marL="119062" indent="0">
              <a:buNone/>
            </a:pPr>
            <a:r>
              <a:rPr lang="en-US" sz="2000" dirty="0"/>
              <a:t>{</a:t>
            </a:r>
          </a:p>
          <a:p>
            <a:pPr marL="119062" indent="0">
              <a:buNone/>
            </a:pPr>
            <a:r>
              <a:rPr lang="en-US" sz="2000" dirty="0"/>
              <a:t>echo $row['</a:t>
            </a:r>
            <a:r>
              <a:rPr lang="en-US" sz="2000" dirty="0" err="1"/>
              <a:t>FirstName</a:t>
            </a:r>
            <a:r>
              <a:rPr lang="en-US" sz="2000" dirty="0"/>
              <a:t>']." ".$row['</a:t>
            </a:r>
            <a:r>
              <a:rPr lang="en-US" sz="2000" dirty="0" err="1"/>
              <a:t>LastName</a:t>
            </a:r>
            <a:r>
              <a:rPr lang="en-US" sz="2000" dirty="0"/>
              <a:t>']." ".$row['Age'];</a:t>
            </a:r>
          </a:p>
          <a:p>
            <a:pPr marL="119062" indent="0">
              <a:buNone/>
            </a:pPr>
            <a:r>
              <a:rPr lang="en-US" sz="2000" dirty="0"/>
              <a:t>echo "&lt;</a:t>
            </a:r>
            <a:r>
              <a:rPr lang="en-US" sz="2000" dirty="0" err="1"/>
              <a:t>br</a:t>
            </a:r>
            <a:r>
              <a:rPr lang="en-US" sz="2000" dirty="0"/>
              <a:t>/&gt;";</a:t>
            </a:r>
          </a:p>
          <a:p>
            <a:pPr marL="119062" indent="0">
              <a:buNone/>
            </a:pPr>
            <a:r>
              <a:rPr lang="en-US" sz="2000" dirty="0"/>
              <a:t>}</a:t>
            </a:r>
          </a:p>
          <a:p>
            <a:pPr marL="119062" indent="0">
              <a:buNone/>
            </a:pPr>
            <a:r>
              <a:rPr lang="en-US" sz="2000" dirty="0"/>
              <a:t>	//Close database connection.</a:t>
            </a:r>
          </a:p>
          <a:p>
            <a:pPr marL="119062" indent="0">
              <a:buNone/>
            </a:pPr>
            <a:r>
              <a:rPr lang="en-US" sz="2000" dirty="0"/>
              <a:t>	</a:t>
            </a:r>
            <a:r>
              <a:rPr lang="en-US" sz="2000" dirty="0" err="1"/>
              <a:t>mysql_close</a:t>
            </a:r>
            <a:r>
              <a:rPr lang="en-US" sz="2000" dirty="0"/>
              <a:t>($con);  </a:t>
            </a:r>
          </a:p>
          <a:p>
            <a:pPr marL="119062" indent="0">
              <a:buNone/>
            </a:pPr>
            <a:r>
              <a:rPr lang="en-US" sz="2000" dirty="0"/>
              <a:t>?&gt;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8716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2"/>
          <p:cNvSpPr>
            <a:spLocks noGrp="1"/>
          </p:cNvSpPr>
          <p:nvPr>
            <p:ph type="title"/>
          </p:nvPr>
        </p:nvSpPr>
        <p:spPr bwMode="auto">
          <a:xfrm>
            <a:off x="457200" y="152400"/>
            <a:ext cx="8229600" cy="1250950"/>
          </a:xfrm>
        </p:spPr>
        <p:txBody>
          <a:bodyPr wrap="square" tIns="45720" bIns="45720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en-US" dirty="0" smtClean="0"/>
              <a:t>PHP + MySQL UPDATE</a:t>
            </a:r>
          </a:p>
        </p:txBody>
      </p:sp>
      <p:sp>
        <p:nvSpPr>
          <p:cNvPr id="73731" name="Rectangle 3"/>
          <p:cNvSpPr>
            <a:spLocks noGrp="1"/>
          </p:cNvSpPr>
          <p:nvPr>
            <p:ph idx="1"/>
          </p:nvPr>
        </p:nvSpPr>
        <p:spPr>
          <a:xfrm>
            <a:off x="457200" y="1851025"/>
            <a:ext cx="8229600" cy="4625975"/>
          </a:xfrm>
        </p:spPr>
        <p:txBody>
          <a:bodyPr/>
          <a:lstStyle/>
          <a:p>
            <a:r>
              <a:rPr lang="en-US" b="1" dirty="0" smtClean="0"/>
              <a:t>Syntax</a:t>
            </a:r>
          </a:p>
          <a:p>
            <a:endParaRPr lang="en-US" b="1" dirty="0" smtClean="0"/>
          </a:p>
          <a:p>
            <a:endParaRPr lang="en-US" b="1" dirty="0" smtClean="0"/>
          </a:p>
          <a:p>
            <a:endParaRPr lang="en-US" b="1" dirty="0" smtClean="0"/>
          </a:p>
        </p:txBody>
      </p:sp>
      <p:sp>
        <p:nvSpPr>
          <p:cNvPr id="4" name="Rectangle 3"/>
          <p:cNvSpPr/>
          <p:nvPr/>
        </p:nvSpPr>
        <p:spPr>
          <a:xfrm>
            <a:off x="1066800" y="2881148"/>
            <a:ext cx="7620000" cy="9906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r>
              <a:rPr lang="en-US" b="1">
                <a:solidFill>
                  <a:schemeClr val="tx1"/>
                </a:solidFill>
                <a:latin typeface="Arial" charset="0"/>
                <a:cs typeface="Arial" charset="0"/>
              </a:rPr>
              <a:t>UPDATE table_name</a:t>
            </a:r>
            <a:br>
              <a:rPr lang="en-US" b="1">
                <a:solidFill>
                  <a:schemeClr val="tx1"/>
                </a:solidFill>
                <a:latin typeface="Arial" charset="0"/>
                <a:cs typeface="Arial" charset="0"/>
              </a:rPr>
            </a:br>
            <a:r>
              <a:rPr lang="en-US" b="1">
                <a:solidFill>
                  <a:schemeClr val="tx1"/>
                </a:solidFill>
                <a:latin typeface="Arial" charset="0"/>
                <a:cs typeface="Arial" charset="0"/>
              </a:rPr>
              <a:t>SET column1=value, column2=value2,...</a:t>
            </a:r>
            <a:br>
              <a:rPr lang="en-US" b="1">
                <a:solidFill>
                  <a:schemeClr val="tx1"/>
                </a:solidFill>
                <a:latin typeface="Arial" charset="0"/>
                <a:cs typeface="Arial" charset="0"/>
              </a:rPr>
            </a:br>
            <a:r>
              <a:rPr lang="en-US" b="1">
                <a:solidFill>
                  <a:schemeClr val="tx1"/>
                </a:solidFill>
                <a:latin typeface="Arial" charset="0"/>
                <a:cs typeface="Arial" charset="0"/>
              </a:rPr>
              <a:t>WHERE some_column=some_value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524000"/>
            <a:ext cx="8229600" cy="4625975"/>
          </a:xfrm>
        </p:spPr>
        <p:txBody>
          <a:bodyPr>
            <a:normAutofit lnSpcReduction="10000"/>
          </a:bodyPr>
          <a:lstStyle/>
          <a:p>
            <a:pPr marL="411162" lvl="1" indent="0">
              <a:buNone/>
            </a:pPr>
            <a:r>
              <a:rPr lang="en-US" sz="2000" b="1" dirty="0">
                <a:latin typeface="Arial" charset="0"/>
                <a:cs typeface="Arial" charset="0"/>
              </a:rPr>
              <a:t>&lt;?</a:t>
            </a:r>
            <a:r>
              <a:rPr lang="en-US" sz="2000" b="1" dirty="0" err="1">
                <a:latin typeface="Arial" charset="0"/>
                <a:cs typeface="Arial" charset="0"/>
              </a:rPr>
              <a:t>php</a:t>
            </a:r>
            <a:endParaRPr lang="en-US" sz="2000" b="1" dirty="0">
              <a:latin typeface="Arial" charset="0"/>
              <a:cs typeface="Arial" charset="0"/>
            </a:endParaRPr>
          </a:p>
          <a:p>
            <a:pPr marL="411162" lvl="1" indent="0">
              <a:buNone/>
            </a:pPr>
            <a:r>
              <a:rPr lang="en-US" sz="2000" b="1" dirty="0">
                <a:latin typeface="Arial" charset="0"/>
                <a:cs typeface="Arial" charset="0"/>
              </a:rPr>
              <a:t>	$con = </a:t>
            </a:r>
            <a:r>
              <a:rPr lang="en-US" sz="2000" b="1" dirty="0" err="1">
                <a:latin typeface="Arial" charset="0"/>
                <a:cs typeface="Arial" charset="0"/>
              </a:rPr>
              <a:t>mysql_connect</a:t>
            </a:r>
            <a:r>
              <a:rPr lang="en-US" sz="2000" b="1" dirty="0">
                <a:latin typeface="Arial" charset="0"/>
                <a:cs typeface="Arial" charset="0"/>
              </a:rPr>
              <a:t>("</a:t>
            </a:r>
            <a:r>
              <a:rPr lang="en-US" sz="2000" b="1" dirty="0" err="1">
                <a:latin typeface="Arial" charset="0"/>
                <a:cs typeface="Arial" charset="0"/>
              </a:rPr>
              <a:t>localhost</a:t>
            </a:r>
            <a:r>
              <a:rPr lang="en-US" sz="2000" b="1" dirty="0">
                <a:latin typeface="Arial" charset="0"/>
                <a:cs typeface="Arial" charset="0"/>
              </a:rPr>
              <a:t>","root","");</a:t>
            </a:r>
          </a:p>
          <a:p>
            <a:pPr marL="411162" lvl="1" indent="0">
              <a:buNone/>
            </a:pPr>
            <a:r>
              <a:rPr lang="en-US" sz="2000" b="1" dirty="0">
                <a:latin typeface="Arial" charset="0"/>
                <a:cs typeface="Arial" charset="0"/>
              </a:rPr>
              <a:t> 	if(!$con)</a:t>
            </a:r>
          </a:p>
          <a:p>
            <a:pPr marL="411162" lvl="1" indent="0">
              <a:buNone/>
            </a:pPr>
            <a:r>
              <a:rPr lang="en-US" sz="2000" b="1" dirty="0">
                <a:latin typeface="Arial" charset="0"/>
                <a:cs typeface="Arial" charset="0"/>
              </a:rPr>
              <a:t>{</a:t>
            </a:r>
          </a:p>
          <a:p>
            <a:pPr marL="411162" lvl="1" indent="0">
              <a:buNone/>
            </a:pPr>
            <a:r>
              <a:rPr lang="en-US" sz="2000" b="1" dirty="0">
                <a:latin typeface="Arial" charset="0"/>
                <a:cs typeface="Arial" charset="0"/>
              </a:rPr>
              <a:t>die('could not connect:'.</a:t>
            </a:r>
            <a:r>
              <a:rPr lang="en-US" sz="2000" b="1" dirty="0" err="1">
                <a:latin typeface="Arial" charset="0"/>
                <a:cs typeface="Arial" charset="0"/>
              </a:rPr>
              <a:t>mysql_error</a:t>
            </a:r>
            <a:r>
              <a:rPr lang="en-US" sz="2000" b="1" dirty="0">
                <a:latin typeface="Arial" charset="0"/>
                <a:cs typeface="Arial" charset="0"/>
              </a:rPr>
              <a:t>());</a:t>
            </a:r>
          </a:p>
          <a:p>
            <a:pPr marL="411162" lvl="1" indent="0">
              <a:buNone/>
            </a:pPr>
            <a:r>
              <a:rPr lang="en-US" sz="2000" b="1" dirty="0">
                <a:latin typeface="Arial" charset="0"/>
                <a:cs typeface="Arial" charset="0"/>
              </a:rPr>
              <a:t>}</a:t>
            </a:r>
          </a:p>
          <a:p>
            <a:pPr marL="411162" lvl="1" indent="0">
              <a:buNone/>
            </a:pPr>
            <a:r>
              <a:rPr lang="en-US" sz="2000" b="1" dirty="0">
                <a:latin typeface="Arial" charset="0"/>
                <a:cs typeface="Arial" charset="0"/>
              </a:rPr>
              <a:t>	//Select the database.</a:t>
            </a:r>
          </a:p>
          <a:p>
            <a:pPr marL="411162" lvl="1" indent="0">
              <a:buNone/>
            </a:pPr>
            <a:r>
              <a:rPr lang="en-US" sz="2000" b="1" dirty="0">
                <a:latin typeface="Arial" charset="0"/>
                <a:cs typeface="Arial" charset="0"/>
              </a:rPr>
              <a:t>	</a:t>
            </a:r>
            <a:r>
              <a:rPr lang="en-US" sz="2000" b="1" dirty="0" err="1">
                <a:latin typeface="Arial" charset="0"/>
                <a:cs typeface="Arial" charset="0"/>
              </a:rPr>
              <a:t>mysql_select_db</a:t>
            </a:r>
            <a:r>
              <a:rPr lang="en-US" sz="2000" b="1" dirty="0">
                <a:latin typeface="Arial" charset="0"/>
                <a:cs typeface="Arial" charset="0"/>
              </a:rPr>
              <a:t>("my_</a:t>
            </a:r>
            <a:r>
              <a:rPr lang="en-US" sz="2000" b="1" dirty="0" err="1">
                <a:latin typeface="Arial" charset="0"/>
                <a:cs typeface="Arial" charset="0"/>
              </a:rPr>
              <a:t>db</a:t>
            </a:r>
            <a:r>
              <a:rPr lang="en-US" sz="2000" b="1" dirty="0">
                <a:latin typeface="Arial" charset="0"/>
                <a:cs typeface="Arial" charset="0"/>
              </a:rPr>
              <a:t>",$con);	// Execute query</a:t>
            </a:r>
          </a:p>
          <a:p>
            <a:pPr marL="411162" lvl="1" indent="0">
              <a:buNone/>
            </a:pPr>
            <a:r>
              <a:rPr lang="en-US" sz="2000" b="1" dirty="0">
                <a:latin typeface="Arial" charset="0"/>
                <a:cs typeface="Arial" charset="0"/>
              </a:rPr>
              <a:t>	</a:t>
            </a:r>
            <a:r>
              <a:rPr lang="en-US" sz="2000" b="1" dirty="0" err="1">
                <a:latin typeface="Arial" charset="0"/>
                <a:cs typeface="Arial" charset="0"/>
              </a:rPr>
              <a:t>mysql_query</a:t>
            </a:r>
            <a:r>
              <a:rPr lang="en-US" sz="2000" b="1" dirty="0">
                <a:latin typeface="Arial" charset="0"/>
                <a:cs typeface="Arial" charset="0"/>
              </a:rPr>
              <a:t>("UPDATE Persons SET Age = '36' WHERE </a:t>
            </a:r>
            <a:r>
              <a:rPr lang="en-US" sz="2000" b="1" dirty="0" err="1">
                <a:latin typeface="Arial" charset="0"/>
                <a:cs typeface="Arial" charset="0"/>
              </a:rPr>
              <a:t>FirstName</a:t>
            </a:r>
            <a:r>
              <a:rPr lang="en-US" sz="2000" b="1" dirty="0">
                <a:latin typeface="Arial" charset="0"/>
                <a:cs typeface="Arial" charset="0"/>
              </a:rPr>
              <a:t> = 'Peter' AND </a:t>
            </a:r>
            <a:r>
              <a:rPr lang="en-US" sz="2000" b="1" dirty="0" err="1">
                <a:latin typeface="Arial" charset="0"/>
                <a:cs typeface="Arial" charset="0"/>
              </a:rPr>
              <a:t>LastName</a:t>
            </a:r>
            <a:r>
              <a:rPr lang="en-US" sz="2000" b="1" dirty="0">
                <a:latin typeface="Arial" charset="0"/>
                <a:cs typeface="Arial" charset="0"/>
              </a:rPr>
              <a:t> = 'Griffin'");</a:t>
            </a:r>
          </a:p>
          <a:p>
            <a:pPr marL="411162" lvl="1" indent="0">
              <a:buNone/>
            </a:pPr>
            <a:r>
              <a:rPr lang="en-US" sz="2000" b="1" dirty="0">
                <a:latin typeface="Arial" charset="0"/>
                <a:cs typeface="Arial" charset="0"/>
              </a:rPr>
              <a:t>		//Close database connection.</a:t>
            </a:r>
          </a:p>
          <a:p>
            <a:pPr marL="411162" lvl="1" indent="0">
              <a:buNone/>
            </a:pPr>
            <a:r>
              <a:rPr lang="en-US" sz="2000" b="1" dirty="0">
                <a:latin typeface="Arial" charset="0"/>
                <a:cs typeface="Arial" charset="0"/>
              </a:rPr>
              <a:t>	</a:t>
            </a:r>
            <a:r>
              <a:rPr lang="en-US" sz="2000" b="1" dirty="0" err="1">
                <a:latin typeface="Arial" charset="0"/>
                <a:cs typeface="Arial" charset="0"/>
              </a:rPr>
              <a:t>mysql_close</a:t>
            </a:r>
            <a:r>
              <a:rPr lang="en-US" sz="2000" b="1" dirty="0">
                <a:latin typeface="Arial" charset="0"/>
                <a:cs typeface="Arial" charset="0"/>
              </a:rPr>
              <a:t>($con); </a:t>
            </a:r>
          </a:p>
          <a:p>
            <a:pPr marL="411162" lvl="1" indent="0">
              <a:buNone/>
            </a:pPr>
            <a:r>
              <a:rPr lang="en-US" sz="2000" b="1" dirty="0">
                <a:latin typeface="Arial" charset="0"/>
                <a:cs typeface="Arial" charset="0"/>
              </a:rPr>
              <a:t>?&gt; </a:t>
            </a:r>
          </a:p>
        </p:txBody>
      </p:sp>
    </p:spTree>
    <p:extLst>
      <p:ext uri="{BB962C8B-B14F-4D97-AF65-F5344CB8AC3E}">
        <p14:creationId xmlns:p14="http://schemas.microsoft.com/office/powerpoint/2010/main" val="2962043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Delete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9137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HNDIT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HNDIT</Template>
  <TotalTime>5340</TotalTime>
  <Words>977</Words>
  <Application>Microsoft Office PowerPoint</Application>
  <PresentationFormat>On-screen Show (4:3)</PresentationFormat>
  <Paragraphs>463</Paragraphs>
  <Slides>36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0" baseType="lpstr">
      <vt:lpstr>Arial</vt:lpstr>
      <vt:lpstr>Calibri</vt:lpstr>
      <vt:lpstr>Wingdings 2</vt:lpstr>
      <vt:lpstr>HNDIT</vt:lpstr>
      <vt:lpstr>IT2413  Web Programming</vt:lpstr>
      <vt:lpstr>OOP</vt:lpstr>
      <vt:lpstr>OOP</vt:lpstr>
      <vt:lpstr>Creating a Class &amp; an Object</vt:lpstr>
      <vt:lpstr>Defining A Class and Objects</vt:lpstr>
      <vt:lpstr>Exercise</vt:lpstr>
      <vt:lpstr>Properties of Object</vt:lpstr>
      <vt:lpstr>Exercise1</vt:lpstr>
      <vt:lpstr>Exercise2</vt:lpstr>
      <vt:lpstr>exercise3</vt:lpstr>
      <vt:lpstr>Exercise4</vt:lpstr>
      <vt:lpstr>Example5</vt:lpstr>
      <vt:lpstr>Example6-Inheritance</vt:lpstr>
      <vt:lpstr>MySQL Introduction</vt:lpstr>
      <vt:lpstr>PHP+MySQL Connect to Database</vt:lpstr>
      <vt:lpstr>PHP+MySQL Connect to Database</vt:lpstr>
      <vt:lpstr>Closing a Connection</vt:lpstr>
      <vt:lpstr>Closing a Connection</vt:lpstr>
      <vt:lpstr>PHP+MySQL - Create Database</vt:lpstr>
      <vt:lpstr>PHP+MySQL - Create Database</vt:lpstr>
      <vt:lpstr>PHP+MySQL Create Table</vt:lpstr>
      <vt:lpstr>PHP+MySQL Create Table</vt:lpstr>
      <vt:lpstr>Create Table Continue…</vt:lpstr>
      <vt:lpstr>Create Table Continue…</vt:lpstr>
      <vt:lpstr>PHP MySQL INSERT INTO</vt:lpstr>
      <vt:lpstr>PHP MySQL INSERT INTO</vt:lpstr>
      <vt:lpstr>Exercise-Inserting data using a form</vt:lpstr>
      <vt:lpstr>Answer –insertdb.html</vt:lpstr>
      <vt:lpstr>Answer –insertdb.php</vt:lpstr>
      <vt:lpstr>PHP + MySQL SELECT</vt:lpstr>
      <vt:lpstr>Example</vt:lpstr>
      <vt:lpstr>SELECT with WHERE clause</vt:lpstr>
      <vt:lpstr>Example</vt:lpstr>
      <vt:lpstr>PHP + MySQL UPDATE</vt:lpstr>
      <vt:lpstr>Example</vt:lpstr>
      <vt:lpstr>Delete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Server side programming</dc:title>
  <dc:creator>tfn</dc:creator>
  <cp:lastModifiedBy>Acer</cp:lastModifiedBy>
  <cp:revision>517</cp:revision>
  <dcterms:created xsi:type="dcterms:W3CDTF">2009-08-27T14:05:17Z</dcterms:created>
  <dcterms:modified xsi:type="dcterms:W3CDTF">2019-01-09T04:45:40Z</dcterms:modified>
</cp:coreProperties>
</file>