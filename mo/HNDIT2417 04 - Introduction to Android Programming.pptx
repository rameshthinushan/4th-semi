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handoutMasterIdLst>
    <p:handoutMasterId r:id="rId41"/>
  </p:handoutMasterIdLst>
  <p:sldIdLst>
    <p:sldId id="256" r:id="rId2"/>
    <p:sldId id="314" r:id="rId3"/>
    <p:sldId id="315" r:id="rId4"/>
    <p:sldId id="317" r:id="rId5"/>
    <p:sldId id="316" r:id="rId6"/>
    <p:sldId id="318" r:id="rId7"/>
    <p:sldId id="335" r:id="rId8"/>
    <p:sldId id="325" r:id="rId9"/>
    <p:sldId id="328" r:id="rId10"/>
    <p:sldId id="332" r:id="rId11"/>
    <p:sldId id="333" r:id="rId12"/>
    <p:sldId id="336" r:id="rId13"/>
    <p:sldId id="337" r:id="rId14"/>
    <p:sldId id="319" r:id="rId15"/>
    <p:sldId id="322" r:id="rId16"/>
    <p:sldId id="326" r:id="rId17"/>
    <p:sldId id="327" r:id="rId18"/>
    <p:sldId id="323" r:id="rId19"/>
    <p:sldId id="296" r:id="rId20"/>
    <p:sldId id="277" r:id="rId21"/>
    <p:sldId id="320" r:id="rId22"/>
    <p:sldId id="307" r:id="rId23"/>
    <p:sldId id="306" r:id="rId24"/>
    <p:sldId id="283" r:id="rId25"/>
    <p:sldId id="346" r:id="rId26"/>
    <p:sldId id="338" r:id="rId27"/>
    <p:sldId id="339" r:id="rId28"/>
    <p:sldId id="347" r:id="rId29"/>
    <p:sldId id="341" r:id="rId30"/>
    <p:sldId id="349" r:id="rId31"/>
    <p:sldId id="340" r:id="rId32"/>
    <p:sldId id="350" r:id="rId33"/>
    <p:sldId id="343" r:id="rId34"/>
    <p:sldId id="342" r:id="rId35"/>
    <p:sldId id="348" r:id="rId36"/>
    <p:sldId id="351" r:id="rId37"/>
    <p:sldId id="344" r:id="rId38"/>
    <p:sldId id="345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00" autoAdjust="0"/>
    <p:restoredTop sz="94662" autoAdjust="0"/>
  </p:normalViewPr>
  <p:slideViewPr>
    <p:cSldViewPr>
      <p:cViewPr>
        <p:scale>
          <a:sx n="70" d="100"/>
          <a:sy n="70" d="100"/>
        </p:scale>
        <p:origin x="-115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1DB0B-BF34-4EDE-ADDE-33D6FBE959CE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Janaka</a:t>
            </a:r>
            <a:r>
              <a:rPr lang="en-US" dirty="0"/>
              <a:t> </a:t>
            </a:r>
            <a:r>
              <a:rPr lang="en-US" dirty="0" err="1"/>
              <a:t>Rajakaruna</a:t>
            </a:r>
            <a:r>
              <a:rPr lang="en-US" dirty="0"/>
              <a:t>, ATI- </a:t>
            </a:r>
            <a:r>
              <a:rPr lang="en-US" dirty="0" err="1" smtClean="0"/>
              <a:t>Dehiwala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E05F8-1F3D-4905-B908-8E5D76384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.techotopia.com/index.php/Image:Android_studio_designer_overview2.p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469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 smtClean="0">
                <a:solidFill>
                  <a:schemeClr val="tx1"/>
                </a:solidFill>
              </a:rPr>
              <a:t>Introduction to Android </a:t>
            </a:r>
            <a:r>
              <a:rPr lang="en-US" sz="2800" dirty="0" smtClean="0">
                <a:solidFill>
                  <a:schemeClr val="tx1"/>
                </a:solidFill>
              </a:rPr>
              <a:t>Programming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HNDIT2417</a:t>
            </a:r>
            <a:br>
              <a:rPr lang="en-US" sz="3600" dirty="0" smtClean="0"/>
            </a:br>
            <a:r>
              <a:rPr lang="en-US" sz="3600" dirty="0" smtClean="0"/>
              <a:t>Mobile Application Development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8139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new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AutoShape 2" descr="Create a new Android Studio project, work with an existing Android Studio project, and more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225" y="2724150"/>
            <a:ext cx="5905500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998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new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Application Name</a:t>
            </a:r>
          </a:p>
          <a:p>
            <a:r>
              <a:rPr lang="en-US" dirty="0" smtClean="0"/>
              <a:t>Company domain</a:t>
            </a:r>
          </a:p>
          <a:p>
            <a:r>
              <a:rPr lang="en-US" dirty="0" smtClean="0"/>
              <a:t>Project name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AutoShape 2" descr="Create a new Android Studio project, work with an existing Android Studio project, and more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3019425"/>
            <a:ext cx="5905500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307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new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Select Target device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AutoShape 2" descr="Create a new Android Studio project, work with an existing Android Studio project, and more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2" descr="androidstudiop1 fig16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798075"/>
            <a:ext cx="5905500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81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new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239000" cy="4525963"/>
          </a:xfrm>
        </p:spPr>
        <p:txBody>
          <a:bodyPr/>
          <a:lstStyle/>
          <a:p>
            <a:r>
              <a:rPr lang="en-US" dirty="0" smtClean="0"/>
              <a:t>Choose </a:t>
            </a:r>
            <a:r>
              <a:rPr lang="en-US" dirty="0"/>
              <a:t>a template </a:t>
            </a:r>
            <a:r>
              <a:rPr lang="en-US" dirty="0" smtClean="0"/>
              <a:t>for main activity</a:t>
            </a:r>
            <a:endParaRPr lang="en-US" dirty="0"/>
          </a:p>
        </p:txBody>
      </p:sp>
      <p:sp>
        <p:nvSpPr>
          <p:cNvPr id="5" name="AutoShape 2" descr="Create a new Android Studio project, work with an existing Android Studio project, and more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522624"/>
            <a:ext cx="6324600" cy="434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262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new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239000" cy="4525963"/>
          </a:xfrm>
        </p:spPr>
        <p:txBody>
          <a:bodyPr/>
          <a:lstStyle/>
          <a:p>
            <a:r>
              <a:rPr lang="en-US" dirty="0" smtClean="0"/>
              <a:t>Activity name – java file name</a:t>
            </a:r>
          </a:p>
          <a:p>
            <a:r>
              <a:rPr lang="en-US" dirty="0" smtClean="0"/>
              <a:t>Layout name- XML file name</a:t>
            </a:r>
            <a:endParaRPr lang="en-US" dirty="0"/>
          </a:p>
        </p:txBody>
      </p:sp>
      <p:sp>
        <p:nvSpPr>
          <p:cNvPr id="5" name="AutoShape 2" descr="Create a new Android Studio project, work with an existing Android Studio project, and more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451" y="2590800"/>
            <a:ext cx="6248549" cy="4293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817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Android Studio </a:t>
            </a:r>
            <a:r>
              <a:rPr lang="en-US" dirty="0" smtClean="0"/>
              <a:t>Designer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Designer tool operates in two distinct modes </a:t>
            </a:r>
            <a:endParaRPr lang="en-US" dirty="0" smtClean="0"/>
          </a:p>
          <a:p>
            <a:pPr lvl="1" algn="just"/>
            <a:r>
              <a:rPr lang="en-US" dirty="0" smtClean="0"/>
              <a:t>Design </a:t>
            </a:r>
            <a:r>
              <a:rPr lang="en-US" dirty="0"/>
              <a:t>mode </a:t>
            </a:r>
            <a:r>
              <a:rPr lang="en-US" dirty="0" smtClean="0"/>
              <a:t>(</a:t>
            </a:r>
            <a:r>
              <a:rPr lang="en-US" dirty="0"/>
              <a:t> user interface can be visually manipulated by directly working with the view palette and the graphical representation of the layout</a:t>
            </a:r>
            <a:r>
              <a:rPr lang="en-US" dirty="0" smtClean="0"/>
              <a:t>)</a:t>
            </a:r>
          </a:p>
          <a:p>
            <a:pPr lvl="1" algn="just"/>
            <a:r>
              <a:rPr lang="en-US" dirty="0" smtClean="0"/>
              <a:t>Text mode ( </a:t>
            </a:r>
            <a:r>
              <a:rPr lang="en-US" dirty="0"/>
              <a:t>XML resource file containing the definition of the user interface 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15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Design mode</a:t>
            </a:r>
            <a:endParaRPr lang="en-US" dirty="0"/>
          </a:p>
        </p:txBody>
      </p:sp>
      <p:pic>
        <p:nvPicPr>
          <p:cNvPr id="4" name="Picture 3" descr="The key areas of the Android Studio Designer tool in Design mode">
            <a:hlinkClick r:id="rId2" tooltip="&quot;The key areas of the Android Studio Designer tool in Design mode&quot;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49241"/>
            <a:ext cx="7786052" cy="5808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590800" y="3048000"/>
            <a:ext cx="220980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 – Palette</a:t>
            </a:r>
            <a:r>
              <a:rPr lang="en-US" sz="1600" dirty="0"/>
              <a:t> </a:t>
            </a:r>
            <a:endParaRPr lang="en-US" sz="1600" dirty="0" smtClean="0"/>
          </a:p>
          <a:p>
            <a:r>
              <a:rPr lang="en-US" sz="1600" b="1" dirty="0"/>
              <a:t>B – Device Screen</a:t>
            </a:r>
            <a:r>
              <a:rPr lang="en-US" sz="1600" dirty="0"/>
              <a:t> </a:t>
            </a:r>
            <a:endParaRPr lang="en-US" sz="1600" dirty="0" smtClean="0"/>
          </a:p>
          <a:p>
            <a:r>
              <a:rPr lang="en-US" sz="1600" b="1" dirty="0"/>
              <a:t>C – Component Tree</a:t>
            </a:r>
            <a:r>
              <a:rPr lang="en-US" sz="1600" dirty="0"/>
              <a:t> </a:t>
            </a:r>
            <a:endParaRPr lang="en-US" sz="1600" dirty="0" smtClean="0"/>
          </a:p>
          <a:p>
            <a:r>
              <a:rPr lang="en-US" sz="1600" b="1" dirty="0"/>
              <a:t>D – Properties</a:t>
            </a:r>
            <a:r>
              <a:rPr lang="en-US" sz="1600" dirty="0"/>
              <a:t> </a:t>
            </a:r>
            <a:endParaRPr lang="en-US" sz="1600" dirty="0" smtClean="0"/>
          </a:p>
          <a:p>
            <a:r>
              <a:rPr lang="en-US" sz="1600" b="1" dirty="0"/>
              <a:t>E – Toolbar</a:t>
            </a:r>
            <a:r>
              <a:rPr lang="en-US" sz="1600" dirty="0"/>
              <a:t> </a:t>
            </a:r>
            <a:endParaRPr lang="en-US" sz="1600" dirty="0" smtClean="0"/>
          </a:p>
          <a:p>
            <a:r>
              <a:rPr lang="en-US" sz="1400" b="1" dirty="0"/>
              <a:t>F – Mode Switching Tabs</a:t>
            </a:r>
            <a:r>
              <a:rPr lang="en-US" sz="14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3550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Studio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 – Palette</a:t>
            </a:r>
            <a:r>
              <a:rPr lang="en-US" dirty="0"/>
              <a:t> </a:t>
            </a:r>
            <a:endParaRPr lang="en-US" dirty="0" smtClean="0"/>
          </a:p>
          <a:p>
            <a:pPr lvl="1"/>
            <a:r>
              <a:rPr lang="en-US" dirty="0" smtClean="0"/>
              <a:t>provides </a:t>
            </a:r>
            <a:r>
              <a:rPr lang="en-US" dirty="0"/>
              <a:t>access to the range of </a:t>
            </a:r>
            <a:r>
              <a:rPr lang="en-US" dirty="0" smtClean="0"/>
              <a:t>components </a:t>
            </a:r>
            <a:r>
              <a:rPr lang="en-US" dirty="0"/>
              <a:t>provided by the Android </a:t>
            </a:r>
            <a:r>
              <a:rPr lang="en-US" dirty="0" smtClean="0"/>
              <a:t>SDK.</a:t>
            </a:r>
          </a:p>
          <a:p>
            <a:pPr lvl="1"/>
            <a:r>
              <a:rPr lang="en-US" dirty="0" smtClean="0"/>
              <a:t>These </a:t>
            </a:r>
            <a:r>
              <a:rPr lang="en-US" dirty="0"/>
              <a:t>are grouped into categories for easy navigation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Items </a:t>
            </a:r>
            <a:r>
              <a:rPr lang="en-US" dirty="0"/>
              <a:t>may be added to the layout either by dragging </a:t>
            </a:r>
            <a:r>
              <a:rPr lang="en-US" dirty="0" smtClean="0"/>
              <a:t>components </a:t>
            </a:r>
            <a:r>
              <a:rPr lang="en-US" dirty="0"/>
              <a:t>from the palette and dropping it at the desired position on the </a:t>
            </a:r>
            <a:r>
              <a:rPr lang="en-US" dirty="0" smtClean="0"/>
              <a:t>layout</a:t>
            </a:r>
          </a:p>
          <a:p>
            <a:r>
              <a:rPr lang="en-US" b="1" dirty="0" smtClean="0"/>
              <a:t>B </a:t>
            </a:r>
            <a:r>
              <a:rPr lang="en-US" b="1" dirty="0"/>
              <a:t>– Device Screen</a:t>
            </a:r>
            <a:r>
              <a:rPr lang="en-US" dirty="0"/>
              <a:t> 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device screen provides a visual </a:t>
            </a:r>
            <a:r>
              <a:rPr lang="en-US" dirty="0" smtClean="0"/>
              <a:t>representation </a:t>
            </a:r>
            <a:r>
              <a:rPr lang="en-US" dirty="0"/>
              <a:t>of the user interface layout as it is being designed.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layout allows for direct manipulation of the </a:t>
            </a:r>
            <a:r>
              <a:rPr lang="en-US" dirty="0" smtClean="0"/>
              <a:t>device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15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Studio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8006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 – Component </a:t>
            </a:r>
            <a:r>
              <a:rPr lang="en-US" b="1" dirty="0" smtClean="0"/>
              <a:t>Tree</a:t>
            </a:r>
          </a:p>
          <a:p>
            <a:pPr lvl="1" algn="just"/>
            <a:r>
              <a:rPr lang="en-US" dirty="0" smtClean="0"/>
              <a:t>User </a:t>
            </a:r>
            <a:r>
              <a:rPr lang="en-US" dirty="0"/>
              <a:t>interfaces are constructed using a hierarchical structure. </a:t>
            </a:r>
            <a:endParaRPr lang="en-US" dirty="0" smtClean="0"/>
          </a:p>
          <a:p>
            <a:pPr lvl="1" algn="just"/>
            <a:r>
              <a:rPr lang="en-US" dirty="0" smtClean="0"/>
              <a:t>The </a:t>
            </a:r>
            <a:r>
              <a:rPr lang="en-US" dirty="0"/>
              <a:t>component tree provides a visual </a:t>
            </a:r>
            <a:r>
              <a:rPr lang="en-US" dirty="0" smtClean="0"/>
              <a:t>hierarchy </a:t>
            </a:r>
            <a:r>
              <a:rPr lang="en-US" dirty="0"/>
              <a:t>of the user interface design. </a:t>
            </a:r>
            <a:endParaRPr lang="en-US" dirty="0" smtClean="0"/>
          </a:p>
          <a:p>
            <a:pPr lvl="1" algn="just"/>
            <a:r>
              <a:rPr lang="en-US" dirty="0" smtClean="0"/>
              <a:t>Selecting </a:t>
            </a:r>
            <a:r>
              <a:rPr lang="en-US" dirty="0"/>
              <a:t>an element from the component tree will cause the corresponding view in the layout to be selected. Similarly, selecting a view from the device screen layout will select that view in the component tree hierarchy.</a:t>
            </a:r>
          </a:p>
          <a:p>
            <a:pPr algn="just"/>
            <a:r>
              <a:rPr lang="en-US" b="1" dirty="0"/>
              <a:t>D – Properties</a:t>
            </a:r>
            <a:r>
              <a:rPr lang="en-US" dirty="0"/>
              <a:t> </a:t>
            </a:r>
          </a:p>
          <a:p>
            <a:pPr lvl="1" algn="just"/>
            <a:r>
              <a:rPr lang="en-US" dirty="0" smtClean="0"/>
              <a:t>All the </a:t>
            </a:r>
            <a:r>
              <a:rPr lang="en-US" dirty="0"/>
              <a:t>component views </a:t>
            </a:r>
            <a:r>
              <a:rPr lang="en-US" dirty="0" smtClean="0"/>
              <a:t>in </a:t>
            </a:r>
            <a:r>
              <a:rPr lang="en-US" dirty="0"/>
              <a:t>the palette have associated </a:t>
            </a:r>
            <a:r>
              <a:rPr lang="en-US" dirty="0" smtClean="0"/>
              <a:t>properties </a:t>
            </a:r>
            <a:r>
              <a:rPr lang="en-US" dirty="0"/>
              <a:t>that can be used to adjust the behavior and appearance of that view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 smtClean="0"/>
              <a:t>The properties </a:t>
            </a:r>
            <a:r>
              <a:rPr lang="en-US" dirty="0"/>
              <a:t>panel provides access to the properties of the currently selected view in the layout allowing changes to be made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42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Studio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724400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E </a:t>
            </a:r>
            <a:r>
              <a:rPr lang="en-US" b="1" dirty="0"/>
              <a:t>– </a:t>
            </a:r>
            <a:r>
              <a:rPr lang="en-US" b="1" dirty="0" smtClean="0"/>
              <a:t>Toolbar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Designer toolbar provides quick access to a wide range of options including, amongst other </a:t>
            </a:r>
            <a:r>
              <a:rPr lang="en-US" dirty="0" smtClean="0"/>
              <a:t>options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toolbar also has a set of context sensitive buttons which will appear when relevant view types are selected in the device screen layout.</a:t>
            </a:r>
          </a:p>
          <a:p>
            <a:r>
              <a:rPr lang="en-US" b="1" dirty="0"/>
              <a:t>F – Mode Switching Tabs</a:t>
            </a:r>
            <a:r>
              <a:rPr lang="en-US" dirty="0"/>
              <a:t> 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tabs located along the lower edge of the Designer provide a way to switch back and forth between the Designer tool’s text and design </a:t>
            </a:r>
            <a:r>
              <a:rPr lang="en-US" dirty="0" smtClean="0"/>
              <a:t>modes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28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The key areas of the Android Studio Designer tool in Text mo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97722"/>
            <a:ext cx="9144000" cy="536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47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Studio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– Editor </a:t>
            </a:r>
            <a:endParaRPr lang="en-US" dirty="0" smtClean="0"/>
          </a:p>
          <a:p>
            <a:pPr lvl="1"/>
            <a:r>
              <a:rPr lang="en-US" dirty="0" smtClean="0"/>
              <a:t>displays </a:t>
            </a:r>
            <a:r>
              <a:rPr lang="en-US" dirty="0"/>
              <a:t>the XML that makes up the current user interface layout design</a:t>
            </a:r>
            <a:r>
              <a:rPr lang="en-US" dirty="0" smtClean="0"/>
              <a:t>. </a:t>
            </a:r>
          </a:p>
          <a:p>
            <a:r>
              <a:rPr lang="en-US" dirty="0" smtClean="0"/>
              <a:t>B – Preview </a:t>
            </a:r>
          </a:p>
          <a:p>
            <a:pPr lvl="1"/>
            <a:r>
              <a:rPr lang="en-US" dirty="0" smtClean="0"/>
              <a:t>As changes are made to the XML in the editor, these changes are visually reflected in the preview window. </a:t>
            </a:r>
          </a:p>
          <a:p>
            <a:r>
              <a:rPr lang="en-US" dirty="0" smtClean="0"/>
              <a:t>C </a:t>
            </a:r>
            <a:r>
              <a:rPr lang="en-US" dirty="0"/>
              <a:t>– Toolbar 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a subset of </a:t>
            </a:r>
            <a:r>
              <a:rPr lang="en-US" dirty="0" smtClean="0"/>
              <a:t>functions </a:t>
            </a:r>
            <a:r>
              <a:rPr lang="en-US" dirty="0"/>
              <a:t>available in design mode with the addition of a button to take a </a:t>
            </a:r>
            <a:r>
              <a:rPr lang="en-US" dirty="0" smtClean="0"/>
              <a:t>screenshot</a:t>
            </a:r>
          </a:p>
          <a:p>
            <a:r>
              <a:rPr lang="en-US" dirty="0" smtClean="0"/>
              <a:t>D </a:t>
            </a:r>
            <a:r>
              <a:rPr lang="en-US" dirty="0"/>
              <a:t>- Mode Switching </a:t>
            </a:r>
            <a:r>
              <a:rPr lang="en-US" dirty="0" smtClean="0"/>
              <a:t>Tabs</a:t>
            </a:r>
          </a:p>
        </p:txBody>
      </p:sp>
    </p:spTree>
    <p:extLst>
      <p:ext uri="{BB962C8B-B14F-4D97-AF65-F5344CB8AC3E}">
        <p14:creationId xmlns:p14="http://schemas.microsoft.com/office/powerpoint/2010/main" val="357964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the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To build and run your app, select </a:t>
            </a:r>
            <a:r>
              <a:rPr lang="en-US" b="1" dirty="0"/>
              <a:t>Run &gt; Run </a:t>
            </a:r>
            <a:r>
              <a:rPr lang="en-US" dirty="0"/>
              <a:t>in the menu bar (or click </a:t>
            </a:r>
            <a:r>
              <a:rPr lang="en-US" dirty="0" smtClean="0"/>
              <a:t>Run     in </a:t>
            </a:r>
            <a:r>
              <a:rPr lang="en-US" dirty="0"/>
              <a:t>the toolbar). 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2098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831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Single interface</a:t>
            </a:r>
          </a:p>
          <a:p>
            <a:r>
              <a:rPr lang="en-US" dirty="0" smtClean="0"/>
              <a:t>The </a:t>
            </a:r>
            <a:r>
              <a:rPr lang="en-US" dirty="0"/>
              <a:t>activity specifies what the app </a:t>
            </a:r>
            <a:r>
              <a:rPr lang="en-US" b="1" dirty="0"/>
              <a:t>does</a:t>
            </a:r>
            <a:r>
              <a:rPr lang="en-US" dirty="0"/>
              <a:t> and how it should respond to the user.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398452"/>
            <a:ext cx="2895600" cy="532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996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28599"/>
            <a:ext cx="6293672" cy="6461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504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7867986"/>
              </p:ext>
            </p:extLst>
          </p:nvPr>
        </p:nvGraphicFramePr>
        <p:xfrm>
          <a:off x="609600" y="381000"/>
          <a:ext cx="8153400" cy="6278027"/>
        </p:xfrm>
        <a:graphic>
          <a:graphicData uri="http://schemas.openxmlformats.org/drawingml/2006/table">
            <a:tbl>
              <a:tblPr/>
              <a:tblGrid>
                <a:gridCol w="1219200"/>
                <a:gridCol w="6934200"/>
              </a:tblGrid>
              <a:tr h="27883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 smtClean="0">
                          <a:effectLst/>
                        </a:rPr>
                        <a:t>No</a:t>
                      </a:r>
                      <a:r>
                        <a:rPr lang="en-US" sz="1800" dirty="0">
                          <a:effectLst/>
                        </a:rPr>
                        <a:t>.</a:t>
                      </a:r>
                    </a:p>
                  </a:txBody>
                  <a:tcPr marL="25368" marR="25368" marT="25368" marB="253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Folder, File &amp; Description</a:t>
                      </a:r>
                    </a:p>
                  </a:txBody>
                  <a:tcPr marL="25368" marR="25368" marT="25368" marB="253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13174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marL="25368" marR="25368" marT="25368" marB="253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Java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This contains the 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.java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 source files for your project. By default, it includes an 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</a:rPr>
                        <a:t>MainActivity.java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 source file having an activity class that runs when your app is launched using the app icon.</a:t>
                      </a:r>
                    </a:p>
                  </a:txBody>
                  <a:tcPr marL="25368" marR="25368" marT="25368" marB="253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dirty="0">
                          <a:effectLst/>
                        </a:rPr>
                        <a:t>2</a:t>
                      </a:r>
                    </a:p>
                  </a:txBody>
                  <a:tcPr marL="25368" marR="25368" marT="25368" marB="253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res/drawable-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</a:rPr>
                        <a:t>hdpi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This is a directory for drawable objects that are designed for high-density screens.</a:t>
                      </a:r>
                    </a:p>
                  </a:txBody>
                  <a:tcPr marL="25368" marR="25368" marT="25368" marB="253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6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dirty="0">
                          <a:effectLst/>
                        </a:rPr>
                        <a:t>3</a:t>
                      </a:r>
                    </a:p>
                  </a:txBody>
                  <a:tcPr marL="25368" marR="25368" marT="25368" marB="253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</a:rPr>
                        <a:t>res/layout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This is a directory for files that define your app's user interface.</a:t>
                      </a:r>
                    </a:p>
                  </a:txBody>
                  <a:tcPr marL="25368" marR="25368" marT="25368" marB="253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12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>
                          <a:effectLst/>
                        </a:rPr>
                        <a:t>4</a:t>
                      </a:r>
                    </a:p>
                  </a:txBody>
                  <a:tcPr marL="25368" marR="25368" marT="25368" marB="253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res/values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This is a directory for other various XML files that contain a collection of resources, such as strings and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</a:rPr>
                        <a:t>colours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 definitions.</a:t>
                      </a:r>
                    </a:p>
                  </a:txBody>
                  <a:tcPr marL="25368" marR="25368" marT="25368" marB="253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58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dirty="0">
                          <a:effectLst/>
                        </a:rPr>
                        <a:t>5</a:t>
                      </a:r>
                    </a:p>
                  </a:txBody>
                  <a:tcPr marL="25368" marR="25368" marT="25368" marB="253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</a:rPr>
                        <a:t>AndroidManifest.xml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</a:rPr>
                        <a:t>This is the manifest file which describes the fundamental characteristics of the app and defines each of its components.</a:t>
                      </a:r>
                    </a:p>
                  </a:txBody>
                  <a:tcPr marL="25368" marR="25368" marT="25368" marB="253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74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>
                          <a:effectLst/>
                        </a:rPr>
                        <a:t>6</a:t>
                      </a:r>
                    </a:p>
                  </a:txBody>
                  <a:tcPr marL="25368" marR="25368" marT="25368" marB="253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</a:rPr>
                        <a:t>Build.gradle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</a:rPr>
                        <a:t>These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are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auto generated file which contains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</a:rPr>
                        <a:t>compileSdkVersion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</a:rPr>
                        <a:t>buildToolsVersion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</a:rPr>
                        <a:t>applicationId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</a:rPr>
                        <a:t>minSdkVersion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</a:rPr>
                        <a:t>targetSdkVersion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</a:rPr>
                        <a:t>versionCode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 and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</a:rPr>
                        <a:t>versionName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5368" marR="25368" marT="25368" marB="253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45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47675" y="205309"/>
            <a:ext cx="8229600" cy="1143000"/>
          </a:xfrm>
        </p:spPr>
        <p:txBody>
          <a:bodyPr/>
          <a:lstStyle/>
          <a:p>
            <a:r>
              <a:rPr lang="en-US" dirty="0"/>
              <a:t>activity_main.xml</a:t>
            </a:r>
            <a:endParaRPr lang="en-US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00" y="1662113"/>
            <a:ext cx="8750300" cy="4749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RelativeLayout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xmlns:android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"http://schemas.android.com/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apk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/res/android"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xmlns:tools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"http://schemas.android.com/tools"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android:layout_width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match_parent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android:layout_height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match_parent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android:paddingBottom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"@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dimen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activity_vertical_margin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android:paddingLeft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"@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dimen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activity_horizontal_margin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android:paddingRight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"@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dimen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activity_horizontal_margin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android:paddingTop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"@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dimen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activity_vertical_margin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tools:context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".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MainActivity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 &gt;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7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TextView</a:t>
            </a:r>
            <a:endParaRPr lang="en-US" altLang="en-US" sz="17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android:layout_width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wrap_content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android:layout_height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wrap_content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android:text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"@string/</a:t>
            </a:r>
            <a:r>
              <a:rPr lang="en-US" altLang="en-US" sz="17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r>
              <a:rPr lang="en-US" altLang="en-US" sz="17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  <a:endParaRPr lang="en-US" altLang="en-US" sz="17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altLang="en-US" sz="1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RelativeLayout</a:t>
            </a:r>
            <a:r>
              <a:rPr lang="en-US" altLang="en-US" sz="1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19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604" name="Text Placeholder 4"/>
          <p:cNvSpPr txBox="1">
            <a:spLocks/>
          </p:cNvSpPr>
          <p:nvPr/>
        </p:nvSpPr>
        <p:spPr bwMode="auto">
          <a:xfrm>
            <a:off x="165100" y="1325563"/>
            <a:ext cx="43973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res/layout/activity_main.xml</a:t>
            </a:r>
          </a:p>
        </p:txBody>
      </p:sp>
      <p:sp>
        <p:nvSpPr>
          <p:cNvPr id="25605" name="TextBox 4"/>
          <p:cNvSpPr txBox="1">
            <a:spLocks noChangeArrowheads="1"/>
          </p:cNvSpPr>
          <p:nvPr/>
        </p:nvSpPr>
        <p:spPr bwMode="auto">
          <a:xfrm>
            <a:off x="165100" y="6411913"/>
            <a:ext cx="41793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– </a:t>
            </a:r>
            <a:r>
              <a:rPr lang="en-US" alt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RelativeLayout</a:t>
            </a:r>
            <a:r>
              <a:rPr lang="en-US" altLang="en-US" sz="1800" dirty="0" err="1">
                <a:cs typeface="Consolas" panose="020B0609020204030204" pitchFamily="49" charset="0"/>
              </a:rPr>
              <a:t>s</a:t>
            </a:r>
            <a:r>
              <a:rPr lang="en-US" altLang="en-US" sz="1800" dirty="0">
                <a:cs typeface="Consolas" panose="020B0609020204030204" pitchFamily="49" charset="0"/>
              </a:rPr>
              <a:t> are quite complicated. </a:t>
            </a:r>
          </a:p>
        </p:txBody>
      </p:sp>
      <p:sp>
        <p:nvSpPr>
          <p:cNvPr id="25606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217DDAC-E483-461D-A310-6696E8AFFC68}" type="slidenum">
              <a:rPr lang="en-US" altLang="en-US" sz="120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71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activity_main.xml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smtClean="0"/>
              <a:t>Also known as layout file</a:t>
            </a:r>
          </a:p>
          <a:p>
            <a:pPr algn="just"/>
            <a:r>
              <a:rPr lang="en-US" sz="2800" i="1" dirty="0" smtClean="0"/>
              <a:t>Located in </a:t>
            </a:r>
            <a:r>
              <a:rPr lang="en-US" sz="2800" i="1" dirty="0" smtClean="0">
                <a:solidFill>
                  <a:srgbClr val="FF0000"/>
                </a:solidFill>
              </a:rPr>
              <a:t>res/layout</a:t>
            </a:r>
            <a:r>
              <a:rPr lang="en-US" sz="2800" dirty="0"/>
              <a:t> </a:t>
            </a:r>
            <a:r>
              <a:rPr lang="en-US" sz="2800" dirty="0" smtClean="0"/>
              <a:t>directory</a:t>
            </a:r>
          </a:p>
          <a:p>
            <a:pPr algn="just"/>
            <a:r>
              <a:rPr lang="en-US" sz="2800" dirty="0"/>
              <a:t> </a:t>
            </a:r>
            <a:r>
              <a:rPr lang="en-US" sz="2800" i="1" dirty="0">
                <a:solidFill>
                  <a:srgbClr val="FF0000"/>
                </a:solidFill>
              </a:rPr>
              <a:t>@string</a:t>
            </a:r>
            <a:r>
              <a:rPr lang="en-US" sz="2800" dirty="0"/>
              <a:t> refers to the </a:t>
            </a:r>
            <a:r>
              <a:rPr lang="en-US" sz="2800" dirty="0">
                <a:solidFill>
                  <a:srgbClr val="FF0000"/>
                </a:solidFill>
              </a:rPr>
              <a:t>strings.xml</a:t>
            </a:r>
            <a:r>
              <a:rPr lang="en-US" sz="2800" dirty="0"/>
              <a:t> file located in the </a:t>
            </a:r>
            <a:r>
              <a:rPr lang="en-US" sz="2800" dirty="0">
                <a:solidFill>
                  <a:srgbClr val="FF0000"/>
                </a:solidFill>
              </a:rPr>
              <a:t>res/values</a:t>
            </a:r>
            <a:r>
              <a:rPr lang="en-US" sz="2800" dirty="0"/>
              <a:t> folder</a:t>
            </a:r>
            <a:r>
              <a:rPr lang="en-US" sz="2800" dirty="0" smtClean="0"/>
              <a:t>.</a:t>
            </a:r>
          </a:p>
          <a:p>
            <a:pPr algn="just"/>
            <a:r>
              <a:rPr lang="en-US" sz="2800" dirty="0" smtClean="0">
                <a:solidFill>
                  <a:srgbClr val="FF0000"/>
                </a:solidFill>
              </a:rPr>
              <a:t>@</a:t>
            </a:r>
            <a:r>
              <a:rPr lang="en-US" sz="2800" dirty="0">
                <a:solidFill>
                  <a:srgbClr val="FF0000"/>
                </a:solidFill>
              </a:rPr>
              <a:t>string/</a:t>
            </a:r>
            <a:r>
              <a:rPr lang="en-US" sz="2800" dirty="0" err="1">
                <a:solidFill>
                  <a:srgbClr val="FF0000"/>
                </a:solidFill>
              </a:rPr>
              <a:t>hello_world</a:t>
            </a:r>
            <a:r>
              <a:rPr lang="en-US" sz="2800" dirty="0"/>
              <a:t> refers to the hello string defined in the </a:t>
            </a:r>
            <a:r>
              <a:rPr lang="en-US" sz="2800" dirty="0">
                <a:solidFill>
                  <a:srgbClr val="FF0000"/>
                </a:solidFill>
              </a:rPr>
              <a:t>strings.xml</a:t>
            </a:r>
            <a:r>
              <a:rPr lang="en-US" sz="2800" dirty="0"/>
              <a:t> file, which is "Hello World</a:t>
            </a:r>
            <a:r>
              <a:rPr lang="en-US" sz="2800" dirty="0" smtClean="0"/>
              <a:t>!".</a:t>
            </a:r>
          </a:p>
          <a:p>
            <a:pPr algn="just"/>
            <a:r>
              <a:rPr lang="en-US" sz="2800" dirty="0" err="1" smtClean="0">
                <a:solidFill>
                  <a:srgbClr val="FF0000"/>
                </a:solidFill>
              </a:rPr>
              <a:t>dp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/>
              <a:t>stands for </a:t>
            </a:r>
            <a:r>
              <a:rPr lang="en-US" sz="2800" dirty="0"/>
              <a:t>density-independent pixels</a:t>
            </a:r>
            <a:endParaRPr lang="en-US" sz="2800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6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AndroidManifest.xml</a:t>
            </a:r>
            <a:endParaRPr lang="en-US" altLang="en-US" dirty="0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Configuration file for the application</a:t>
            </a:r>
            <a:r>
              <a:rPr lang="en-US" sz="2800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3000" dirty="0" smtClean="0"/>
              <a:t>Every Android app must include an </a:t>
            </a:r>
            <a:r>
              <a:rPr lang="en-US" altLang="en-US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AndroidManifest.xml</a:t>
            </a:r>
            <a:r>
              <a:rPr lang="en-US" altLang="en-US" sz="3000" dirty="0" smtClean="0"/>
              <a:t> file </a:t>
            </a:r>
            <a:r>
              <a:rPr lang="en-US" sz="2800" dirty="0"/>
              <a:t>in its root directory </a:t>
            </a:r>
            <a:r>
              <a:rPr lang="en-US" altLang="en-US" sz="3000" dirty="0" smtClean="0"/>
              <a:t>describing functionality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 smtClean="0"/>
              <a:t>The manifest specifies: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 smtClean="0"/>
              <a:t>App’s Activities, Services, etc.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 smtClean="0"/>
              <a:t>Permissions requested by app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 smtClean="0"/>
              <a:t>Minimum API required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 smtClean="0"/>
              <a:t>Hardware features required, e.g., camera with autofocus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dirty="0" smtClean="0"/>
              <a:t>External libraries to which app is linked, e.g., Google Maps library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600" dirty="0" smtClean="0"/>
          </a:p>
        </p:txBody>
      </p:sp>
      <p:sp>
        <p:nvSpPr>
          <p:cNvPr id="18436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07F8DA8-BB93-4AD2-A046-F3BCFC7DEBA1}" type="slidenum">
              <a:rPr lang="en-US" altLang="en-US" sz="120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91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AndroidManifest.xml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&lt;</a:t>
            </a:r>
            <a:r>
              <a:rPr lang="en-US" sz="1800" b="1" dirty="0"/>
              <a:t>manifest </a:t>
            </a:r>
            <a:r>
              <a:rPr lang="en-US" sz="1800" b="1" dirty="0" err="1"/>
              <a:t>xmlns:android</a:t>
            </a:r>
            <a:r>
              <a:rPr lang="en-US" sz="1800" b="1" dirty="0"/>
              <a:t>="http://schemas.android.com/</a:t>
            </a:r>
            <a:r>
              <a:rPr lang="en-US" sz="1800" b="1" dirty="0" err="1"/>
              <a:t>apk</a:t>
            </a:r>
            <a:r>
              <a:rPr lang="en-US" sz="1800" b="1" dirty="0"/>
              <a:t>/res/android"</a:t>
            </a:r>
            <a:br>
              <a:rPr lang="en-US" sz="1800" b="1" dirty="0"/>
            </a:br>
            <a:r>
              <a:rPr lang="en-US" sz="1800" b="1" dirty="0"/>
              <a:t>    package="</a:t>
            </a:r>
            <a:r>
              <a:rPr lang="en-US" sz="1800" b="1" dirty="0" err="1"/>
              <a:t>com.example.pc.hello</a:t>
            </a:r>
            <a:r>
              <a:rPr lang="en-US" sz="1800" b="1" dirty="0"/>
              <a:t>" 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    &lt;</a:t>
            </a:r>
            <a:r>
              <a:rPr lang="en-US" sz="1800" b="1" dirty="0"/>
              <a:t>application</a:t>
            </a:r>
            <a:br>
              <a:rPr lang="en-US" sz="1800" b="1" dirty="0"/>
            </a:br>
            <a:r>
              <a:rPr lang="en-US" sz="1800" b="1" dirty="0"/>
              <a:t>        </a:t>
            </a:r>
            <a:r>
              <a:rPr lang="en-US" sz="1800" b="1" dirty="0" err="1"/>
              <a:t>android:icon</a:t>
            </a:r>
            <a:r>
              <a:rPr lang="en-US" sz="1800" b="1" dirty="0"/>
              <a:t>="@</a:t>
            </a:r>
            <a:r>
              <a:rPr lang="en-US" sz="1800" b="1" dirty="0" err="1"/>
              <a:t>mipmap</a:t>
            </a:r>
            <a:r>
              <a:rPr lang="en-US" sz="1800" b="1" dirty="0"/>
              <a:t>/</a:t>
            </a:r>
            <a:r>
              <a:rPr lang="en-US" sz="1800" b="1" dirty="0" err="1"/>
              <a:t>ic_launcher</a:t>
            </a:r>
            <a:r>
              <a:rPr lang="en-US" sz="1800" b="1" dirty="0"/>
              <a:t>"</a:t>
            </a:r>
            <a:br>
              <a:rPr lang="en-US" sz="1800" b="1" dirty="0"/>
            </a:br>
            <a:r>
              <a:rPr lang="en-US" sz="1800" b="1" dirty="0"/>
              <a:t>        </a:t>
            </a:r>
            <a:r>
              <a:rPr lang="en-US" sz="1800" b="1" dirty="0" err="1"/>
              <a:t>android:label</a:t>
            </a:r>
            <a:r>
              <a:rPr lang="en-US" sz="1800" b="1" dirty="0"/>
              <a:t>="@string/</a:t>
            </a:r>
            <a:r>
              <a:rPr lang="en-US" sz="1800" b="1" dirty="0" err="1"/>
              <a:t>app_name</a:t>
            </a:r>
            <a:r>
              <a:rPr lang="en-US" sz="1800" b="1" dirty="0"/>
              <a:t>"</a:t>
            </a:r>
            <a:br>
              <a:rPr lang="en-US" sz="1800" b="1" dirty="0"/>
            </a:br>
            <a:r>
              <a:rPr lang="en-US" sz="1800" b="1" dirty="0"/>
              <a:t>        </a:t>
            </a:r>
            <a:r>
              <a:rPr lang="en-US" sz="1800" b="1" dirty="0" err="1"/>
              <a:t>android:theme</a:t>
            </a:r>
            <a:r>
              <a:rPr lang="en-US" sz="1800" b="1" dirty="0"/>
              <a:t>="@style/</a:t>
            </a:r>
            <a:r>
              <a:rPr lang="en-US" sz="1800" b="1" dirty="0" err="1"/>
              <a:t>AppTheme</a:t>
            </a:r>
            <a:r>
              <a:rPr lang="en-US" sz="1800" b="1" dirty="0"/>
              <a:t>" 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>        &lt;</a:t>
            </a:r>
            <a:r>
              <a:rPr lang="en-US" sz="1800" b="1" dirty="0"/>
              <a:t>activity</a:t>
            </a:r>
            <a:br>
              <a:rPr lang="en-US" sz="1800" b="1" dirty="0"/>
            </a:br>
            <a:r>
              <a:rPr lang="en-US" sz="1800" b="1" dirty="0"/>
              <a:t>            </a:t>
            </a:r>
            <a:r>
              <a:rPr lang="en-US" sz="1800" b="1" dirty="0" err="1"/>
              <a:t>android:name</a:t>
            </a:r>
            <a:r>
              <a:rPr lang="en-US" sz="1800" b="1" dirty="0"/>
              <a:t>=".</a:t>
            </a:r>
            <a:r>
              <a:rPr lang="en-US" sz="1800" b="1" dirty="0" err="1">
                <a:solidFill>
                  <a:srgbClr val="FF0000"/>
                </a:solidFill>
              </a:rPr>
              <a:t>MainActivity</a:t>
            </a:r>
            <a:r>
              <a:rPr lang="en-US" sz="1800" b="1" dirty="0"/>
              <a:t>"</a:t>
            </a:r>
            <a:br>
              <a:rPr lang="en-US" sz="1800" b="1" dirty="0"/>
            </a:br>
            <a:r>
              <a:rPr lang="en-US" sz="1800" b="1" dirty="0"/>
              <a:t>            </a:t>
            </a:r>
            <a:r>
              <a:rPr lang="en-US" sz="1800" b="1" dirty="0" err="1"/>
              <a:t>android:label</a:t>
            </a:r>
            <a:r>
              <a:rPr lang="en-US" sz="1800" b="1" dirty="0"/>
              <a:t>="@string/</a:t>
            </a:r>
            <a:r>
              <a:rPr lang="en-US" sz="1800" b="1" dirty="0" err="1"/>
              <a:t>app_name</a:t>
            </a:r>
            <a:r>
              <a:rPr lang="en-US" sz="1800" b="1" dirty="0"/>
              <a:t>" 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>            &lt;</a:t>
            </a:r>
            <a:r>
              <a:rPr lang="en-US" sz="1800" b="1" dirty="0"/>
              <a:t>intent-filter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>                &lt;</a:t>
            </a:r>
            <a:r>
              <a:rPr lang="en-US" sz="1800" b="1" dirty="0"/>
              <a:t>action </a:t>
            </a:r>
            <a:r>
              <a:rPr lang="en-US" sz="1800" b="1" dirty="0" err="1"/>
              <a:t>android:name</a:t>
            </a:r>
            <a:r>
              <a:rPr lang="en-US" sz="1800" b="1" dirty="0"/>
              <a:t>="</a:t>
            </a:r>
            <a:r>
              <a:rPr lang="en-US" sz="1800" b="1" dirty="0" err="1"/>
              <a:t>android.intent.action.MAIN</a:t>
            </a:r>
            <a:r>
              <a:rPr lang="en-US" sz="1800" b="1" dirty="0"/>
              <a:t>" </a:t>
            </a:r>
            <a:r>
              <a:rPr lang="en-US" sz="1800" dirty="0"/>
              <a:t>/&gt;</a:t>
            </a:r>
            <a:br>
              <a:rPr lang="en-US" sz="1800" dirty="0"/>
            </a:br>
            <a:r>
              <a:rPr lang="en-US" sz="1800" dirty="0" smtClean="0"/>
              <a:t>                </a:t>
            </a:r>
            <a:r>
              <a:rPr lang="en-US" sz="1800" dirty="0"/>
              <a:t>&lt;</a:t>
            </a:r>
            <a:r>
              <a:rPr lang="en-US" sz="1800" b="1" dirty="0"/>
              <a:t>category </a:t>
            </a:r>
            <a:r>
              <a:rPr lang="en-US" sz="1800" b="1" dirty="0" err="1"/>
              <a:t>android:name</a:t>
            </a:r>
            <a:r>
              <a:rPr lang="en-US" sz="1800" b="1" dirty="0"/>
              <a:t>="</a:t>
            </a:r>
            <a:r>
              <a:rPr lang="en-US" sz="1800" b="1" dirty="0" err="1"/>
              <a:t>android.intent.category.LAUNCHER</a:t>
            </a:r>
            <a:r>
              <a:rPr lang="en-US" sz="1800" b="1" dirty="0"/>
              <a:t>" </a:t>
            </a:r>
            <a:r>
              <a:rPr lang="en-US" sz="1800" dirty="0"/>
              <a:t>/&gt;</a:t>
            </a:r>
            <a:br>
              <a:rPr lang="en-US" sz="1800" dirty="0"/>
            </a:br>
            <a:r>
              <a:rPr lang="en-US" sz="1800" dirty="0"/>
              <a:t>            &lt;/</a:t>
            </a:r>
            <a:r>
              <a:rPr lang="en-US" sz="1800" b="1" dirty="0"/>
              <a:t>intent-filter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>        &lt;/</a:t>
            </a:r>
            <a:r>
              <a:rPr lang="en-US" sz="1800" b="1" dirty="0"/>
              <a:t>activity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>    &lt;/</a:t>
            </a:r>
            <a:r>
              <a:rPr lang="en-US" sz="1800" b="1" dirty="0"/>
              <a:t>application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 smtClean="0"/>
              <a:t>&lt;/</a:t>
            </a:r>
            <a:r>
              <a:rPr lang="en-US" sz="1800" b="1" dirty="0"/>
              <a:t>manifest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9735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AndroidManifest.xml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Whatever component </a:t>
            </a:r>
            <a:r>
              <a:rPr lang="en-US" dirty="0" smtClean="0"/>
              <a:t>develop </a:t>
            </a:r>
            <a:r>
              <a:rPr lang="en-US" dirty="0"/>
              <a:t>as a part of </a:t>
            </a:r>
            <a:r>
              <a:rPr lang="en-US" dirty="0" smtClean="0"/>
              <a:t>application</a:t>
            </a:r>
            <a:r>
              <a:rPr lang="en-US" dirty="0"/>
              <a:t>, </a:t>
            </a:r>
            <a:r>
              <a:rPr lang="en-US" dirty="0" smtClean="0"/>
              <a:t>must </a:t>
            </a:r>
            <a:r>
              <a:rPr lang="en-US" dirty="0"/>
              <a:t>declare all its components in a </a:t>
            </a:r>
            <a:r>
              <a:rPr lang="en-US" i="1" dirty="0"/>
              <a:t>manifest.xml</a:t>
            </a:r>
            <a:r>
              <a:rPr lang="en-US" dirty="0"/>
              <a:t> which resides at the root of the application project directory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Works </a:t>
            </a:r>
            <a:r>
              <a:rPr lang="en-US" dirty="0"/>
              <a:t>as an interface between Android OS and your </a:t>
            </a:r>
            <a:r>
              <a:rPr lang="en-US" dirty="0" smtClean="0"/>
              <a:t>application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you do not declare your component in this file, then it will not be considered by the OS.</a:t>
            </a:r>
          </a:p>
        </p:txBody>
      </p:sp>
    </p:spTree>
    <p:extLst>
      <p:ext uri="{BB962C8B-B14F-4D97-AF65-F5344CB8AC3E}">
        <p14:creationId xmlns:p14="http://schemas.microsoft.com/office/powerpoint/2010/main" val="121646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MainActivity.java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solidFill>
                  <a:srgbClr val="000000"/>
                </a:solidFill>
              </a:rPr>
              <a:t>Source file with .java extension, having an activity class that runs the </a:t>
            </a:r>
            <a:r>
              <a:rPr lang="en-US" dirty="0" err="1" smtClean="0">
                <a:solidFill>
                  <a:srgbClr val="000000"/>
                </a:solidFill>
              </a:rPr>
              <a:t>appp</a:t>
            </a:r>
            <a:endParaRPr lang="en-US" dirty="0" smtClean="0">
              <a:solidFill>
                <a:srgbClr val="000000"/>
              </a:solidFill>
            </a:endParaRPr>
          </a:p>
          <a:p>
            <a:pPr algn="just"/>
            <a:r>
              <a:rPr lang="en-US" dirty="0" smtClean="0"/>
              <a:t>Actual </a:t>
            </a:r>
            <a:r>
              <a:rPr lang="en-US" dirty="0"/>
              <a:t>application file which ultimately gets converted to a </a:t>
            </a:r>
            <a:r>
              <a:rPr lang="en-US" dirty="0" err="1"/>
              <a:t>Dalvik</a:t>
            </a:r>
            <a:r>
              <a:rPr lang="en-US" dirty="0"/>
              <a:t> executable </a:t>
            </a:r>
            <a:r>
              <a:rPr lang="en-US" dirty="0" smtClean="0"/>
              <a:t>runs the application</a:t>
            </a:r>
            <a:r>
              <a:rPr lang="en-US" dirty="0"/>
              <a:t>.</a:t>
            </a:r>
            <a:endParaRPr lang="en-US" dirty="0" smtClean="0">
              <a:solidFill>
                <a:srgbClr val="000000"/>
              </a:solidFill>
            </a:endParaRPr>
          </a:p>
          <a:p>
            <a:pPr algn="just"/>
            <a:r>
              <a:rPr lang="en-US" dirty="0" smtClean="0"/>
              <a:t>Android </a:t>
            </a:r>
            <a:r>
              <a:rPr lang="en-US" dirty="0"/>
              <a:t>apps have multiple points of entry: no main() method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11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Content Placeholder 5"/>
          <p:cNvSpPr>
            <a:spLocks noGrp="1"/>
          </p:cNvSpPr>
          <p:nvPr>
            <p:ph idx="1"/>
          </p:nvPr>
        </p:nvSpPr>
        <p:spPr>
          <a:xfrm>
            <a:off x="76200" y="914400"/>
            <a:ext cx="8686800" cy="5867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package 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edu.osu.helloandroid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android.os.Bundle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android.app.Activity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android.view.Menu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MainActivity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extends Activity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@Override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protected void </a:t>
            </a:r>
            <a:r>
              <a:rPr lang="en-US" altLang="en-US" sz="1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onCreate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(Bundle 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savedInstanceState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super.onCreate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savedInstanceState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setContentView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en-US" sz="1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R.layout.activity_main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@Override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public 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onCreateOptionsMenu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(Menu menu)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//Inflate the menu; adds items to the action bar if it is present.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getMenuInflater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().inflate(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R.menu.main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, menu);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return true;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4580" name="Tex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4397375" cy="427037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1800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altLang="en-US" sz="18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/…/MainActivity.java</a:t>
            </a:r>
          </a:p>
        </p:txBody>
      </p:sp>
      <p:sp>
        <p:nvSpPr>
          <p:cNvPr id="24581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801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92C5E7A-F534-4DE9-A1FF-B161990BC879}" type="slidenum">
              <a:rPr lang="en-US" altLang="en-US" sz="120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26006" y="76200"/>
            <a:ext cx="51816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i="1" dirty="0" err="1" smtClean="0"/>
              <a:t>onCreate</a:t>
            </a:r>
            <a:r>
              <a:rPr lang="en-US" i="1" dirty="0"/>
              <a:t>()</a:t>
            </a:r>
            <a:r>
              <a:rPr lang="en-US" dirty="0"/>
              <a:t> </a:t>
            </a:r>
            <a:r>
              <a:rPr lang="en-US" dirty="0" smtClean="0"/>
              <a:t>is </a:t>
            </a:r>
            <a:r>
              <a:rPr lang="en-US" dirty="0"/>
              <a:t>one of </a:t>
            </a:r>
            <a:r>
              <a:rPr lang="en-US" dirty="0" smtClean="0"/>
              <a:t>methods </a:t>
            </a:r>
            <a:r>
              <a:rPr lang="en-US" dirty="0"/>
              <a:t>that </a:t>
            </a:r>
            <a:r>
              <a:rPr lang="en-US" dirty="0" smtClean="0"/>
              <a:t>an </a:t>
            </a:r>
            <a:r>
              <a:rPr lang="en-US" dirty="0"/>
              <a:t>activity is </a:t>
            </a:r>
            <a:r>
              <a:rPr lang="en-US" dirty="0" smtClean="0"/>
              <a:t>loaded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en-US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setContentView</a:t>
            </a:r>
            <a:r>
              <a:rPr lang="en-US" alt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() S</a:t>
            </a:r>
            <a:r>
              <a:rPr lang="en-US" dirty="0" smtClean="0"/>
              <a:t>et </a:t>
            </a:r>
            <a:r>
              <a:rPr lang="en-US" dirty="0"/>
              <a:t>the activity content from a layout resource</a:t>
            </a:r>
            <a:endParaRPr lang="en-US" altLang="en-US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i="1" dirty="0" err="1" smtClean="0"/>
              <a:t>R.layout.activity_main</a:t>
            </a:r>
            <a:r>
              <a:rPr lang="en-US" dirty="0"/>
              <a:t> </a:t>
            </a:r>
            <a:r>
              <a:rPr lang="en-US" dirty="0" smtClean="0"/>
              <a:t> refers </a:t>
            </a:r>
            <a:r>
              <a:rPr lang="en-US" dirty="0"/>
              <a:t>to the </a:t>
            </a:r>
            <a:r>
              <a:rPr lang="en-US" i="1" dirty="0"/>
              <a:t>activity_main.xml</a:t>
            </a:r>
            <a:r>
              <a:rPr lang="en-US" dirty="0"/>
              <a:t> file located </a:t>
            </a:r>
            <a:r>
              <a:rPr lang="en-US" dirty="0" smtClean="0"/>
              <a:t>in the </a:t>
            </a:r>
            <a:r>
              <a:rPr lang="en-US" i="1" dirty="0" smtClean="0"/>
              <a:t>res/layout</a:t>
            </a:r>
            <a:r>
              <a:rPr lang="en-US" dirty="0"/>
              <a:t> folder.</a:t>
            </a:r>
          </a:p>
        </p:txBody>
      </p:sp>
    </p:spTree>
    <p:extLst>
      <p:ext uri="{BB962C8B-B14F-4D97-AF65-F5344CB8AC3E}">
        <p14:creationId xmlns:p14="http://schemas.microsoft.com/office/powerpoint/2010/main" val="268604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Represents </a:t>
            </a:r>
            <a:r>
              <a:rPr lang="en-US" dirty="0"/>
              <a:t>the basic building block for user interface </a:t>
            </a:r>
            <a:r>
              <a:rPr lang="en-US" dirty="0" smtClean="0"/>
              <a:t>components</a:t>
            </a:r>
          </a:p>
          <a:p>
            <a:pPr algn="just"/>
            <a:r>
              <a:rPr lang="en-US" dirty="0"/>
              <a:t>View occupies a rectangular area on the screen and is responsible for drawing and event </a:t>
            </a:r>
            <a:r>
              <a:rPr lang="en-US" dirty="0" smtClean="0"/>
              <a:t>handling</a:t>
            </a:r>
          </a:p>
          <a:p>
            <a:pPr algn="just"/>
            <a:r>
              <a:rPr lang="en-US" dirty="0" smtClean="0"/>
              <a:t>Called </a:t>
            </a:r>
            <a:r>
              <a:rPr lang="en-US" dirty="0"/>
              <a:t>"widgets"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66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Resource ID.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752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A </a:t>
            </a:r>
            <a:r>
              <a:rPr lang="en-US" dirty="0"/>
              <a:t>unique resource name for the element, which you can use to obtain a reference to the View from your application</a:t>
            </a:r>
            <a:r>
              <a:rPr lang="en-US" dirty="0" smtClean="0"/>
              <a:t>.</a:t>
            </a:r>
          </a:p>
          <a:p>
            <a:pPr lvl="1" algn="just"/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733800"/>
            <a:ext cx="8229600" cy="239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android:id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73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Editing </a:t>
            </a:r>
            <a:r>
              <a:rPr lang="en-US" dirty="0" err="1"/>
              <a:t>TextView</a:t>
            </a:r>
            <a:r>
              <a:rPr lang="en-US" dirty="0"/>
              <a:t>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Properties for width and height</a:t>
            </a:r>
          </a:p>
          <a:p>
            <a:pPr lvl="1"/>
            <a:r>
              <a:rPr lang="en-US" dirty="0" err="1" smtClean="0"/>
              <a:t>android:layout_width</a:t>
            </a:r>
            <a:endParaRPr lang="en-US" dirty="0" smtClean="0"/>
          </a:p>
          <a:p>
            <a:pPr lvl="1"/>
            <a:r>
              <a:rPr lang="en-US" dirty="0" err="1" smtClean="0"/>
              <a:t>android:layout_height</a:t>
            </a:r>
            <a:endParaRPr lang="en-US" dirty="0" smtClean="0"/>
          </a:p>
          <a:p>
            <a:r>
              <a:rPr lang="en-US" dirty="0" smtClean="0"/>
              <a:t>Values for </a:t>
            </a:r>
            <a:r>
              <a:rPr lang="en-US" dirty="0"/>
              <a:t>width and height</a:t>
            </a:r>
          </a:p>
          <a:p>
            <a:pPr lvl="1"/>
            <a:r>
              <a:rPr lang="en-US" dirty="0" err="1" smtClean="0"/>
              <a:t>wrap_content</a:t>
            </a:r>
            <a:endParaRPr lang="en-US" dirty="0" smtClean="0"/>
          </a:p>
          <a:p>
            <a:pPr lvl="1"/>
            <a:r>
              <a:rPr lang="en-US" dirty="0" err="1" smtClean="0"/>
              <a:t>match_parent</a:t>
            </a:r>
            <a:endParaRPr lang="en-US" dirty="0" smtClean="0"/>
          </a:p>
          <a:p>
            <a:pPr lvl="1"/>
            <a:r>
              <a:rPr lang="en-US" dirty="0" smtClean="0"/>
              <a:t>Specify in </a:t>
            </a:r>
            <a:r>
              <a:rPr lang="en-US" dirty="0" err="1" smtClean="0"/>
              <a:t>dp</a:t>
            </a:r>
            <a:r>
              <a:rPr lang="en-US" dirty="0" smtClean="0"/>
              <a:t> or </a:t>
            </a:r>
            <a:r>
              <a:rPr lang="en-US" dirty="0" err="1" smtClean="0"/>
              <a:t>sp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8200" y="6172200"/>
            <a:ext cx="426828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sp</a:t>
            </a:r>
            <a:r>
              <a:rPr lang="en-US" dirty="0"/>
              <a:t> stands for scale-independent </a:t>
            </a:r>
            <a:r>
              <a:rPr lang="en-US" dirty="0" smtClean="0"/>
              <a:t>pixels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d</a:t>
            </a:r>
            <a:r>
              <a:rPr lang="en-US" b="1" dirty="0" err="1" smtClean="0"/>
              <a:t>p</a:t>
            </a:r>
            <a:r>
              <a:rPr lang="en-US" dirty="0" smtClean="0"/>
              <a:t> stands for density independent pixels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42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Sub class of View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33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219200"/>
            <a:ext cx="8229600" cy="762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Editing </a:t>
            </a:r>
            <a:r>
              <a:rPr lang="en-US" dirty="0" err="1" smtClean="0"/>
              <a:t>TextView</a:t>
            </a:r>
            <a:r>
              <a:rPr lang="en-US" dirty="0" smtClean="0"/>
              <a:t> component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1"/>
            <a:ext cx="8229600" cy="399889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 smtClean="0"/>
              <a:t>&lt;</a:t>
            </a:r>
          </a:p>
          <a:p>
            <a:pPr marL="0" indent="0">
              <a:buNone/>
            </a:pPr>
            <a:r>
              <a:rPr lang="en-US" sz="2800" dirty="0" err="1" smtClean="0"/>
              <a:t>TextView</a:t>
            </a:r>
            <a:r>
              <a:rPr lang="en-US" sz="2800" dirty="0" smtClean="0"/>
              <a:t> </a:t>
            </a:r>
            <a:r>
              <a:rPr lang="en-US" sz="2800" dirty="0" err="1"/>
              <a:t>android:text</a:t>
            </a:r>
            <a:r>
              <a:rPr lang="en-US" sz="2800" dirty="0"/>
              <a:t>="@string/</a:t>
            </a:r>
            <a:r>
              <a:rPr lang="en-US" sz="2800" dirty="0" err="1"/>
              <a:t>hello_world</a:t>
            </a:r>
            <a:r>
              <a:rPr lang="en-US" sz="2800" dirty="0"/>
              <a:t>" </a:t>
            </a:r>
            <a:r>
              <a:rPr lang="en-US" sz="2800" dirty="0" err="1"/>
              <a:t>android:layout_width</a:t>
            </a:r>
            <a:r>
              <a:rPr lang="en-US" sz="2800" dirty="0"/>
              <a:t>="</a:t>
            </a:r>
            <a:r>
              <a:rPr lang="en-US" sz="2800" dirty="0" err="1"/>
              <a:t>wrap_content</a:t>
            </a:r>
            <a:r>
              <a:rPr lang="en-US" sz="2800" dirty="0"/>
              <a:t>"</a:t>
            </a:r>
            <a:br>
              <a:rPr lang="en-US" sz="2800" dirty="0"/>
            </a:br>
            <a:r>
              <a:rPr lang="en-US" sz="2800" dirty="0" err="1" smtClean="0"/>
              <a:t>android:layout_height</a:t>
            </a:r>
            <a:r>
              <a:rPr lang="en-US" sz="2800" dirty="0"/>
              <a:t>="</a:t>
            </a:r>
            <a:r>
              <a:rPr lang="en-US" sz="2800" dirty="0" err="1"/>
              <a:t>wrap_content</a:t>
            </a:r>
            <a:r>
              <a:rPr lang="en-US" sz="2800" dirty="0"/>
              <a:t>"</a:t>
            </a:r>
            <a:br>
              <a:rPr lang="en-US" sz="2800" dirty="0"/>
            </a:br>
            <a:r>
              <a:rPr lang="en-US" sz="2800" dirty="0" err="1" smtClean="0"/>
              <a:t>android:textSize</a:t>
            </a:r>
            <a:r>
              <a:rPr lang="en-US" sz="2800" dirty="0"/>
              <a:t>="</a:t>
            </a:r>
            <a:r>
              <a:rPr lang="en-US" sz="2800" dirty="0" smtClean="0"/>
              <a:t>10sp”</a:t>
            </a:r>
          </a:p>
          <a:p>
            <a:pPr marL="0" indent="0">
              <a:buNone/>
            </a:pPr>
            <a:r>
              <a:rPr lang="en-US" sz="2800" dirty="0" err="1"/>
              <a:t>android:textColor</a:t>
            </a:r>
            <a:r>
              <a:rPr lang="en-US" sz="2800" dirty="0"/>
              <a:t>="#bcf5b1"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err="1"/>
              <a:t>android:background</a:t>
            </a:r>
            <a:r>
              <a:rPr lang="en-US" sz="2800" dirty="0"/>
              <a:t>="#</a:t>
            </a:r>
            <a:r>
              <a:rPr lang="en-US" sz="2800" dirty="0" smtClean="0"/>
              <a:t>FFAA66CC“</a:t>
            </a:r>
          </a:p>
          <a:p>
            <a:pPr marL="0" indent="0">
              <a:buNone/>
            </a:pPr>
            <a:r>
              <a:rPr lang="en-US" sz="2800" dirty="0" err="1"/>
              <a:t>android:textStyle</a:t>
            </a:r>
            <a:r>
              <a:rPr lang="en-US" sz="2800" dirty="0"/>
              <a:t>="</a:t>
            </a:r>
            <a:r>
              <a:rPr lang="en-US" sz="2800" dirty="0" err="1"/>
              <a:t>bold|italic</a:t>
            </a:r>
            <a:r>
              <a:rPr lang="en-US" sz="2800" dirty="0"/>
              <a:t>"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/&gt;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6877334" y="4419600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en-US" dirty="0"/>
              <a:t>normal</a:t>
            </a:r>
          </a:p>
          <a:p>
            <a:pPr fontAlgn="base"/>
            <a:r>
              <a:rPr lang="en-US" dirty="0"/>
              <a:t>bold</a:t>
            </a:r>
          </a:p>
          <a:p>
            <a:pPr fontAlgn="base"/>
            <a:r>
              <a:rPr lang="en-US" dirty="0"/>
              <a:t>italic</a:t>
            </a:r>
          </a:p>
          <a:p>
            <a:pPr fontAlgn="base"/>
            <a:r>
              <a:rPr lang="en-US" dirty="0"/>
              <a:t>bold | </a:t>
            </a:r>
            <a:r>
              <a:rPr lang="en-US" dirty="0" smtClean="0"/>
              <a:t>italic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56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Editing View </a:t>
            </a:r>
            <a:r>
              <a:rPr lang="en-US" b="1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in</a:t>
            </a:r>
            <a:r>
              <a:rPr lang="en-US" dirty="0"/>
              <a:t> – Inches</a:t>
            </a:r>
          </a:p>
          <a:p>
            <a:pPr lvl="0"/>
            <a:r>
              <a:rPr lang="en-US" b="1" dirty="0"/>
              <a:t>mm</a:t>
            </a:r>
            <a:r>
              <a:rPr lang="en-US" dirty="0"/>
              <a:t> – Millimeters</a:t>
            </a:r>
          </a:p>
          <a:p>
            <a:pPr lvl="0"/>
            <a:r>
              <a:rPr lang="en-US" b="1" dirty="0" err="1"/>
              <a:t>pt</a:t>
            </a:r>
            <a:r>
              <a:rPr lang="en-US" dirty="0"/>
              <a:t> – Points (1/72 of an inch)</a:t>
            </a:r>
          </a:p>
          <a:p>
            <a:pPr lvl="0"/>
            <a:r>
              <a:rPr lang="en-US" b="1" dirty="0" err="1"/>
              <a:t>dp</a:t>
            </a:r>
            <a:r>
              <a:rPr lang="en-US" dirty="0"/>
              <a:t> – Density-independent pixels. An abstract unit of measurement based on the physical density of the device display relative to a 160dpi display baseline.</a:t>
            </a:r>
          </a:p>
          <a:p>
            <a:pPr lvl="0"/>
            <a:r>
              <a:rPr lang="en-US" b="1" dirty="0" err="1"/>
              <a:t>sp</a:t>
            </a:r>
            <a:r>
              <a:rPr lang="en-US" dirty="0"/>
              <a:t> – Scale-independent pixels. Similar to </a:t>
            </a:r>
            <a:r>
              <a:rPr lang="en-US" dirty="0" err="1"/>
              <a:t>dp</a:t>
            </a:r>
            <a:r>
              <a:rPr lang="en-US" dirty="0"/>
              <a:t> but scaled based on the user’s font preference.</a:t>
            </a:r>
          </a:p>
          <a:p>
            <a:pPr lvl="0"/>
            <a:r>
              <a:rPr lang="en-US" b="1" dirty="0" err="1"/>
              <a:t>px</a:t>
            </a:r>
            <a:r>
              <a:rPr lang="en-US" dirty="0"/>
              <a:t> – Actual screen pixels. Use is not recommended since different displays will have different pixels per inch. Use </a:t>
            </a:r>
            <a:r>
              <a:rPr lang="en-US" dirty="0" err="1"/>
              <a:t>dp</a:t>
            </a:r>
            <a:r>
              <a:rPr lang="en-US" dirty="0"/>
              <a:t> in preference to this unit.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39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Density Independent Pixels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32004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density-independent </a:t>
            </a:r>
            <a:r>
              <a:rPr lang="en-US" dirty="0" smtClean="0"/>
              <a:t>pixel( </a:t>
            </a:r>
            <a:r>
              <a:rPr lang="en-US" dirty="0"/>
              <a:t>dip, </a:t>
            </a:r>
            <a:r>
              <a:rPr lang="en-US" dirty="0" err="1"/>
              <a:t>dp</a:t>
            </a:r>
            <a:r>
              <a:rPr lang="en-US" dirty="0"/>
              <a:t>) is a physical unit of measurement based on a coordinate system held by a computer and represents an abstraction of a pixel for use by an application that an underlying system then converts to physical pixels.</a:t>
            </a:r>
          </a:p>
        </p:txBody>
      </p:sp>
    </p:spTree>
    <p:extLst>
      <p:ext uri="{BB962C8B-B14F-4D97-AF65-F5344CB8AC3E}">
        <p14:creationId xmlns:p14="http://schemas.microsoft.com/office/powerpoint/2010/main" val="89423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Independent Pixels</a:t>
            </a:r>
          </a:p>
        </p:txBody>
      </p:sp>
      <p:pic>
        <p:nvPicPr>
          <p:cNvPr id="4" name="Picture 2" descr="https://documentation.devexpress.com/HelpResource.ashx?help=Xamarin&amp;document=img182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8400"/>
            <a:ext cx="47625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264088"/>
              </p:ext>
            </p:extLst>
          </p:nvPr>
        </p:nvGraphicFramePr>
        <p:xfrm>
          <a:off x="5105400" y="3352800"/>
          <a:ext cx="3733800" cy="258699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</a:tblGrid>
              <a:tr h="217170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Display Density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1 dp equals to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120 dpi (ldpi)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0.75 px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160 dpi (mdpi)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1 px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240 dpi (hdpi)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1.5 px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320 dpi (xhdpi)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2 px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480 dpi (xxhdpi)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3 px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640 dpi (xxxhdpi)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4 </a:t>
                      </a: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  <a:latin typeface="Segoe UI"/>
                        </a:rPr>
                        <a:t>px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Segoe UI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5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</a:t>
            </a:r>
            <a:r>
              <a:rPr lang="en-US" dirty="0" err="1" smtClean="0"/>
              <a:t>imageView</a:t>
            </a:r>
            <a:r>
              <a:rPr lang="en-US" dirty="0" smtClean="0"/>
              <a:t> into the layout</a:t>
            </a:r>
          </a:p>
          <a:p>
            <a:r>
              <a:rPr lang="en-US" dirty="0" smtClean="0"/>
              <a:t>Move an image to drawable folder</a:t>
            </a:r>
          </a:p>
          <a:p>
            <a:pPr lvl="1"/>
            <a:r>
              <a:rPr lang="en-US" dirty="0" smtClean="0"/>
              <a:t>\</a:t>
            </a:r>
            <a:r>
              <a:rPr lang="en-US" dirty="0" err="1" smtClean="0"/>
              <a:t>AndroidStudioProjects</a:t>
            </a:r>
            <a:r>
              <a:rPr lang="en-US" dirty="0" smtClean="0"/>
              <a:t>\</a:t>
            </a:r>
            <a:r>
              <a:rPr lang="en-US" dirty="0" err="1" smtClean="0"/>
              <a:t>ProjectName</a:t>
            </a:r>
            <a:r>
              <a:rPr lang="en-US" dirty="0" smtClean="0"/>
              <a:t>\app\</a:t>
            </a:r>
            <a:r>
              <a:rPr lang="en-US" dirty="0" err="1" smtClean="0"/>
              <a:t>src</a:t>
            </a:r>
            <a:r>
              <a:rPr lang="en-US" dirty="0" smtClean="0"/>
              <a:t>\main\res\drawable</a:t>
            </a:r>
          </a:p>
          <a:p>
            <a:r>
              <a:rPr lang="en-US" dirty="0" smtClean="0"/>
              <a:t>Edit xml</a:t>
            </a:r>
          </a:p>
          <a:p>
            <a:pPr lvl="1"/>
            <a:r>
              <a:rPr lang="en-US" dirty="0" err="1" smtClean="0"/>
              <a:t>android:src</a:t>
            </a:r>
            <a:r>
              <a:rPr lang="en-US" dirty="0"/>
              <a:t>="@</a:t>
            </a:r>
            <a:r>
              <a:rPr lang="en-US" dirty="0" smtClean="0"/>
              <a:t>drawable/</a:t>
            </a:r>
            <a:r>
              <a:rPr lang="en-US" dirty="0" err="1" smtClean="0"/>
              <a:t>imageName</a:t>
            </a:r>
            <a:r>
              <a:rPr lang="en-US" dirty="0" smtClean="0"/>
              <a:t>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29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219200"/>
            <a:ext cx="8229600" cy="762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/>
              <a:t>Insert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1"/>
            <a:ext cx="8229600" cy="22859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&lt;</a:t>
            </a:r>
            <a:r>
              <a:rPr lang="en-US" sz="2800" dirty="0" err="1"/>
              <a:t>ImageView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    </a:t>
            </a:r>
            <a:r>
              <a:rPr lang="en-US" sz="2800" dirty="0" err="1"/>
              <a:t>android:layout_height</a:t>
            </a:r>
            <a:r>
              <a:rPr lang="en-US" sz="2800" dirty="0"/>
              <a:t>="</a:t>
            </a:r>
            <a:r>
              <a:rPr lang="en-US" sz="2800" dirty="0" err="1"/>
              <a:t>wrap_content</a:t>
            </a:r>
            <a:r>
              <a:rPr lang="en-US" sz="2800" dirty="0"/>
              <a:t>"</a:t>
            </a:r>
            <a:br>
              <a:rPr lang="en-US" sz="2800" dirty="0"/>
            </a:br>
            <a:r>
              <a:rPr lang="en-US" sz="2800" dirty="0"/>
              <a:t>    </a:t>
            </a:r>
            <a:r>
              <a:rPr lang="en-US" sz="2800" dirty="0" err="1"/>
              <a:t>android:layout_width</a:t>
            </a:r>
            <a:r>
              <a:rPr lang="en-US" sz="2800" dirty="0"/>
              <a:t>="</a:t>
            </a:r>
            <a:r>
              <a:rPr lang="en-US" sz="2800" dirty="0" err="1"/>
              <a:t>wrap_content</a:t>
            </a:r>
            <a:r>
              <a:rPr lang="en-US" sz="2800" dirty="0"/>
              <a:t>"</a:t>
            </a:r>
            <a:br>
              <a:rPr lang="en-US" sz="2800" dirty="0"/>
            </a:br>
            <a:r>
              <a:rPr lang="en-US" sz="2800" dirty="0"/>
              <a:t>    </a:t>
            </a:r>
            <a:r>
              <a:rPr lang="en-US" sz="2800" dirty="0" err="1"/>
              <a:t>android:src</a:t>
            </a:r>
            <a:r>
              <a:rPr lang="en-US" sz="2800" dirty="0"/>
              <a:t>="@</a:t>
            </a:r>
            <a:r>
              <a:rPr lang="en-US" sz="2800" dirty="0" err="1"/>
              <a:t>drawable</a:t>
            </a:r>
            <a:r>
              <a:rPr lang="en-US" sz="2800" dirty="0"/>
              <a:t>/</a:t>
            </a:r>
            <a:r>
              <a:rPr lang="en-US" sz="2800" dirty="0" err="1"/>
              <a:t>myimage</a:t>
            </a:r>
            <a:r>
              <a:rPr lang="en-US" sz="2800" dirty="0"/>
              <a:t>"</a:t>
            </a:r>
            <a:br>
              <a:rPr lang="en-US" sz="2800" dirty="0"/>
            </a:br>
            <a:r>
              <a:rPr lang="en-US" sz="2800" dirty="0"/>
              <a:t> </a:t>
            </a:r>
            <a:r>
              <a:rPr lang="en-US" sz="2800" dirty="0" smtClean="0"/>
              <a:t>/&gt;</a:t>
            </a:r>
            <a:endParaRPr 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929" y="5029200"/>
            <a:ext cx="278037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413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 </a:t>
            </a:r>
            <a:r>
              <a:rPr lang="en-US" dirty="0"/>
              <a:t>interface element the user can tap or click to perform an action</a:t>
            </a:r>
            <a:r>
              <a:rPr lang="en-US" dirty="0" smtClean="0"/>
              <a:t>.</a:t>
            </a:r>
          </a:p>
          <a:p>
            <a:r>
              <a:rPr lang="en-US" dirty="0"/>
              <a:t>Sub class of View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30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Click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7244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Using </a:t>
            </a:r>
            <a:r>
              <a:rPr lang="en-US" b="1" dirty="0" err="1"/>
              <a:t>android:onClick</a:t>
            </a:r>
            <a:r>
              <a:rPr lang="en-US" b="1" dirty="0" smtClean="0"/>
              <a:t>= </a:t>
            </a:r>
            <a:r>
              <a:rPr lang="en-US" dirty="0" smtClean="0"/>
              <a:t>property of button control in xml code</a:t>
            </a:r>
          </a:p>
          <a:p>
            <a:pPr lvl="1"/>
            <a:r>
              <a:rPr lang="en-US" dirty="0" smtClean="0"/>
              <a:t>Cant change </a:t>
            </a:r>
            <a:r>
              <a:rPr lang="en-US" dirty="0"/>
              <a:t>the behavior of button while your app is running</a:t>
            </a:r>
            <a:r>
              <a:rPr lang="en-US" dirty="0" smtClean="0"/>
              <a:t>.</a:t>
            </a:r>
            <a:r>
              <a:rPr lang="en-US" dirty="0" smtClean="0"/>
              <a:t> </a:t>
            </a:r>
            <a:endParaRPr lang="en-US" dirty="0" smtClean="0"/>
          </a:p>
          <a:p>
            <a:pPr lvl="1"/>
            <a:r>
              <a:rPr lang="en-US" dirty="0" smtClean="0"/>
              <a:t>Call a method in host activity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Using </a:t>
            </a:r>
            <a:r>
              <a:rPr lang="en-US" b="1" dirty="0" err="1" smtClean="0"/>
              <a:t>onClickListner</a:t>
            </a:r>
            <a:r>
              <a:rPr lang="en-US" b="1" dirty="0" smtClean="0"/>
              <a:t>() </a:t>
            </a:r>
            <a:r>
              <a:rPr lang="en-US" dirty="0" smtClean="0"/>
              <a:t>in java code</a:t>
            </a:r>
          </a:p>
          <a:p>
            <a:pPr lvl="1"/>
            <a:r>
              <a:rPr lang="en-US" dirty="0" smtClean="0"/>
              <a:t>Change </a:t>
            </a:r>
            <a:r>
              <a:rPr lang="en-US" dirty="0"/>
              <a:t>the behavior of </a:t>
            </a:r>
            <a:r>
              <a:rPr lang="en-US" dirty="0" smtClean="0"/>
              <a:t>button </a:t>
            </a:r>
            <a:r>
              <a:rPr lang="en-US" dirty="0"/>
              <a:t>while your app is </a:t>
            </a:r>
            <a:r>
              <a:rPr lang="en-US" dirty="0" smtClean="0"/>
              <a:t>running.</a:t>
            </a:r>
          </a:p>
          <a:p>
            <a:pPr lvl="1"/>
            <a:r>
              <a:rPr lang="en-US" dirty="0" smtClean="0"/>
              <a:t>Able to call </a:t>
            </a:r>
            <a:r>
              <a:rPr lang="en-US" dirty="0"/>
              <a:t>a method in </a:t>
            </a:r>
            <a:r>
              <a:rPr lang="en-US" dirty="0" smtClean="0"/>
              <a:t>other </a:t>
            </a:r>
            <a:r>
              <a:rPr lang="en-US" dirty="0" smtClean="0"/>
              <a:t>activity</a:t>
            </a:r>
          </a:p>
          <a:p>
            <a:pPr lvl="1"/>
            <a:r>
              <a:rPr lang="en-US" dirty="0"/>
              <a:t>Since it is an interface that any class could implement, this has more flexibility 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81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Button Click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Import required classes</a:t>
            </a:r>
          </a:p>
          <a:p>
            <a:pPr lvl="1"/>
            <a:r>
              <a:rPr lang="en-US" sz="2200" b="1" dirty="0" smtClean="0"/>
              <a:t>import </a:t>
            </a:r>
            <a:r>
              <a:rPr lang="en-US" sz="2200" dirty="0" err="1" smtClean="0"/>
              <a:t>android.widget.Button</a:t>
            </a:r>
            <a:r>
              <a:rPr lang="en-US" sz="2200" dirty="0" smtClean="0"/>
              <a:t>;</a:t>
            </a:r>
          </a:p>
          <a:p>
            <a:pPr lvl="1"/>
            <a:r>
              <a:rPr lang="en-US" sz="2200" b="1" dirty="0" smtClean="0"/>
              <a:t>import </a:t>
            </a:r>
            <a:r>
              <a:rPr lang="en-US" sz="2200" dirty="0" err="1" smtClean="0"/>
              <a:t>android.widget.Toast</a:t>
            </a:r>
            <a:r>
              <a:rPr lang="en-US" sz="2200" dirty="0" smtClean="0"/>
              <a:t>;</a:t>
            </a:r>
          </a:p>
          <a:p>
            <a:pPr lvl="2"/>
            <a:r>
              <a:rPr lang="en-US" sz="2000" dirty="0" smtClean="0"/>
              <a:t>Toast is a quick little message for the user</a:t>
            </a:r>
          </a:p>
          <a:p>
            <a:r>
              <a:rPr lang="en-US" dirty="0" smtClean="0"/>
              <a:t>Declare a button type object</a:t>
            </a:r>
          </a:p>
          <a:p>
            <a:pPr lvl="1"/>
            <a:r>
              <a:rPr lang="en-US" sz="2200" dirty="0"/>
              <a:t>Button </a:t>
            </a:r>
            <a:r>
              <a:rPr lang="en-US" sz="2200" b="1" dirty="0" err="1"/>
              <a:t>NewButton</a:t>
            </a:r>
            <a:endParaRPr lang="en-US" sz="2200" dirty="0" smtClean="0"/>
          </a:p>
          <a:p>
            <a:r>
              <a:rPr lang="en-US" dirty="0"/>
              <a:t>Instantiate the Button type object referring </a:t>
            </a:r>
            <a:r>
              <a:rPr lang="en-US" dirty="0" smtClean="0"/>
              <a:t>the </a:t>
            </a:r>
            <a:r>
              <a:rPr lang="en-US" b="1" dirty="0" smtClean="0"/>
              <a:t>button1 </a:t>
            </a:r>
            <a:r>
              <a:rPr lang="en-US" dirty="0"/>
              <a:t>component</a:t>
            </a:r>
            <a:r>
              <a:rPr lang="en-US" b="1" dirty="0"/>
              <a:t> </a:t>
            </a:r>
            <a:r>
              <a:rPr lang="en-US" dirty="0"/>
              <a:t>of </a:t>
            </a:r>
            <a:r>
              <a:rPr lang="en-US" dirty="0" smtClean="0"/>
              <a:t>activity</a:t>
            </a:r>
          </a:p>
          <a:p>
            <a:pPr lvl="1"/>
            <a:r>
              <a:rPr lang="en-US" sz="2200" b="1" dirty="0" err="1" smtClean="0"/>
              <a:t>NewButton</a:t>
            </a:r>
            <a:r>
              <a:rPr lang="en-US" sz="2200" dirty="0"/>
              <a:t>=(Button)</a:t>
            </a:r>
            <a:r>
              <a:rPr lang="en-US" sz="2200" dirty="0" err="1"/>
              <a:t>findViewById</a:t>
            </a:r>
            <a:r>
              <a:rPr lang="en-US" sz="2200" dirty="0"/>
              <a:t>(R.id.</a:t>
            </a:r>
            <a:r>
              <a:rPr lang="en-US" sz="2200" b="1" i="1" dirty="0"/>
              <a:t>button1</a:t>
            </a:r>
            <a:r>
              <a:rPr lang="en-US" sz="2200" dirty="0"/>
              <a:t>);</a:t>
            </a:r>
            <a:endParaRPr lang="en-US" sz="2200" dirty="0" smtClean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610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Click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setOnClickListener</a:t>
            </a:r>
            <a:r>
              <a:rPr lang="en-US" dirty="0" smtClean="0"/>
              <a:t> ()</a:t>
            </a:r>
          </a:p>
          <a:p>
            <a:pPr lvl="1"/>
            <a:r>
              <a:rPr lang="en-US" dirty="0" smtClean="0"/>
              <a:t>Register </a:t>
            </a:r>
            <a:r>
              <a:rPr lang="en-US" dirty="0"/>
              <a:t>a callback to be invoked when </a:t>
            </a:r>
            <a:r>
              <a:rPr lang="en-US" dirty="0" smtClean="0"/>
              <a:t>the button is </a:t>
            </a:r>
            <a:r>
              <a:rPr lang="en-US" dirty="0"/>
              <a:t>clicked.</a:t>
            </a:r>
            <a:endParaRPr lang="en-US" b="1" dirty="0" smtClean="0"/>
          </a:p>
          <a:p>
            <a:r>
              <a:rPr lang="en-US" dirty="0" smtClean="0"/>
              <a:t>Event listener</a:t>
            </a:r>
          </a:p>
          <a:p>
            <a:pPr lvl="1"/>
            <a:r>
              <a:rPr lang="en-US" dirty="0"/>
              <a:t>Called when the user </a:t>
            </a:r>
            <a:r>
              <a:rPr lang="en-US" dirty="0" smtClean="0"/>
              <a:t>clicks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 err="1" smtClean="0"/>
              <a:t>OnClickListener</a:t>
            </a:r>
            <a:r>
              <a:rPr lang="en-US" sz="2000" dirty="0"/>
              <a:t>() </a:t>
            </a:r>
            <a:endParaRPr lang="en-US" sz="1600" dirty="0" smtClean="0"/>
          </a:p>
          <a:p>
            <a:r>
              <a:rPr lang="en-US" dirty="0" smtClean="0"/>
              <a:t>Event Handler</a:t>
            </a:r>
          </a:p>
          <a:p>
            <a:pPr lvl="1"/>
            <a:r>
              <a:rPr lang="en-US" dirty="0" smtClean="0"/>
              <a:t>Ev</a:t>
            </a:r>
            <a:r>
              <a:rPr lang="en-US" dirty="0"/>
              <a:t>e</a:t>
            </a:r>
            <a:r>
              <a:rPr lang="en-US" dirty="0" smtClean="0"/>
              <a:t>nt handler to execute actions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	</a:t>
            </a:r>
            <a:r>
              <a:rPr lang="en-US" sz="2000" dirty="0" err="1" smtClean="0"/>
              <a:t>onClick</a:t>
            </a:r>
            <a:r>
              <a:rPr lang="en-US" sz="2000" dirty="0" smtClean="0"/>
              <a:t>() </a:t>
            </a:r>
          </a:p>
          <a:p>
            <a:r>
              <a:rPr lang="en-US" dirty="0" smtClean="0"/>
              <a:t>Toast</a:t>
            </a:r>
          </a:p>
          <a:p>
            <a:pPr lvl="1"/>
            <a:r>
              <a:rPr lang="en-US" sz="2000" dirty="0" err="1" smtClean="0"/>
              <a:t>Toast.</a:t>
            </a:r>
            <a:r>
              <a:rPr lang="en-US" sz="2000" i="1" dirty="0" err="1" smtClean="0"/>
              <a:t>makeText</a:t>
            </a:r>
            <a:r>
              <a:rPr lang="en-US" sz="2000" dirty="0" smtClean="0"/>
              <a:t>(</a:t>
            </a:r>
            <a:r>
              <a:rPr lang="en-US" sz="2000" dirty="0" err="1" smtClean="0"/>
              <a:t>MainActivity.this,"Hi</a:t>
            </a:r>
            <a:r>
              <a:rPr lang="en-US" sz="2000" dirty="0" smtClean="0"/>
              <a:t> !",</a:t>
            </a:r>
            <a:r>
              <a:rPr lang="en-US" sz="2000" dirty="0" err="1" smtClean="0"/>
              <a:t>Toast.</a:t>
            </a:r>
            <a:r>
              <a:rPr lang="en-US" sz="2000" i="1" dirty="0" err="1" smtClean="0"/>
              <a:t>LENGTH_LONG</a:t>
            </a:r>
            <a:r>
              <a:rPr lang="en-US" sz="2000" dirty="0" smtClean="0"/>
              <a:t>).show();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37104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5713</TotalTime>
  <Words>1048</Words>
  <Application>Microsoft Office PowerPoint</Application>
  <PresentationFormat>On-screen Show (4:3)</PresentationFormat>
  <Paragraphs>243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HNDIT</vt:lpstr>
      <vt:lpstr>HNDIT2417 Mobile Application Development</vt:lpstr>
      <vt:lpstr>Starting a new project</vt:lpstr>
      <vt:lpstr>Starting a new project</vt:lpstr>
      <vt:lpstr>Starting a new project</vt:lpstr>
      <vt:lpstr>Starting a new project</vt:lpstr>
      <vt:lpstr>Starting a new project</vt:lpstr>
      <vt:lpstr>Android Studio Designer</vt:lpstr>
      <vt:lpstr>Design mode</vt:lpstr>
      <vt:lpstr>Android Studio Environment</vt:lpstr>
      <vt:lpstr>Android Studio Environment</vt:lpstr>
      <vt:lpstr>Android Studio Environment</vt:lpstr>
      <vt:lpstr>Text mode</vt:lpstr>
      <vt:lpstr>Android Studio Environment</vt:lpstr>
      <vt:lpstr>Running the App</vt:lpstr>
      <vt:lpstr>Activity</vt:lpstr>
      <vt:lpstr>PowerPoint Presentation</vt:lpstr>
      <vt:lpstr>PowerPoint Presentation</vt:lpstr>
      <vt:lpstr>activity_main.xml</vt:lpstr>
      <vt:lpstr>activity_main.xml</vt:lpstr>
      <vt:lpstr>AndroidManifest.xml</vt:lpstr>
      <vt:lpstr>AndroidManifest.xml</vt:lpstr>
      <vt:lpstr>AndroidManifest.xml</vt:lpstr>
      <vt:lpstr>MainActivity.java</vt:lpstr>
      <vt:lpstr>PowerPoint Presentation</vt:lpstr>
      <vt:lpstr>View</vt:lpstr>
      <vt:lpstr>Resource ID. </vt:lpstr>
      <vt:lpstr>Editing TextView component</vt:lpstr>
      <vt:lpstr>TextView</vt:lpstr>
      <vt:lpstr>Editing TextView component</vt:lpstr>
      <vt:lpstr>Editing View Properties</vt:lpstr>
      <vt:lpstr>Density Independent Pixels</vt:lpstr>
      <vt:lpstr>Density Independent Pixels</vt:lpstr>
      <vt:lpstr>Insert Image</vt:lpstr>
      <vt:lpstr>Insert Image</vt:lpstr>
      <vt:lpstr>Button</vt:lpstr>
      <vt:lpstr>Button Click</vt:lpstr>
      <vt:lpstr>Button Click</vt:lpstr>
      <vt:lpstr>Button Click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pc</cp:lastModifiedBy>
  <cp:revision>474</cp:revision>
  <dcterms:created xsi:type="dcterms:W3CDTF">2012-08-16T13:03:13Z</dcterms:created>
  <dcterms:modified xsi:type="dcterms:W3CDTF">2019-01-02T13:14:49Z</dcterms:modified>
</cp:coreProperties>
</file>