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304" r:id="rId2"/>
    <p:sldId id="294" r:id="rId3"/>
    <p:sldId id="263" r:id="rId4"/>
    <p:sldId id="264" r:id="rId5"/>
    <p:sldId id="297" r:id="rId6"/>
    <p:sldId id="298" r:id="rId7"/>
    <p:sldId id="295" r:id="rId8"/>
    <p:sldId id="265" r:id="rId9"/>
    <p:sldId id="289" r:id="rId10"/>
    <p:sldId id="290" r:id="rId11"/>
    <p:sldId id="299" r:id="rId12"/>
    <p:sldId id="292" r:id="rId13"/>
    <p:sldId id="291" r:id="rId14"/>
    <p:sldId id="305" r:id="rId15"/>
    <p:sldId id="30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87059" autoAdjust="0"/>
  </p:normalViewPr>
  <p:slideViewPr>
    <p:cSldViewPr>
      <p:cViewPr>
        <p:scale>
          <a:sx n="70" d="100"/>
          <a:sy n="70" d="100"/>
        </p:scale>
        <p:origin x="-13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99AA-E18B-4813-816E-B07801F4AD93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 smtClean="0"/>
              <a:t>Janaka</a:t>
            </a:r>
            <a:r>
              <a:rPr lang="en-US" dirty="0" smtClean="0"/>
              <a:t> </a:t>
            </a:r>
            <a:r>
              <a:rPr lang="en-US" dirty="0" err="1" smtClean="0"/>
              <a:t>Rajakaruna</a:t>
            </a:r>
            <a:r>
              <a:rPr lang="en-US" dirty="0" smtClean="0"/>
              <a:t>, ATI- </a:t>
            </a:r>
            <a:r>
              <a:rPr lang="en-US" dirty="0" err="1" smtClean="0"/>
              <a:t>Dehiwal</a:t>
            </a:r>
            <a:r>
              <a:rPr lang="en-US" dirty="0" err="1"/>
              <a:t>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B6B07-0EF5-4A8C-BFB2-03E232BBA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multitasking computer operating systems, a daemon is a computer program that runs as a background process, rather than being under the direct control of an interactive user.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8BF15-7F91-4F61-BBC8-F8783FE2E6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7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Introduction to </a:t>
            </a:r>
            <a:r>
              <a:rPr lang="en-US" sz="2800" dirty="0">
                <a:solidFill>
                  <a:schemeClr val="tx1"/>
                </a:solidFill>
              </a:rPr>
              <a:t>Android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90" y="5486400"/>
            <a:ext cx="1770906" cy="132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5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Image resu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571500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" y="3352800"/>
            <a:ext cx="9042400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86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8" r="13148" b="27913"/>
          <a:stretch>
            <a:fillRect/>
          </a:stretch>
        </p:blipFill>
        <p:spPr>
          <a:xfrm>
            <a:off x="4030337" y="1447800"/>
            <a:ext cx="5076188" cy="5410200"/>
          </a:xfrm>
        </p:spPr>
      </p:pic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Introduction to Android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Popular mobile device OS: 52% of U.S. smartphone market </a:t>
            </a:r>
          </a:p>
          <a:p>
            <a:pPr eaLnBrk="1" hangingPunct="1"/>
            <a:r>
              <a:rPr lang="en-US" altLang="en-US" dirty="0" smtClean="0"/>
              <a:t>Developed by Open Handset Alliance, led by Google</a:t>
            </a:r>
          </a:p>
          <a:p>
            <a:pPr eaLnBrk="1" hangingPunct="1"/>
            <a:r>
              <a:rPr lang="en-US" altLang="en-US" dirty="0" smtClean="0"/>
              <a:t>Google claims 900,000 Android device activations </a:t>
            </a:r>
          </a:p>
        </p:txBody>
      </p:sp>
      <p:sp>
        <p:nvSpPr>
          <p:cNvPr id="410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C77423-DBD4-47B0-A8F4-0ACF4F1B284A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8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Android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905000"/>
            <a:ext cx="8229600" cy="4221163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Android is an operating system for mobile devices such as </a:t>
            </a:r>
            <a:r>
              <a:rPr lang="en-US" sz="2800" i="1" dirty="0" smtClean="0"/>
              <a:t>smartphones</a:t>
            </a:r>
            <a:r>
              <a:rPr lang="en-US" sz="2800" dirty="0" smtClean="0"/>
              <a:t> and </a:t>
            </a:r>
            <a:r>
              <a:rPr lang="en-US" sz="2800" i="1" dirty="0" smtClean="0"/>
              <a:t>tablet</a:t>
            </a:r>
            <a:r>
              <a:rPr lang="en-US" sz="2800" dirty="0" smtClean="0"/>
              <a:t> computers. It is developed by the Open Handset Alliance led by Google.</a:t>
            </a:r>
          </a:p>
          <a:p>
            <a:endParaRPr lang="en-US" sz="2800" dirty="0" smtClean="0"/>
          </a:p>
          <a:p>
            <a:pPr algn="just"/>
            <a:r>
              <a:rPr lang="en-US" sz="2800" dirty="0" smtClean="0"/>
              <a:t>Android and Apple </a:t>
            </a:r>
            <a:r>
              <a:rPr lang="en-US" sz="2800" dirty="0" err="1" smtClean="0"/>
              <a:t>iOS</a:t>
            </a:r>
            <a:r>
              <a:rPr lang="en-US" sz="2800" dirty="0" smtClean="0"/>
              <a:t>, being the leading mobile operating system from first quarter of 2011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0445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- </a:t>
            </a:r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800600"/>
          </a:xfrm>
        </p:spPr>
        <p:txBody>
          <a:bodyPr>
            <a:noAutofit/>
          </a:bodyPr>
          <a:lstStyle/>
          <a:p>
            <a:r>
              <a:rPr lang="en-US" sz="2400" dirty="0"/>
              <a:t>Android is largely supported by Google allowing you to use various services of Google.</a:t>
            </a:r>
          </a:p>
          <a:p>
            <a:r>
              <a:rPr lang="en-US" sz="2400" dirty="0"/>
              <a:t>Android is an open source and runs on mobile devices, tablets etc.</a:t>
            </a:r>
          </a:p>
          <a:p>
            <a:r>
              <a:rPr lang="en-US" sz="2400" dirty="0"/>
              <a:t>It is multitasking that means you can run many applications at the same time. For example, you can browse Facebook while listening the song.</a:t>
            </a:r>
          </a:p>
          <a:p>
            <a:r>
              <a:rPr lang="en-US" sz="2400" dirty="0"/>
              <a:t>The Android operating system is available on mobile phones from various manufacturers like Samsung, Motorola, HTC, Sony Ericsson etc.</a:t>
            </a:r>
          </a:p>
          <a:p>
            <a:r>
              <a:rPr lang="en-US" sz="2400" dirty="0"/>
              <a:t>Using Android phone, you can easily check e-mail from Gmail if your Gmail account is integrated with Google Services.</a:t>
            </a:r>
          </a:p>
          <a:p>
            <a:r>
              <a:rPr lang="en-US" sz="2400" dirty="0"/>
              <a:t>User can easily access a variety of settings quickly and easily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3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-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Android requires continuous Internet connection if you are using Google services.</a:t>
            </a:r>
          </a:p>
          <a:p>
            <a:r>
              <a:rPr lang="en-US" dirty="0"/>
              <a:t>Android shows error &amp; forces to close the large apps/games, which is very annoying.</a:t>
            </a:r>
          </a:p>
          <a:p>
            <a:r>
              <a:rPr lang="en-US" dirty="0"/>
              <a:t>It takes large amount of mobile data if a large number of background processes are running.</a:t>
            </a:r>
          </a:p>
          <a:p>
            <a:r>
              <a:rPr lang="en-US" dirty="0"/>
              <a:t>It increases the usage of RAM and decreases battery performance when many processes are running in the background.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44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Android </a:t>
            </a:r>
            <a:r>
              <a:rPr lang="en-US" dirty="0"/>
              <a:t>1.0, 1.1 to 1.5 (</a:t>
            </a:r>
            <a:r>
              <a:rPr lang="en-US" dirty="0" smtClean="0"/>
              <a:t>Cupcake)</a:t>
            </a:r>
          </a:p>
          <a:p>
            <a:r>
              <a:rPr lang="en-US" dirty="0" smtClean="0"/>
              <a:t>1.6 </a:t>
            </a:r>
            <a:r>
              <a:rPr lang="en-US" dirty="0"/>
              <a:t>(</a:t>
            </a:r>
            <a:r>
              <a:rPr lang="en-US" dirty="0" smtClean="0"/>
              <a:t>Donut)</a:t>
            </a:r>
          </a:p>
          <a:p>
            <a:r>
              <a:rPr lang="en-US" dirty="0" smtClean="0"/>
              <a:t>2.0/2.1 </a:t>
            </a:r>
            <a:r>
              <a:rPr lang="en-US" dirty="0"/>
              <a:t>(</a:t>
            </a:r>
            <a:r>
              <a:rPr lang="en-US" dirty="0" err="1"/>
              <a:t>Eclair</a:t>
            </a:r>
            <a:r>
              <a:rPr lang="en-US" dirty="0" smtClean="0"/>
              <a:t>)</a:t>
            </a:r>
          </a:p>
          <a:p>
            <a:r>
              <a:rPr lang="en-US" dirty="0" smtClean="0"/>
              <a:t>2.2 </a:t>
            </a:r>
            <a:r>
              <a:rPr lang="en-US" dirty="0"/>
              <a:t>(</a:t>
            </a:r>
            <a:r>
              <a:rPr lang="en-US" dirty="0" err="1" smtClean="0"/>
              <a:t>Froyo</a:t>
            </a:r>
            <a:r>
              <a:rPr lang="en-US" dirty="0" smtClean="0"/>
              <a:t>)</a:t>
            </a:r>
          </a:p>
          <a:p>
            <a:r>
              <a:rPr lang="en-US" dirty="0" smtClean="0"/>
              <a:t>2.3 </a:t>
            </a:r>
            <a:r>
              <a:rPr lang="en-US" dirty="0"/>
              <a:t>(Gingerbread</a:t>
            </a:r>
            <a:r>
              <a:rPr lang="en-US" dirty="0" smtClean="0"/>
              <a:t>),</a:t>
            </a:r>
          </a:p>
          <a:p>
            <a:r>
              <a:rPr lang="en-US" dirty="0" smtClean="0"/>
              <a:t>3.0 </a:t>
            </a:r>
            <a:r>
              <a:rPr lang="en-US" dirty="0"/>
              <a:t>(</a:t>
            </a:r>
            <a:r>
              <a:rPr lang="en-US" dirty="0" smtClean="0"/>
              <a:t>Honeycomb)</a:t>
            </a:r>
          </a:p>
          <a:p>
            <a:r>
              <a:rPr lang="en-US" dirty="0" smtClean="0"/>
              <a:t>4.0 </a:t>
            </a:r>
            <a:r>
              <a:rPr lang="en-US" dirty="0"/>
              <a:t>(Ice Cream </a:t>
            </a:r>
            <a:r>
              <a:rPr lang="en-US" dirty="0" smtClean="0"/>
              <a:t>Sandwich)</a:t>
            </a:r>
            <a:endParaRPr lang="en-US" dirty="0"/>
          </a:p>
          <a:p>
            <a:r>
              <a:rPr lang="en-US" dirty="0" smtClean="0"/>
              <a:t>4.1-4.3 </a:t>
            </a:r>
            <a:r>
              <a:rPr lang="en-US" dirty="0"/>
              <a:t>(Jelly </a:t>
            </a:r>
            <a:r>
              <a:rPr lang="en-US" dirty="0" smtClean="0"/>
              <a:t>Bean)</a:t>
            </a:r>
          </a:p>
          <a:p>
            <a:r>
              <a:rPr lang="en-US" dirty="0" smtClean="0"/>
              <a:t>5.0 </a:t>
            </a:r>
            <a:r>
              <a:rPr lang="en-US" dirty="0"/>
              <a:t>(</a:t>
            </a:r>
            <a:r>
              <a:rPr lang="en-US" dirty="0" smtClean="0"/>
              <a:t>Lollipop)</a:t>
            </a:r>
          </a:p>
          <a:p>
            <a:r>
              <a:rPr lang="en-US" dirty="0" smtClean="0"/>
              <a:t>6.0 Marshmallow</a:t>
            </a:r>
          </a:p>
          <a:p>
            <a:r>
              <a:rPr lang="en-US" dirty="0" smtClean="0"/>
              <a:t>7.0 Nougat</a:t>
            </a:r>
          </a:p>
          <a:p>
            <a:r>
              <a:rPr lang="en-US" dirty="0" smtClean="0"/>
              <a:t>8.0 Oreo</a:t>
            </a:r>
          </a:p>
          <a:p>
            <a:r>
              <a:rPr lang="en-US" dirty="0" smtClean="0"/>
              <a:t>9.0 Pie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20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Android Architecture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33" y="1066800"/>
            <a:ext cx="9168127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178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Android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2211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Applications </a:t>
            </a:r>
            <a:r>
              <a:rPr lang="en-US" dirty="0"/>
              <a:t>(written in java, executing in </a:t>
            </a:r>
            <a:r>
              <a:rPr lang="en-US" dirty="0" err="1"/>
              <a:t>Dalvik</a:t>
            </a:r>
            <a:r>
              <a:rPr lang="en-US" dirty="0"/>
              <a:t>)</a:t>
            </a:r>
          </a:p>
          <a:p>
            <a:r>
              <a:rPr lang="en-US" dirty="0" smtClean="0"/>
              <a:t>Framework </a:t>
            </a:r>
            <a:r>
              <a:rPr lang="en-US" dirty="0"/>
              <a:t>services and libraries (written mostly in java)</a:t>
            </a:r>
          </a:p>
          <a:p>
            <a:pPr lvl="1"/>
            <a:r>
              <a:rPr lang="en-US" dirty="0" smtClean="0"/>
              <a:t>Applications </a:t>
            </a:r>
            <a:r>
              <a:rPr lang="en-US" dirty="0"/>
              <a:t>and most framework code executes in a virtual machine</a:t>
            </a:r>
          </a:p>
          <a:p>
            <a:r>
              <a:rPr lang="en-US" dirty="0" smtClean="0"/>
              <a:t>Native </a:t>
            </a:r>
            <a:r>
              <a:rPr lang="en-US" dirty="0"/>
              <a:t>libraries, daemons and services (written in C or C++)</a:t>
            </a:r>
          </a:p>
          <a:p>
            <a:r>
              <a:rPr lang="en-US" dirty="0" smtClean="0"/>
              <a:t>Linux </a:t>
            </a:r>
            <a:r>
              <a:rPr lang="en-US" dirty="0"/>
              <a:t>kernel, which includes</a:t>
            </a:r>
          </a:p>
          <a:p>
            <a:pPr lvl="1"/>
            <a:r>
              <a:rPr lang="en-US" dirty="0" smtClean="0"/>
              <a:t>Drivers </a:t>
            </a:r>
            <a:r>
              <a:rPr lang="en-US" dirty="0"/>
              <a:t>for hardware, networking, file system access and inter-process-communication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38800" y="5257800"/>
            <a:ext cx="30480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Kernel- Program </a:t>
            </a:r>
            <a:r>
              <a:rPr lang="en-US" dirty="0"/>
              <a:t>that is the core of a computer's operating system, with complete control over everything.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0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Runtime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Core libraries</a:t>
            </a:r>
          </a:p>
          <a:p>
            <a:pPr algn="just"/>
            <a:r>
              <a:rPr lang="en-US" dirty="0" err="1" smtClean="0"/>
              <a:t>Dalvik</a:t>
            </a:r>
            <a:r>
              <a:rPr lang="en-US" dirty="0" smtClean="0"/>
              <a:t> - a </a:t>
            </a:r>
            <a:r>
              <a:rPr lang="en-US" dirty="0"/>
              <a:t>virtual machine that </a:t>
            </a:r>
            <a:r>
              <a:rPr lang="en-US" dirty="0" smtClean="0"/>
              <a:t>runs applications and </a:t>
            </a:r>
            <a:r>
              <a:rPr lang="en-US" dirty="0"/>
              <a:t>code written in </a:t>
            </a:r>
            <a:r>
              <a:rPr lang="en-US" dirty="0" smtClean="0"/>
              <a:t>Java. </a:t>
            </a:r>
            <a:r>
              <a:rPr lang="en-US" dirty="0"/>
              <a:t>A standard Java compiler turns source code (written as text files) into </a:t>
            </a:r>
            <a:r>
              <a:rPr lang="en-US" dirty="0" smtClean="0"/>
              <a:t>Byte code, </a:t>
            </a:r>
            <a:r>
              <a:rPr lang="en-US" dirty="0"/>
              <a:t>then compiled into a .</a:t>
            </a:r>
            <a:r>
              <a:rPr lang="en-US" dirty="0" err="1"/>
              <a:t>dex</a:t>
            </a:r>
            <a:r>
              <a:rPr lang="en-US" dirty="0"/>
              <a:t> file that the </a:t>
            </a:r>
            <a:r>
              <a:rPr lang="en-US" dirty="0" err="1"/>
              <a:t>Dalvik</a:t>
            </a:r>
            <a:r>
              <a:rPr lang="en-US" dirty="0"/>
              <a:t> VM can read and </a:t>
            </a:r>
            <a:r>
              <a:rPr lang="en-US" dirty="0" smtClean="0"/>
              <a:t>use.</a:t>
            </a:r>
          </a:p>
          <a:p>
            <a:pPr algn="just"/>
            <a:r>
              <a:rPr lang="en-US" dirty="0" smtClean="0"/>
              <a:t>.</a:t>
            </a:r>
            <a:r>
              <a:rPr lang="en-US" dirty="0" err="1" smtClean="0"/>
              <a:t>dex</a:t>
            </a:r>
            <a:r>
              <a:rPr lang="en-US" dirty="0" smtClean="0"/>
              <a:t> – </a:t>
            </a:r>
            <a:r>
              <a:rPr lang="en-US" dirty="0" err="1" smtClean="0"/>
              <a:t>Davlink</a:t>
            </a:r>
            <a:r>
              <a:rPr lang="en-US" dirty="0" smtClean="0"/>
              <a:t> executable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23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Android Highlight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19600" cy="4800600"/>
          </a:xfrm>
        </p:spPr>
        <p:txBody>
          <a:bodyPr/>
          <a:lstStyle/>
          <a:p>
            <a:pPr eaLnBrk="1" hangingPunct="1"/>
            <a:r>
              <a:rPr lang="en-US" altLang="en-US" sz="2600" dirty="0" smtClean="0"/>
              <a:t>Android apps execute on </a:t>
            </a:r>
            <a:r>
              <a:rPr lang="en-US" altLang="en-US" sz="2600" dirty="0" err="1" smtClean="0"/>
              <a:t>Dalvik</a:t>
            </a:r>
            <a:r>
              <a:rPr lang="en-US" altLang="en-US" sz="2600" dirty="0" smtClean="0"/>
              <a:t> VM</a:t>
            </a:r>
          </a:p>
          <a:p>
            <a:pPr lvl="1" eaLnBrk="1" hangingPunct="1"/>
            <a:r>
              <a:rPr lang="en-US" altLang="en-US" sz="2200" dirty="0" err="1" smtClean="0"/>
              <a:t>Dalvik</a:t>
            </a:r>
            <a:r>
              <a:rPr lang="en-US" altLang="en-US" sz="2200" dirty="0" smtClean="0"/>
              <a:t> optimized for efficient execution</a:t>
            </a:r>
          </a:p>
          <a:p>
            <a:pPr lvl="1" eaLnBrk="1" hangingPunct="1"/>
            <a:r>
              <a:rPr lang="en-US" altLang="en-US" sz="2200" dirty="0" err="1" smtClean="0"/>
              <a:t>Dalvik</a:t>
            </a:r>
            <a:r>
              <a:rPr lang="en-US" altLang="en-US" sz="2200" dirty="0" smtClean="0"/>
              <a:t>: register-based VM, unlike Oracle’s stack-based JVM</a:t>
            </a:r>
          </a:p>
          <a:p>
            <a:pPr lvl="1" eaLnBrk="1" hangingPunct="1"/>
            <a:r>
              <a:rPr lang="en-US" altLang="en-US" sz="2200" dirty="0" smtClean="0"/>
              <a:t>Java .class </a:t>
            </a:r>
            <a:r>
              <a:rPr lang="en-US" altLang="en-US" sz="2200" dirty="0" err="1" smtClean="0"/>
              <a:t>bytecode</a:t>
            </a:r>
            <a:r>
              <a:rPr lang="en-US" altLang="en-US" sz="2200" dirty="0" smtClean="0"/>
              <a:t> translated to </a:t>
            </a:r>
            <a:r>
              <a:rPr lang="en-US" altLang="en-US" sz="2200" dirty="0" err="1" smtClean="0"/>
              <a:t>Dalvik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EXecutable</a:t>
            </a:r>
            <a:r>
              <a:rPr lang="en-US" altLang="en-US" sz="2200" dirty="0" smtClean="0"/>
              <a:t> (DEX) </a:t>
            </a:r>
            <a:r>
              <a:rPr lang="en-US" altLang="en-US" sz="2200" dirty="0" err="1" smtClean="0"/>
              <a:t>bytecode</a:t>
            </a:r>
            <a:r>
              <a:rPr lang="en-US" altLang="en-US" sz="2200" dirty="0" smtClean="0"/>
              <a:t>, which </a:t>
            </a:r>
            <a:r>
              <a:rPr lang="en-US" altLang="en-US" sz="2200" dirty="0" err="1" smtClean="0"/>
              <a:t>Dalvik</a:t>
            </a:r>
            <a:r>
              <a:rPr lang="en-US" altLang="en-US" sz="2200" dirty="0" smtClean="0"/>
              <a:t> interprets</a:t>
            </a:r>
          </a:p>
        </p:txBody>
      </p:sp>
      <p:pic>
        <p:nvPicPr>
          <p:cNvPr id="16388" name="Content Placeholder 6" descr="DalvikCompilationWorkflow.png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6" r="-166"/>
          <a:stretch>
            <a:fillRect/>
          </a:stretch>
        </p:blipFill>
        <p:spPr>
          <a:xfrm>
            <a:off x="5137150" y="1600200"/>
            <a:ext cx="3555608" cy="5257800"/>
          </a:xfrm>
        </p:spPr>
      </p:pic>
      <p:sp>
        <p:nvSpPr>
          <p:cNvPr id="1638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3FDCA8-2ABC-4DFA-B658-5FBC2532A736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26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tools for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/>
              <a:t>as IDE with </a:t>
            </a:r>
            <a:r>
              <a:rPr lang="en-US" dirty="0" smtClean="0"/>
              <a:t>ADT</a:t>
            </a:r>
          </a:p>
          <a:p>
            <a:r>
              <a:rPr lang="en-US" dirty="0"/>
              <a:t>Android studio</a:t>
            </a:r>
            <a:endParaRPr lang="en-US" dirty="0" smtClean="0"/>
          </a:p>
          <a:p>
            <a:r>
              <a:rPr lang="en-US" dirty="0"/>
              <a:t>Visual Studio With </a:t>
            </a:r>
            <a:r>
              <a:rPr lang="en-US" dirty="0" err="1"/>
              <a:t>Xamarin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https://www.xamarin.com/content/images/pages/branding/assets/xamarin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105400"/>
            <a:ext cx="3886200" cy="162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mage.slidesharecdn.com/androidstudiovsadt-140113025530-phpapp02/95/android-studio-vs-adt-2-638.jpg?cb=13895817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4500649"/>
            <a:ext cx="3733800" cy="210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14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Android </a:t>
            </a:r>
            <a:r>
              <a:rPr lang="en-US" dirty="0"/>
              <a:t>Studio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Android </a:t>
            </a:r>
            <a:r>
              <a:rPr lang="en-US" dirty="0" smtClean="0"/>
              <a:t>Studio </a:t>
            </a:r>
            <a:r>
              <a:rPr lang="en-US" dirty="0"/>
              <a:t>is Android's official IDE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It offer tools custom-tailored for Android developers, including rich code editing, debugging, testing, and profiling </a:t>
            </a:r>
            <a:r>
              <a:rPr lang="en-US" dirty="0" smtClean="0"/>
              <a:t>tools.</a:t>
            </a:r>
          </a:p>
          <a:p>
            <a:pPr algn="just"/>
            <a:r>
              <a:rPr lang="en-US" dirty="0"/>
              <a:t>has more options for Android Development, making the process faster and more productive</a:t>
            </a:r>
          </a:p>
        </p:txBody>
      </p:sp>
    </p:spTree>
    <p:extLst>
      <p:ext uri="{BB962C8B-B14F-4D97-AF65-F5344CB8AC3E}">
        <p14:creationId xmlns:p14="http://schemas.microsoft.com/office/powerpoint/2010/main" val="208046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Advantage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700" dirty="0"/>
              <a:t>Android apps written in Java 5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Actually, a Java dialect (Apache Harmony)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Everything we’ve learned still holds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6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Studio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System </a:t>
            </a:r>
            <a:r>
              <a:rPr lang="en-US" dirty="0" smtClean="0"/>
              <a:t>requirements for Windows</a:t>
            </a:r>
            <a:endParaRPr lang="en-US" dirty="0"/>
          </a:p>
          <a:p>
            <a:pPr lvl="1"/>
            <a:r>
              <a:rPr lang="en-US" dirty="0" smtClean="0"/>
              <a:t>Java 7/8</a:t>
            </a:r>
          </a:p>
          <a:p>
            <a:pPr lvl="1"/>
            <a:r>
              <a:rPr lang="en-US" dirty="0" smtClean="0"/>
              <a:t>Microsoft</a:t>
            </a:r>
            <a:r>
              <a:rPr lang="en-US" dirty="0"/>
              <a:t>® Windows® 7/8/10 (32- or 64-bit)</a:t>
            </a:r>
          </a:p>
          <a:p>
            <a:pPr lvl="1"/>
            <a:r>
              <a:rPr lang="en-US" dirty="0"/>
              <a:t>3 GB RAM minimum, </a:t>
            </a:r>
            <a:r>
              <a:rPr lang="en-US" dirty="0">
                <a:solidFill>
                  <a:srgbClr val="FF0000"/>
                </a:solidFill>
              </a:rPr>
              <a:t>8 GB RAM</a:t>
            </a:r>
            <a:r>
              <a:rPr lang="en-US" dirty="0"/>
              <a:t> recommended; </a:t>
            </a:r>
            <a:r>
              <a:rPr lang="en-US" dirty="0">
                <a:solidFill>
                  <a:srgbClr val="FF0000"/>
                </a:solidFill>
              </a:rPr>
              <a:t>plus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GB</a:t>
            </a:r>
            <a:r>
              <a:rPr lang="en-US" dirty="0"/>
              <a:t> for the Android Emulator</a:t>
            </a:r>
          </a:p>
          <a:p>
            <a:pPr lvl="1"/>
            <a:r>
              <a:rPr lang="en-US" dirty="0"/>
              <a:t>2 GB of available disk space minimum,</a:t>
            </a:r>
          </a:p>
          <a:p>
            <a:pPr lvl="1"/>
            <a:r>
              <a:rPr lang="en-US" dirty="0"/>
              <a:t>4 GB Recommended (500 MB for IDE + 1.5 GB for Android SDK and emulator system image)</a:t>
            </a:r>
          </a:p>
          <a:p>
            <a:pPr lvl="1"/>
            <a:r>
              <a:rPr lang="en-US" dirty="0"/>
              <a:t>1280 x 800 minimum screen resolution</a:t>
            </a:r>
          </a:p>
        </p:txBody>
      </p:sp>
    </p:spTree>
    <p:extLst>
      <p:ext uri="{BB962C8B-B14F-4D97-AF65-F5344CB8AC3E}">
        <p14:creationId xmlns:p14="http://schemas.microsoft.com/office/powerpoint/2010/main" val="34921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3923</TotalTime>
  <Words>632</Words>
  <Application>Microsoft Office PowerPoint</Application>
  <PresentationFormat>On-screen Show (4:3)</PresentationFormat>
  <Paragraphs>79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HNDIT</vt:lpstr>
      <vt:lpstr>HNDIT2417 Mobile Application Development</vt:lpstr>
      <vt:lpstr>PowerPoint Presentation</vt:lpstr>
      <vt:lpstr>Introduction to Android</vt:lpstr>
      <vt:lpstr>What is Android</vt:lpstr>
      <vt:lpstr>Android - Advantages</vt:lpstr>
      <vt:lpstr>Android - Disadvantages</vt:lpstr>
      <vt:lpstr>Android versions</vt:lpstr>
      <vt:lpstr>Android Architecture</vt:lpstr>
      <vt:lpstr>Android Architecture</vt:lpstr>
      <vt:lpstr>Android Runtime</vt:lpstr>
      <vt:lpstr>Android Highlight</vt:lpstr>
      <vt:lpstr>Development tools for Android</vt:lpstr>
      <vt:lpstr>Android Studio </vt:lpstr>
      <vt:lpstr>Advantage</vt:lpstr>
      <vt:lpstr>Android Studio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211</cp:revision>
  <dcterms:created xsi:type="dcterms:W3CDTF">2012-08-16T13:03:13Z</dcterms:created>
  <dcterms:modified xsi:type="dcterms:W3CDTF">2018-12-23T04:54:35Z</dcterms:modified>
</cp:coreProperties>
</file>