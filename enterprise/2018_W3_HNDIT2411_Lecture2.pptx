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934" autoAdjust="0"/>
    <p:restoredTop sz="94660"/>
  </p:normalViewPr>
  <p:slideViewPr>
    <p:cSldViewPr>
      <p:cViewPr varScale="1">
        <p:scale>
          <a:sx n="70" d="100"/>
          <a:sy n="70" d="100"/>
        </p:scale>
        <p:origin x="5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6" d="100"/>
        <a:sy n="3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AF1BF-01CA-4961-8652-E6477156C05F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FD58E-DEE8-4398-ADC3-3A3441DE8C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3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FC9A3-AF3C-4CC1-8FAA-58AD05255FE4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0600"/>
            <a:ext cx="7406640" cy="17526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Principles of distributed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development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609600"/>
            <a:ext cx="8153400" cy="1472184"/>
          </a:xfrm>
        </p:spPr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HNDIT2411</a:t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Introduction</a:t>
            </a:r>
            <a:r>
              <a:rPr lang="en-US" sz="3600" dirty="0" smtClean="0"/>
              <a:t> </a:t>
            </a:r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to Multi-Tiered Architecture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pic>
        <p:nvPicPr>
          <p:cNvPr id="7" name="Picture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" r="3800"/>
          <a:stretch>
            <a:fillRect/>
          </a:stretch>
        </p:blipFill>
        <p:spPr>
          <a:xfrm>
            <a:off x="838200" y="838200"/>
            <a:ext cx="7696199" cy="585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9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Enterprise Computing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just"/>
            <a:r>
              <a:rPr lang="en-US" dirty="0"/>
              <a:t>Computing that is distributed across the network.</a:t>
            </a:r>
            <a:endParaRPr lang="en-US" sz="2800" dirty="0"/>
          </a:p>
          <a:p>
            <a:pPr lvl="0" algn="just"/>
            <a:r>
              <a:rPr lang="en-US" dirty="0"/>
              <a:t>Support the need to build distributed, transactional, and portable applications that leverage the speed, security, and reliability of server side technology.</a:t>
            </a:r>
            <a:endParaRPr lang="en-US" sz="2800" dirty="0"/>
          </a:p>
          <a:p>
            <a:pPr lvl="0" algn="just"/>
            <a:r>
              <a:rPr lang="en-US" dirty="0"/>
              <a:t>J2EE</a:t>
            </a:r>
            <a:endParaRPr lang="en-US" sz="2800" dirty="0"/>
          </a:p>
          <a:p>
            <a:pPr lvl="1" algn="just"/>
            <a:r>
              <a:rPr lang="en-US" dirty="0"/>
              <a:t>Provides a set of tools to design , develop, assemble and deploy platform independent server based applications more quickly.</a:t>
            </a:r>
            <a:endParaRPr lang="en-US" sz="2400" dirty="0"/>
          </a:p>
          <a:p>
            <a:pPr lvl="1" algn="just"/>
            <a:r>
              <a:rPr lang="en-US" dirty="0"/>
              <a:t>Provides a distributed, component based, loosely coupled , reliable and secure, platform independent and responsive application environment.</a:t>
            </a:r>
            <a:endParaRPr lang="en-US" sz="2400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559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Enterprise Computing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676400"/>
          <a:ext cx="8077200" cy="4724400"/>
        </p:xfrm>
        <a:graphic>
          <a:graphicData uri="http://schemas.openxmlformats.org/drawingml/2006/table">
            <a:tbl>
              <a:tblPr/>
              <a:tblGrid>
                <a:gridCol w="2692400"/>
                <a:gridCol w="2692400"/>
                <a:gridCol w="2692400"/>
              </a:tblGrid>
              <a:tr h="3006436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imes New Roman"/>
                          <a:ea typeface="Calibri"/>
                          <a:cs typeface="Times New Roman"/>
                        </a:rPr>
                        <a:t>Challenges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Portability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Diverse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Environments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Time-to-market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Core Competence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Assembly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Integration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imes New Roman"/>
                          <a:ea typeface="Calibri"/>
                          <a:cs typeface="Times New Roman"/>
                        </a:rPr>
                        <a:t>Key Technologies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J2SE™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J2EE™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JMS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Servlet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JSP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Connector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XML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Data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Binding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XSLT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imes New Roman"/>
                          <a:ea typeface="Calibri"/>
                          <a:cs typeface="Times New Roman"/>
                        </a:rPr>
                        <a:t>Products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App Servers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Web Servers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Components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Databases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Object to DB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tools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79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Calibri"/>
                          <a:cs typeface="Times New Roman"/>
                        </a:rPr>
                        <a:t>Legacy  Systems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Databases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TP Monitors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EIS Systems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5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Enterprise</a:t>
            </a:r>
            <a:r>
              <a:rPr lang="en-US" dirty="0" smtClean="0"/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Applications designed to solve problems encountered by large enterprises</a:t>
            </a:r>
          </a:p>
          <a:p>
            <a:pPr algn="just"/>
            <a:r>
              <a:rPr lang="en-US" sz="2800" dirty="0" smtClean="0"/>
              <a:t>Used </a:t>
            </a:r>
            <a:r>
              <a:rPr lang="en-US" sz="2800" dirty="0"/>
              <a:t>by large corporations, governments, etc.</a:t>
            </a:r>
          </a:p>
          <a:p>
            <a:pPr algn="just"/>
            <a:r>
              <a:rPr lang="en-US" sz="2800" dirty="0" smtClean="0"/>
              <a:t>Useful </a:t>
            </a:r>
            <a:r>
              <a:rPr lang="en-US" sz="2800" dirty="0"/>
              <a:t>for even small organizations in an increasingly networked world</a:t>
            </a:r>
          </a:p>
          <a:p>
            <a:pPr algn="just"/>
            <a:endParaRPr lang="en-US" sz="3600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09600" y="4876800"/>
            <a:ext cx="8153400" cy="1295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6"/>
          </a:lnRef>
          <a:fillRef idx="1003">
            <a:schemeClr val="dk2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90000" tIns="90000" rIns="90000" bIns="90000" anchor="ctr"/>
          <a:lstStyle/>
          <a:p>
            <a:pPr algn="ctr"/>
            <a:r>
              <a:rPr lang="en-US" sz="2800" b="0" dirty="0">
                <a:solidFill>
                  <a:srgbClr val="FF0000"/>
                </a:solidFill>
                <a:cs typeface="Arial" charset="0"/>
              </a:rPr>
              <a:t/>
            </a:r>
            <a:br>
              <a:rPr lang="en-US" sz="2800" b="0" dirty="0">
                <a:solidFill>
                  <a:srgbClr val="FF0000"/>
                </a:solidFill>
                <a:cs typeface="Arial" charset="0"/>
              </a:rPr>
            </a:br>
            <a:r>
              <a:rPr lang="en-US" sz="2800" b="0" dirty="0">
                <a:solidFill>
                  <a:srgbClr val="FF0000"/>
                </a:solidFill>
                <a:cs typeface="Arial" charset="0"/>
              </a:rPr>
              <a:t/>
            </a:r>
            <a:br>
              <a:rPr lang="en-US" sz="2800" b="0" dirty="0">
                <a:solidFill>
                  <a:srgbClr val="FF0000"/>
                </a:solidFill>
                <a:cs typeface="Arial" charset="0"/>
              </a:rPr>
            </a:br>
            <a:endParaRPr lang="en-US" sz="2800" b="0" dirty="0">
              <a:solidFill>
                <a:srgbClr val="FF0000"/>
              </a:solidFill>
              <a:cs typeface="Arial" charset="0"/>
            </a:endParaRPr>
          </a:p>
          <a:p>
            <a:pPr algn="ctr"/>
            <a:r>
              <a:rPr lang="en-US" sz="2800" b="0" i="1" dirty="0">
                <a:solidFill>
                  <a:srgbClr val="FF0000"/>
                </a:solidFill>
                <a:cs typeface="Arial" charset="0"/>
              </a:rPr>
              <a:t>Large-scale  </a:t>
            </a:r>
            <a:r>
              <a:rPr lang="en-US" sz="2800" b="0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 </a:t>
            </a:r>
            <a:r>
              <a:rPr lang="en-US" sz="2800" b="0" i="1" dirty="0">
                <a:solidFill>
                  <a:srgbClr val="FF0000"/>
                </a:solidFill>
                <a:cs typeface="Arial" charset="0"/>
              </a:rPr>
              <a:t> Scalable</a:t>
            </a:r>
          </a:p>
          <a:p>
            <a:pPr algn="ctr"/>
            <a:r>
              <a:rPr lang="en-US" sz="2800" b="0" i="1" dirty="0">
                <a:solidFill>
                  <a:srgbClr val="FF0000"/>
                </a:solidFill>
                <a:cs typeface="Arial" charset="0"/>
              </a:rPr>
              <a:t>Reliable  </a:t>
            </a:r>
            <a:r>
              <a:rPr lang="en-US" sz="2800" b="0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 </a:t>
            </a:r>
            <a:r>
              <a:rPr lang="en-US" sz="2800" b="0" i="1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 </a:t>
            </a:r>
            <a:r>
              <a:rPr lang="en-US" sz="2800" b="0" i="1" dirty="0">
                <a:solidFill>
                  <a:srgbClr val="FF0000"/>
                </a:solidFill>
                <a:cs typeface="Arial" charset="0"/>
              </a:rPr>
              <a:t>Secure</a:t>
            </a:r>
          </a:p>
          <a:p>
            <a:endParaRPr lang="en-US" sz="2800" b="0" i="1" dirty="0">
              <a:solidFill>
                <a:srgbClr val="FF0000"/>
              </a:solidFill>
              <a:cs typeface="Arial" charset="0"/>
            </a:endParaRPr>
          </a:p>
          <a:p>
            <a:endParaRPr lang="en-US" sz="2800" b="0" dirty="0">
              <a:solidFill>
                <a:srgbClr val="FF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07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Multi-tiered Architecture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Functionality of application separated into isolated functional areas called ‘tiers’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3-tiered architecture: </a:t>
            </a:r>
            <a:endParaRPr lang="en-US" sz="2400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219200" y="3505200"/>
            <a:ext cx="6553200" cy="2533650"/>
          </a:xfrm>
          <a:prstGeom prst="rect">
            <a:avLst/>
          </a:prstGeom>
          <a:noFill/>
          <a:ln w="12700" algn="ctr">
            <a:solidFill>
              <a:srgbClr val="100F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47058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>
              <a:spcBef>
                <a:spcPct val="20000"/>
              </a:spcBef>
              <a:buClr>
                <a:srgbClr val="100F76"/>
              </a:buClr>
              <a:buFont typeface="Wingdings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 Client tier</a:t>
            </a: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- client program makes requests to middle tier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</a:rPr>
            </a:br>
            <a:endParaRPr lang="en-US" altLang="en-US" sz="1800" b="0" dirty="0">
              <a:solidFill>
                <a:schemeClr val="tx1"/>
              </a:solidFill>
              <a:latin typeface="+mn-lt"/>
            </a:endParaRPr>
          </a:p>
          <a:p>
            <a:pPr algn="l">
              <a:spcBef>
                <a:spcPct val="20000"/>
              </a:spcBef>
              <a:buClr>
                <a:srgbClr val="100F76"/>
              </a:buClr>
              <a:buFont typeface="Wingdings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 Middle tier</a:t>
            </a: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- handles client requests by processing 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</a:rPr>
            </a:b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                       application data (business logic – business tier)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</a:rPr>
            </a:br>
            <a:endParaRPr lang="en-US" altLang="en-US" sz="1800" b="0" dirty="0">
              <a:solidFill>
                <a:schemeClr val="tx1"/>
              </a:solidFill>
              <a:latin typeface="+mn-lt"/>
            </a:endParaRPr>
          </a:p>
          <a:p>
            <a:pPr algn="l">
              <a:spcBef>
                <a:spcPct val="20000"/>
              </a:spcBef>
              <a:buClr>
                <a:srgbClr val="100F76"/>
              </a:buClr>
              <a:buFont typeface="Wingdings" pitchFamily="2" charset="2"/>
              <a:buChar char="§"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 Data tier</a:t>
            </a: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- persistent data store 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</a:rPr>
            </a:b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	     (database / legacy system / etc.)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831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Enterprise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Applications</a:t>
            </a:r>
            <a:r>
              <a:rPr lang="en-US" altLang="en-US" dirty="0"/>
              <a:t>	</a:t>
            </a:r>
            <a:endParaRPr lang="en-US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729538" y="1700213"/>
            <a:ext cx="1123950" cy="1530350"/>
          </a:xfrm>
          <a:prstGeom prst="can">
            <a:avLst>
              <a:gd name="adj" fmla="val 19226"/>
            </a:avLst>
          </a:prstGeom>
          <a:gradFill rotWithShape="1">
            <a:gsLst>
              <a:gs pos="0">
                <a:srgbClr val="395F58"/>
              </a:gs>
              <a:gs pos="50000">
                <a:srgbClr val="7CCEBE"/>
              </a:gs>
              <a:gs pos="100000">
                <a:srgbClr val="395F5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endParaRPr lang="en-US" altLang="en-US" b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7729538" y="3017838"/>
            <a:ext cx="1123950" cy="212725"/>
          </a:xfrm>
          <a:prstGeom prst="ellipse">
            <a:avLst/>
          </a:prstGeom>
          <a:gradFill rotWithShape="1">
            <a:gsLst>
              <a:gs pos="0">
                <a:srgbClr val="395F58"/>
              </a:gs>
              <a:gs pos="50000">
                <a:srgbClr val="7CCEBE"/>
              </a:gs>
              <a:gs pos="100000">
                <a:srgbClr val="395F58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endParaRPr lang="en-US" altLang="en-US" b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835900" y="3408363"/>
            <a:ext cx="9382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chemeClr val="tx1"/>
                </a:solidFill>
                <a:cs typeface="Arial" charset="0"/>
              </a:rPr>
              <a:t>Database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7847013" y="2217738"/>
            <a:ext cx="644525" cy="681037"/>
          </a:xfrm>
          <a:prstGeom prst="rect">
            <a:avLst/>
          </a:prstGeom>
          <a:solidFill>
            <a:srgbClr val="4B381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4B3811"/>
            </a:extrusionClr>
          </a:sp3d>
        </p:spPr>
        <p:txBody>
          <a:bodyPr wrap="none" anchor="ctr">
            <a:flatTx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000" b="0">
                <a:solidFill>
                  <a:schemeClr val="bg1"/>
                </a:solidFill>
                <a:cs typeface="Arial" charset="0"/>
              </a:rPr>
              <a:t>Tables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561975" y="1804988"/>
            <a:ext cx="1271588" cy="1427162"/>
          </a:xfrm>
          <a:prstGeom prst="rect">
            <a:avLst/>
          </a:prstGeom>
          <a:gradFill rotWithShape="1">
            <a:gsLst>
              <a:gs pos="0">
                <a:srgbClr val="EDE0C9"/>
              </a:gs>
              <a:gs pos="100000">
                <a:srgbClr val="E5D2B1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303200" prstMaterial="legacyMatte">
            <a:bevelT w="13500" h="13500" prst="angle"/>
            <a:bevelB w="13500" h="13500" prst="angle"/>
            <a:extrusionClr>
              <a:srgbClr val="EDE0C9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Char char="•"/>
            </a:pPr>
            <a:endParaRPr lang="en-US" altLang="en-US" sz="1000" b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868363" y="3408363"/>
            <a:ext cx="65881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1000" dirty="0">
                <a:solidFill>
                  <a:srgbClr val="1C1C1C"/>
                </a:solidFill>
                <a:cs typeface="Arial" charset="0"/>
              </a:rPr>
              <a:t>Client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561975" y="1916113"/>
            <a:ext cx="1163638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cs typeface="Arial" charset="0"/>
              </a:rPr>
              <a:t> Standalone</a:t>
            </a:r>
            <a:r>
              <a:rPr lang="sa-IN" altLang="en-US" sz="1200" dirty="0">
                <a:solidFill>
                  <a:schemeClr val="tx1"/>
                </a:solidFill>
                <a:cs typeface="Mangal" pitchFamily="2" charset="0"/>
              </a:rPr>
              <a:t/>
            </a:r>
            <a:br>
              <a:rPr lang="sa-IN" altLang="en-US" sz="1200" dirty="0">
                <a:solidFill>
                  <a:schemeClr val="tx1"/>
                </a:solidFill>
                <a:cs typeface="Mangal" pitchFamily="2" charset="0"/>
              </a:rPr>
            </a:br>
            <a:endParaRPr lang="en-US" altLang="en-US" sz="1200" dirty="0">
              <a:solidFill>
                <a:schemeClr val="tx1"/>
              </a:solidFill>
              <a:cs typeface="Mangal" pitchFamily="2" charset="0"/>
            </a:endParaRPr>
          </a:p>
          <a:p>
            <a:pPr algn="l" eaLnBrk="1" hangingPunct="1"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cs typeface="Arial" charset="0"/>
              </a:rPr>
              <a:t> Web </a:t>
            </a:r>
            <a:r>
              <a:rPr lang="sa-IN" altLang="en-US" sz="1200" dirty="0">
                <a:solidFill>
                  <a:schemeClr val="tx1"/>
                </a:solidFill>
                <a:cs typeface="Mangal" pitchFamily="2" charset="0"/>
              </a:rPr>
              <a:t/>
            </a:r>
            <a:br>
              <a:rPr lang="sa-IN" altLang="en-US" sz="1200" dirty="0">
                <a:solidFill>
                  <a:schemeClr val="tx1"/>
                </a:solidFill>
                <a:cs typeface="Mangal" pitchFamily="2" charset="0"/>
              </a:rPr>
            </a:br>
            <a:endParaRPr lang="en-US" altLang="en-US" sz="1200" dirty="0">
              <a:solidFill>
                <a:schemeClr val="tx1"/>
              </a:solidFill>
              <a:cs typeface="Mangal" pitchFamily="2" charset="0"/>
            </a:endParaRPr>
          </a:p>
          <a:p>
            <a:pPr algn="l" eaLnBrk="1" hangingPunct="1">
              <a:buFontTx/>
              <a:buChar char="•"/>
            </a:pPr>
            <a:r>
              <a:rPr lang="en-US" altLang="en-US" sz="1200" dirty="0">
                <a:solidFill>
                  <a:schemeClr val="tx1"/>
                </a:solidFill>
                <a:cs typeface="Arial" charset="0"/>
              </a:rPr>
              <a:t> Mobile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152900" y="1752600"/>
            <a:ext cx="1168400" cy="1517650"/>
          </a:xfrm>
          <a:prstGeom prst="rect">
            <a:avLst/>
          </a:prstGeom>
          <a:solidFill>
            <a:srgbClr val="0066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CC"/>
            </a:extrusionClr>
          </a:sp3d>
        </p:spPr>
        <p:txBody>
          <a:bodyPr wrap="none" anchor="ctr">
            <a:flatTx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000" b="0" i="1">
              <a:solidFill>
                <a:schemeClr val="accent2"/>
              </a:solidFill>
              <a:cs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000" b="0" i="1">
                <a:solidFill>
                  <a:schemeClr val="accent2"/>
                </a:solidFill>
                <a:cs typeface="Arial" charset="0"/>
              </a:rPr>
              <a:t>PLSQL</a:t>
            </a:r>
          </a:p>
          <a:p>
            <a:pPr eaLnBrk="1" hangingPunct="1">
              <a:spcBef>
                <a:spcPct val="0"/>
              </a:spcBef>
            </a:pPr>
            <a:endParaRPr lang="en-US" altLang="en-US" sz="1000" b="0" i="1">
              <a:solidFill>
                <a:srgbClr val="4B3811"/>
              </a:solidFill>
              <a:cs typeface="Arial" charset="0"/>
            </a:endParaRPr>
          </a:p>
        </p:txBody>
      </p:sp>
      <p:sp>
        <p:nvSpPr>
          <p:cNvPr id="13" name="AutoShape 19"/>
          <p:cNvSpPr>
            <a:spLocks noChangeArrowheads="1"/>
          </p:cNvSpPr>
          <p:nvPr/>
        </p:nvSpPr>
        <p:spPr bwMode="auto">
          <a:xfrm>
            <a:off x="4225925" y="1851025"/>
            <a:ext cx="965200" cy="815975"/>
          </a:xfrm>
          <a:prstGeom prst="roundRect">
            <a:avLst>
              <a:gd name="adj" fmla="val 6370"/>
            </a:avLst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200">
                <a:solidFill>
                  <a:schemeClr val="bg1"/>
                </a:solidFill>
                <a:cs typeface="Arial" charset="0"/>
              </a:rPr>
              <a:t>Business</a:t>
            </a:r>
            <a:br>
              <a:rPr lang="en-US" altLang="en-US" sz="1200">
                <a:solidFill>
                  <a:schemeClr val="bg1"/>
                </a:solidFill>
                <a:cs typeface="Arial" charset="0"/>
              </a:rPr>
            </a:br>
            <a:r>
              <a:rPr lang="en-US" altLang="en-US" sz="1200">
                <a:solidFill>
                  <a:schemeClr val="bg1"/>
                </a:solidFill>
                <a:cs typeface="Arial" charset="0"/>
              </a:rPr>
              <a:t>Logic</a:t>
            </a:r>
          </a:p>
        </p:txBody>
      </p:sp>
      <p:sp>
        <p:nvSpPr>
          <p:cNvPr id="14" name="Rectangle 21"/>
          <p:cNvSpPr>
            <a:spLocks noChangeArrowheads="1"/>
          </p:cNvSpPr>
          <p:nvPr/>
        </p:nvSpPr>
        <p:spPr bwMode="auto">
          <a:xfrm>
            <a:off x="5578475" y="2855913"/>
            <a:ext cx="2065338" cy="238125"/>
          </a:xfrm>
          <a:prstGeom prst="rect">
            <a:avLst/>
          </a:prstGeom>
          <a:solidFill>
            <a:srgbClr val="BC0000"/>
          </a:solidFill>
          <a:ln w="19050" algn="ctr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Database Connectivity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5578475" y="2498725"/>
            <a:ext cx="2065338" cy="238125"/>
          </a:xfrm>
          <a:prstGeom prst="rect">
            <a:avLst/>
          </a:prstGeom>
          <a:solidFill>
            <a:srgbClr val="BC0000"/>
          </a:solidFill>
          <a:ln w="19050" algn="ctr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Transaction Management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2001838" y="2498725"/>
            <a:ext cx="2065337" cy="238125"/>
          </a:xfrm>
          <a:prstGeom prst="rect">
            <a:avLst/>
          </a:prstGeom>
          <a:solidFill>
            <a:srgbClr val="BC0000"/>
          </a:solidFill>
          <a:ln w="19050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Network Communication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001838" y="3214688"/>
            <a:ext cx="2065337" cy="238125"/>
          </a:xfrm>
          <a:prstGeom prst="rect">
            <a:avLst/>
          </a:prstGeom>
          <a:solidFill>
            <a:srgbClr val="BC0000"/>
          </a:solidFill>
          <a:ln w="19050" algn="ctr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 dirty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Authentication / Security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2001838" y="2855913"/>
            <a:ext cx="2065337" cy="238125"/>
          </a:xfrm>
          <a:prstGeom prst="rect">
            <a:avLst/>
          </a:prstGeom>
          <a:solidFill>
            <a:srgbClr val="BC0000"/>
          </a:solidFill>
          <a:ln w="19050" algn="ctr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Client Session Management</a:t>
            </a: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4208463" y="3408363"/>
            <a:ext cx="11096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1C1C1C"/>
                </a:solidFill>
                <a:cs typeface="Arial" charset="0"/>
              </a:rPr>
              <a:t>Middle Tier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5578475" y="3214688"/>
            <a:ext cx="2065338" cy="238125"/>
          </a:xfrm>
          <a:prstGeom prst="rect">
            <a:avLst/>
          </a:prstGeom>
          <a:solidFill>
            <a:srgbClr val="BC0000"/>
          </a:solidFill>
          <a:ln w="19050" algn="ctr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Load Balancing</a:t>
            </a:r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1897063" y="2224088"/>
            <a:ext cx="2251075" cy="0"/>
          </a:xfrm>
          <a:prstGeom prst="line">
            <a:avLst/>
          </a:prstGeom>
          <a:noFill/>
          <a:ln w="12700">
            <a:solidFill>
              <a:srgbClr val="100F76"/>
            </a:solidFill>
            <a:prstDash val="dash"/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90000" rIns="90000" bIns="90000" anchor="ctr"/>
          <a:lstStyle/>
          <a:p>
            <a:endParaRPr lang="en-US"/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>
            <a:off x="5372100" y="2224088"/>
            <a:ext cx="2368550" cy="0"/>
          </a:xfrm>
          <a:prstGeom prst="line">
            <a:avLst/>
          </a:prstGeom>
          <a:noFill/>
          <a:ln w="12700">
            <a:solidFill>
              <a:srgbClr val="100F76"/>
            </a:solidFill>
            <a:prstDash val="dash"/>
            <a:round/>
            <a:headEnd type="arrow" w="lg" len="lg"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90000" rIns="90000" bIns="90000" anchor="ctr"/>
          <a:lstStyle/>
          <a:p>
            <a:endParaRPr lang="en-US"/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5578475" y="3573463"/>
            <a:ext cx="2065338" cy="238125"/>
          </a:xfrm>
          <a:prstGeom prst="rect">
            <a:avLst/>
          </a:prstGeom>
          <a:solidFill>
            <a:srgbClr val="BC0000"/>
          </a:solidFill>
          <a:ln w="19050" algn="ctr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Failover</a:t>
            </a:r>
          </a:p>
        </p:txBody>
      </p:sp>
      <p:sp>
        <p:nvSpPr>
          <p:cNvPr id="24" name="Rectangle 16"/>
          <p:cNvSpPr>
            <a:spLocks noChangeArrowheads="1"/>
          </p:cNvSpPr>
          <p:nvPr/>
        </p:nvSpPr>
        <p:spPr bwMode="auto">
          <a:xfrm>
            <a:off x="2001838" y="3573463"/>
            <a:ext cx="2065337" cy="238125"/>
          </a:xfrm>
          <a:prstGeom prst="rect">
            <a:avLst/>
          </a:prstGeom>
          <a:solidFill>
            <a:srgbClr val="BC0000"/>
          </a:solidFill>
          <a:ln w="19050" algn="ctr">
            <a:solidFill>
              <a:srgbClr val="9A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300" b="0">
                <a:solidFill>
                  <a:schemeClr val="bg1"/>
                </a:solidFill>
                <a:latin typeface="Trebuchet MS" pitchFamily="34" charset="0"/>
                <a:cs typeface="Tahoma" pitchFamily="34" charset="0"/>
              </a:rPr>
              <a:t>Pooling / Caching</a:t>
            </a:r>
          </a:p>
        </p:txBody>
      </p:sp>
      <p:grpSp>
        <p:nvGrpSpPr>
          <p:cNvPr id="3" name="Group 25"/>
          <p:cNvGrpSpPr/>
          <p:nvPr/>
        </p:nvGrpSpPr>
        <p:grpSpPr>
          <a:xfrm>
            <a:off x="457200" y="4038600"/>
            <a:ext cx="7416800" cy="2232025"/>
            <a:chOff x="916509" y="4273550"/>
            <a:chExt cx="7416800" cy="2232025"/>
          </a:xfrm>
        </p:grpSpPr>
        <p:sp>
          <p:nvSpPr>
            <p:cNvPr id="4" name="Rectangle 33"/>
            <p:cNvSpPr>
              <a:spLocks noChangeArrowheads="1"/>
            </p:cNvSpPr>
            <p:nvPr/>
          </p:nvSpPr>
          <p:spPr bwMode="auto">
            <a:xfrm>
              <a:off x="916509" y="4273550"/>
              <a:ext cx="7416800" cy="2232025"/>
            </a:xfrm>
            <a:prstGeom prst="rect">
              <a:avLst/>
            </a:prstGeom>
            <a:solidFill>
              <a:srgbClr val="DDDDDD">
                <a:alpha val="47058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100F7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90000" rIns="90000" bIns="90000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" name="Rectangle 31"/>
            <p:cNvSpPr>
              <a:spLocks noChangeArrowheads="1"/>
            </p:cNvSpPr>
            <p:nvPr/>
          </p:nvSpPr>
          <p:spPr bwMode="auto">
            <a:xfrm>
              <a:off x="971550" y="4489450"/>
              <a:ext cx="6696075" cy="2016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111125" indent="-1588"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algn="l">
                <a:spcBef>
                  <a:spcPct val="20000"/>
                </a:spcBef>
                <a:buClr>
                  <a:srgbClr val="100F76"/>
                </a:buClr>
                <a:buFont typeface="Wingdings" pitchFamily="2" charset="2"/>
                <a:buNone/>
              </a:pPr>
              <a:r>
                <a:rPr lang="en-US" altLang="en-US" sz="1800" b="0" dirty="0">
                  <a:solidFill>
                    <a:schemeClr val="tx1"/>
                  </a:solidFill>
                  <a:latin typeface="+mn-lt"/>
                </a:rPr>
                <a:t>In addition to business logic, we have to implement the other middle-tier services (‘middleware’)</a:t>
              </a:r>
              <a:r>
                <a:rPr lang="sa-IN" altLang="en-US" sz="900" b="0" dirty="0">
                  <a:solidFill>
                    <a:schemeClr val="tx1"/>
                  </a:solidFill>
                  <a:cs typeface="Mangal" pitchFamily="2" charset="0"/>
                </a:rPr>
                <a:t/>
              </a:r>
              <a:br>
                <a:rPr lang="sa-IN" altLang="en-US" sz="900" b="0" dirty="0">
                  <a:solidFill>
                    <a:schemeClr val="tx1"/>
                  </a:solidFill>
                  <a:cs typeface="Mangal" pitchFamily="2" charset="0"/>
                </a:rPr>
              </a:br>
              <a:endParaRPr lang="en-US" altLang="en-US" sz="900" b="0" dirty="0">
                <a:solidFill>
                  <a:schemeClr val="tx1"/>
                </a:solidFill>
                <a:cs typeface="Mangal" pitchFamily="2" charset="0"/>
              </a:endParaRPr>
            </a:p>
            <a:p>
              <a:pPr algn="l">
                <a:spcBef>
                  <a:spcPct val="20000"/>
                </a:spcBef>
                <a:buClr>
                  <a:srgbClr val="100F76"/>
                </a:buClr>
                <a:buFont typeface="Wingdings" pitchFamily="2" charset="2"/>
                <a:buChar char="§"/>
              </a:pP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sa-IN" altLang="en-US" sz="1600" b="0" dirty="0">
                  <a:solidFill>
                    <a:schemeClr val="tx1"/>
                  </a:solidFill>
                  <a:latin typeface="+mn-lt"/>
                  <a:cs typeface="Mangal" pitchFamily="2" charset="0"/>
                </a:rPr>
                <a:t> </a:t>
              </a: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Very Complex</a:t>
              </a:r>
            </a:p>
            <a:p>
              <a:pPr algn="l">
                <a:spcBef>
                  <a:spcPct val="20000"/>
                </a:spcBef>
                <a:buClr>
                  <a:srgbClr val="100F76"/>
                </a:buClr>
                <a:buFont typeface="Wingdings" pitchFamily="2" charset="2"/>
                <a:buChar char="§"/>
              </a:pP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sa-IN" altLang="en-US" sz="1600" b="0" dirty="0">
                  <a:solidFill>
                    <a:schemeClr val="tx1"/>
                  </a:solidFill>
                  <a:latin typeface="+mn-lt"/>
                  <a:cs typeface="Mangal" pitchFamily="2" charset="0"/>
                </a:rPr>
                <a:t> </a:t>
              </a: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Needs technical expertise</a:t>
              </a:r>
            </a:p>
            <a:p>
              <a:pPr algn="l">
                <a:spcBef>
                  <a:spcPct val="20000"/>
                </a:spcBef>
                <a:buClr>
                  <a:srgbClr val="100F76"/>
                </a:buClr>
                <a:buFont typeface="Wingdings" pitchFamily="2" charset="2"/>
                <a:buChar char="§"/>
              </a:pP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sa-IN" altLang="en-US" sz="1600" b="0" dirty="0">
                  <a:solidFill>
                    <a:schemeClr val="tx1"/>
                  </a:solidFill>
                  <a:latin typeface="+mn-lt"/>
                  <a:cs typeface="Mangal" pitchFamily="2" charset="0"/>
                </a:rPr>
                <a:t> </a:t>
              </a: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Time consuming</a:t>
              </a:r>
            </a:p>
            <a:p>
              <a:pPr algn="l">
                <a:spcBef>
                  <a:spcPct val="20000"/>
                </a:spcBef>
                <a:buClr>
                  <a:srgbClr val="100F76"/>
                </a:buClr>
                <a:buFont typeface="Wingdings" pitchFamily="2" charset="2"/>
                <a:buChar char="§"/>
              </a:pP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sa-IN" altLang="en-US" sz="1600" b="0" dirty="0">
                  <a:solidFill>
                    <a:schemeClr val="tx1"/>
                  </a:solidFill>
                  <a:latin typeface="+mn-lt"/>
                  <a:cs typeface="Mangal" pitchFamily="2" charset="0"/>
                </a:rPr>
                <a:t> </a:t>
              </a:r>
              <a:r>
                <a:rPr lang="en-US" altLang="en-US" sz="1600" b="0" dirty="0">
                  <a:solidFill>
                    <a:schemeClr val="tx1"/>
                  </a:solidFill>
                  <a:latin typeface="+mn-lt"/>
                </a:rPr>
                <a:t>Very costly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088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Enterprise Applications</a:t>
            </a:r>
            <a:r>
              <a:rPr lang="en-US" altLang="en-US" dirty="0"/>
              <a:t>	</a:t>
            </a:r>
            <a:endParaRPr lang="en-US" dirty="0"/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492125" y="4953000"/>
            <a:ext cx="3851275" cy="129698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2EBFE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1D1DE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90000" rIns="90000" bIns="90000" anchor="ctr"/>
          <a:lstStyle/>
          <a:p>
            <a:pPr>
              <a:defRPr/>
            </a:pPr>
            <a:r>
              <a:rPr lang="en-US" sz="4000" b="0">
                <a:solidFill>
                  <a:srgbClr val="5A358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angal" pitchFamily="2" charset="0"/>
                <a:cs typeface="Arial Unicode MS" pitchFamily="34" charset="-128"/>
              </a:rPr>
              <a:t>Java EE</a:t>
            </a:r>
          </a:p>
        </p:txBody>
      </p:sp>
      <p:sp>
        <p:nvSpPr>
          <p:cNvPr id="5" name="AutoShape 19"/>
          <p:cNvSpPr>
            <a:spLocks noChangeArrowheads="1"/>
          </p:cNvSpPr>
          <p:nvPr/>
        </p:nvSpPr>
        <p:spPr bwMode="auto">
          <a:xfrm>
            <a:off x="2085975" y="2930525"/>
            <a:ext cx="1295400" cy="1296988"/>
          </a:xfrm>
          <a:prstGeom prst="roundRect">
            <a:avLst>
              <a:gd name="adj" fmla="val 6370"/>
            </a:avLst>
          </a:prstGeom>
          <a:solidFill>
            <a:srgbClr val="00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>
                <a:solidFill>
                  <a:schemeClr val="bg1"/>
                </a:solidFill>
                <a:cs typeface="Arial" charset="0"/>
              </a:rPr>
              <a:t>Business</a:t>
            </a:r>
            <a:br>
              <a:rPr lang="en-US" altLang="en-US">
                <a:solidFill>
                  <a:schemeClr val="bg1"/>
                </a:solidFill>
                <a:cs typeface="Arial" charset="0"/>
              </a:rPr>
            </a:br>
            <a:r>
              <a:rPr lang="en-US" altLang="en-US">
                <a:solidFill>
                  <a:schemeClr val="bg1"/>
                </a:solidFill>
                <a:cs typeface="Arial" charset="0"/>
              </a:rPr>
              <a:t>Logic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4746625" y="1628775"/>
            <a:ext cx="4321175" cy="4543425"/>
            <a:chOff x="2653" y="886"/>
            <a:chExt cx="2294" cy="2636"/>
          </a:xfrm>
        </p:grpSpPr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 rot="300784">
              <a:off x="2881" y="886"/>
              <a:ext cx="206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algn="l" eaLnBrk="1" hangingPunct="1"/>
              <a:r>
                <a:rPr lang="en-US" altLang="en-US" sz="1800" dirty="0">
                  <a:solidFill>
                    <a:schemeClr val="tx1"/>
                  </a:solidFill>
                  <a:latin typeface="Comic Sans MS" pitchFamily="66" charset="0"/>
                  <a:cs typeface="Arial" charset="0"/>
                </a:rPr>
                <a:t>We don’t worry about these</a:t>
              </a:r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 rot="-2129247">
              <a:off x="2835" y="1162"/>
              <a:ext cx="410" cy="302"/>
            </a:xfrm>
            <a:custGeom>
              <a:avLst/>
              <a:gdLst>
                <a:gd name="T0" fmla="*/ 650875 w 410"/>
                <a:gd name="T1" fmla="*/ 9969 h 529"/>
                <a:gd name="T2" fmla="*/ 523875 w 410"/>
                <a:gd name="T3" fmla="*/ 23563 h 529"/>
                <a:gd name="T4" fmla="*/ 384175 w 410"/>
                <a:gd name="T5" fmla="*/ 42595 h 529"/>
                <a:gd name="T6" fmla="*/ 280988 w 410"/>
                <a:gd name="T7" fmla="*/ 62533 h 529"/>
                <a:gd name="T8" fmla="*/ 246063 w 410"/>
                <a:gd name="T9" fmla="*/ 69784 h 529"/>
                <a:gd name="T10" fmla="*/ 3175 w 410"/>
                <a:gd name="T11" fmla="*/ 287292 h 529"/>
                <a:gd name="T12" fmla="*/ 3175 w 410"/>
                <a:gd name="T13" fmla="*/ 479425 h 5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10"/>
                <a:gd name="T22" fmla="*/ 0 h 529"/>
                <a:gd name="T23" fmla="*/ 410 w 410"/>
                <a:gd name="T24" fmla="*/ 529 h 52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10" h="529">
                  <a:moveTo>
                    <a:pt x="410" y="11"/>
                  </a:moveTo>
                  <a:cubicBezTo>
                    <a:pt x="365" y="0"/>
                    <a:pt x="369" y="17"/>
                    <a:pt x="330" y="26"/>
                  </a:cubicBezTo>
                  <a:cubicBezTo>
                    <a:pt x="258" y="43"/>
                    <a:pt x="313" y="21"/>
                    <a:pt x="242" y="47"/>
                  </a:cubicBezTo>
                  <a:cubicBezTo>
                    <a:pt x="192" y="65"/>
                    <a:pt x="253" y="43"/>
                    <a:pt x="177" y="69"/>
                  </a:cubicBezTo>
                  <a:cubicBezTo>
                    <a:pt x="170" y="72"/>
                    <a:pt x="155" y="77"/>
                    <a:pt x="155" y="77"/>
                  </a:cubicBezTo>
                  <a:cubicBezTo>
                    <a:pt x="92" y="137"/>
                    <a:pt x="5" y="220"/>
                    <a:pt x="2" y="317"/>
                  </a:cubicBezTo>
                  <a:cubicBezTo>
                    <a:pt x="0" y="388"/>
                    <a:pt x="2" y="458"/>
                    <a:pt x="2" y="52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4"/>
            <p:cNvSpPr>
              <a:spLocks/>
            </p:cNvSpPr>
            <p:nvPr/>
          </p:nvSpPr>
          <p:spPr bwMode="auto">
            <a:xfrm>
              <a:off x="2653" y="1480"/>
              <a:ext cx="1724" cy="2042"/>
            </a:xfrm>
            <a:custGeom>
              <a:avLst/>
              <a:gdLst>
                <a:gd name="T0" fmla="*/ 1118600 w 2317"/>
                <a:gd name="T1" fmla="*/ 62422 h 1868"/>
                <a:gd name="T2" fmla="*/ 1230815 w 2317"/>
                <a:gd name="T3" fmla="*/ 0 h 1868"/>
                <a:gd name="T4" fmla="*/ 2005684 w 2317"/>
                <a:gd name="T5" fmla="*/ 47355 h 1868"/>
                <a:gd name="T6" fmla="*/ 2169872 w 2317"/>
                <a:gd name="T7" fmla="*/ 139912 h 1868"/>
                <a:gd name="T8" fmla="*/ 2306891 w 2317"/>
                <a:gd name="T9" fmla="*/ 312111 h 1868"/>
                <a:gd name="T10" fmla="*/ 2436824 w 2317"/>
                <a:gd name="T11" fmla="*/ 516599 h 1868"/>
                <a:gd name="T12" fmla="*/ 2513602 w 2317"/>
                <a:gd name="T13" fmla="*/ 721085 h 1868"/>
                <a:gd name="T14" fmla="*/ 2539589 w 2317"/>
                <a:gd name="T15" fmla="*/ 798575 h 1868"/>
                <a:gd name="T16" fmla="*/ 2591562 w 2317"/>
                <a:gd name="T17" fmla="*/ 925571 h 1868"/>
                <a:gd name="T18" fmla="*/ 2625816 w 2317"/>
                <a:gd name="T19" fmla="*/ 1082704 h 1868"/>
                <a:gd name="T20" fmla="*/ 2669521 w 2317"/>
                <a:gd name="T21" fmla="*/ 1287191 h 1868"/>
                <a:gd name="T22" fmla="*/ 2695508 w 2317"/>
                <a:gd name="T23" fmla="*/ 1427103 h 1868"/>
                <a:gd name="T24" fmla="*/ 2703776 w 2317"/>
                <a:gd name="T25" fmla="*/ 1474457 h 1868"/>
                <a:gd name="T26" fmla="*/ 2695508 w 2317"/>
                <a:gd name="T27" fmla="*/ 2212763 h 1868"/>
                <a:gd name="T28" fmla="*/ 2625816 w 2317"/>
                <a:gd name="T29" fmla="*/ 2619584 h 1868"/>
                <a:gd name="T30" fmla="*/ 2565575 w 2317"/>
                <a:gd name="T31" fmla="*/ 2871426 h 1868"/>
                <a:gd name="T32" fmla="*/ 2513602 w 2317"/>
                <a:gd name="T33" fmla="*/ 3028557 h 1868"/>
                <a:gd name="T34" fmla="*/ 2384850 w 2317"/>
                <a:gd name="T35" fmla="*/ 3310535 h 1868"/>
                <a:gd name="T36" fmla="*/ 2264368 w 2317"/>
                <a:gd name="T37" fmla="*/ 3515021 h 1868"/>
                <a:gd name="T38" fmla="*/ 2126167 w 2317"/>
                <a:gd name="T39" fmla="*/ 3672153 h 1868"/>
                <a:gd name="T40" fmla="*/ 1963161 w 2317"/>
                <a:gd name="T41" fmla="*/ 3812065 h 1868"/>
                <a:gd name="T42" fmla="*/ 1635967 w 2317"/>
                <a:gd name="T43" fmla="*/ 3954130 h 1868"/>
                <a:gd name="T44" fmla="*/ 1110332 w 2317"/>
                <a:gd name="T45" fmla="*/ 3969197 h 1868"/>
                <a:gd name="T46" fmla="*/ 851648 w 2317"/>
                <a:gd name="T47" fmla="*/ 3859419 h 1868"/>
                <a:gd name="T48" fmla="*/ 791407 w 2317"/>
                <a:gd name="T49" fmla="*/ 3812065 h 1868"/>
                <a:gd name="T50" fmla="*/ 628401 w 2317"/>
                <a:gd name="T51" fmla="*/ 3654933 h 1868"/>
                <a:gd name="T52" fmla="*/ 568159 w 2317"/>
                <a:gd name="T53" fmla="*/ 3562376 h 1868"/>
                <a:gd name="T54" fmla="*/ 516186 w 2317"/>
                <a:gd name="T55" fmla="*/ 3530088 h 1868"/>
                <a:gd name="T56" fmla="*/ 403972 w 2317"/>
                <a:gd name="T57" fmla="*/ 3420311 h 1868"/>
                <a:gd name="T58" fmla="*/ 223247 w 2317"/>
                <a:gd name="T59" fmla="*/ 3200757 h 1868"/>
                <a:gd name="T60" fmla="*/ 102764 w 2317"/>
                <a:gd name="T61" fmla="*/ 2746581 h 1868"/>
                <a:gd name="T62" fmla="*/ 76778 w 2317"/>
                <a:gd name="T63" fmla="*/ 2322540 h 1868"/>
                <a:gd name="T64" fmla="*/ 94496 w 2317"/>
                <a:gd name="T65" fmla="*/ 611308 h 1868"/>
                <a:gd name="T66" fmla="*/ 137020 w 2317"/>
                <a:gd name="T67" fmla="*/ 406821 h 1868"/>
                <a:gd name="T68" fmla="*/ 438226 w 2317"/>
                <a:gd name="T69" fmla="*/ 157132 h 1868"/>
                <a:gd name="T70" fmla="*/ 618951 w 2317"/>
                <a:gd name="T71" fmla="*/ 77490 h 1868"/>
                <a:gd name="T72" fmla="*/ 1118600 w 2317"/>
                <a:gd name="T73" fmla="*/ 62422 h 186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7"/>
                <a:gd name="T112" fmla="*/ 0 h 1868"/>
                <a:gd name="T113" fmla="*/ 2317 w 2317"/>
                <a:gd name="T114" fmla="*/ 1868 h 186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7" h="1868">
                  <a:moveTo>
                    <a:pt x="947" y="29"/>
                  </a:moveTo>
                  <a:cubicBezTo>
                    <a:pt x="979" y="19"/>
                    <a:pt x="1010" y="10"/>
                    <a:pt x="1042" y="0"/>
                  </a:cubicBezTo>
                  <a:cubicBezTo>
                    <a:pt x="1263" y="4"/>
                    <a:pt x="1478" y="12"/>
                    <a:pt x="1698" y="22"/>
                  </a:cubicBezTo>
                  <a:cubicBezTo>
                    <a:pt x="1748" y="31"/>
                    <a:pt x="1789" y="53"/>
                    <a:pt x="1837" y="65"/>
                  </a:cubicBezTo>
                  <a:cubicBezTo>
                    <a:pt x="1877" y="92"/>
                    <a:pt x="1910" y="124"/>
                    <a:pt x="1953" y="145"/>
                  </a:cubicBezTo>
                  <a:cubicBezTo>
                    <a:pt x="1987" y="179"/>
                    <a:pt x="2032" y="204"/>
                    <a:pt x="2063" y="240"/>
                  </a:cubicBezTo>
                  <a:cubicBezTo>
                    <a:pt x="2088" y="269"/>
                    <a:pt x="2107" y="303"/>
                    <a:pt x="2128" y="335"/>
                  </a:cubicBezTo>
                  <a:cubicBezTo>
                    <a:pt x="2136" y="347"/>
                    <a:pt x="2142" y="359"/>
                    <a:pt x="2150" y="371"/>
                  </a:cubicBezTo>
                  <a:cubicBezTo>
                    <a:pt x="2164" y="391"/>
                    <a:pt x="2194" y="430"/>
                    <a:pt x="2194" y="430"/>
                  </a:cubicBezTo>
                  <a:cubicBezTo>
                    <a:pt x="2209" y="524"/>
                    <a:pt x="2187" y="431"/>
                    <a:pt x="2223" y="503"/>
                  </a:cubicBezTo>
                  <a:cubicBezTo>
                    <a:pt x="2238" y="534"/>
                    <a:pt x="2239" y="568"/>
                    <a:pt x="2260" y="598"/>
                  </a:cubicBezTo>
                  <a:cubicBezTo>
                    <a:pt x="2267" y="620"/>
                    <a:pt x="2275" y="641"/>
                    <a:pt x="2282" y="663"/>
                  </a:cubicBezTo>
                  <a:cubicBezTo>
                    <a:pt x="2284" y="670"/>
                    <a:pt x="2289" y="685"/>
                    <a:pt x="2289" y="685"/>
                  </a:cubicBezTo>
                  <a:cubicBezTo>
                    <a:pt x="2295" y="799"/>
                    <a:pt x="2317" y="917"/>
                    <a:pt x="2282" y="1028"/>
                  </a:cubicBezTo>
                  <a:cubicBezTo>
                    <a:pt x="2274" y="1078"/>
                    <a:pt x="2253" y="1173"/>
                    <a:pt x="2223" y="1217"/>
                  </a:cubicBezTo>
                  <a:cubicBezTo>
                    <a:pt x="2214" y="1263"/>
                    <a:pt x="2206" y="1300"/>
                    <a:pt x="2172" y="1334"/>
                  </a:cubicBezTo>
                  <a:cubicBezTo>
                    <a:pt x="2162" y="1366"/>
                    <a:pt x="2149" y="1382"/>
                    <a:pt x="2128" y="1407"/>
                  </a:cubicBezTo>
                  <a:cubicBezTo>
                    <a:pt x="2090" y="1453"/>
                    <a:pt x="2070" y="1503"/>
                    <a:pt x="2019" y="1538"/>
                  </a:cubicBezTo>
                  <a:cubicBezTo>
                    <a:pt x="1990" y="1581"/>
                    <a:pt x="1956" y="1603"/>
                    <a:pt x="1917" y="1633"/>
                  </a:cubicBezTo>
                  <a:cubicBezTo>
                    <a:pt x="1875" y="1666"/>
                    <a:pt x="1853" y="1691"/>
                    <a:pt x="1800" y="1706"/>
                  </a:cubicBezTo>
                  <a:cubicBezTo>
                    <a:pt x="1760" y="1746"/>
                    <a:pt x="1714" y="1751"/>
                    <a:pt x="1662" y="1771"/>
                  </a:cubicBezTo>
                  <a:cubicBezTo>
                    <a:pt x="1601" y="1832"/>
                    <a:pt x="1461" y="1832"/>
                    <a:pt x="1385" y="1837"/>
                  </a:cubicBezTo>
                  <a:cubicBezTo>
                    <a:pt x="1219" y="1868"/>
                    <a:pt x="1205" y="1850"/>
                    <a:pt x="940" y="1844"/>
                  </a:cubicBezTo>
                  <a:cubicBezTo>
                    <a:pt x="867" y="1821"/>
                    <a:pt x="796" y="1809"/>
                    <a:pt x="721" y="1793"/>
                  </a:cubicBezTo>
                  <a:cubicBezTo>
                    <a:pt x="704" y="1785"/>
                    <a:pt x="685" y="1781"/>
                    <a:pt x="670" y="1771"/>
                  </a:cubicBezTo>
                  <a:cubicBezTo>
                    <a:pt x="626" y="1742"/>
                    <a:pt x="586" y="1710"/>
                    <a:pt x="532" y="1698"/>
                  </a:cubicBezTo>
                  <a:cubicBezTo>
                    <a:pt x="458" y="1663"/>
                    <a:pt x="545" y="1710"/>
                    <a:pt x="481" y="1655"/>
                  </a:cubicBezTo>
                  <a:cubicBezTo>
                    <a:pt x="477" y="1652"/>
                    <a:pt x="441" y="1642"/>
                    <a:pt x="437" y="1640"/>
                  </a:cubicBezTo>
                  <a:cubicBezTo>
                    <a:pt x="406" y="1625"/>
                    <a:pt x="368" y="1611"/>
                    <a:pt x="342" y="1589"/>
                  </a:cubicBezTo>
                  <a:cubicBezTo>
                    <a:pt x="298" y="1552"/>
                    <a:pt x="245" y="1505"/>
                    <a:pt x="189" y="1487"/>
                  </a:cubicBezTo>
                  <a:cubicBezTo>
                    <a:pt x="137" y="1418"/>
                    <a:pt x="104" y="1361"/>
                    <a:pt x="87" y="1276"/>
                  </a:cubicBezTo>
                  <a:cubicBezTo>
                    <a:pt x="83" y="1197"/>
                    <a:pt x="87" y="1147"/>
                    <a:pt x="65" y="1079"/>
                  </a:cubicBezTo>
                  <a:cubicBezTo>
                    <a:pt x="70" y="814"/>
                    <a:pt x="0" y="537"/>
                    <a:pt x="80" y="284"/>
                  </a:cubicBezTo>
                  <a:cubicBezTo>
                    <a:pt x="88" y="259"/>
                    <a:pt x="100" y="209"/>
                    <a:pt x="116" y="189"/>
                  </a:cubicBezTo>
                  <a:cubicBezTo>
                    <a:pt x="176" y="115"/>
                    <a:pt x="284" y="87"/>
                    <a:pt x="371" y="73"/>
                  </a:cubicBezTo>
                  <a:cubicBezTo>
                    <a:pt x="421" y="65"/>
                    <a:pt x="474" y="38"/>
                    <a:pt x="524" y="36"/>
                  </a:cubicBezTo>
                  <a:cubicBezTo>
                    <a:pt x="665" y="32"/>
                    <a:pt x="806" y="31"/>
                    <a:pt x="947" y="2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Box 11"/>
          <p:cNvSpPr txBox="1">
            <a:spLocks noChangeArrowheads="1"/>
          </p:cNvSpPr>
          <p:nvPr/>
        </p:nvSpPr>
        <p:spPr bwMode="auto">
          <a:xfrm rot="21065771">
            <a:off x="534988" y="1889125"/>
            <a:ext cx="2211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1800">
                <a:solidFill>
                  <a:schemeClr val="tx1"/>
                </a:solidFill>
                <a:latin typeface="Comic Sans MS" pitchFamily="66" charset="0"/>
                <a:cs typeface="Arial" charset="0"/>
              </a:rPr>
              <a:t>We do only this</a:t>
            </a:r>
          </a:p>
        </p:txBody>
      </p:sp>
      <p:sp>
        <p:nvSpPr>
          <p:cNvPr id="11" name="Freeform 18"/>
          <p:cNvSpPr>
            <a:spLocks/>
          </p:cNvSpPr>
          <p:nvPr/>
        </p:nvSpPr>
        <p:spPr bwMode="auto">
          <a:xfrm rot="17245313" flipH="1">
            <a:off x="1960563" y="2271712"/>
            <a:ext cx="433388" cy="620713"/>
          </a:xfrm>
          <a:custGeom>
            <a:avLst/>
            <a:gdLst>
              <a:gd name="T0" fmla="*/ 0 w 182"/>
              <a:gd name="T1" fmla="*/ 0 h 255"/>
              <a:gd name="T2" fmla="*/ 332661009 w 182"/>
              <a:gd name="T3" fmla="*/ 506217010 h 255"/>
              <a:gd name="T4" fmla="*/ 468749603 w 182"/>
              <a:gd name="T5" fmla="*/ 734206112 h 255"/>
              <a:gd name="T6" fmla="*/ 525454375 w 182"/>
              <a:gd name="T7" fmla="*/ 900369765 h 255"/>
              <a:gd name="T8" fmla="*/ 608619627 w 182"/>
              <a:gd name="T9" fmla="*/ 931283707 h 255"/>
              <a:gd name="T10" fmla="*/ 688003450 w 182"/>
              <a:gd name="T11" fmla="*/ 985383105 h 25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2"/>
              <a:gd name="T19" fmla="*/ 0 h 255"/>
              <a:gd name="T20" fmla="*/ 182 w 182"/>
              <a:gd name="T21" fmla="*/ 255 h 25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2" h="255">
                <a:moveTo>
                  <a:pt x="0" y="0"/>
                </a:moveTo>
                <a:cubicBezTo>
                  <a:pt x="27" y="41"/>
                  <a:pt x="48" y="105"/>
                  <a:pt x="88" y="131"/>
                </a:cubicBezTo>
                <a:cubicBezTo>
                  <a:pt x="105" y="183"/>
                  <a:pt x="89" y="166"/>
                  <a:pt x="124" y="190"/>
                </a:cubicBezTo>
                <a:cubicBezTo>
                  <a:pt x="129" y="204"/>
                  <a:pt x="125" y="228"/>
                  <a:pt x="139" y="233"/>
                </a:cubicBezTo>
                <a:cubicBezTo>
                  <a:pt x="146" y="236"/>
                  <a:pt x="154" y="237"/>
                  <a:pt x="161" y="241"/>
                </a:cubicBezTo>
                <a:cubicBezTo>
                  <a:pt x="168" y="245"/>
                  <a:pt x="182" y="255"/>
                  <a:pt x="182" y="25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/>
          <a:lstStyle/>
          <a:p>
            <a:endParaRPr lang="en-US"/>
          </a:p>
        </p:txBody>
      </p: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5251450" y="2854325"/>
            <a:ext cx="2065338" cy="2747963"/>
            <a:chOff x="1261" y="1574"/>
            <a:chExt cx="1301" cy="1731"/>
          </a:xfrm>
        </p:grpSpPr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1261" y="2478"/>
              <a:ext cx="1301" cy="827"/>
              <a:chOff x="3514" y="1574"/>
              <a:chExt cx="1301" cy="827"/>
            </a:xfrm>
          </p:grpSpPr>
          <p:sp>
            <p:nvSpPr>
              <p:cNvPr id="19" name="Rectangle 21"/>
              <p:cNvSpPr>
                <a:spLocks noChangeArrowheads="1"/>
              </p:cNvSpPr>
              <p:nvPr/>
            </p:nvSpPr>
            <p:spPr bwMode="auto">
              <a:xfrm>
                <a:off x="3514" y="1799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 algn="ctr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Database Connectivity</a:t>
                </a:r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3514" y="1574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 algn="ctr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Transaction Management</a:t>
                </a:r>
              </a:p>
            </p:txBody>
          </p:sp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3514" y="2025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 algn="ctr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Load Balancing</a:t>
                </a:r>
              </a:p>
            </p:txBody>
          </p:sp>
          <p:sp>
            <p:nvSpPr>
              <p:cNvPr id="22" name="Rectangle 16"/>
              <p:cNvSpPr>
                <a:spLocks noChangeArrowheads="1"/>
              </p:cNvSpPr>
              <p:nvPr/>
            </p:nvSpPr>
            <p:spPr bwMode="auto">
              <a:xfrm>
                <a:off x="3514" y="2251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 algn="ctr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Failover</a:t>
                </a:r>
              </a:p>
            </p:txBody>
          </p:sp>
        </p:grpSp>
        <p:grpSp>
          <p:nvGrpSpPr>
            <p:cNvPr id="13" name="Group 32"/>
            <p:cNvGrpSpPr>
              <a:grpSpLocks/>
            </p:cNvGrpSpPr>
            <p:nvPr/>
          </p:nvGrpSpPr>
          <p:grpSpPr bwMode="auto">
            <a:xfrm>
              <a:off x="1261" y="1574"/>
              <a:ext cx="1301" cy="827"/>
              <a:chOff x="1261" y="1574"/>
              <a:chExt cx="1301" cy="827"/>
            </a:xfrm>
          </p:grpSpPr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1261" y="1574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Network Communication</a:t>
                </a:r>
              </a:p>
            </p:txBody>
          </p:sp>
          <p:sp>
            <p:nvSpPr>
              <p:cNvPr id="16" name="Rectangle 16"/>
              <p:cNvSpPr>
                <a:spLocks noChangeArrowheads="1"/>
              </p:cNvSpPr>
              <p:nvPr/>
            </p:nvSpPr>
            <p:spPr bwMode="auto">
              <a:xfrm>
                <a:off x="1261" y="2025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 algn="ctr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Authentication / Security</a:t>
                </a:r>
              </a:p>
            </p:txBody>
          </p:sp>
          <p:sp>
            <p:nvSpPr>
              <p:cNvPr id="17" name="Rectangle 18"/>
              <p:cNvSpPr>
                <a:spLocks noChangeArrowheads="1"/>
              </p:cNvSpPr>
              <p:nvPr/>
            </p:nvSpPr>
            <p:spPr bwMode="auto">
              <a:xfrm>
                <a:off x="1261" y="1799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 algn="ctr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Client Session Management</a:t>
                </a:r>
              </a:p>
            </p:txBody>
          </p:sp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1261" y="2251"/>
                <a:ext cx="1301" cy="150"/>
              </a:xfrm>
              <a:prstGeom prst="rect">
                <a:avLst/>
              </a:prstGeom>
              <a:solidFill>
                <a:srgbClr val="BC0000"/>
              </a:solidFill>
              <a:ln w="19050" algn="ctr">
                <a:solidFill>
                  <a:srgbClr val="9A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wrap="none" anchor="ctr"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lang="en-US" altLang="en-US" sz="1300" b="0">
                    <a:solidFill>
                      <a:schemeClr val="bg1"/>
                    </a:solidFill>
                    <a:latin typeface="Trebuchet MS" pitchFamily="34" charset="0"/>
                    <a:cs typeface="Tahoma" pitchFamily="34" charset="0"/>
                  </a:rPr>
                  <a:t>Pooling / Caching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236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Java Technology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Programming language + platform</a:t>
            </a:r>
          </a:p>
          <a:p>
            <a:r>
              <a:rPr lang="en-US" sz="3600" dirty="0"/>
              <a:t>3 Platforms of the Java programming language</a:t>
            </a:r>
            <a:r>
              <a:rPr lang="en-US" sz="3600" dirty="0" smtClean="0"/>
              <a:t>:</a:t>
            </a:r>
            <a:endParaRPr lang="en-US" sz="4000" dirty="0"/>
          </a:p>
          <a:p>
            <a:pPr lvl="1"/>
            <a:r>
              <a:rPr lang="en-US" dirty="0"/>
              <a:t>Java Platform, Standard Edition (Java SE)</a:t>
            </a:r>
          </a:p>
          <a:p>
            <a:pPr lvl="1"/>
            <a:r>
              <a:rPr lang="en-US" dirty="0"/>
              <a:t>Java Platform, Micro Edition (Java ME)</a:t>
            </a:r>
          </a:p>
          <a:p>
            <a:pPr lvl="1"/>
            <a:r>
              <a:rPr lang="en-US" dirty="0"/>
              <a:t>Java Platform, Enterprise Edition (Java EE)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1359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Java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Technology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Java Platform, Standard Edition (Java SE)</a:t>
            </a:r>
          </a:p>
          <a:p>
            <a:r>
              <a:rPr lang="en-US" sz="2800" dirty="0"/>
              <a:t>“When you think of Java programming language, you think of Java SE</a:t>
            </a:r>
            <a:r>
              <a:rPr lang="en-US" sz="2800" dirty="0" smtClean="0"/>
              <a:t>”</a:t>
            </a:r>
          </a:p>
          <a:p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692274" y="3200400"/>
            <a:ext cx="6461125" cy="3124200"/>
          </a:xfrm>
          <a:prstGeom prst="rect">
            <a:avLst/>
          </a:prstGeom>
          <a:solidFill>
            <a:srgbClr val="E6EEE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b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692275" y="5702300"/>
            <a:ext cx="4343400" cy="457200"/>
          </a:xfrm>
          <a:prstGeom prst="rect">
            <a:avLst/>
          </a:prstGeom>
          <a:solidFill>
            <a:srgbClr val="E6EEE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+mn-lt"/>
                <a:cs typeface="Arial" charset="0"/>
              </a:rPr>
              <a:t>JVM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692275" y="3200400"/>
            <a:ext cx="3657600" cy="2501900"/>
          </a:xfrm>
          <a:prstGeom prst="rect">
            <a:avLst/>
          </a:prstGeom>
          <a:solidFill>
            <a:srgbClr val="E6EEE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altLang="en-US" sz="2400" b="0" dirty="0">
                <a:cs typeface="Arial" charset="0"/>
              </a:rPr>
              <a:t>                        </a:t>
            </a:r>
            <a:r>
              <a:rPr lang="en-US" altLang="en-US" sz="2400" dirty="0">
                <a:latin typeface="+mn-lt"/>
                <a:cs typeface="Arial" charset="0"/>
              </a:rPr>
              <a:t>API</a:t>
            </a:r>
          </a:p>
          <a:p>
            <a:pPr algn="l" eaLnBrk="1" hangingPunct="1">
              <a:spcBef>
                <a:spcPct val="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en-US" sz="1800" b="0" dirty="0">
                <a:latin typeface="+mn-lt"/>
                <a:cs typeface="Arial" charset="0"/>
              </a:rPr>
              <a:t>Provides core functionality of Java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800" b="0" dirty="0">
                <a:latin typeface="+mn-lt"/>
                <a:cs typeface="Arial" charset="0"/>
              </a:rPr>
              <a:t>  Basic types and </a:t>
            </a:r>
            <a:r>
              <a:rPr lang="en-US" altLang="en-US" sz="1800" b="0" dirty="0" smtClean="0">
                <a:latin typeface="+mn-lt"/>
                <a:cs typeface="Arial" charset="0"/>
              </a:rPr>
              <a:t>objects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800" b="0" dirty="0">
                <a:latin typeface="+mn-lt"/>
                <a:cs typeface="Arial" charset="0"/>
              </a:rPr>
              <a:t> </a:t>
            </a:r>
            <a:r>
              <a:rPr lang="en-US" altLang="en-US" sz="1800" b="0" dirty="0" err="1" smtClean="0">
                <a:latin typeface="+mn-lt"/>
                <a:cs typeface="Arial" charset="0"/>
              </a:rPr>
              <a:t>Input/Output</a:t>
            </a:r>
            <a:r>
              <a:rPr lang="en-US" altLang="en-US" sz="1800" b="0" dirty="0" smtClean="0">
                <a:latin typeface="+mn-lt"/>
                <a:cs typeface="Arial" charset="0"/>
              </a:rPr>
              <a:t> 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800" b="0" dirty="0" smtClean="0">
                <a:latin typeface="+mn-lt"/>
                <a:cs typeface="Arial" charset="0"/>
              </a:rPr>
              <a:t> Networking</a:t>
            </a:r>
            <a:endParaRPr lang="en-US" altLang="en-US" sz="1800" b="0" dirty="0">
              <a:latin typeface="+mn-lt"/>
              <a:cs typeface="Arial" charset="0"/>
            </a:endParaRP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800" b="0" dirty="0">
                <a:latin typeface="+mn-lt"/>
                <a:cs typeface="Arial" charset="0"/>
              </a:rPr>
              <a:t> </a:t>
            </a:r>
            <a:r>
              <a:rPr lang="en-US" altLang="en-US" sz="1800" b="0" dirty="0" smtClean="0">
                <a:latin typeface="+mn-lt"/>
                <a:cs typeface="Arial" charset="0"/>
              </a:rPr>
              <a:t>Security</a:t>
            </a:r>
            <a:endParaRPr lang="en-US" altLang="en-US" sz="1800" b="0" dirty="0">
              <a:latin typeface="+mn-lt"/>
              <a:cs typeface="Arial" charset="0"/>
            </a:endParaRP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800" b="0" dirty="0">
                <a:latin typeface="+mn-lt"/>
                <a:cs typeface="Arial" charset="0"/>
              </a:rPr>
              <a:t> </a:t>
            </a:r>
            <a:r>
              <a:rPr lang="en-US" altLang="en-US" sz="1800" b="0" dirty="0" smtClean="0">
                <a:latin typeface="+mn-lt"/>
                <a:cs typeface="Arial" charset="0"/>
              </a:rPr>
              <a:t>GUI development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800" b="0" dirty="0">
                <a:latin typeface="+mn-lt"/>
                <a:cs typeface="Arial" charset="0"/>
              </a:rPr>
              <a:t> </a:t>
            </a:r>
            <a:r>
              <a:rPr lang="en-US" altLang="en-US" sz="1800" b="0" dirty="0" smtClean="0">
                <a:latin typeface="+mn-lt"/>
                <a:cs typeface="Arial" charset="0"/>
              </a:rPr>
              <a:t>Database access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800" b="0" dirty="0">
                <a:latin typeface="+mn-lt"/>
                <a:cs typeface="Arial" charset="0"/>
              </a:rPr>
              <a:t> </a:t>
            </a:r>
            <a:r>
              <a:rPr lang="en-US" altLang="en-US" sz="1800" b="0" dirty="0" smtClean="0">
                <a:latin typeface="+mn-lt"/>
                <a:cs typeface="Arial" charset="0"/>
              </a:rPr>
              <a:t>XML </a:t>
            </a:r>
            <a:r>
              <a:rPr lang="en-US" altLang="en-US" sz="1800" b="0" dirty="0">
                <a:latin typeface="+mn-lt"/>
                <a:cs typeface="Arial" charset="0"/>
              </a:rPr>
              <a:t>processing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5638800" y="3581400"/>
            <a:ext cx="2133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b="0" dirty="0">
                <a:latin typeface="+mn-lt"/>
                <a:cs typeface="Arial" charset="0"/>
              </a:rPr>
              <a:t>Development tools,</a:t>
            </a:r>
            <a:br>
              <a:rPr lang="en-US" altLang="en-US" sz="2000" b="0" dirty="0">
                <a:latin typeface="+mn-lt"/>
                <a:cs typeface="Arial" charset="0"/>
              </a:rPr>
            </a:br>
            <a:r>
              <a:rPr lang="en-US" altLang="en-US" sz="2000" b="0" dirty="0">
                <a:latin typeface="+mn-lt"/>
                <a:cs typeface="Arial" charset="0"/>
              </a:rPr>
              <a:t>deployment technologies, </a:t>
            </a:r>
            <a:br>
              <a:rPr lang="en-US" altLang="en-US" sz="2000" b="0" dirty="0">
                <a:latin typeface="+mn-lt"/>
                <a:cs typeface="Arial" charset="0"/>
              </a:rPr>
            </a:br>
            <a:r>
              <a:rPr lang="en-US" altLang="en-US" sz="2000" b="0" dirty="0">
                <a:latin typeface="+mn-lt"/>
                <a:cs typeface="Arial" charset="0"/>
              </a:rPr>
              <a:t>other class libraries</a:t>
            </a:r>
          </a:p>
        </p:txBody>
      </p:sp>
    </p:spTree>
    <p:extLst>
      <p:ext uri="{BB962C8B-B14F-4D97-AF65-F5344CB8AC3E}">
        <p14:creationId xmlns:p14="http://schemas.microsoft.com/office/powerpoint/2010/main" val="370391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Java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Technology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 smtClean="0"/>
              <a:t>Java </a:t>
            </a:r>
            <a:r>
              <a:rPr lang="en-US" altLang="en-US" sz="2800" dirty="0"/>
              <a:t>Platform, Micro Edition (Java ME)</a:t>
            </a:r>
          </a:p>
          <a:p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908175" y="5257800"/>
            <a:ext cx="4319588" cy="457200"/>
          </a:xfrm>
          <a:prstGeom prst="rect">
            <a:avLst/>
          </a:prstGeom>
          <a:solidFill>
            <a:srgbClr val="DABF8E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dirty="0">
                <a:latin typeface="+mn-lt"/>
                <a:cs typeface="Arial" charset="0"/>
              </a:rPr>
              <a:t>A small footprint JVM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08175" y="2514600"/>
            <a:ext cx="4319588" cy="2743200"/>
          </a:xfrm>
          <a:prstGeom prst="rect">
            <a:avLst/>
          </a:prstGeom>
          <a:solidFill>
            <a:srgbClr val="DABF8E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altLang="en-US" sz="2800" b="0" dirty="0">
                <a:solidFill>
                  <a:schemeClr val="tx1"/>
                </a:solidFill>
                <a:cs typeface="Arial" charset="0"/>
              </a:rPr>
              <a:t>                        </a:t>
            </a:r>
            <a:r>
              <a:rPr lang="en-US" altLang="en-US" sz="2800" dirty="0">
                <a:solidFill>
                  <a:schemeClr val="tx1"/>
                </a:solidFill>
                <a:latin typeface="+mn-lt"/>
                <a:cs typeface="Arial" charset="0"/>
              </a:rPr>
              <a:t>API</a:t>
            </a:r>
          </a:p>
          <a:p>
            <a:pPr algn="l" eaLnBrk="1" hangingPunct="1">
              <a:spcBef>
                <a:spcPct val="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  <a:t>Cut-down version of Java SE API’s</a:t>
            </a:r>
            <a:b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</a:br>
            <a:endParaRPr lang="en-US" altLang="en-US" sz="2000" b="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  <a:t>  Basic types and </a:t>
            </a:r>
            <a:r>
              <a:rPr lang="en-US" altLang="en-US" sz="2000" b="0" dirty="0" smtClean="0">
                <a:solidFill>
                  <a:schemeClr val="tx1"/>
                </a:solidFill>
                <a:latin typeface="+mn-lt"/>
                <a:cs typeface="Arial" charset="0"/>
              </a:rPr>
              <a:t>objects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000" b="0" dirty="0" smtClean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000" b="0" dirty="0" err="1" smtClean="0">
                <a:solidFill>
                  <a:schemeClr val="tx1"/>
                </a:solidFill>
                <a:latin typeface="+mn-lt"/>
                <a:cs typeface="Arial" charset="0"/>
              </a:rPr>
              <a:t>Input/Output</a:t>
            </a:r>
            <a:r>
              <a:rPr lang="en-US" altLang="en-US" sz="2000" b="0" dirty="0" smtClean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endParaRPr lang="en-US" altLang="en-US" sz="2000" b="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000" b="0" dirty="0" smtClean="0">
                <a:solidFill>
                  <a:schemeClr val="tx1"/>
                </a:solidFill>
                <a:latin typeface="+mn-lt"/>
                <a:cs typeface="Arial" charset="0"/>
              </a:rPr>
              <a:t> Networking</a:t>
            </a:r>
            <a:endParaRPr lang="en-US" altLang="en-US" sz="2000" b="0" dirty="0">
              <a:solidFill>
                <a:schemeClr val="tx1"/>
              </a:solidFill>
              <a:latin typeface="+mn-lt"/>
              <a:cs typeface="Arial" charset="0"/>
            </a:endParaRP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000" b="0" dirty="0" smtClean="0">
                <a:solidFill>
                  <a:schemeClr val="tx1"/>
                </a:solidFill>
                <a:latin typeface="+mn-lt"/>
                <a:cs typeface="Arial" charset="0"/>
              </a:rPr>
              <a:t> GUI development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  <a:t> </a:t>
            </a:r>
            <a:r>
              <a:rPr lang="en-US" altLang="en-US" sz="2000" b="0" dirty="0" smtClean="0">
                <a:solidFill>
                  <a:schemeClr val="tx1"/>
                </a:solidFill>
                <a:latin typeface="+mn-lt"/>
                <a:cs typeface="Arial" charset="0"/>
              </a:rPr>
              <a:t> Database </a:t>
            </a:r>
            <a:r>
              <a:rPr lang="en-US" altLang="en-US" sz="2000" b="0" dirty="0">
                <a:solidFill>
                  <a:schemeClr val="tx1"/>
                </a:solidFill>
                <a:latin typeface="+mn-lt"/>
                <a:cs typeface="Arial" charset="0"/>
              </a:rPr>
              <a:t>access</a:t>
            </a:r>
          </a:p>
        </p:txBody>
      </p:sp>
    </p:spTree>
    <p:extLst>
      <p:ext uri="{BB962C8B-B14F-4D97-AF65-F5344CB8AC3E}">
        <p14:creationId xmlns:p14="http://schemas.microsoft.com/office/powerpoint/2010/main" val="5412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Java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Technology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Java Platform, Enterprise Edition (Java EE)</a:t>
            </a:r>
          </a:p>
          <a:p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43000" y="3657600"/>
            <a:ext cx="6934200" cy="2895600"/>
          </a:xfrm>
          <a:prstGeom prst="rect">
            <a:avLst/>
          </a:prstGeom>
          <a:solidFill>
            <a:srgbClr val="E6EEE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 b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3000" y="6096000"/>
            <a:ext cx="4892675" cy="457200"/>
          </a:xfrm>
          <a:prstGeom prst="rect">
            <a:avLst/>
          </a:prstGeom>
          <a:solidFill>
            <a:srgbClr val="E6EEE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chemeClr val="tx1"/>
                </a:solidFill>
                <a:latin typeface="+mn-lt"/>
                <a:cs typeface="Arial" charset="0"/>
              </a:rPr>
              <a:t>JVM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3001" y="3657600"/>
            <a:ext cx="3886200" cy="2438400"/>
          </a:xfrm>
          <a:prstGeom prst="rect">
            <a:avLst/>
          </a:prstGeom>
          <a:solidFill>
            <a:srgbClr val="E6EEE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altLang="en-US" sz="2000" b="0" dirty="0">
                <a:cs typeface="Arial" charset="0"/>
              </a:rPr>
              <a:t>                        </a:t>
            </a:r>
            <a:r>
              <a:rPr lang="en-US" altLang="en-US" sz="2000" dirty="0">
                <a:solidFill>
                  <a:schemeClr val="tx1"/>
                </a:solidFill>
                <a:latin typeface="+mn-lt"/>
                <a:cs typeface="Arial" charset="0"/>
              </a:rPr>
              <a:t>API</a:t>
            </a:r>
          </a:p>
          <a:p>
            <a:pPr algn="l" eaLnBrk="1" hangingPunct="1">
              <a:spcBef>
                <a:spcPct val="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en-US" sz="1600" b="0" dirty="0">
                <a:latin typeface="+mn-lt"/>
                <a:cs typeface="Arial" charset="0"/>
              </a:rPr>
              <a:t>Provides core functionality of Java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600" b="0" dirty="0">
                <a:latin typeface="+mn-lt"/>
                <a:cs typeface="Arial" charset="0"/>
              </a:rPr>
              <a:t>  Basic types and objects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600" b="0" dirty="0">
                <a:latin typeface="+mn-lt"/>
                <a:cs typeface="Arial" charset="0"/>
              </a:rPr>
              <a:t>  </a:t>
            </a:r>
            <a:r>
              <a:rPr lang="en-US" altLang="en-US" sz="1600" b="0" dirty="0" err="1">
                <a:latin typeface="+mn-lt"/>
                <a:cs typeface="Arial" charset="0"/>
              </a:rPr>
              <a:t>Input/Output</a:t>
            </a:r>
            <a:r>
              <a:rPr lang="en-US" altLang="en-US" sz="1600" b="0" dirty="0">
                <a:latin typeface="+mn-lt"/>
                <a:cs typeface="Arial" charset="0"/>
              </a:rPr>
              <a:t> 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600" b="0" dirty="0">
                <a:latin typeface="+mn-lt"/>
                <a:cs typeface="Arial" charset="0"/>
              </a:rPr>
              <a:t>  Networking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600" b="0" dirty="0">
                <a:latin typeface="+mn-lt"/>
                <a:cs typeface="Arial" charset="0"/>
              </a:rPr>
              <a:t>  Security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600" b="0" dirty="0">
                <a:latin typeface="+mn-lt"/>
                <a:cs typeface="Arial" charset="0"/>
              </a:rPr>
              <a:t>  GUI development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600" b="0" dirty="0">
                <a:latin typeface="+mn-lt"/>
                <a:cs typeface="Arial" charset="0"/>
              </a:rPr>
              <a:t>  Database access</a:t>
            </a:r>
          </a:p>
          <a:p>
            <a:pPr algn="l" eaLnBrk="1" hangingPunct="1">
              <a:spcBef>
                <a:spcPct val="0"/>
              </a:spcBef>
              <a:buFont typeface="Wingdings" pitchFamily="2" charset="2"/>
              <a:buChar char="§"/>
            </a:pPr>
            <a:r>
              <a:rPr lang="en-US" altLang="en-US" sz="1600" b="0" dirty="0">
                <a:latin typeface="+mn-lt"/>
                <a:cs typeface="Arial" charset="0"/>
              </a:rPr>
              <a:t>  XML processing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349875" y="3873500"/>
            <a:ext cx="1447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Development tools,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</a:b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deployment technologies, 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</a:b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other class libraries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932362" y="2452687"/>
            <a:ext cx="3144837" cy="119856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Development Model</a:t>
            </a:r>
          </a:p>
          <a:p>
            <a:pPr eaLnBrk="1" hangingPunct="1">
              <a:spcBef>
                <a:spcPct val="0"/>
              </a:spcBef>
            </a:pPr>
            <a:endParaRPr lang="en-US" altLang="en-US" sz="1800" b="0" dirty="0">
              <a:solidFill>
                <a:schemeClr val="tx1"/>
              </a:solidFill>
              <a:cs typeface="Arial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Runtime environments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</a:b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 (“containers”)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43000" y="2452687"/>
            <a:ext cx="3789363" cy="1198563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altLang="en-US" sz="2400" dirty="0">
                <a:solidFill>
                  <a:schemeClr val="tx1"/>
                </a:solidFill>
                <a:cs typeface="Arial" charset="0"/>
              </a:rPr>
              <a:t>                       </a:t>
            </a:r>
            <a:r>
              <a:rPr lang="en-US" altLang="en-US" sz="2400" dirty="0">
                <a:solidFill>
                  <a:schemeClr val="tx1"/>
                </a:solidFill>
                <a:latin typeface="+mn-lt"/>
                <a:cs typeface="Arial" charset="0"/>
              </a:rPr>
              <a:t>API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For developing and running large-scale,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</a:b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 multi-tiered, scalable, reliable and </a:t>
            </a:r>
            <a:b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</a:b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secure enterprise applications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28600" y="4648200"/>
            <a:ext cx="10810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47058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100F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Java SE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228600" y="2743200"/>
            <a:ext cx="1081087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47058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100F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Java EE</a:t>
            </a:r>
          </a:p>
        </p:txBody>
      </p:sp>
      <p:cxnSp>
        <p:nvCxnSpPr>
          <p:cNvPr id="14" name="Straight Connector 13"/>
          <p:cNvCxnSpPr>
            <a:stCxn id="9" idx="3"/>
            <a:endCxn id="8" idx="3"/>
          </p:cNvCxnSpPr>
          <p:nvPr/>
        </p:nvCxnSpPr>
        <p:spPr>
          <a:xfrm>
            <a:off x="4932363" y="3051969"/>
            <a:ext cx="314483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51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Multi-tiered Applications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4" name="AutoShape 105"/>
          <p:cNvSpPr>
            <a:spLocks noChangeArrowheads="1"/>
          </p:cNvSpPr>
          <p:nvPr/>
        </p:nvSpPr>
        <p:spPr bwMode="auto">
          <a:xfrm>
            <a:off x="6294438" y="2644775"/>
            <a:ext cx="2154237" cy="3128963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" name="AutoShape 106"/>
          <p:cNvSpPr>
            <a:spLocks noChangeArrowheads="1"/>
          </p:cNvSpPr>
          <p:nvPr/>
        </p:nvSpPr>
        <p:spPr bwMode="auto">
          <a:xfrm>
            <a:off x="3917950" y="2644775"/>
            <a:ext cx="2154238" cy="3128963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" name="Text Box 108"/>
          <p:cNvSpPr txBox="1">
            <a:spLocks noChangeArrowheads="1"/>
          </p:cNvSpPr>
          <p:nvPr/>
        </p:nvSpPr>
        <p:spPr bwMode="auto">
          <a:xfrm>
            <a:off x="1949450" y="5835650"/>
            <a:ext cx="1633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b="0">
                <a:cs typeface="Arial" charset="0"/>
              </a:rPr>
              <a:t>Client tier</a:t>
            </a:r>
          </a:p>
        </p:txBody>
      </p:sp>
      <p:sp>
        <p:nvSpPr>
          <p:cNvPr id="7" name="Text Box 109"/>
          <p:cNvSpPr txBox="1">
            <a:spLocks noChangeArrowheads="1"/>
          </p:cNvSpPr>
          <p:nvPr/>
        </p:nvSpPr>
        <p:spPr bwMode="auto">
          <a:xfrm>
            <a:off x="4178300" y="5835650"/>
            <a:ext cx="1633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b="0">
                <a:cs typeface="Arial" charset="0"/>
              </a:rPr>
              <a:t>Middle tier</a:t>
            </a:r>
          </a:p>
        </p:txBody>
      </p:sp>
      <p:sp>
        <p:nvSpPr>
          <p:cNvPr id="8" name="Text Box 110"/>
          <p:cNvSpPr txBox="1">
            <a:spLocks noChangeArrowheads="1"/>
          </p:cNvSpPr>
          <p:nvPr/>
        </p:nvSpPr>
        <p:spPr bwMode="auto">
          <a:xfrm>
            <a:off x="6554788" y="5835650"/>
            <a:ext cx="1635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b="0">
                <a:cs typeface="Arial" charset="0"/>
              </a:rPr>
              <a:t>Data tier</a:t>
            </a:r>
          </a:p>
        </p:txBody>
      </p:sp>
      <p:grpSp>
        <p:nvGrpSpPr>
          <p:cNvPr id="3" name="Group 111"/>
          <p:cNvGrpSpPr>
            <a:grpSpLocks/>
          </p:cNvGrpSpPr>
          <p:nvPr/>
        </p:nvGrpSpPr>
        <p:grpSpPr bwMode="auto">
          <a:xfrm flipH="1">
            <a:off x="4051300" y="2787650"/>
            <a:ext cx="1893888" cy="2819400"/>
            <a:chOff x="1968" y="1884"/>
            <a:chExt cx="792" cy="720"/>
          </a:xfrm>
        </p:grpSpPr>
        <p:sp>
          <p:nvSpPr>
            <p:cNvPr id="10" name="Rectangle 112"/>
            <p:cNvSpPr>
              <a:spLocks noChangeArrowheads="1"/>
            </p:cNvSpPr>
            <p:nvPr/>
          </p:nvSpPr>
          <p:spPr bwMode="auto">
            <a:xfrm>
              <a:off x="1968" y="1884"/>
              <a:ext cx="792" cy="720"/>
            </a:xfrm>
            <a:prstGeom prst="rect">
              <a:avLst/>
            </a:prstGeom>
            <a:gradFill rotWithShape="1">
              <a:gsLst>
                <a:gs pos="0">
                  <a:srgbClr val="85A2FF"/>
                </a:gs>
                <a:gs pos="100000">
                  <a:srgbClr val="3366FF"/>
                </a:gs>
              </a:gsLst>
              <a:lin ang="2700000" scaled="1"/>
            </a:gradFill>
            <a:ln w="9525">
              <a:solidFill>
                <a:srgbClr val="85A2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Text Box 113"/>
            <p:cNvSpPr txBox="1">
              <a:spLocks noChangeArrowheads="1"/>
            </p:cNvSpPr>
            <p:nvPr/>
          </p:nvSpPr>
          <p:spPr bwMode="auto">
            <a:xfrm>
              <a:off x="2076" y="2172"/>
              <a:ext cx="57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en-US" sz="1500">
                  <a:solidFill>
                    <a:srgbClr val="FFFFFF"/>
                  </a:solidFill>
                  <a:latin typeface="Trebuchet MS" pitchFamily="34" charset="0"/>
                  <a:cs typeface="Times New Roman" pitchFamily="18" charset="0"/>
                </a:rPr>
                <a:t>Business Logic</a:t>
              </a:r>
              <a:endParaRPr lang="en-US" altLang="en-US" sz="3200">
                <a:latin typeface="Times New Roman" pitchFamily="18" charset="0"/>
                <a:cs typeface="Arial" charset="0"/>
              </a:endParaRPr>
            </a:p>
          </p:txBody>
        </p:sp>
      </p:grpSp>
      <p:grpSp>
        <p:nvGrpSpPr>
          <p:cNvPr id="9" name="Group 114"/>
          <p:cNvGrpSpPr>
            <a:grpSpLocks/>
          </p:cNvGrpSpPr>
          <p:nvPr/>
        </p:nvGrpSpPr>
        <p:grpSpPr bwMode="auto">
          <a:xfrm flipH="1">
            <a:off x="6369050" y="3917950"/>
            <a:ext cx="1857375" cy="1247775"/>
            <a:chOff x="672" y="2304"/>
            <a:chExt cx="576" cy="504"/>
          </a:xfrm>
        </p:grpSpPr>
        <p:grpSp>
          <p:nvGrpSpPr>
            <p:cNvPr id="12" name="Group 115"/>
            <p:cNvGrpSpPr>
              <a:grpSpLocks/>
            </p:cNvGrpSpPr>
            <p:nvPr/>
          </p:nvGrpSpPr>
          <p:grpSpPr bwMode="auto">
            <a:xfrm>
              <a:off x="732" y="2304"/>
              <a:ext cx="432" cy="504"/>
              <a:chOff x="2340" y="5834"/>
              <a:chExt cx="1080" cy="1260"/>
            </a:xfrm>
          </p:grpSpPr>
          <p:sp>
            <p:nvSpPr>
              <p:cNvPr id="15" name="AutoShape 116"/>
              <p:cNvSpPr>
                <a:spLocks noChangeArrowheads="1"/>
              </p:cNvSpPr>
              <p:nvPr/>
            </p:nvSpPr>
            <p:spPr bwMode="auto">
              <a:xfrm>
                <a:off x="2340" y="5834"/>
                <a:ext cx="1080" cy="1260"/>
              </a:xfrm>
              <a:prstGeom prst="flowChartMagneticDisk">
                <a:avLst/>
              </a:prstGeom>
              <a:gradFill rotWithShape="1">
                <a:gsLst>
                  <a:gs pos="0">
                    <a:srgbClr val="339966"/>
                  </a:gs>
                  <a:gs pos="50000">
                    <a:srgbClr val="BDE9D3"/>
                  </a:gs>
                  <a:gs pos="100000">
                    <a:srgbClr val="339966"/>
                  </a:gs>
                </a:gsLst>
                <a:lin ang="0" scaled="1"/>
              </a:gradFill>
              <a:ln w="9525">
                <a:solidFill>
                  <a:srgbClr val="BDE9D3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" name="Oval 117"/>
              <p:cNvSpPr>
                <a:spLocks noChangeArrowheads="1"/>
              </p:cNvSpPr>
              <p:nvPr/>
            </p:nvSpPr>
            <p:spPr bwMode="auto">
              <a:xfrm>
                <a:off x="2340" y="5834"/>
                <a:ext cx="1080" cy="403"/>
              </a:xfrm>
              <a:prstGeom prst="ellipse">
                <a:avLst/>
              </a:prstGeom>
              <a:gradFill rotWithShape="1">
                <a:gsLst>
                  <a:gs pos="0">
                    <a:srgbClr val="BDE9D3"/>
                  </a:gs>
                  <a:gs pos="100000">
                    <a:srgbClr val="339966"/>
                  </a:gs>
                </a:gsLst>
                <a:lin ang="2700000" scaled="1"/>
              </a:gradFill>
              <a:ln w="9525">
                <a:solidFill>
                  <a:srgbClr val="BDE9D3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" name="Text Box 118"/>
            <p:cNvSpPr txBox="1">
              <a:spLocks noChangeArrowheads="1"/>
            </p:cNvSpPr>
            <p:nvPr/>
          </p:nvSpPr>
          <p:spPr bwMode="auto">
            <a:xfrm>
              <a:off x="672" y="2592"/>
              <a:ext cx="57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2400" b="0">
                <a:solidFill>
                  <a:schemeClr val="tx1"/>
                </a:solidFill>
                <a:latin typeface="Times New Roman" pitchFamily="18" charset="0"/>
                <a:cs typeface="Arial" charset="0"/>
              </a:endParaRPr>
            </a:p>
          </p:txBody>
        </p:sp>
      </p:grpSp>
      <p:pic>
        <p:nvPicPr>
          <p:cNvPr id="17" name="Picture 119" descr="j02920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843338"/>
            <a:ext cx="126206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Line 125"/>
          <p:cNvSpPr>
            <a:spLocks noChangeShapeType="1"/>
          </p:cNvSpPr>
          <p:nvPr/>
        </p:nvSpPr>
        <p:spPr bwMode="auto">
          <a:xfrm>
            <a:off x="5922963" y="4511675"/>
            <a:ext cx="74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126"/>
          <p:cNvSpPr txBox="1">
            <a:spLocks noChangeArrowheads="1"/>
          </p:cNvSpPr>
          <p:nvPr/>
        </p:nvSpPr>
        <p:spPr bwMode="auto">
          <a:xfrm flipH="1">
            <a:off x="6740525" y="4511675"/>
            <a:ext cx="1114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9999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buClr>
                <a:srgbClr val="100F76"/>
              </a:buClr>
              <a:buFont typeface="Wingdings" pitchFamily="2" charset="2"/>
              <a:buNone/>
            </a:pPr>
            <a:r>
              <a:rPr lang="en-US" altLang="en-US" sz="1200" b="0">
                <a:cs typeface="Arial" charset="0"/>
              </a:rPr>
              <a:t>Database</a:t>
            </a:r>
          </a:p>
        </p:txBody>
      </p:sp>
      <p:sp>
        <p:nvSpPr>
          <p:cNvPr id="20" name="AutoShape 156"/>
          <p:cNvSpPr>
            <a:spLocks noChangeArrowheads="1"/>
          </p:cNvSpPr>
          <p:nvPr/>
        </p:nvSpPr>
        <p:spPr bwMode="auto">
          <a:xfrm>
            <a:off x="1763713" y="2644775"/>
            <a:ext cx="2006600" cy="3128963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21" name="Rectangle 157"/>
          <p:cNvSpPr>
            <a:spLocks noChangeArrowheads="1"/>
          </p:cNvSpPr>
          <p:nvPr/>
        </p:nvSpPr>
        <p:spPr bwMode="auto">
          <a:xfrm flipH="1">
            <a:off x="2097088" y="3003550"/>
            <a:ext cx="1338262" cy="890588"/>
          </a:xfrm>
          <a:prstGeom prst="rect">
            <a:avLst/>
          </a:prstGeom>
          <a:gradFill rotWithShape="1">
            <a:gsLst>
              <a:gs pos="0">
                <a:srgbClr val="D8E34F"/>
              </a:gs>
              <a:gs pos="100000">
                <a:srgbClr val="B09E1C"/>
              </a:gs>
            </a:gsLst>
            <a:lin ang="2700000" scaled="1"/>
          </a:gradFill>
          <a:ln w="9525">
            <a:solidFill>
              <a:srgbClr val="B09E1C"/>
            </a:solidFill>
            <a:miter lim="800000"/>
            <a:headEnd/>
            <a:tailEnd/>
          </a:ln>
        </p:spPr>
        <p:txBody>
          <a:bodyPr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endParaRPr lang="en-US" altLang="en-US" sz="1800" b="0">
              <a:cs typeface="Arial" charset="0"/>
            </a:endParaRPr>
          </a:p>
          <a:p>
            <a:pPr algn="l" eaLnBrk="1" hangingPunct="1">
              <a:spcBef>
                <a:spcPct val="0"/>
              </a:spcBef>
            </a:pPr>
            <a:endParaRPr lang="en-US" altLang="en-US" sz="1800" b="0">
              <a:cs typeface="Arial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en-US" b="0">
                <a:cs typeface="Arial" charset="0"/>
              </a:rPr>
              <a:t>Web browser</a:t>
            </a:r>
          </a:p>
        </p:txBody>
      </p:sp>
      <p:sp>
        <p:nvSpPr>
          <p:cNvPr id="22" name="Rectangle 158"/>
          <p:cNvSpPr>
            <a:spLocks noChangeArrowheads="1"/>
          </p:cNvSpPr>
          <p:nvPr/>
        </p:nvSpPr>
        <p:spPr bwMode="auto">
          <a:xfrm flipH="1">
            <a:off x="2097088" y="4803775"/>
            <a:ext cx="1338262" cy="593725"/>
          </a:xfrm>
          <a:prstGeom prst="rect">
            <a:avLst/>
          </a:prstGeom>
          <a:gradFill rotWithShape="1">
            <a:gsLst>
              <a:gs pos="0">
                <a:srgbClr val="D8E34F"/>
              </a:gs>
              <a:gs pos="100000">
                <a:srgbClr val="B09E1C"/>
              </a:gs>
            </a:gsLst>
            <a:lin ang="2700000" scaled="1"/>
          </a:gradFill>
          <a:ln w="9525">
            <a:solidFill>
              <a:srgbClr val="B09E1C"/>
            </a:solidFill>
            <a:miter lim="800000"/>
            <a:headEnd/>
            <a:tailEnd/>
          </a:ln>
        </p:spPr>
        <p:txBody>
          <a:bodyPr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altLang="en-US" sz="1600" b="0">
                <a:cs typeface="Arial" charset="0"/>
              </a:rPr>
              <a:t>Standalone Application</a:t>
            </a:r>
          </a:p>
        </p:txBody>
      </p:sp>
      <p:sp>
        <p:nvSpPr>
          <p:cNvPr id="23" name="Rectangle 159"/>
          <p:cNvSpPr>
            <a:spLocks noChangeArrowheads="1"/>
          </p:cNvSpPr>
          <p:nvPr/>
        </p:nvSpPr>
        <p:spPr bwMode="auto">
          <a:xfrm>
            <a:off x="2108200" y="3067050"/>
            <a:ext cx="1317625" cy="446088"/>
          </a:xfrm>
          <a:prstGeom prst="rect">
            <a:avLst/>
          </a:prstGeom>
          <a:solidFill>
            <a:srgbClr val="EAEAEA"/>
          </a:solidFill>
          <a:ln w="9525">
            <a:solidFill>
              <a:srgbClr val="B09E1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200">
                <a:cs typeface="Arial" charset="0"/>
              </a:rPr>
              <a:t>Web application</a:t>
            </a:r>
          </a:p>
        </p:txBody>
      </p:sp>
      <p:sp>
        <p:nvSpPr>
          <p:cNvPr id="24" name="Line 160"/>
          <p:cNvSpPr>
            <a:spLocks noChangeShapeType="1"/>
          </p:cNvSpPr>
          <p:nvPr/>
        </p:nvSpPr>
        <p:spPr bwMode="auto">
          <a:xfrm>
            <a:off x="3398838" y="4981575"/>
            <a:ext cx="668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61"/>
          <p:cNvSpPr>
            <a:spLocks noChangeShapeType="1"/>
          </p:cNvSpPr>
          <p:nvPr/>
        </p:nvSpPr>
        <p:spPr bwMode="auto">
          <a:xfrm>
            <a:off x="3398838" y="3363913"/>
            <a:ext cx="6683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 Box 162"/>
          <p:cNvSpPr txBox="1">
            <a:spLocks noChangeArrowheads="1"/>
          </p:cNvSpPr>
          <p:nvPr/>
        </p:nvSpPr>
        <p:spPr bwMode="auto">
          <a:xfrm>
            <a:off x="5878513" y="1549400"/>
            <a:ext cx="2133600" cy="6508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1800" b="0" dirty="0" err="1">
                <a:solidFill>
                  <a:schemeClr val="tx1"/>
                </a:solidFill>
                <a:latin typeface="+mn-lt"/>
                <a:cs typeface="Arial" charset="0"/>
              </a:rPr>
              <a:t>JavaEE</a:t>
            </a: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 Application Server</a:t>
            </a:r>
          </a:p>
        </p:txBody>
      </p:sp>
      <p:sp>
        <p:nvSpPr>
          <p:cNvPr id="27" name="Line 163"/>
          <p:cNvSpPr>
            <a:spLocks noChangeShapeType="1"/>
          </p:cNvSpPr>
          <p:nvPr/>
        </p:nvSpPr>
        <p:spPr bwMode="auto">
          <a:xfrm flipH="1">
            <a:off x="5435599" y="2200275"/>
            <a:ext cx="636588" cy="70485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90000" rIns="90000" bIns="9000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9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prstClr val="black">
                      <a:alpha val="14000"/>
                    </a:prstClr>
                  </a:outerShdw>
                </a:effectLst>
              </a:rPr>
              <a:t>Multi-tiered Applications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63500" algn="ctr" rotWithShape="0">
                  <a:prstClr val="black">
                    <a:alpha val="14000"/>
                  </a:prstClr>
                </a:outerShdw>
              </a:effectLst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6294438" y="2644775"/>
            <a:ext cx="2154237" cy="3128963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917950" y="2644775"/>
            <a:ext cx="2154238" cy="3128963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1763713" y="2644775"/>
            <a:ext cx="2006600" cy="3128963"/>
          </a:xfrm>
          <a:prstGeom prst="flowChartAlternateProcess">
            <a:avLst/>
          </a:prstGeom>
          <a:solidFill>
            <a:srgbClr val="F7F7ED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949450" y="5835650"/>
            <a:ext cx="1633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b="0">
                <a:cs typeface="Arial" charset="0"/>
              </a:rPr>
              <a:t>Client tier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178300" y="5835650"/>
            <a:ext cx="16335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b="0">
                <a:cs typeface="Arial" charset="0"/>
              </a:rPr>
              <a:t>Middle tier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554788" y="5835650"/>
            <a:ext cx="1635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600" b="0">
                <a:cs typeface="Arial" charset="0"/>
              </a:rPr>
              <a:t>Data tier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 flipH="1">
            <a:off x="4051300" y="2787650"/>
            <a:ext cx="1893888" cy="2819400"/>
            <a:chOff x="1968" y="1884"/>
            <a:chExt cx="792" cy="720"/>
          </a:xfrm>
        </p:grpSpPr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968" y="1884"/>
              <a:ext cx="792" cy="720"/>
            </a:xfrm>
            <a:prstGeom prst="rect">
              <a:avLst/>
            </a:prstGeom>
            <a:gradFill rotWithShape="1">
              <a:gsLst>
                <a:gs pos="0">
                  <a:srgbClr val="85A2FF"/>
                </a:gs>
                <a:gs pos="100000">
                  <a:srgbClr val="3366FF"/>
                </a:gs>
              </a:gsLst>
              <a:lin ang="2700000" scaled="1"/>
            </a:gradFill>
            <a:ln w="9525">
              <a:solidFill>
                <a:srgbClr val="85A2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076" y="2172"/>
              <a:ext cx="57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US" altLang="en-US" sz="1500">
                  <a:solidFill>
                    <a:srgbClr val="FFFFFF"/>
                  </a:solidFill>
                  <a:latin typeface="Trebuchet MS" pitchFamily="34" charset="0"/>
                  <a:cs typeface="Times New Roman" pitchFamily="18" charset="0"/>
                </a:rPr>
                <a:t>Business Logic</a:t>
              </a:r>
              <a:endParaRPr lang="en-US" altLang="en-US" sz="3200">
                <a:latin typeface="Times New Roman" pitchFamily="18" charset="0"/>
                <a:cs typeface="Arial" charset="0"/>
              </a:endParaRPr>
            </a:p>
          </p:txBody>
        </p:sp>
      </p:grpSp>
      <p:grpSp>
        <p:nvGrpSpPr>
          <p:cNvPr id="10" name="Group 12"/>
          <p:cNvGrpSpPr>
            <a:grpSpLocks/>
          </p:cNvGrpSpPr>
          <p:nvPr/>
        </p:nvGrpSpPr>
        <p:grpSpPr bwMode="auto">
          <a:xfrm flipH="1">
            <a:off x="6369050" y="3917950"/>
            <a:ext cx="1857375" cy="1247775"/>
            <a:chOff x="672" y="2304"/>
            <a:chExt cx="576" cy="504"/>
          </a:xfrm>
        </p:grpSpPr>
        <p:grpSp>
          <p:nvGrpSpPr>
            <p:cNvPr id="13" name="Group 13"/>
            <p:cNvGrpSpPr>
              <a:grpSpLocks/>
            </p:cNvGrpSpPr>
            <p:nvPr/>
          </p:nvGrpSpPr>
          <p:grpSpPr bwMode="auto">
            <a:xfrm>
              <a:off x="732" y="2304"/>
              <a:ext cx="432" cy="504"/>
              <a:chOff x="2340" y="5834"/>
              <a:chExt cx="1080" cy="1260"/>
            </a:xfrm>
          </p:grpSpPr>
          <p:sp>
            <p:nvSpPr>
              <p:cNvPr id="16" name="AutoShape 14"/>
              <p:cNvSpPr>
                <a:spLocks noChangeArrowheads="1"/>
              </p:cNvSpPr>
              <p:nvPr/>
            </p:nvSpPr>
            <p:spPr bwMode="auto">
              <a:xfrm>
                <a:off x="2340" y="5834"/>
                <a:ext cx="1080" cy="1260"/>
              </a:xfrm>
              <a:prstGeom prst="flowChartMagneticDisk">
                <a:avLst/>
              </a:prstGeom>
              <a:gradFill rotWithShape="1">
                <a:gsLst>
                  <a:gs pos="0">
                    <a:srgbClr val="339966"/>
                  </a:gs>
                  <a:gs pos="50000">
                    <a:srgbClr val="BDE9D3"/>
                  </a:gs>
                  <a:gs pos="100000">
                    <a:srgbClr val="339966"/>
                  </a:gs>
                </a:gsLst>
                <a:lin ang="0" scaled="1"/>
              </a:gradFill>
              <a:ln w="9525">
                <a:solidFill>
                  <a:srgbClr val="BDE9D3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" name="Oval 15"/>
              <p:cNvSpPr>
                <a:spLocks noChangeArrowheads="1"/>
              </p:cNvSpPr>
              <p:nvPr/>
            </p:nvSpPr>
            <p:spPr bwMode="auto">
              <a:xfrm>
                <a:off x="2340" y="5834"/>
                <a:ext cx="1080" cy="403"/>
              </a:xfrm>
              <a:prstGeom prst="ellipse">
                <a:avLst/>
              </a:prstGeom>
              <a:gradFill rotWithShape="1">
                <a:gsLst>
                  <a:gs pos="0">
                    <a:srgbClr val="BDE9D3"/>
                  </a:gs>
                  <a:gs pos="100000">
                    <a:srgbClr val="339966"/>
                  </a:gs>
                </a:gsLst>
                <a:lin ang="2700000" scaled="1"/>
              </a:gradFill>
              <a:ln w="9525">
                <a:solidFill>
                  <a:srgbClr val="BDE9D3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1400" b="1">
                    <a:solidFill>
                      <a:srgbClr val="000000"/>
                    </a:solidFill>
                    <a:latin typeface="Arial" charset="0"/>
                  </a:defRPr>
                </a:lvl1pPr>
                <a:lvl2pPr marL="742950" indent="-285750">
                  <a:defRPr sz="1400" b="1">
                    <a:solidFill>
                      <a:srgbClr val="000000"/>
                    </a:solidFill>
                    <a:latin typeface="Arial" charset="0"/>
                  </a:defRPr>
                </a:lvl2pPr>
                <a:lvl3pPr marL="11430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3pPr>
                <a:lvl4pPr marL="16002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4pPr>
                <a:lvl5pPr marL="2057400" indent="-228600">
                  <a:defRPr sz="1400" b="1">
                    <a:solidFill>
                      <a:srgbClr val="000000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400" b="1">
                    <a:solidFill>
                      <a:srgbClr val="000000"/>
                    </a:solidFill>
                    <a:latin typeface="Arial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672" y="2592"/>
              <a:ext cx="57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2400" b="0">
                <a:solidFill>
                  <a:schemeClr val="tx1"/>
                </a:solidFill>
                <a:latin typeface="Times New Roman" pitchFamily="18" charset="0"/>
                <a:cs typeface="Arial" charset="0"/>
              </a:endParaRPr>
            </a:p>
          </p:txBody>
        </p:sp>
      </p:grpSp>
      <p:pic>
        <p:nvPicPr>
          <p:cNvPr id="18" name="Picture 17" descr="j029202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843338"/>
            <a:ext cx="1262063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 flipH="1">
            <a:off x="2097088" y="3003550"/>
            <a:ext cx="1338262" cy="890588"/>
          </a:xfrm>
          <a:prstGeom prst="rect">
            <a:avLst/>
          </a:prstGeom>
          <a:gradFill rotWithShape="1">
            <a:gsLst>
              <a:gs pos="0">
                <a:srgbClr val="D8E34F"/>
              </a:gs>
              <a:gs pos="100000">
                <a:srgbClr val="B09E1C"/>
              </a:gs>
            </a:gsLst>
            <a:lin ang="2700000" scaled="1"/>
          </a:gradFill>
          <a:ln w="9525">
            <a:solidFill>
              <a:srgbClr val="B09E1C"/>
            </a:solidFill>
            <a:miter lim="800000"/>
            <a:headEnd/>
            <a:tailEnd/>
          </a:ln>
        </p:spPr>
        <p:txBody>
          <a:bodyPr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endParaRPr lang="en-US" altLang="en-US" sz="1800" b="0">
              <a:cs typeface="Arial" charset="0"/>
            </a:endParaRPr>
          </a:p>
          <a:p>
            <a:pPr algn="l" eaLnBrk="1" hangingPunct="1">
              <a:spcBef>
                <a:spcPct val="0"/>
              </a:spcBef>
            </a:pPr>
            <a:endParaRPr lang="en-US" altLang="en-US" sz="1800" b="0">
              <a:cs typeface="Arial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en-US" b="0">
                <a:cs typeface="Arial" charset="0"/>
              </a:rPr>
              <a:t>Web browser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 flipH="1">
            <a:off x="2097088" y="4803775"/>
            <a:ext cx="1338262" cy="593725"/>
          </a:xfrm>
          <a:prstGeom prst="rect">
            <a:avLst/>
          </a:prstGeom>
          <a:gradFill rotWithShape="1">
            <a:gsLst>
              <a:gs pos="0">
                <a:srgbClr val="D8E34F"/>
              </a:gs>
              <a:gs pos="100000">
                <a:srgbClr val="B09E1C"/>
              </a:gs>
            </a:gsLst>
            <a:lin ang="2700000" scaled="1"/>
          </a:gradFill>
          <a:ln w="9525">
            <a:solidFill>
              <a:srgbClr val="B09E1C"/>
            </a:solidFill>
            <a:miter lim="800000"/>
            <a:headEnd/>
            <a:tailEnd/>
          </a:ln>
        </p:spPr>
        <p:txBody>
          <a:bodyPr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</a:pPr>
            <a:r>
              <a:rPr lang="en-US" altLang="en-US" sz="1600" b="0">
                <a:cs typeface="Arial" charset="0"/>
              </a:rPr>
              <a:t>Standalone Application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108200" y="3067050"/>
            <a:ext cx="1317625" cy="446088"/>
          </a:xfrm>
          <a:prstGeom prst="rect">
            <a:avLst/>
          </a:prstGeom>
          <a:solidFill>
            <a:srgbClr val="EAEAEA"/>
          </a:solidFill>
          <a:ln w="9525">
            <a:solidFill>
              <a:srgbClr val="B09E1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200">
                <a:cs typeface="Arial" charset="0"/>
              </a:rPr>
              <a:t>Web application</a:t>
            </a:r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auto">
          <a:xfrm flipH="1">
            <a:off x="6740525" y="4511675"/>
            <a:ext cx="11144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9999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>
              <a:buClr>
                <a:srgbClr val="100F76"/>
              </a:buClr>
              <a:buFont typeface="Wingdings" pitchFamily="2" charset="2"/>
              <a:buNone/>
            </a:pPr>
            <a:r>
              <a:rPr lang="en-US" altLang="en-US" sz="1200" b="0">
                <a:cs typeface="Arial" charset="0"/>
              </a:rPr>
              <a:t>Database</a:t>
            </a:r>
          </a:p>
        </p:txBody>
      </p:sp>
      <p:sp>
        <p:nvSpPr>
          <p:cNvPr id="23" name="Text Box 69"/>
          <p:cNvSpPr txBox="1">
            <a:spLocks noChangeArrowheads="1"/>
          </p:cNvSpPr>
          <p:nvPr/>
        </p:nvSpPr>
        <p:spPr bwMode="auto">
          <a:xfrm flipH="1">
            <a:off x="4027488" y="5278438"/>
            <a:ext cx="19129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1500">
                <a:solidFill>
                  <a:srgbClr val="FFFFFF"/>
                </a:solidFill>
                <a:latin typeface="Trebuchet MS" pitchFamily="34" charset="0"/>
                <a:cs typeface="Times New Roman" pitchFamily="18" charset="0"/>
              </a:rPr>
              <a:t>Business Logic</a:t>
            </a:r>
            <a:endParaRPr lang="en-US" altLang="en-US" sz="3200">
              <a:latin typeface="Times New Roman" pitchFamily="18" charset="0"/>
              <a:cs typeface="Arial" charset="0"/>
            </a:endParaRPr>
          </a:p>
        </p:txBody>
      </p:sp>
      <p:grpSp>
        <p:nvGrpSpPr>
          <p:cNvPr id="14" name="Group 93"/>
          <p:cNvGrpSpPr>
            <a:grpSpLocks/>
          </p:cNvGrpSpPr>
          <p:nvPr/>
        </p:nvGrpSpPr>
        <p:grpSpPr bwMode="auto">
          <a:xfrm>
            <a:off x="4078288" y="2901950"/>
            <a:ext cx="1838325" cy="2362200"/>
            <a:chOff x="2569" y="1642"/>
            <a:chExt cx="1158" cy="1488"/>
          </a:xfrm>
        </p:grpSpPr>
        <p:sp>
          <p:nvSpPr>
            <p:cNvPr id="25" name="AutoShape 70"/>
            <p:cNvSpPr>
              <a:spLocks noChangeArrowheads="1"/>
            </p:cNvSpPr>
            <p:nvPr/>
          </p:nvSpPr>
          <p:spPr bwMode="auto">
            <a:xfrm>
              <a:off x="2569" y="1642"/>
              <a:ext cx="1158" cy="1488"/>
            </a:xfrm>
            <a:prstGeom prst="flowChartAlternateProcess">
              <a:avLst/>
            </a:prstGeom>
            <a:solidFill>
              <a:srgbClr val="5F5F5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6" name="AutoShape 71"/>
            <p:cNvSpPr>
              <a:spLocks noChangeArrowheads="1"/>
            </p:cNvSpPr>
            <p:nvPr/>
          </p:nvSpPr>
          <p:spPr bwMode="auto">
            <a:xfrm>
              <a:off x="2620" y="1719"/>
              <a:ext cx="1056" cy="4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b="0">
                <a:cs typeface="Arial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en-US" sz="1000" b="0">
                  <a:cs typeface="Arial" charset="0"/>
                </a:rPr>
                <a:t/>
              </a:r>
              <a:br>
                <a:rPr lang="en-US" altLang="en-US" sz="1000" b="0">
                  <a:cs typeface="Arial" charset="0"/>
                </a:rPr>
              </a:br>
              <a:r>
                <a:rPr lang="en-US" altLang="en-US" sz="1000">
                  <a:cs typeface="Arial" charset="0"/>
                </a:rPr>
                <a:t>Web Container</a:t>
              </a:r>
            </a:p>
          </p:txBody>
        </p:sp>
        <p:sp>
          <p:nvSpPr>
            <p:cNvPr id="27" name="AutoShape 72"/>
            <p:cNvSpPr>
              <a:spLocks noChangeArrowheads="1"/>
            </p:cNvSpPr>
            <p:nvPr/>
          </p:nvSpPr>
          <p:spPr bwMode="auto">
            <a:xfrm>
              <a:off x="2620" y="2258"/>
              <a:ext cx="1056" cy="816"/>
            </a:xfrm>
            <a:prstGeom prst="roundRect">
              <a:avLst>
                <a:gd name="adj" fmla="val 16667"/>
              </a:avLst>
            </a:prstGeom>
            <a:solidFill>
              <a:srgbClr val="E4EDF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lang="en-US" altLang="en-US" sz="1800" b="0">
                <a:cs typeface="Arial" charset="0"/>
              </a:endParaRPr>
            </a:p>
            <a:p>
              <a:pPr eaLnBrk="1" hangingPunct="1">
                <a:spcBef>
                  <a:spcPct val="0"/>
                </a:spcBef>
              </a:pPr>
              <a:endParaRPr lang="en-US" altLang="en-US" sz="1800" b="0">
                <a:cs typeface="Arial" charset="0"/>
              </a:endParaRPr>
            </a:p>
            <a:p>
              <a:pPr eaLnBrk="1" hangingPunct="1">
                <a:spcBef>
                  <a:spcPct val="0"/>
                </a:spcBef>
              </a:pPr>
              <a:endParaRPr lang="en-US" altLang="en-US" sz="1800" b="0">
                <a:cs typeface="Arial" charset="0"/>
              </a:endParaRPr>
            </a:p>
            <a:p>
              <a:pPr eaLnBrk="1" hangingPunct="1">
                <a:spcBef>
                  <a:spcPct val="0"/>
                </a:spcBef>
              </a:pPr>
              <a:r>
                <a:rPr lang="en-US" altLang="en-US" sz="1000" b="0">
                  <a:cs typeface="Arial" charset="0"/>
                </a:rPr>
                <a:t/>
              </a:r>
              <a:br>
                <a:rPr lang="en-US" altLang="en-US" sz="1000" b="0">
                  <a:cs typeface="Arial" charset="0"/>
                </a:rPr>
              </a:br>
              <a:r>
                <a:rPr lang="en-US" altLang="en-US" sz="1000">
                  <a:cs typeface="Arial" charset="0"/>
                </a:rPr>
                <a:t>EJB Container</a:t>
              </a:r>
            </a:p>
          </p:txBody>
        </p:sp>
      </p:grpSp>
      <p:grpSp>
        <p:nvGrpSpPr>
          <p:cNvPr id="24" name="Group 94"/>
          <p:cNvGrpSpPr>
            <a:grpSpLocks/>
          </p:cNvGrpSpPr>
          <p:nvPr/>
        </p:nvGrpSpPr>
        <p:grpSpPr bwMode="auto">
          <a:xfrm>
            <a:off x="4351338" y="3087688"/>
            <a:ext cx="228600" cy="315912"/>
            <a:chOff x="2741" y="1759"/>
            <a:chExt cx="144" cy="199"/>
          </a:xfrm>
        </p:grpSpPr>
        <p:sp>
          <p:nvSpPr>
            <p:cNvPr id="29" name="Rectangle 73"/>
            <p:cNvSpPr>
              <a:spLocks noChangeArrowheads="1"/>
            </p:cNvSpPr>
            <p:nvPr/>
          </p:nvSpPr>
          <p:spPr bwMode="auto">
            <a:xfrm>
              <a:off x="2799" y="1814"/>
              <a:ext cx="86" cy="144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" name="Rectangle 74"/>
            <p:cNvSpPr>
              <a:spLocks noChangeArrowheads="1"/>
            </p:cNvSpPr>
            <p:nvPr/>
          </p:nvSpPr>
          <p:spPr bwMode="auto">
            <a:xfrm>
              <a:off x="2789" y="1800"/>
              <a:ext cx="86" cy="144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" name="Rectangle 75"/>
            <p:cNvSpPr>
              <a:spLocks noChangeArrowheads="1"/>
            </p:cNvSpPr>
            <p:nvPr/>
          </p:nvSpPr>
          <p:spPr bwMode="auto">
            <a:xfrm>
              <a:off x="2765" y="1780"/>
              <a:ext cx="86" cy="144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" name="Rectangle 76"/>
            <p:cNvSpPr>
              <a:spLocks noChangeArrowheads="1"/>
            </p:cNvSpPr>
            <p:nvPr/>
          </p:nvSpPr>
          <p:spPr bwMode="auto">
            <a:xfrm>
              <a:off x="2741" y="1759"/>
              <a:ext cx="86" cy="144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rgbClr val="000000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rgbClr val="000000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rgbClr val="000000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3" name="Text Box 77"/>
          <p:cNvSpPr txBox="1">
            <a:spLocks noChangeArrowheads="1"/>
          </p:cNvSpPr>
          <p:nvPr/>
        </p:nvSpPr>
        <p:spPr bwMode="auto">
          <a:xfrm>
            <a:off x="4667250" y="3132138"/>
            <a:ext cx="990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1000" b="0">
                <a:cs typeface="Arial" charset="0"/>
              </a:rPr>
              <a:t>Servlets / JSP</a:t>
            </a:r>
          </a:p>
        </p:txBody>
      </p:sp>
      <p:sp>
        <p:nvSpPr>
          <p:cNvPr id="34" name="Line 86"/>
          <p:cNvSpPr>
            <a:spLocks noChangeShapeType="1"/>
          </p:cNvSpPr>
          <p:nvPr/>
        </p:nvSpPr>
        <p:spPr bwMode="auto">
          <a:xfrm>
            <a:off x="4997450" y="3611563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2"/>
          <p:cNvSpPr>
            <a:spLocks noChangeShapeType="1"/>
          </p:cNvSpPr>
          <p:nvPr/>
        </p:nvSpPr>
        <p:spPr bwMode="auto">
          <a:xfrm>
            <a:off x="3398838" y="4981575"/>
            <a:ext cx="885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1"/>
          <p:cNvSpPr>
            <a:spLocks noChangeShapeType="1"/>
          </p:cNvSpPr>
          <p:nvPr/>
        </p:nvSpPr>
        <p:spPr bwMode="auto">
          <a:xfrm>
            <a:off x="3398838" y="3363913"/>
            <a:ext cx="885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5724525" y="4511675"/>
            <a:ext cx="941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91"/>
          <p:cNvSpPr txBox="1">
            <a:spLocks noChangeArrowheads="1"/>
          </p:cNvSpPr>
          <p:nvPr/>
        </p:nvSpPr>
        <p:spPr bwMode="auto">
          <a:xfrm>
            <a:off x="5878513" y="1549400"/>
            <a:ext cx="2133600" cy="6508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1800" b="0" dirty="0" err="1">
                <a:solidFill>
                  <a:schemeClr val="tx1"/>
                </a:solidFill>
                <a:latin typeface="+mn-lt"/>
                <a:cs typeface="Arial" charset="0"/>
              </a:rPr>
              <a:t>JavaEE</a:t>
            </a:r>
            <a:r>
              <a:rPr lang="en-US" altLang="en-US" sz="1800" b="0" dirty="0">
                <a:solidFill>
                  <a:schemeClr val="tx1"/>
                </a:solidFill>
                <a:latin typeface="+mn-lt"/>
                <a:cs typeface="Arial" charset="0"/>
              </a:rPr>
              <a:t> Application Server</a:t>
            </a:r>
          </a:p>
        </p:txBody>
      </p:sp>
      <p:sp>
        <p:nvSpPr>
          <p:cNvPr id="39" name="Line 92"/>
          <p:cNvSpPr>
            <a:spLocks noChangeShapeType="1"/>
          </p:cNvSpPr>
          <p:nvPr/>
        </p:nvSpPr>
        <p:spPr bwMode="auto">
          <a:xfrm flipH="1">
            <a:off x="5435599" y="2200275"/>
            <a:ext cx="636588" cy="70485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90000" rIns="90000" bIns="90000" anchor="ctr"/>
          <a:lstStyle/>
          <a:p>
            <a:endParaRPr lang="en-US"/>
          </a:p>
        </p:txBody>
      </p:sp>
      <p:sp>
        <p:nvSpPr>
          <p:cNvPr id="40" name="Oval 103"/>
          <p:cNvSpPr>
            <a:spLocks noChangeArrowheads="1"/>
          </p:cNvSpPr>
          <p:nvPr/>
        </p:nvSpPr>
        <p:spPr bwMode="auto">
          <a:xfrm>
            <a:off x="4537075" y="4298950"/>
            <a:ext cx="228600" cy="228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A2A2A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1" name="Oval 104"/>
          <p:cNvSpPr>
            <a:spLocks noChangeArrowheads="1"/>
          </p:cNvSpPr>
          <p:nvPr/>
        </p:nvSpPr>
        <p:spPr bwMode="auto">
          <a:xfrm>
            <a:off x="4330700" y="4483100"/>
            <a:ext cx="228600" cy="228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A2A2A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2" name="Oval 105"/>
          <p:cNvSpPr>
            <a:spLocks noChangeArrowheads="1"/>
          </p:cNvSpPr>
          <p:nvPr/>
        </p:nvSpPr>
        <p:spPr bwMode="auto">
          <a:xfrm>
            <a:off x="4864100" y="4330700"/>
            <a:ext cx="228600" cy="228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A2A2A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3" name="Oval 106"/>
          <p:cNvSpPr>
            <a:spLocks noChangeArrowheads="1"/>
          </p:cNvSpPr>
          <p:nvPr/>
        </p:nvSpPr>
        <p:spPr bwMode="auto">
          <a:xfrm>
            <a:off x="4635500" y="4559300"/>
            <a:ext cx="228600" cy="228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A2A2A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4" name="Oval 107"/>
          <p:cNvSpPr>
            <a:spLocks noChangeArrowheads="1"/>
          </p:cNvSpPr>
          <p:nvPr/>
        </p:nvSpPr>
        <p:spPr bwMode="auto">
          <a:xfrm>
            <a:off x="4940300" y="4635500"/>
            <a:ext cx="228600" cy="228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A2A2A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5" name="Oval 108"/>
          <p:cNvSpPr>
            <a:spLocks noChangeArrowheads="1"/>
          </p:cNvSpPr>
          <p:nvPr/>
        </p:nvSpPr>
        <p:spPr bwMode="auto">
          <a:xfrm>
            <a:off x="5168900" y="4330700"/>
            <a:ext cx="228600" cy="228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A2A2A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6" name="Oval 109"/>
          <p:cNvSpPr>
            <a:spLocks noChangeArrowheads="1"/>
          </p:cNvSpPr>
          <p:nvPr/>
        </p:nvSpPr>
        <p:spPr bwMode="auto">
          <a:xfrm>
            <a:off x="4711700" y="4102100"/>
            <a:ext cx="228600" cy="2286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A2A2A2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47" name="Text Box 110"/>
          <p:cNvSpPr txBox="1">
            <a:spLocks noChangeArrowheads="1"/>
          </p:cNvSpPr>
          <p:nvPr/>
        </p:nvSpPr>
        <p:spPr bwMode="auto">
          <a:xfrm>
            <a:off x="5075238" y="4011613"/>
            <a:ext cx="64928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rgbClr val="000000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rgbClr val="000000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rgbClr val="000000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rgbClr val="000000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rgbClr val="000000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1000" b="0">
                <a:cs typeface="Arial" charset="0"/>
              </a:rPr>
              <a:t>EJB’s</a:t>
            </a:r>
          </a:p>
        </p:txBody>
      </p:sp>
    </p:spTree>
    <p:extLst>
      <p:ext uri="{BB962C8B-B14F-4D97-AF65-F5344CB8AC3E}">
        <p14:creationId xmlns:p14="http://schemas.microsoft.com/office/powerpoint/2010/main" val="54912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Distributed </a:t>
            </a:r>
            <a:r>
              <a:rPr lang="en-US" b="1" dirty="0" err="1"/>
              <a:t>Multitiered</a:t>
            </a:r>
            <a:r>
              <a:rPr lang="en-US" b="1" dirty="0"/>
              <a:t>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J2EE platform uses a distributed </a:t>
            </a:r>
            <a:r>
              <a:rPr lang="en-US" dirty="0" err="1"/>
              <a:t>multitiered</a:t>
            </a:r>
            <a:r>
              <a:rPr lang="en-US" dirty="0"/>
              <a:t> application model for </a:t>
            </a:r>
            <a:r>
              <a:rPr lang="en-US" dirty="0" smtClean="0"/>
              <a:t>enterprise applications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Application </a:t>
            </a:r>
            <a:r>
              <a:rPr lang="en-US" dirty="0"/>
              <a:t>logic is divided into components according </a:t>
            </a:r>
            <a:r>
              <a:rPr lang="en-US" dirty="0" smtClean="0"/>
              <a:t>to function</a:t>
            </a:r>
            <a:r>
              <a:rPr lang="en-US" dirty="0"/>
              <a:t>, and the various application components that make up a J2EE </a:t>
            </a:r>
            <a:r>
              <a:rPr lang="en-US" dirty="0" smtClean="0"/>
              <a:t>application are </a:t>
            </a:r>
            <a:r>
              <a:rPr lang="en-US" dirty="0"/>
              <a:t>installed on different machines depending on the tier in the </a:t>
            </a:r>
            <a:r>
              <a:rPr lang="en-US" dirty="0" err="1" smtClean="0"/>
              <a:t>multitiered</a:t>
            </a:r>
            <a:r>
              <a:rPr lang="en-US" dirty="0" smtClean="0"/>
              <a:t> J2EE </a:t>
            </a:r>
            <a:r>
              <a:rPr lang="en-US" dirty="0"/>
              <a:t>environment to which the application component belongs.</a:t>
            </a:r>
          </a:p>
        </p:txBody>
      </p:sp>
    </p:spTree>
    <p:extLst>
      <p:ext uri="{BB962C8B-B14F-4D97-AF65-F5344CB8AC3E}">
        <p14:creationId xmlns:p14="http://schemas.microsoft.com/office/powerpoint/2010/main" val="3378911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Distributed </a:t>
            </a:r>
            <a:r>
              <a:rPr lang="en-US" b="1" dirty="0" err="1" smtClean="0"/>
              <a:t>Multitiered</a:t>
            </a:r>
            <a:r>
              <a:rPr lang="en-US" b="1" dirty="0" smtClean="0"/>
              <a:t> Applications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600200"/>
            <a:ext cx="5029200" cy="3853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334000" y="2057400"/>
            <a:ext cx="381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Client-tier components run on the client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2895600"/>
            <a:ext cx="381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Web-tier components run on the J2EE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3733800"/>
            <a:ext cx="381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Business-tier components run on the J2EE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4572000"/>
            <a:ext cx="381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Enterprise information system (EIS)-tier software runs on the EIS server.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400" y="1600200"/>
            <a:ext cx="4953000" cy="1219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2895600"/>
            <a:ext cx="49530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2400" y="4419600"/>
            <a:ext cx="4953000" cy="1219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rot="5400000">
            <a:off x="3048794" y="2819400"/>
            <a:ext cx="456406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3048794" y="3657600"/>
            <a:ext cx="456406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400000">
            <a:off x="3048794" y="4495800"/>
            <a:ext cx="456406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1106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in </a:t>
            </a:r>
            <a:r>
              <a:rPr lang="en-US" dirty="0" err="1" smtClean="0"/>
              <a:t>Multitiered</a:t>
            </a:r>
            <a:r>
              <a:rPr lang="en-US" dirty="0" smtClean="0"/>
              <a:t>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Java EE security environment enables security constraints to be defined at deploy time.</a:t>
            </a:r>
          </a:p>
          <a:p>
            <a:pPr algn="just"/>
            <a:r>
              <a:rPr lang="en-US" dirty="0" smtClean="0"/>
              <a:t> Java EE applications are portable to many security implementations .</a:t>
            </a:r>
          </a:p>
          <a:p>
            <a:pPr algn="just"/>
            <a:r>
              <a:rPr lang="en-US" dirty="0" smtClean="0"/>
              <a:t> The Java EE provides</a:t>
            </a:r>
          </a:p>
          <a:p>
            <a:pPr lvl="1" algn="just"/>
            <a:r>
              <a:rPr lang="en-US" dirty="0" smtClean="0"/>
              <a:t>Standard declarative access control rules that are defined by the developer and interpreted when the application is deployed on the server.</a:t>
            </a:r>
          </a:p>
          <a:p>
            <a:pPr lvl="1" algn="just"/>
            <a:r>
              <a:rPr lang="en-US" dirty="0" smtClean="0"/>
              <a:t>Standard login mechanism.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24072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200</TotalTime>
  <Words>650</Words>
  <Application>Microsoft Office PowerPoint</Application>
  <PresentationFormat>On-screen Show (4:3)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Unicode MS</vt:lpstr>
      <vt:lpstr>Arial</vt:lpstr>
      <vt:lpstr>Calibri</vt:lpstr>
      <vt:lpstr>Comic Sans MS</vt:lpstr>
      <vt:lpstr>Mangal</vt:lpstr>
      <vt:lpstr>Tahoma</vt:lpstr>
      <vt:lpstr>Times New Roman</vt:lpstr>
      <vt:lpstr>Trebuchet MS</vt:lpstr>
      <vt:lpstr>Wingdings</vt:lpstr>
      <vt:lpstr>HNDIT</vt:lpstr>
      <vt:lpstr>HNDIT2411 Enterprise Architecture</vt:lpstr>
      <vt:lpstr>Introduction to Multi-Tiered Architecture</vt:lpstr>
      <vt:lpstr>Enterprise Computing </vt:lpstr>
      <vt:lpstr>Enterprise Computing </vt:lpstr>
      <vt:lpstr>Enterprise Applications</vt:lpstr>
      <vt:lpstr>Multi-tiered Architecture</vt:lpstr>
      <vt:lpstr>Enterprise Applications </vt:lpstr>
      <vt:lpstr>Enterprise Applications </vt:lpstr>
      <vt:lpstr>Java Technology</vt:lpstr>
      <vt:lpstr>Java Technology</vt:lpstr>
      <vt:lpstr>Java Technology</vt:lpstr>
      <vt:lpstr>Java Technology</vt:lpstr>
      <vt:lpstr>Multi-tiered Applications</vt:lpstr>
      <vt:lpstr>Multi-tiered Applications</vt:lpstr>
      <vt:lpstr>Distributed Multitiered Applications</vt:lpstr>
      <vt:lpstr>Distributed Multitiered Applications</vt:lpstr>
      <vt:lpstr>Security in Multitiered Applications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IT4101 Multi-tiered application development</dc:title>
  <dc:creator>User</dc:creator>
  <cp:lastModifiedBy>Admin</cp:lastModifiedBy>
  <cp:revision>18</cp:revision>
  <dcterms:created xsi:type="dcterms:W3CDTF">2012-08-01T05:29:21Z</dcterms:created>
  <dcterms:modified xsi:type="dcterms:W3CDTF">2019-01-05T05:52:20Z</dcterms:modified>
</cp:coreProperties>
</file>