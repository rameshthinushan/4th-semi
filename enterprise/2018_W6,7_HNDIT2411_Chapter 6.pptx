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6"/>
  </p:notesMasterIdLst>
  <p:sldIdLst>
    <p:sldId id="256" r:id="rId2"/>
    <p:sldId id="257" r:id="rId3"/>
    <p:sldId id="258" r:id="rId4"/>
    <p:sldId id="261" r:id="rId5"/>
    <p:sldId id="259" r:id="rId6"/>
    <p:sldId id="274" r:id="rId7"/>
    <p:sldId id="260" r:id="rId8"/>
    <p:sldId id="273" r:id="rId9"/>
    <p:sldId id="265" r:id="rId10"/>
    <p:sldId id="266" r:id="rId11"/>
    <p:sldId id="267" r:id="rId12"/>
    <p:sldId id="268" r:id="rId13"/>
    <p:sldId id="262" r:id="rId14"/>
    <p:sldId id="319" r:id="rId15"/>
    <p:sldId id="263" r:id="rId16"/>
    <p:sldId id="271" r:id="rId17"/>
    <p:sldId id="270" r:id="rId18"/>
    <p:sldId id="264" r:id="rId19"/>
    <p:sldId id="275" r:id="rId20"/>
    <p:sldId id="272" r:id="rId21"/>
    <p:sldId id="276" r:id="rId22"/>
    <p:sldId id="277" r:id="rId23"/>
    <p:sldId id="278" r:id="rId24"/>
    <p:sldId id="280" r:id="rId25"/>
    <p:sldId id="281" r:id="rId26"/>
    <p:sldId id="279" r:id="rId27"/>
    <p:sldId id="320" r:id="rId28"/>
    <p:sldId id="282" r:id="rId29"/>
    <p:sldId id="283" r:id="rId30"/>
    <p:sldId id="284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6" r:id="rId43"/>
    <p:sldId id="332" r:id="rId44"/>
    <p:sldId id="285" r:id="rId45"/>
    <p:sldId id="286" r:id="rId46"/>
    <p:sldId id="333" r:id="rId47"/>
    <p:sldId id="334" r:id="rId48"/>
    <p:sldId id="287" r:id="rId49"/>
    <p:sldId id="289" r:id="rId50"/>
    <p:sldId id="290" r:id="rId51"/>
    <p:sldId id="291" r:id="rId52"/>
    <p:sldId id="294" r:id="rId53"/>
    <p:sldId id="299" r:id="rId54"/>
    <p:sldId id="335" r:id="rId55"/>
    <p:sldId id="300" r:id="rId56"/>
    <p:sldId id="302" r:id="rId57"/>
    <p:sldId id="310" r:id="rId58"/>
    <p:sldId id="311" r:id="rId59"/>
    <p:sldId id="313" r:id="rId60"/>
    <p:sldId id="314" r:id="rId61"/>
    <p:sldId id="315" r:id="rId62"/>
    <p:sldId id="316" r:id="rId63"/>
    <p:sldId id="318" r:id="rId64"/>
    <p:sldId id="337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E1000-5128-48FB-9B20-BC6A5D2C813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AED658-6E22-4F8F-9D77-321289C1FDD4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note</a:t>
          </a:r>
          <a:endParaRPr lang="en-US" dirty="0">
            <a:solidFill>
              <a:srgbClr val="7030A0"/>
            </a:solidFill>
          </a:endParaRPr>
        </a:p>
      </dgm:t>
    </dgm:pt>
    <dgm:pt modelId="{13856FD8-36E4-4DE1-8988-9496ACDFCB92}" type="parTrans" cxnId="{81182F2B-9C5F-4AE8-9E64-6E797244C777}">
      <dgm:prSet/>
      <dgm:spPr/>
      <dgm:t>
        <a:bodyPr/>
        <a:lstStyle/>
        <a:p>
          <a:endParaRPr lang="en-US"/>
        </a:p>
      </dgm:t>
    </dgm:pt>
    <dgm:pt modelId="{C4D29BF3-03DC-4F89-8C36-31EDDB483F41}" type="sibTrans" cxnId="{81182F2B-9C5F-4AE8-9E64-6E797244C777}">
      <dgm:prSet/>
      <dgm:spPr/>
      <dgm:t>
        <a:bodyPr/>
        <a:lstStyle/>
        <a:p>
          <a:endParaRPr lang="en-US"/>
        </a:p>
      </dgm:t>
    </dgm:pt>
    <dgm:pt modelId="{BD2DB80E-56F2-4F3D-B60C-EA9793B17F9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To</a:t>
          </a:r>
          <a:endParaRPr lang="en-US" dirty="0">
            <a:solidFill>
              <a:srgbClr val="7030A0"/>
            </a:solidFill>
          </a:endParaRPr>
        </a:p>
      </dgm:t>
    </dgm:pt>
    <dgm:pt modelId="{6DF18053-584D-470F-BC73-0BDECBF96F19}" type="parTrans" cxnId="{AC4B9B39-5A45-43AF-8C1F-88B7B4DB9051}">
      <dgm:prSet/>
      <dgm:spPr/>
      <dgm:t>
        <a:bodyPr/>
        <a:lstStyle/>
        <a:p>
          <a:endParaRPr lang="en-US"/>
        </a:p>
      </dgm:t>
    </dgm:pt>
    <dgm:pt modelId="{E64B3180-86EE-4D77-AC95-886D2DCEDCBD}" type="sibTrans" cxnId="{AC4B9B39-5A45-43AF-8C1F-88B7B4DB9051}">
      <dgm:prSet/>
      <dgm:spPr/>
      <dgm:t>
        <a:bodyPr/>
        <a:lstStyle/>
        <a:p>
          <a:endParaRPr lang="en-US"/>
        </a:p>
      </dgm:t>
    </dgm:pt>
    <dgm:pt modelId="{AB8EC62B-FBE8-45B9-A321-8571AC6C938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From</a:t>
          </a:r>
          <a:endParaRPr lang="en-US" dirty="0">
            <a:solidFill>
              <a:srgbClr val="7030A0"/>
            </a:solidFill>
          </a:endParaRPr>
        </a:p>
      </dgm:t>
    </dgm:pt>
    <dgm:pt modelId="{41362E82-D778-4975-A8B0-40813549E5F5}" type="parTrans" cxnId="{2E4176A4-C7F5-4DA1-8137-A7E415CF2F88}">
      <dgm:prSet/>
      <dgm:spPr/>
      <dgm:t>
        <a:bodyPr/>
        <a:lstStyle/>
        <a:p>
          <a:endParaRPr lang="en-US"/>
        </a:p>
      </dgm:t>
    </dgm:pt>
    <dgm:pt modelId="{BB5F8BAE-B253-43CE-ABB3-CE7213259FC0}" type="sibTrans" cxnId="{2E4176A4-C7F5-4DA1-8137-A7E415CF2F88}">
      <dgm:prSet/>
      <dgm:spPr/>
      <dgm:t>
        <a:bodyPr/>
        <a:lstStyle/>
        <a:p>
          <a:endParaRPr lang="en-US"/>
        </a:p>
      </dgm:t>
    </dgm:pt>
    <dgm:pt modelId="{C719AFA6-446A-4401-82F0-570917D26D2B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Heading</a:t>
          </a:r>
          <a:endParaRPr lang="en-US" dirty="0">
            <a:solidFill>
              <a:srgbClr val="7030A0"/>
            </a:solidFill>
          </a:endParaRPr>
        </a:p>
      </dgm:t>
    </dgm:pt>
    <dgm:pt modelId="{39115D0E-5653-49C5-9552-D1A4BC319339}" type="parTrans" cxnId="{D8E1DD2B-6B78-4C03-8D45-2936671B1980}">
      <dgm:prSet/>
      <dgm:spPr/>
      <dgm:t>
        <a:bodyPr/>
        <a:lstStyle/>
        <a:p>
          <a:endParaRPr lang="en-US"/>
        </a:p>
      </dgm:t>
    </dgm:pt>
    <dgm:pt modelId="{D45FF5CA-B924-4074-A20B-8183CEAE5E66}" type="sibTrans" cxnId="{D8E1DD2B-6B78-4C03-8D45-2936671B1980}">
      <dgm:prSet/>
      <dgm:spPr/>
      <dgm:t>
        <a:bodyPr/>
        <a:lstStyle/>
        <a:p>
          <a:endParaRPr lang="en-US"/>
        </a:p>
      </dgm:t>
    </dgm:pt>
    <dgm:pt modelId="{0738B4BB-54CB-4C8B-A789-952FF6CF879E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Body</a:t>
          </a:r>
          <a:endParaRPr lang="en-US" dirty="0">
            <a:solidFill>
              <a:srgbClr val="7030A0"/>
            </a:solidFill>
          </a:endParaRPr>
        </a:p>
      </dgm:t>
    </dgm:pt>
    <dgm:pt modelId="{AE0002BB-86D2-4B4F-85CD-1F379A6DA125}" type="parTrans" cxnId="{D4448124-7473-49C4-9531-4A7EFFA784CA}">
      <dgm:prSet/>
      <dgm:spPr/>
      <dgm:t>
        <a:bodyPr/>
        <a:lstStyle/>
        <a:p>
          <a:endParaRPr lang="en-US"/>
        </a:p>
      </dgm:t>
    </dgm:pt>
    <dgm:pt modelId="{33D81EFE-9A7E-44F2-8FE5-162CAD4865C5}" type="sibTrans" cxnId="{D4448124-7473-49C4-9531-4A7EFFA784CA}">
      <dgm:prSet/>
      <dgm:spPr/>
      <dgm:t>
        <a:bodyPr/>
        <a:lstStyle/>
        <a:p>
          <a:endParaRPr lang="en-US"/>
        </a:p>
      </dgm:t>
    </dgm:pt>
    <dgm:pt modelId="{73D51175-BCA7-41FB-B655-506C1EBFDFB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mtClean="0">
              <a:solidFill>
                <a:srgbClr val="7030A0"/>
              </a:solidFill>
            </a:rPr>
            <a:t>Tove</a:t>
          </a:r>
          <a:endParaRPr lang="en-US" dirty="0">
            <a:solidFill>
              <a:srgbClr val="7030A0"/>
            </a:solidFill>
          </a:endParaRPr>
        </a:p>
      </dgm:t>
    </dgm:pt>
    <dgm:pt modelId="{7CE0AA6D-CCF2-443B-A47E-53AEC6A4B874}" type="parTrans" cxnId="{3BB758C5-9037-4AB9-8230-3103CB646302}">
      <dgm:prSet/>
      <dgm:spPr/>
      <dgm:t>
        <a:bodyPr/>
        <a:lstStyle/>
        <a:p>
          <a:endParaRPr lang="en-US"/>
        </a:p>
      </dgm:t>
    </dgm:pt>
    <dgm:pt modelId="{7A57F612-3492-4B85-8E53-E9032AD70588}" type="sibTrans" cxnId="{3BB758C5-9037-4AB9-8230-3103CB646302}">
      <dgm:prSet/>
      <dgm:spPr/>
      <dgm:t>
        <a:bodyPr/>
        <a:lstStyle/>
        <a:p>
          <a:endParaRPr lang="en-US"/>
        </a:p>
      </dgm:t>
    </dgm:pt>
    <dgm:pt modelId="{ED7F4050-D313-446F-B700-99BF6472094F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mtClean="0">
              <a:solidFill>
                <a:srgbClr val="7030A0"/>
              </a:solidFill>
            </a:rPr>
            <a:t>Jani</a:t>
          </a:r>
          <a:endParaRPr lang="en-US" dirty="0">
            <a:solidFill>
              <a:srgbClr val="7030A0"/>
            </a:solidFill>
          </a:endParaRPr>
        </a:p>
      </dgm:t>
    </dgm:pt>
    <dgm:pt modelId="{59649F52-4033-4AEB-9B8E-491B324E5005}" type="parTrans" cxnId="{58D72380-FC97-45E7-B410-065EF4F6F932}">
      <dgm:prSet/>
      <dgm:spPr/>
      <dgm:t>
        <a:bodyPr/>
        <a:lstStyle/>
        <a:p>
          <a:endParaRPr lang="en-US"/>
        </a:p>
      </dgm:t>
    </dgm:pt>
    <dgm:pt modelId="{E39C07FD-92C2-44FF-919B-CB99BDE4879D}" type="sibTrans" cxnId="{58D72380-FC97-45E7-B410-065EF4F6F932}">
      <dgm:prSet/>
      <dgm:spPr/>
      <dgm:t>
        <a:bodyPr/>
        <a:lstStyle/>
        <a:p>
          <a:endParaRPr lang="en-US"/>
        </a:p>
      </dgm:t>
    </dgm:pt>
    <dgm:pt modelId="{8973331F-05B4-4AA2-BA4F-C86907073A6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Reminder</a:t>
          </a:r>
          <a:endParaRPr lang="en-US" dirty="0">
            <a:solidFill>
              <a:srgbClr val="7030A0"/>
            </a:solidFill>
          </a:endParaRPr>
        </a:p>
      </dgm:t>
    </dgm:pt>
    <dgm:pt modelId="{7DE783C5-872A-4733-98FE-6EC5EF4434E6}" type="parTrans" cxnId="{0786DACB-5295-4073-B10B-83AD9DB408D4}">
      <dgm:prSet/>
      <dgm:spPr/>
      <dgm:t>
        <a:bodyPr/>
        <a:lstStyle/>
        <a:p>
          <a:endParaRPr lang="en-US"/>
        </a:p>
      </dgm:t>
    </dgm:pt>
    <dgm:pt modelId="{85F25882-B997-4073-82A8-3D64F3C95C1D}" type="sibTrans" cxnId="{0786DACB-5295-4073-B10B-83AD9DB408D4}">
      <dgm:prSet/>
      <dgm:spPr/>
      <dgm:t>
        <a:bodyPr/>
        <a:lstStyle/>
        <a:p>
          <a:endParaRPr lang="en-US"/>
        </a:p>
      </dgm:t>
    </dgm:pt>
    <dgm:pt modelId="{1A86F64E-0803-454F-99FD-06E5D2DA126F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Don't forget me this weekend!</a:t>
          </a:r>
          <a:endParaRPr lang="en-US" dirty="0">
            <a:solidFill>
              <a:srgbClr val="7030A0"/>
            </a:solidFill>
          </a:endParaRPr>
        </a:p>
      </dgm:t>
    </dgm:pt>
    <dgm:pt modelId="{FECCE35A-C57E-4162-8B0E-4986D5357EBE}" type="parTrans" cxnId="{4110309F-CAE8-4509-92DC-EBFF528E5F21}">
      <dgm:prSet/>
      <dgm:spPr/>
      <dgm:t>
        <a:bodyPr/>
        <a:lstStyle/>
        <a:p>
          <a:endParaRPr lang="en-US"/>
        </a:p>
      </dgm:t>
    </dgm:pt>
    <dgm:pt modelId="{6B813A97-21B9-412D-AE43-B7E65A07B0FE}" type="sibTrans" cxnId="{4110309F-CAE8-4509-92DC-EBFF528E5F21}">
      <dgm:prSet/>
      <dgm:spPr/>
      <dgm:t>
        <a:bodyPr/>
        <a:lstStyle/>
        <a:p>
          <a:endParaRPr lang="en-US"/>
        </a:p>
      </dgm:t>
    </dgm:pt>
    <dgm:pt modelId="{AAB93717-05D3-4B1E-AB05-2D1B6B5604B6}" type="pres">
      <dgm:prSet presAssocID="{FC5E1000-5128-48FB-9B20-BC6A5D2C81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AU"/>
        </a:p>
      </dgm:t>
    </dgm:pt>
    <dgm:pt modelId="{02EDD264-7B2A-491B-BA28-B75C8F5554AB}" type="pres">
      <dgm:prSet presAssocID="{EBAED658-6E22-4F8F-9D77-321289C1FDD4}" presName="hierRoot1" presStyleCnt="0">
        <dgm:presLayoutVars>
          <dgm:hierBranch val="init"/>
        </dgm:presLayoutVars>
      </dgm:prSet>
      <dgm:spPr/>
    </dgm:pt>
    <dgm:pt modelId="{495A22C8-B6C0-4225-AFDE-7AA380574194}" type="pres">
      <dgm:prSet presAssocID="{EBAED658-6E22-4F8F-9D77-321289C1FDD4}" presName="rootComposite1" presStyleCnt="0"/>
      <dgm:spPr/>
    </dgm:pt>
    <dgm:pt modelId="{EF80F4A7-358C-4901-A689-9B346B7C9BF4}" type="pres">
      <dgm:prSet presAssocID="{EBAED658-6E22-4F8F-9D77-321289C1FDD4}" presName="rootText1" presStyleLbl="node0" presStyleIdx="0" presStyleCnt="1" custLinFactNeighborX="-2277" custLinFactNeighborY="848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EC57C061-CFBF-4B32-809F-47D8C46C8193}" type="pres">
      <dgm:prSet presAssocID="{EBAED658-6E22-4F8F-9D77-321289C1FDD4}" presName="rootConnector1" presStyleLbl="node1" presStyleIdx="0" presStyleCnt="0"/>
      <dgm:spPr/>
      <dgm:t>
        <a:bodyPr/>
        <a:lstStyle/>
        <a:p>
          <a:endParaRPr lang="en-AU"/>
        </a:p>
      </dgm:t>
    </dgm:pt>
    <dgm:pt modelId="{3FAC58CC-CEE6-435E-81E5-C5FA729BDAF5}" type="pres">
      <dgm:prSet presAssocID="{EBAED658-6E22-4F8F-9D77-321289C1FDD4}" presName="hierChild2" presStyleCnt="0"/>
      <dgm:spPr/>
    </dgm:pt>
    <dgm:pt modelId="{A7326E80-B64F-4120-A931-AA77608FEC12}" type="pres">
      <dgm:prSet presAssocID="{6DF18053-584D-470F-BC73-0BDECBF96F19}" presName="Name37" presStyleLbl="parChTrans1D2" presStyleIdx="0" presStyleCnt="4"/>
      <dgm:spPr/>
      <dgm:t>
        <a:bodyPr/>
        <a:lstStyle/>
        <a:p>
          <a:endParaRPr lang="en-AU"/>
        </a:p>
      </dgm:t>
    </dgm:pt>
    <dgm:pt modelId="{CD42D4E3-CBDD-4190-A9CB-252E185C1E2E}" type="pres">
      <dgm:prSet presAssocID="{BD2DB80E-56F2-4F3D-B60C-EA9793B17F93}" presName="hierRoot2" presStyleCnt="0">
        <dgm:presLayoutVars>
          <dgm:hierBranch val="init"/>
        </dgm:presLayoutVars>
      </dgm:prSet>
      <dgm:spPr/>
    </dgm:pt>
    <dgm:pt modelId="{A5AA1979-B2D5-4596-AF83-B5315D51DBC8}" type="pres">
      <dgm:prSet presAssocID="{BD2DB80E-56F2-4F3D-B60C-EA9793B17F93}" presName="rootComposite" presStyleCnt="0"/>
      <dgm:spPr/>
    </dgm:pt>
    <dgm:pt modelId="{616286EE-9E7C-4D87-8E49-AD956B0381C6}" type="pres">
      <dgm:prSet presAssocID="{BD2DB80E-56F2-4F3D-B60C-EA9793B17F93}" presName="rootText" presStyleLbl="node2" presStyleIdx="0" presStyleCnt="4" custLinFactNeighborX="-173" custLinFactNeighborY="-1038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37A4B863-2287-4F68-B80D-64F73CDD9BC7}" type="pres">
      <dgm:prSet presAssocID="{BD2DB80E-56F2-4F3D-B60C-EA9793B17F93}" presName="rootConnector" presStyleLbl="node2" presStyleIdx="0" presStyleCnt="4"/>
      <dgm:spPr/>
      <dgm:t>
        <a:bodyPr/>
        <a:lstStyle/>
        <a:p>
          <a:endParaRPr lang="en-AU"/>
        </a:p>
      </dgm:t>
    </dgm:pt>
    <dgm:pt modelId="{40086D43-F80D-4231-97E1-331246EE5AC5}" type="pres">
      <dgm:prSet presAssocID="{BD2DB80E-56F2-4F3D-B60C-EA9793B17F93}" presName="hierChild4" presStyleCnt="0"/>
      <dgm:spPr/>
    </dgm:pt>
    <dgm:pt modelId="{F75D02BB-5866-4FBF-BDCD-D9A12D9F1549}" type="pres">
      <dgm:prSet presAssocID="{7CE0AA6D-CCF2-443B-A47E-53AEC6A4B874}" presName="Name37" presStyleLbl="parChTrans1D3" presStyleIdx="0" presStyleCnt="4"/>
      <dgm:spPr/>
      <dgm:t>
        <a:bodyPr/>
        <a:lstStyle/>
        <a:p>
          <a:endParaRPr lang="en-AU"/>
        </a:p>
      </dgm:t>
    </dgm:pt>
    <dgm:pt modelId="{0CFAEACB-C28C-4683-902D-53C1F746D060}" type="pres">
      <dgm:prSet presAssocID="{73D51175-BCA7-41FB-B655-506C1EBFDFB3}" presName="hierRoot2" presStyleCnt="0">
        <dgm:presLayoutVars>
          <dgm:hierBranch val="init"/>
        </dgm:presLayoutVars>
      </dgm:prSet>
      <dgm:spPr/>
    </dgm:pt>
    <dgm:pt modelId="{901BB6AB-4031-47F4-AC74-A7308595A7B1}" type="pres">
      <dgm:prSet presAssocID="{73D51175-BCA7-41FB-B655-506C1EBFDFB3}" presName="rootComposite" presStyleCnt="0"/>
      <dgm:spPr/>
    </dgm:pt>
    <dgm:pt modelId="{6F11CA1A-2793-427A-A43E-4EC09985F870}" type="pres">
      <dgm:prSet presAssocID="{73D51175-BCA7-41FB-B655-506C1EBFDFB3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651080-4B7E-484C-B47C-4BF80A24D431}" type="pres">
      <dgm:prSet presAssocID="{73D51175-BCA7-41FB-B655-506C1EBFDFB3}" presName="rootConnector" presStyleLbl="node3" presStyleIdx="0" presStyleCnt="4"/>
      <dgm:spPr/>
      <dgm:t>
        <a:bodyPr/>
        <a:lstStyle/>
        <a:p>
          <a:endParaRPr lang="en-AU"/>
        </a:p>
      </dgm:t>
    </dgm:pt>
    <dgm:pt modelId="{B7CE6DBA-9C81-4F99-9F83-BC5602BBF611}" type="pres">
      <dgm:prSet presAssocID="{73D51175-BCA7-41FB-B655-506C1EBFDFB3}" presName="hierChild4" presStyleCnt="0"/>
      <dgm:spPr/>
    </dgm:pt>
    <dgm:pt modelId="{5947F25C-2373-499B-B689-7685A6091326}" type="pres">
      <dgm:prSet presAssocID="{73D51175-BCA7-41FB-B655-506C1EBFDFB3}" presName="hierChild5" presStyleCnt="0"/>
      <dgm:spPr/>
    </dgm:pt>
    <dgm:pt modelId="{DE9CCAD0-8B1F-4A02-B4D6-7C70D5B63BEF}" type="pres">
      <dgm:prSet presAssocID="{BD2DB80E-56F2-4F3D-B60C-EA9793B17F93}" presName="hierChild5" presStyleCnt="0"/>
      <dgm:spPr/>
    </dgm:pt>
    <dgm:pt modelId="{735DFF40-9A29-4BA4-8B79-D426EB05B731}" type="pres">
      <dgm:prSet presAssocID="{41362E82-D778-4975-A8B0-40813549E5F5}" presName="Name37" presStyleLbl="parChTrans1D2" presStyleIdx="1" presStyleCnt="4"/>
      <dgm:spPr/>
      <dgm:t>
        <a:bodyPr/>
        <a:lstStyle/>
        <a:p>
          <a:endParaRPr lang="en-AU"/>
        </a:p>
      </dgm:t>
    </dgm:pt>
    <dgm:pt modelId="{FFE3E650-3281-4F02-BB71-3CC67206F301}" type="pres">
      <dgm:prSet presAssocID="{AB8EC62B-FBE8-45B9-A321-8571AC6C938D}" presName="hierRoot2" presStyleCnt="0">
        <dgm:presLayoutVars>
          <dgm:hierBranch val="init"/>
        </dgm:presLayoutVars>
      </dgm:prSet>
      <dgm:spPr/>
    </dgm:pt>
    <dgm:pt modelId="{084B83F6-A349-4298-99BC-F3489577C84F}" type="pres">
      <dgm:prSet presAssocID="{AB8EC62B-FBE8-45B9-A321-8571AC6C938D}" presName="rootComposite" presStyleCnt="0"/>
      <dgm:spPr/>
    </dgm:pt>
    <dgm:pt modelId="{C65693DF-249D-4489-9750-0CFB8A7177C0}" type="pres">
      <dgm:prSet presAssocID="{AB8EC62B-FBE8-45B9-A321-8571AC6C938D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3DD240FF-082F-45AD-A644-DAAE56839608}" type="pres">
      <dgm:prSet presAssocID="{AB8EC62B-FBE8-45B9-A321-8571AC6C938D}" presName="rootConnector" presStyleLbl="node2" presStyleIdx="1" presStyleCnt="4"/>
      <dgm:spPr/>
      <dgm:t>
        <a:bodyPr/>
        <a:lstStyle/>
        <a:p>
          <a:endParaRPr lang="en-AU"/>
        </a:p>
      </dgm:t>
    </dgm:pt>
    <dgm:pt modelId="{AFF6DFC5-A4FD-4985-B0C0-1A67C0F52B30}" type="pres">
      <dgm:prSet presAssocID="{AB8EC62B-FBE8-45B9-A321-8571AC6C938D}" presName="hierChild4" presStyleCnt="0"/>
      <dgm:spPr/>
    </dgm:pt>
    <dgm:pt modelId="{D6C6C4EC-68B2-4DA5-AA22-E3E79EB6309B}" type="pres">
      <dgm:prSet presAssocID="{59649F52-4033-4AEB-9B8E-491B324E5005}" presName="Name37" presStyleLbl="parChTrans1D3" presStyleIdx="1" presStyleCnt="4"/>
      <dgm:spPr/>
      <dgm:t>
        <a:bodyPr/>
        <a:lstStyle/>
        <a:p>
          <a:endParaRPr lang="en-AU"/>
        </a:p>
      </dgm:t>
    </dgm:pt>
    <dgm:pt modelId="{C3D22B52-21A5-4C78-AA73-7757567DBB42}" type="pres">
      <dgm:prSet presAssocID="{ED7F4050-D313-446F-B700-99BF6472094F}" presName="hierRoot2" presStyleCnt="0">
        <dgm:presLayoutVars>
          <dgm:hierBranch val="init"/>
        </dgm:presLayoutVars>
      </dgm:prSet>
      <dgm:spPr/>
    </dgm:pt>
    <dgm:pt modelId="{1B9343B7-BC25-419F-82A5-2EFD75A9926B}" type="pres">
      <dgm:prSet presAssocID="{ED7F4050-D313-446F-B700-99BF6472094F}" presName="rootComposite" presStyleCnt="0"/>
      <dgm:spPr/>
    </dgm:pt>
    <dgm:pt modelId="{36EA6595-FEFB-4020-883C-04550A7D6280}" type="pres">
      <dgm:prSet presAssocID="{ED7F4050-D313-446F-B700-99BF6472094F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DE9A80-18EF-4085-B27B-E6B82DF38F93}" type="pres">
      <dgm:prSet presAssocID="{ED7F4050-D313-446F-B700-99BF6472094F}" presName="rootConnector" presStyleLbl="node3" presStyleIdx="1" presStyleCnt="4"/>
      <dgm:spPr/>
      <dgm:t>
        <a:bodyPr/>
        <a:lstStyle/>
        <a:p>
          <a:endParaRPr lang="en-AU"/>
        </a:p>
      </dgm:t>
    </dgm:pt>
    <dgm:pt modelId="{2CDB34A6-DA01-42CE-9FCE-04883E38418C}" type="pres">
      <dgm:prSet presAssocID="{ED7F4050-D313-446F-B700-99BF6472094F}" presName="hierChild4" presStyleCnt="0"/>
      <dgm:spPr/>
    </dgm:pt>
    <dgm:pt modelId="{3BEF8585-E668-4AA7-8F1D-43B73D478AC2}" type="pres">
      <dgm:prSet presAssocID="{ED7F4050-D313-446F-B700-99BF6472094F}" presName="hierChild5" presStyleCnt="0"/>
      <dgm:spPr/>
    </dgm:pt>
    <dgm:pt modelId="{C3DB5CCA-267E-4B90-878A-30F737149D55}" type="pres">
      <dgm:prSet presAssocID="{AB8EC62B-FBE8-45B9-A321-8571AC6C938D}" presName="hierChild5" presStyleCnt="0"/>
      <dgm:spPr/>
    </dgm:pt>
    <dgm:pt modelId="{74FC8B0C-94CB-4C5E-869E-4BABB92FDC86}" type="pres">
      <dgm:prSet presAssocID="{39115D0E-5653-49C5-9552-D1A4BC319339}" presName="Name37" presStyleLbl="parChTrans1D2" presStyleIdx="2" presStyleCnt="4"/>
      <dgm:spPr/>
      <dgm:t>
        <a:bodyPr/>
        <a:lstStyle/>
        <a:p>
          <a:endParaRPr lang="en-AU"/>
        </a:p>
      </dgm:t>
    </dgm:pt>
    <dgm:pt modelId="{D9B9C795-7EC2-4928-8B27-82A7F2DDC396}" type="pres">
      <dgm:prSet presAssocID="{C719AFA6-446A-4401-82F0-570917D26D2B}" presName="hierRoot2" presStyleCnt="0">
        <dgm:presLayoutVars>
          <dgm:hierBranch val="init"/>
        </dgm:presLayoutVars>
      </dgm:prSet>
      <dgm:spPr/>
    </dgm:pt>
    <dgm:pt modelId="{50C0EFD4-C2DD-4E95-8F4C-9DF83BD552C2}" type="pres">
      <dgm:prSet presAssocID="{C719AFA6-446A-4401-82F0-570917D26D2B}" presName="rootComposite" presStyleCnt="0"/>
      <dgm:spPr/>
    </dgm:pt>
    <dgm:pt modelId="{1B36C61D-E5D3-4B5B-9825-73615F9FF4F0}" type="pres">
      <dgm:prSet presAssocID="{C719AFA6-446A-4401-82F0-570917D26D2B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0985B0FA-5D45-42FF-B17C-D47A392E40BA}" type="pres">
      <dgm:prSet presAssocID="{C719AFA6-446A-4401-82F0-570917D26D2B}" presName="rootConnector" presStyleLbl="node2" presStyleIdx="2" presStyleCnt="4"/>
      <dgm:spPr/>
      <dgm:t>
        <a:bodyPr/>
        <a:lstStyle/>
        <a:p>
          <a:endParaRPr lang="en-AU"/>
        </a:p>
      </dgm:t>
    </dgm:pt>
    <dgm:pt modelId="{85823F67-A390-4E88-9215-36AB722728C4}" type="pres">
      <dgm:prSet presAssocID="{C719AFA6-446A-4401-82F0-570917D26D2B}" presName="hierChild4" presStyleCnt="0"/>
      <dgm:spPr/>
    </dgm:pt>
    <dgm:pt modelId="{8C878060-C5C8-4F51-88DE-48C11175B6F0}" type="pres">
      <dgm:prSet presAssocID="{7DE783C5-872A-4733-98FE-6EC5EF4434E6}" presName="Name37" presStyleLbl="parChTrans1D3" presStyleIdx="2" presStyleCnt="4"/>
      <dgm:spPr/>
      <dgm:t>
        <a:bodyPr/>
        <a:lstStyle/>
        <a:p>
          <a:endParaRPr lang="en-AU"/>
        </a:p>
      </dgm:t>
    </dgm:pt>
    <dgm:pt modelId="{E5CBD280-16FB-430C-9758-7EE2019CB0DB}" type="pres">
      <dgm:prSet presAssocID="{8973331F-05B4-4AA2-BA4F-C86907073A63}" presName="hierRoot2" presStyleCnt="0">
        <dgm:presLayoutVars>
          <dgm:hierBranch val="init"/>
        </dgm:presLayoutVars>
      </dgm:prSet>
      <dgm:spPr/>
    </dgm:pt>
    <dgm:pt modelId="{FA8CEF42-8197-4624-B51F-67F26E5F53FA}" type="pres">
      <dgm:prSet presAssocID="{8973331F-05B4-4AA2-BA4F-C86907073A63}" presName="rootComposite" presStyleCnt="0"/>
      <dgm:spPr/>
    </dgm:pt>
    <dgm:pt modelId="{F6B4AF0A-5565-4EEC-BCF5-66485B6B2822}" type="pres">
      <dgm:prSet presAssocID="{8973331F-05B4-4AA2-BA4F-C86907073A63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0BDD125-9ED1-41C4-BE3C-108EC5E7221C}" type="pres">
      <dgm:prSet presAssocID="{8973331F-05B4-4AA2-BA4F-C86907073A63}" presName="rootConnector" presStyleLbl="node3" presStyleIdx="2" presStyleCnt="4"/>
      <dgm:spPr/>
      <dgm:t>
        <a:bodyPr/>
        <a:lstStyle/>
        <a:p>
          <a:endParaRPr lang="en-AU"/>
        </a:p>
      </dgm:t>
    </dgm:pt>
    <dgm:pt modelId="{A9ABFE89-3174-410E-8947-44D2DE246402}" type="pres">
      <dgm:prSet presAssocID="{8973331F-05B4-4AA2-BA4F-C86907073A63}" presName="hierChild4" presStyleCnt="0"/>
      <dgm:spPr/>
    </dgm:pt>
    <dgm:pt modelId="{09CBD2C3-C76E-4623-8861-E8E4C82B316E}" type="pres">
      <dgm:prSet presAssocID="{8973331F-05B4-4AA2-BA4F-C86907073A63}" presName="hierChild5" presStyleCnt="0"/>
      <dgm:spPr/>
    </dgm:pt>
    <dgm:pt modelId="{485F475A-1547-428D-8848-CD0917F15011}" type="pres">
      <dgm:prSet presAssocID="{C719AFA6-446A-4401-82F0-570917D26D2B}" presName="hierChild5" presStyleCnt="0"/>
      <dgm:spPr/>
    </dgm:pt>
    <dgm:pt modelId="{0F68411F-E737-4267-B543-B5A581083F3B}" type="pres">
      <dgm:prSet presAssocID="{AE0002BB-86D2-4B4F-85CD-1F379A6DA125}" presName="Name37" presStyleLbl="parChTrans1D2" presStyleIdx="3" presStyleCnt="4"/>
      <dgm:spPr/>
      <dgm:t>
        <a:bodyPr/>
        <a:lstStyle/>
        <a:p>
          <a:endParaRPr lang="en-AU"/>
        </a:p>
      </dgm:t>
    </dgm:pt>
    <dgm:pt modelId="{7EB376F5-B0D0-4C15-9DCF-163DEC5A28FC}" type="pres">
      <dgm:prSet presAssocID="{0738B4BB-54CB-4C8B-A789-952FF6CF879E}" presName="hierRoot2" presStyleCnt="0">
        <dgm:presLayoutVars>
          <dgm:hierBranch val="init"/>
        </dgm:presLayoutVars>
      </dgm:prSet>
      <dgm:spPr/>
    </dgm:pt>
    <dgm:pt modelId="{BCFF466C-C0D2-4A7D-8DAA-3A9B1CD0DC7C}" type="pres">
      <dgm:prSet presAssocID="{0738B4BB-54CB-4C8B-A789-952FF6CF879E}" presName="rootComposite" presStyleCnt="0"/>
      <dgm:spPr/>
    </dgm:pt>
    <dgm:pt modelId="{D5D3452A-559E-4D6F-AE20-F44DBF7EEA28}" type="pres">
      <dgm:prSet presAssocID="{0738B4BB-54CB-4C8B-A789-952FF6CF879E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5FFB20-8BD1-405E-9FF4-519FFB5ED06F}" type="pres">
      <dgm:prSet presAssocID="{0738B4BB-54CB-4C8B-A789-952FF6CF879E}" presName="rootConnector" presStyleLbl="node2" presStyleIdx="3" presStyleCnt="4"/>
      <dgm:spPr/>
      <dgm:t>
        <a:bodyPr/>
        <a:lstStyle/>
        <a:p>
          <a:endParaRPr lang="en-AU"/>
        </a:p>
      </dgm:t>
    </dgm:pt>
    <dgm:pt modelId="{18B68660-80EB-46C5-AF00-638276B6F61C}" type="pres">
      <dgm:prSet presAssocID="{0738B4BB-54CB-4C8B-A789-952FF6CF879E}" presName="hierChild4" presStyleCnt="0"/>
      <dgm:spPr/>
    </dgm:pt>
    <dgm:pt modelId="{29089FD9-A6A1-4ABB-B624-46EBD89D1F3E}" type="pres">
      <dgm:prSet presAssocID="{FECCE35A-C57E-4162-8B0E-4986D5357EBE}" presName="Name37" presStyleLbl="parChTrans1D3" presStyleIdx="3" presStyleCnt="4"/>
      <dgm:spPr/>
      <dgm:t>
        <a:bodyPr/>
        <a:lstStyle/>
        <a:p>
          <a:endParaRPr lang="en-AU"/>
        </a:p>
      </dgm:t>
    </dgm:pt>
    <dgm:pt modelId="{2F6568E4-13C4-4913-9F96-6F7B5091F8BA}" type="pres">
      <dgm:prSet presAssocID="{1A86F64E-0803-454F-99FD-06E5D2DA126F}" presName="hierRoot2" presStyleCnt="0">
        <dgm:presLayoutVars>
          <dgm:hierBranch val="init"/>
        </dgm:presLayoutVars>
      </dgm:prSet>
      <dgm:spPr/>
    </dgm:pt>
    <dgm:pt modelId="{40EC6273-5720-453E-B4E0-0F5F895611BE}" type="pres">
      <dgm:prSet presAssocID="{1A86F64E-0803-454F-99FD-06E5D2DA126F}" presName="rootComposite" presStyleCnt="0"/>
      <dgm:spPr/>
    </dgm:pt>
    <dgm:pt modelId="{50A0AA55-35EB-4976-B017-CD10AF210A2B}" type="pres">
      <dgm:prSet presAssocID="{1A86F64E-0803-454F-99FD-06E5D2DA126F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EFB9C2-EB1B-44C1-895A-7757A4C9991C}" type="pres">
      <dgm:prSet presAssocID="{1A86F64E-0803-454F-99FD-06E5D2DA126F}" presName="rootConnector" presStyleLbl="node3" presStyleIdx="3" presStyleCnt="4"/>
      <dgm:spPr/>
      <dgm:t>
        <a:bodyPr/>
        <a:lstStyle/>
        <a:p>
          <a:endParaRPr lang="en-AU"/>
        </a:p>
      </dgm:t>
    </dgm:pt>
    <dgm:pt modelId="{4FC8E98A-3516-406C-BC7A-5BB123FAF8F5}" type="pres">
      <dgm:prSet presAssocID="{1A86F64E-0803-454F-99FD-06E5D2DA126F}" presName="hierChild4" presStyleCnt="0"/>
      <dgm:spPr/>
    </dgm:pt>
    <dgm:pt modelId="{8FAD3E1E-5E0C-4738-9443-F34A67F80FCF}" type="pres">
      <dgm:prSet presAssocID="{1A86F64E-0803-454F-99FD-06E5D2DA126F}" presName="hierChild5" presStyleCnt="0"/>
      <dgm:spPr/>
    </dgm:pt>
    <dgm:pt modelId="{7FDD156F-2C03-40C8-AD80-A923AF212DA7}" type="pres">
      <dgm:prSet presAssocID="{0738B4BB-54CB-4C8B-A789-952FF6CF879E}" presName="hierChild5" presStyleCnt="0"/>
      <dgm:spPr/>
    </dgm:pt>
    <dgm:pt modelId="{4F2A6A31-DB32-4356-8C7B-83661CC6D236}" type="pres">
      <dgm:prSet presAssocID="{EBAED658-6E22-4F8F-9D77-321289C1FDD4}" presName="hierChild3" presStyleCnt="0"/>
      <dgm:spPr/>
    </dgm:pt>
  </dgm:ptLst>
  <dgm:cxnLst>
    <dgm:cxn modelId="{4110309F-CAE8-4509-92DC-EBFF528E5F21}" srcId="{0738B4BB-54CB-4C8B-A789-952FF6CF879E}" destId="{1A86F64E-0803-454F-99FD-06E5D2DA126F}" srcOrd="0" destOrd="0" parTransId="{FECCE35A-C57E-4162-8B0E-4986D5357EBE}" sibTransId="{6B813A97-21B9-412D-AE43-B7E65A07B0FE}"/>
    <dgm:cxn modelId="{06E02F17-EE1F-45D7-8A8D-F80EA7585E3B}" type="presOf" srcId="{7CE0AA6D-CCF2-443B-A47E-53AEC6A4B874}" destId="{F75D02BB-5866-4FBF-BDCD-D9A12D9F1549}" srcOrd="0" destOrd="0" presId="urn:microsoft.com/office/officeart/2005/8/layout/orgChart1"/>
    <dgm:cxn modelId="{EB7EAE65-B5A3-4732-A71D-66F167FE598D}" type="presOf" srcId="{BD2DB80E-56F2-4F3D-B60C-EA9793B17F93}" destId="{616286EE-9E7C-4D87-8E49-AD956B0381C6}" srcOrd="0" destOrd="0" presId="urn:microsoft.com/office/officeart/2005/8/layout/orgChart1"/>
    <dgm:cxn modelId="{415229B1-C374-4699-8EED-77B9CFA477E1}" type="presOf" srcId="{6DF18053-584D-470F-BC73-0BDECBF96F19}" destId="{A7326E80-B64F-4120-A931-AA77608FEC12}" srcOrd="0" destOrd="0" presId="urn:microsoft.com/office/officeart/2005/8/layout/orgChart1"/>
    <dgm:cxn modelId="{797A9148-FBF9-45DB-BF8A-42AF9AC93CA5}" type="presOf" srcId="{EBAED658-6E22-4F8F-9D77-321289C1FDD4}" destId="{EF80F4A7-358C-4901-A689-9B346B7C9BF4}" srcOrd="0" destOrd="0" presId="urn:microsoft.com/office/officeart/2005/8/layout/orgChart1"/>
    <dgm:cxn modelId="{DD6569E6-DD13-4F85-BFEA-A478581B631E}" type="presOf" srcId="{1A86F64E-0803-454F-99FD-06E5D2DA126F}" destId="{70EFB9C2-EB1B-44C1-895A-7757A4C9991C}" srcOrd="1" destOrd="0" presId="urn:microsoft.com/office/officeart/2005/8/layout/orgChart1"/>
    <dgm:cxn modelId="{A2385D54-8CB9-4886-BE66-27C1C32402B0}" type="presOf" srcId="{39115D0E-5653-49C5-9552-D1A4BC319339}" destId="{74FC8B0C-94CB-4C5E-869E-4BABB92FDC86}" srcOrd="0" destOrd="0" presId="urn:microsoft.com/office/officeart/2005/8/layout/orgChart1"/>
    <dgm:cxn modelId="{5DFBADC9-8164-43C7-A8A4-AFAB7B7DE7FD}" type="presOf" srcId="{EBAED658-6E22-4F8F-9D77-321289C1FDD4}" destId="{EC57C061-CFBF-4B32-809F-47D8C46C8193}" srcOrd="1" destOrd="0" presId="urn:microsoft.com/office/officeart/2005/8/layout/orgChart1"/>
    <dgm:cxn modelId="{164BD2FE-7718-4577-9A0D-B61D25F3C434}" type="presOf" srcId="{C719AFA6-446A-4401-82F0-570917D26D2B}" destId="{0985B0FA-5D45-42FF-B17C-D47A392E40BA}" srcOrd="1" destOrd="0" presId="urn:microsoft.com/office/officeart/2005/8/layout/orgChart1"/>
    <dgm:cxn modelId="{DA8FACF5-50E4-4E25-838D-BB6AC76D44D5}" type="presOf" srcId="{1A86F64E-0803-454F-99FD-06E5D2DA126F}" destId="{50A0AA55-35EB-4976-B017-CD10AF210A2B}" srcOrd="0" destOrd="0" presId="urn:microsoft.com/office/officeart/2005/8/layout/orgChart1"/>
    <dgm:cxn modelId="{BBC8F5BC-ED3F-429E-9CE6-E02B1561426C}" type="presOf" srcId="{73D51175-BCA7-41FB-B655-506C1EBFDFB3}" destId="{6F11CA1A-2793-427A-A43E-4EC09985F870}" srcOrd="0" destOrd="0" presId="urn:microsoft.com/office/officeart/2005/8/layout/orgChart1"/>
    <dgm:cxn modelId="{A4E050F9-C9A6-45F6-85DB-EA538D2CE012}" type="presOf" srcId="{8973331F-05B4-4AA2-BA4F-C86907073A63}" destId="{30BDD125-9ED1-41C4-BE3C-108EC5E7221C}" srcOrd="1" destOrd="0" presId="urn:microsoft.com/office/officeart/2005/8/layout/orgChart1"/>
    <dgm:cxn modelId="{D8E1DD2B-6B78-4C03-8D45-2936671B1980}" srcId="{EBAED658-6E22-4F8F-9D77-321289C1FDD4}" destId="{C719AFA6-446A-4401-82F0-570917D26D2B}" srcOrd="2" destOrd="0" parTransId="{39115D0E-5653-49C5-9552-D1A4BC319339}" sibTransId="{D45FF5CA-B924-4074-A20B-8183CEAE5E66}"/>
    <dgm:cxn modelId="{AC4B9B39-5A45-43AF-8C1F-88B7B4DB9051}" srcId="{EBAED658-6E22-4F8F-9D77-321289C1FDD4}" destId="{BD2DB80E-56F2-4F3D-B60C-EA9793B17F93}" srcOrd="0" destOrd="0" parTransId="{6DF18053-584D-470F-BC73-0BDECBF96F19}" sibTransId="{E64B3180-86EE-4D77-AC95-886D2DCEDCBD}"/>
    <dgm:cxn modelId="{26F2C65F-1AC0-42E1-B350-59B80FA86650}" type="presOf" srcId="{AB8EC62B-FBE8-45B9-A321-8571AC6C938D}" destId="{3DD240FF-082F-45AD-A644-DAAE56839608}" srcOrd="1" destOrd="0" presId="urn:microsoft.com/office/officeart/2005/8/layout/orgChart1"/>
    <dgm:cxn modelId="{F90A0546-B1A4-4ABB-8327-6EC84DE7C52D}" type="presOf" srcId="{59649F52-4033-4AEB-9B8E-491B324E5005}" destId="{D6C6C4EC-68B2-4DA5-AA22-E3E79EB6309B}" srcOrd="0" destOrd="0" presId="urn:microsoft.com/office/officeart/2005/8/layout/orgChart1"/>
    <dgm:cxn modelId="{15D18297-D473-4BF7-A6DE-8F50D11DB896}" type="presOf" srcId="{0738B4BB-54CB-4C8B-A789-952FF6CF879E}" destId="{D5D3452A-559E-4D6F-AE20-F44DBF7EEA28}" srcOrd="0" destOrd="0" presId="urn:microsoft.com/office/officeart/2005/8/layout/orgChart1"/>
    <dgm:cxn modelId="{FB023670-4F66-45C0-A342-F78762DAF3E4}" type="presOf" srcId="{FECCE35A-C57E-4162-8B0E-4986D5357EBE}" destId="{29089FD9-A6A1-4ABB-B624-46EBD89D1F3E}" srcOrd="0" destOrd="0" presId="urn:microsoft.com/office/officeart/2005/8/layout/orgChart1"/>
    <dgm:cxn modelId="{58D72380-FC97-45E7-B410-065EF4F6F932}" srcId="{AB8EC62B-FBE8-45B9-A321-8571AC6C938D}" destId="{ED7F4050-D313-446F-B700-99BF6472094F}" srcOrd="0" destOrd="0" parTransId="{59649F52-4033-4AEB-9B8E-491B324E5005}" sibTransId="{E39C07FD-92C2-44FF-919B-CB99BDE4879D}"/>
    <dgm:cxn modelId="{0786DACB-5295-4073-B10B-83AD9DB408D4}" srcId="{C719AFA6-446A-4401-82F0-570917D26D2B}" destId="{8973331F-05B4-4AA2-BA4F-C86907073A63}" srcOrd="0" destOrd="0" parTransId="{7DE783C5-872A-4733-98FE-6EC5EF4434E6}" sibTransId="{85F25882-B997-4073-82A8-3D64F3C95C1D}"/>
    <dgm:cxn modelId="{5ED6D1ED-251E-446D-9C42-FE8C7BAFA40F}" type="presOf" srcId="{AE0002BB-86D2-4B4F-85CD-1F379A6DA125}" destId="{0F68411F-E737-4267-B543-B5A581083F3B}" srcOrd="0" destOrd="0" presId="urn:microsoft.com/office/officeart/2005/8/layout/orgChart1"/>
    <dgm:cxn modelId="{CAEF1C93-F713-47FD-A0EA-747EF20C0737}" type="presOf" srcId="{C719AFA6-446A-4401-82F0-570917D26D2B}" destId="{1B36C61D-E5D3-4B5B-9825-73615F9FF4F0}" srcOrd="0" destOrd="0" presId="urn:microsoft.com/office/officeart/2005/8/layout/orgChart1"/>
    <dgm:cxn modelId="{E697F82C-4333-4E9F-A919-584820FDFB45}" type="presOf" srcId="{0738B4BB-54CB-4C8B-A789-952FF6CF879E}" destId="{995FFB20-8BD1-405E-9FF4-519FFB5ED06F}" srcOrd="1" destOrd="0" presId="urn:microsoft.com/office/officeart/2005/8/layout/orgChart1"/>
    <dgm:cxn modelId="{D1FDBEE6-1AA9-46CB-BDDC-676CA9CDF719}" type="presOf" srcId="{41362E82-D778-4975-A8B0-40813549E5F5}" destId="{735DFF40-9A29-4BA4-8B79-D426EB05B731}" srcOrd="0" destOrd="0" presId="urn:microsoft.com/office/officeart/2005/8/layout/orgChart1"/>
    <dgm:cxn modelId="{D4448124-7473-49C4-9531-4A7EFFA784CA}" srcId="{EBAED658-6E22-4F8F-9D77-321289C1FDD4}" destId="{0738B4BB-54CB-4C8B-A789-952FF6CF879E}" srcOrd="3" destOrd="0" parTransId="{AE0002BB-86D2-4B4F-85CD-1F379A6DA125}" sibTransId="{33D81EFE-9A7E-44F2-8FE5-162CAD4865C5}"/>
    <dgm:cxn modelId="{B65A7630-DCD9-42A6-9B66-D4BF36E83B93}" type="presOf" srcId="{ED7F4050-D313-446F-B700-99BF6472094F}" destId="{36EA6595-FEFB-4020-883C-04550A7D6280}" srcOrd="0" destOrd="0" presId="urn:microsoft.com/office/officeart/2005/8/layout/orgChart1"/>
    <dgm:cxn modelId="{81182F2B-9C5F-4AE8-9E64-6E797244C777}" srcId="{FC5E1000-5128-48FB-9B20-BC6A5D2C813C}" destId="{EBAED658-6E22-4F8F-9D77-321289C1FDD4}" srcOrd="0" destOrd="0" parTransId="{13856FD8-36E4-4DE1-8988-9496ACDFCB92}" sibTransId="{C4D29BF3-03DC-4F89-8C36-31EDDB483F41}"/>
    <dgm:cxn modelId="{4A9CF959-703F-42B0-97A0-55E9A46EDF72}" type="presOf" srcId="{7DE783C5-872A-4733-98FE-6EC5EF4434E6}" destId="{8C878060-C5C8-4F51-88DE-48C11175B6F0}" srcOrd="0" destOrd="0" presId="urn:microsoft.com/office/officeart/2005/8/layout/orgChart1"/>
    <dgm:cxn modelId="{DA257F76-645A-4C68-8D92-139E46640232}" type="presOf" srcId="{FC5E1000-5128-48FB-9B20-BC6A5D2C813C}" destId="{AAB93717-05D3-4B1E-AB05-2D1B6B5604B6}" srcOrd="0" destOrd="0" presId="urn:microsoft.com/office/officeart/2005/8/layout/orgChart1"/>
    <dgm:cxn modelId="{6492C73C-EBC6-494A-A6F0-7C973CA1A411}" type="presOf" srcId="{73D51175-BCA7-41FB-B655-506C1EBFDFB3}" destId="{8C651080-4B7E-484C-B47C-4BF80A24D431}" srcOrd="1" destOrd="0" presId="urn:microsoft.com/office/officeart/2005/8/layout/orgChart1"/>
    <dgm:cxn modelId="{E1208179-9FBF-41E2-943A-7BC48A465D47}" type="presOf" srcId="{ED7F4050-D313-446F-B700-99BF6472094F}" destId="{22DE9A80-18EF-4085-B27B-E6B82DF38F93}" srcOrd="1" destOrd="0" presId="urn:microsoft.com/office/officeart/2005/8/layout/orgChart1"/>
    <dgm:cxn modelId="{1FCB631F-2F6D-45B1-BF7B-1CA6CC6E649F}" type="presOf" srcId="{AB8EC62B-FBE8-45B9-A321-8571AC6C938D}" destId="{C65693DF-249D-4489-9750-0CFB8A7177C0}" srcOrd="0" destOrd="0" presId="urn:microsoft.com/office/officeart/2005/8/layout/orgChart1"/>
    <dgm:cxn modelId="{A87FBBE5-BF2D-4B24-851B-77433BE0FCD7}" type="presOf" srcId="{BD2DB80E-56F2-4F3D-B60C-EA9793B17F93}" destId="{37A4B863-2287-4F68-B80D-64F73CDD9BC7}" srcOrd="1" destOrd="0" presId="urn:microsoft.com/office/officeart/2005/8/layout/orgChart1"/>
    <dgm:cxn modelId="{9CE41A7F-1EFE-4EFA-B438-DC7FD42D57D8}" type="presOf" srcId="{8973331F-05B4-4AA2-BA4F-C86907073A63}" destId="{F6B4AF0A-5565-4EEC-BCF5-66485B6B2822}" srcOrd="0" destOrd="0" presId="urn:microsoft.com/office/officeart/2005/8/layout/orgChart1"/>
    <dgm:cxn modelId="{2E4176A4-C7F5-4DA1-8137-A7E415CF2F88}" srcId="{EBAED658-6E22-4F8F-9D77-321289C1FDD4}" destId="{AB8EC62B-FBE8-45B9-A321-8571AC6C938D}" srcOrd="1" destOrd="0" parTransId="{41362E82-D778-4975-A8B0-40813549E5F5}" sibTransId="{BB5F8BAE-B253-43CE-ABB3-CE7213259FC0}"/>
    <dgm:cxn modelId="{3BB758C5-9037-4AB9-8230-3103CB646302}" srcId="{BD2DB80E-56F2-4F3D-B60C-EA9793B17F93}" destId="{73D51175-BCA7-41FB-B655-506C1EBFDFB3}" srcOrd="0" destOrd="0" parTransId="{7CE0AA6D-CCF2-443B-A47E-53AEC6A4B874}" sibTransId="{7A57F612-3492-4B85-8E53-E9032AD70588}"/>
    <dgm:cxn modelId="{D2B76240-1B5E-42D9-94AE-F3A6D76E66A1}" type="presParOf" srcId="{AAB93717-05D3-4B1E-AB05-2D1B6B5604B6}" destId="{02EDD264-7B2A-491B-BA28-B75C8F5554AB}" srcOrd="0" destOrd="0" presId="urn:microsoft.com/office/officeart/2005/8/layout/orgChart1"/>
    <dgm:cxn modelId="{1D8B2950-1435-4DC5-B87C-82BE93C22846}" type="presParOf" srcId="{02EDD264-7B2A-491B-BA28-B75C8F5554AB}" destId="{495A22C8-B6C0-4225-AFDE-7AA380574194}" srcOrd="0" destOrd="0" presId="urn:microsoft.com/office/officeart/2005/8/layout/orgChart1"/>
    <dgm:cxn modelId="{94B90F09-528D-4C24-9BD2-F4E822AA572B}" type="presParOf" srcId="{495A22C8-B6C0-4225-AFDE-7AA380574194}" destId="{EF80F4A7-358C-4901-A689-9B346B7C9BF4}" srcOrd="0" destOrd="0" presId="urn:microsoft.com/office/officeart/2005/8/layout/orgChart1"/>
    <dgm:cxn modelId="{3FA7EE59-4542-4580-B594-4A67BD12DE10}" type="presParOf" srcId="{495A22C8-B6C0-4225-AFDE-7AA380574194}" destId="{EC57C061-CFBF-4B32-809F-47D8C46C8193}" srcOrd="1" destOrd="0" presId="urn:microsoft.com/office/officeart/2005/8/layout/orgChart1"/>
    <dgm:cxn modelId="{AF6B657A-8140-4B8E-999D-808E00F089F6}" type="presParOf" srcId="{02EDD264-7B2A-491B-BA28-B75C8F5554AB}" destId="{3FAC58CC-CEE6-435E-81E5-C5FA729BDAF5}" srcOrd="1" destOrd="0" presId="urn:microsoft.com/office/officeart/2005/8/layout/orgChart1"/>
    <dgm:cxn modelId="{DB5A7BF5-6747-4084-897A-C221BD1E9466}" type="presParOf" srcId="{3FAC58CC-CEE6-435E-81E5-C5FA729BDAF5}" destId="{A7326E80-B64F-4120-A931-AA77608FEC12}" srcOrd="0" destOrd="0" presId="urn:microsoft.com/office/officeart/2005/8/layout/orgChart1"/>
    <dgm:cxn modelId="{472620AF-6EB3-4B43-8B74-FD3A678D1323}" type="presParOf" srcId="{3FAC58CC-CEE6-435E-81E5-C5FA729BDAF5}" destId="{CD42D4E3-CBDD-4190-A9CB-252E185C1E2E}" srcOrd="1" destOrd="0" presId="urn:microsoft.com/office/officeart/2005/8/layout/orgChart1"/>
    <dgm:cxn modelId="{4425C462-2E5F-4DE3-BE05-98E4D4C68733}" type="presParOf" srcId="{CD42D4E3-CBDD-4190-A9CB-252E185C1E2E}" destId="{A5AA1979-B2D5-4596-AF83-B5315D51DBC8}" srcOrd="0" destOrd="0" presId="urn:microsoft.com/office/officeart/2005/8/layout/orgChart1"/>
    <dgm:cxn modelId="{8374CF8D-8008-4228-A4D0-EE0D6FBBA7FE}" type="presParOf" srcId="{A5AA1979-B2D5-4596-AF83-B5315D51DBC8}" destId="{616286EE-9E7C-4D87-8E49-AD956B0381C6}" srcOrd="0" destOrd="0" presId="urn:microsoft.com/office/officeart/2005/8/layout/orgChart1"/>
    <dgm:cxn modelId="{FC9F5A6A-6691-40DE-A335-913FF795AF5E}" type="presParOf" srcId="{A5AA1979-B2D5-4596-AF83-B5315D51DBC8}" destId="{37A4B863-2287-4F68-B80D-64F73CDD9BC7}" srcOrd="1" destOrd="0" presId="urn:microsoft.com/office/officeart/2005/8/layout/orgChart1"/>
    <dgm:cxn modelId="{8B192E66-74A6-4FB8-8F16-B2EFBAD24A28}" type="presParOf" srcId="{CD42D4E3-CBDD-4190-A9CB-252E185C1E2E}" destId="{40086D43-F80D-4231-97E1-331246EE5AC5}" srcOrd="1" destOrd="0" presId="urn:microsoft.com/office/officeart/2005/8/layout/orgChart1"/>
    <dgm:cxn modelId="{638029EC-8EE0-4427-A6EC-8B887995F336}" type="presParOf" srcId="{40086D43-F80D-4231-97E1-331246EE5AC5}" destId="{F75D02BB-5866-4FBF-BDCD-D9A12D9F1549}" srcOrd="0" destOrd="0" presId="urn:microsoft.com/office/officeart/2005/8/layout/orgChart1"/>
    <dgm:cxn modelId="{2F88F8B3-60D3-4253-8F9F-FA0194D8F1DD}" type="presParOf" srcId="{40086D43-F80D-4231-97E1-331246EE5AC5}" destId="{0CFAEACB-C28C-4683-902D-53C1F746D060}" srcOrd="1" destOrd="0" presId="urn:microsoft.com/office/officeart/2005/8/layout/orgChart1"/>
    <dgm:cxn modelId="{664A05D1-D390-4798-A717-7E2FF36588E1}" type="presParOf" srcId="{0CFAEACB-C28C-4683-902D-53C1F746D060}" destId="{901BB6AB-4031-47F4-AC74-A7308595A7B1}" srcOrd="0" destOrd="0" presId="urn:microsoft.com/office/officeart/2005/8/layout/orgChart1"/>
    <dgm:cxn modelId="{D516A1C6-9012-443C-B936-3D6DDC4F0070}" type="presParOf" srcId="{901BB6AB-4031-47F4-AC74-A7308595A7B1}" destId="{6F11CA1A-2793-427A-A43E-4EC09985F870}" srcOrd="0" destOrd="0" presId="urn:microsoft.com/office/officeart/2005/8/layout/orgChart1"/>
    <dgm:cxn modelId="{43601E94-0926-445F-9610-C02FE3F9E07F}" type="presParOf" srcId="{901BB6AB-4031-47F4-AC74-A7308595A7B1}" destId="{8C651080-4B7E-484C-B47C-4BF80A24D431}" srcOrd="1" destOrd="0" presId="urn:microsoft.com/office/officeart/2005/8/layout/orgChart1"/>
    <dgm:cxn modelId="{477CABF8-A4AC-4822-8E57-7D2ECBA1E8B7}" type="presParOf" srcId="{0CFAEACB-C28C-4683-902D-53C1F746D060}" destId="{B7CE6DBA-9C81-4F99-9F83-BC5602BBF611}" srcOrd="1" destOrd="0" presId="urn:microsoft.com/office/officeart/2005/8/layout/orgChart1"/>
    <dgm:cxn modelId="{20F18009-B92B-463E-B1FA-FF5467BFB6EF}" type="presParOf" srcId="{0CFAEACB-C28C-4683-902D-53C1F746D060}" destId="{5947F25C-2373-499B-B689-7685A6091326}" srcOrd="2" destOrd="0" presId="urn:microsoft.com/office/officeart/2005/8/layout/orgChart1"/>
    <dgm:cxn modelId="{EC7B2EC5-CAA4-4F70-9B5B-82915D6A1824}" type="presParOf" srcId="{CD42D4E3-CBDD-4190-A9CB-252E185C1E2E}" destId="{DE9CCAD0-8B1F-4A02-B4D6-7C70D5B63BEF}" srcOrd="2" destOrd="0" presId="urn:microsoft.com/office/officeart/2005/8/layout/orgChart1"/>
    <dgm:cxn modelId="{99188627-8351-4163-8940-FF94C47911CD}" type="presParOf" srcId="{3FAC58CC-CEE6-435E-81E5-C5FA729BDAF5}" destId="{735DFF40-9A29-4BA4-8B79-D426EB05B731}" srcOrd="2" destOrd="0" presId="urn:microsoft.com/office/officeart/2005/8/layout/orgChart1"/>
    <dgm:cxn modelId="{95F3ABA5-1484-4275-886B-9C805417A5EA}" type="presParOf" srcId="{3FAC58CC-CEE6-435E-81E5-C5FA729BDAF5}" destId="{FFE3E650-3281-4F02-BB71-3CC67206F301}" srcOrd="3" destOrd="0" presId="urn:microsoft.com/office/officeart/2005/8/layout/orgChart1"/>
    <dgm:cxn modelId="{CEBE993D-9AEB-4EDD-AB41-FDB8DDCD2F00}" type="presParOf" srcId="{FFE3E650-3281-4F02-BB71-3CC67206F301}" destId="{084B83F6-A349-4298-99BC-F3489577C84F}" srcOrd="0" destOrd="0" presId="urn:microsoft.com/office/officeart/2005/8/layout/orgChart1"/>
    <dgm:cxn modelId="{ECAFDDB4-12BF-467F-B5BB-D2FA4045B242}" type="presParOf" srcId="{084B83F6-A349-4298-99BC-F3489577C84F}" destId="{C65693DF-249D-4489-9750-0CFB8A7177C0}" srcOrd="0" destOrd="0" presId="urn:microsoft.com/office/officeart/2005/8/layout/orgChart1"/>
    <dgm:cxn modelId="{E1A64570-FA6E-4676-B76D-F13C4D1B3E12}" type="presParOf" srcId="{084B83F6-A349-4298-99BC-F3489577C84F}" destId="{3DD240FF-082F-45AD-A644-DAAE56839608}" srcOrd="1" destOrd="0" presId="urn:microsoft.com/office/officeart/2005/8/layout/orgChart1"/>
    <dgm:cxn modelId="{4FA322FD-A419-4F68-912E-ECAB50B2E5A3}" type="presParOf" srcId="{FFE3E650-3281-4F02-BB71-3CC67206F301}" destId="{AFF6DFC5-A4FD-4985-B0C0-1A67C0F52B30}" srcOrd="1" destOrd="0" presId="urn:microsoft.com/office/officeart/2005/8/layout/orgChart1"/>
    <dgm:cxn modelId="{5EFE366E-8B99-4EBA-8C5C-56D33688AD83}" type="presParOf" srcId="{AFF6DFC5-A4FD-4985-B0C0-1A67C0F52B30}" destId="{D6C6C4EC-68B2-4DA5-AA22-E3E79EB6309B}" srcOrd="0" destOrd="0" presId="urn:microsoft.com/office/officeart/2005/8/layout/orgChart1"/>
    <dgm:cxn modelId="{B8AC0158-A0B2-46C1-AB59-073F55E0E6BA}" type="presParOf" srcId="{AFF6DFC5-A4FD-4985-B0C0-1A67C0F52B30}" destId="{C3D22B52-21A5-4C78-AA73-7757567DBB42}" srcOrd="1" destOrd="0" presId="urn:microsoft.com/office/officeart/2005/8/layout/orgChart1"/>
    <dgm:cxn modelId="{DF85C627-217D-429F-9BEE-5C6A7BB6FFD6}" type="presParOf" srcId="{C3D22B52-21A5-4C78-AA73-7757567DBB42}" destId="{1B9343B7-BC25-419F-82A5-2EFD75A9926B}" srcOrd="0" destOrd="0" presId="urn:microsoft.com/office/officeart/2005/8/layout/orgChart1"/>
    <dgm:cxn modelId="{D3EAEB83-0EAE-4D93-94EE-6809CB2C3BAF}" type="presParOf" srcId="{1B9343B7-BC25-419F-82A5-2EFD75A9926B}" destId="{36EA6595-FEFB-4020-883C-04550A7D6280}" srcOrd="0" destOrd="0" presId="urn:microsoft.com/office/officeart/2005/8/layout/orgChart1"/>
    <dgm:cxn modelId="{8F133872-2238-4CE1-8F9B-5644D6161C90}" type="presParOf" srcId="{1B9343B7-BC25-419F-82A5-2EFD75A9926B}" destId="{22DE9A80-18EF-4085-B27B-E6B82DF38F93}" srcOrd="1" destOrd="0" presId="urn:microsoft.com/office/officeart/2005/8/layout/orgChart1"/>
    <dgm:cxn modelId="{E765DFF6-389C-453C-961D-77F96F00AF5C}" type="presParOf" srcId="{C3D22B52-21A5-4C78-AA73-7757567DBB42}" destId="{2CDB34A6-DA01-42CE-9FCE-04883E38418C}" srcOrd="1" destOrd="0" presId="urn:microsoft.com/office/officeart/2005/8/layout/orgChart1"/>
    <dgm:cxn modelId="{57567C62-7F16-439C-A589-2C7E86BC0B8C}" type="presParOf" srcId="{C3D22B52-21A5-4C78-AA73-7757567DBB42}" destId="{3BEF8585-E668-4AA7-8F1D-43B73D478AC2}" srcOrd="2" destOrd="0" presId="urn:microsoft.com/office/officeart/2005/8/layout/orgChart1"/>
    <dgm:cxn modelId="{6F2FB0E2-04C4-4927-A17C-20CFA1570511}" type="presParOf" srcId="{FFE3E650-3281-4F02-BB71-3CC67206F301}" destId="{C3DB5CCA-267E-4B90-878A-30F737149D55}" srcOrd="2" destOrd="0" presId="urn:microsoft.com/office/officeart/2005/8/layout/orgChart1"/>
    <dgm:cxn modelId="{3301D7F9-2018-49A2-AF71-B2D454185932}" type="presParOf" srcId="{3FAC58CC-CEE6-435E-81E5-C5FA729BDAF5}" destId="{74FC8B0C-94CB-4C5E-869E-4BABB92FDC86}" srcOrd="4" destOrd="0" presId="urn:microsoft.com/office/officeart/2005/8/layout/orgChart1"/>
    <dgm:cxn modelId="{9782D90E-17F4-4BEC-918C-828ECC9093E2}" type="presParOf" srcId="{3FAC58CC-CEE6-435E-81E5-C5FA729BDAF5}" destId="{D9B9C795-7EC2-4928-8B27-82A7F2DDC396}" srcOrd="5" destOrd="0" presId="urn:microsoft.com/office/officeart/2005/8/layout/orgChart1"/>
    <dgm:cxn modelId="{4F2D8731-77DA-47EE-A0B7-F09E7D10F52C}" type="presParOf" srcId="{D9B9C795-7EC2-4928-8B27-82A7F2DDC396}" destId="{50C0EFD4-C2DD-4E95-8F4C-9DF83BD552C2}" srcOrd="0" destOrd="0" presId="urn:microsoft.com/office/officeart/2005/8/layout/orgChart1"/>
    <dgm:cxn modelId="{70C5CF16-F7A5-418B-9C5C-6B21DD58BA26}" type="presParOf" srcId="{50C0EFD4-C2DD-4E95-8F4C-9DF83BD552C2}" destId="{1B36C61D-E5D3-4B5B-9825-73615F9FF4F0}" srcOrd="0" destOrd="0" presId="urn:microsoft.com/office/officeart/2005/8/layout/orgChart1"/>
    <dgm:cxn modelId="{F90914E8-6B9F-46BD-B52B-D1B0C7A46A8B}" type="presParOf" srcId="{50C0EFD4-C2DD-4E95-8F4C-9DF83BD552C2}" destId="{0985B0FA-5D45-42FF-B17C-D47A392E40BA}" srcOrd="1" destOrd="0" presId="urn:microsoft.com/office/officeart/2005/8/layout/orgChart1"/>
    <dgm:cxn modelId="{93BE667C-8625-4C30-8696-FDC276E85D89}" type="presParOf" srcId="{D9B9C795-7EC2-4928-8B27-82A7F2DDC396}" destId="{85823F67-A390-4E88-9215-36AB722728C4}" srcOrd="1" destOrd="0" presId="urn:microsoft.com/office/officeart/2005/8/layout/orgChart1"/>
    <dgm:cxn modelId="{1346E647-A633-4DB3-962F-DD51584B0B95}" type="presParOf" srcId="{85823F67-A390-4E88-9215-36AB722728C4}" destId="{8C878060-C5C8-4F51-88DE-48C11175B6F0}" srcOrd="0" destOrd="0" presId="urn:microsoft.com/office/officeart/2005/8/layout/orgChart1"/>
    <dgm:cxn modelId="{CEE13643-5EC0-4B4A-83FC-10618EA59084}" type="presParOf" srcId="{85823F67-A390-4E88-9215-36AB722728C4}" destId="{E5CBD280-16FB-430C-9758-7EE2019CB0DB}" srcOrd="1" destOrd="0" presId="urn:microsoft.com/office/officeart/2005/8/layout/orgChart1"/>
    <dgm:cxn modelId="{03EFE78B-D16E-4DDC-846C-884880491783}" type="presParOf" srcId="{E5CBD280-16FB-430C-9758-7EE2019CB0DB}" destId="{FA8CEF42-8197-4624-B51F-67F26E5F53FA}" srcOrd="0" destOrd="0" presId="urn:microsoft.com/office/officeart/2005/8/layout/orgChart1"/>
    <dgm:cxn modelId="{44158BDD-3120-4650-A576-82D2FE4863AE}" type="presParOf" srcId="{FA8CEF42-8197-4624-B51F-67F26E5F53FA}" destId="{F6B4AF0A-5565-4EEC-BCF5-66485B6B2822}" srcOrd="0" destOrd="0" presId="urn:microsoft.com/office/officeart/2005/8/layout/orgChart1"/>
    <dgm:cxn modelId="{0D7E9D1D-B760-4DBC-9C12-6855D5905264}" type="presParOf" srcId="{FA8CEF42-8197-4624-B51F-67F26E5F53FA}" destId="{30BDD125-9ED1-41C4-BE3C-108EC5E7221C}" srcOrd="1" destOrd="0" presId="urn:microsoft.com/office/officeart/2005/8/layout/orgChart1"/>
    <dgm:cxn modelId="{6B15D65D-B841-4CC3-A9AE-3F83B7FF67F8}" type="presParOf" srcId="{E5CBD280-16FB-430C-9758-7EE2019CB0DB}" destId="{A9ABFE89-3174-410E-8947-44D2DE246402}" srcOrd="1" destOrd="0" presId="urn:microsoft.com/office/officeart/2005/8/layout/orgChart1"/>
    <dgm:cxn modelId="{CDDE2875-E05E-4F03-8EB9-A451390D3EF1}" type="presParOf" srcId="{E5CBD280-16FB-430C-9758-7EE2019CB0DB}" destId="{09CBD2C3-C76E-4623-8861-E8E4C82B316E}" srcOrd="2" destOrd="0" presId="urn:microsoft.com/office/officeart/2005/8/layout/orgChart1"/>
    <dgm:cxn modelId="{A0472ABE-6B67-4B76-9299-AC7CB214371D}" type="presParOf" srcId="{D9B9C795-7EC2-4928-8B27-82A7F2DDC396}" destId="{485F475A-1547-428D-8848-CD0917F15011}" srcOrd="2" destOrd="0" presId="urn:microsoft.com/office/officeart/2005/8/layout/orgChart1"/>
    <dgm:cxn modelId="{E8088FE8-D604-47F2-8265-069527153864}" type="presParOf" srcId="{3FAC58CC-CEE6-435E-81E5-C5FA729BDAF5}" destId="{0F68411F-E737-4267-B543-B5A581083F3B}" srcOrd="6" destOrd="0" presId="urn:microsoft.com/office/officeart/2005/8/layout/orgChart1"/>
    <dgm:cxn modelId="{20C48E93-B4BD-4446-9509-80FEDA6255D9}" type="presParOf" srcId="{3FAC58CC-CEE6-435E-81E5-C5FA729BDAF5}" destId="{7EB376F5-B0D0-4C15-9DCF-163DEC5A28FC}" srcOrd="7" destOrd="0" presId="urn:microsoft.com/office/officeart/2005/8/layout/orgChart1"/>
    <dgm:cxn modelId="{343FB705-1245-4512-A38A-E554DB6BCFCC}" type="presParOf" srcId="{7EB376F5-B0D0-4C15-9DCF-163DEC5A28FC}" destId="{BCFF466C-C0D2-4A7D-8DAA-3A9B1CD0DC7C}" srcOrd="0" destOrd="0" presId="urn:microsoft.com/office/officeart/2005/8/layout/orgChart1"/>
    <dgm:cxn modelId="{1418ACA9-8A49-4E32-B97C-5E56771BAFC9}" type="presParOf" srcId="{BCFF466C-C0D2-4A7D-8DAA-3A9B1CD0DC7C}" destId="{D5D3452A-559E-4D6F-AE20-F44DBF7EEA28}" srcOrd="0" destOrd="0" presId="urn:microsoft.com/office/officeart/2005/8/layout/orgChart1"/>
    <dgm:cxn modelId="{F967677E-AB9E-4A87-AA38-DBE6B0E9B502}" type="presParOf" srcId="{BCFF466C-C0D2-4A7D-8DAA-3A9B1CD0DC7C}" destId="{995FFB20-8BD1-405E-9FF4-519FFB5ED06F}" srcOrd="1" destOrd="0" presId="urn:microsoft.com/office/officeart/2005/8/layout/orgChart1"/>
    <dgm:cxn modelId="{527B2C2C-8963-4FEB-B640-F07FB1DF17C4}" type="presParOf" srcId="{7EB376F5-B0D0-4C15-9DCF-163DEC5A28FC}" destId="{18B68660-80EB-46C5-AF00-638276B6F61C}" srcOrd="1" destOrd="0" presId="urn:microsoft.com/office/officeart/2005/8/layout/orgChart1"/>
    <dgm:cxn modelId="{865466B0-94F7-4705-B05E-AE13316373C1}" type="presParOf" srcId="{18B68660-80EB-46C5-AF00-638276B6F61C}" destId="{29089FD9-A6A1-4ABB-B624-46EBD89D1F3E}" srcOrd="0" destOrd="0" presId="urn:microsoft.com/office/officeart/2005/8/layout/orgChart1"/>
    <dgm:cxn modelId="{ADA714F2-658D-46FF-B045-B5F602BE478D}" type="presParOf" srcId="{18B68660-80EB-46C5-AF00-638276B6F61C}" destId="{2F6568E4-13C4-4913-9F96-6F7B5091F8BA}" srcOrd="1" destOrd="0" presId="urn:microsoft.com/office/officeart/2005/8/layout/orgChart1"/>
    <dgm:cxn modelId="{060BE7B2-9B5F-451A-A66F-6F934FE23D9C}" type="presParOf" srcId="{2F6568E4-13C4-4913-9F96-6F7B5091F8BA}" destId="{40EC6273-5720-453E-B4E0-0F5F895611BE}" srcOrd="0" destOrd="0" presId="urn:microsoft.com/office/officeart/2005/8/layout/orgChart1"/>
    <dgm:cxn modelId="{3FF404D3-9BD5-4781-ABC9-2738DBD73853}" type="presParOf" srcId="{40EC6273-5720-453E-B4E0-0F5F895611BE}" destId="{50A0AA55-35EB-4976-B017-CD10AF210A2B}" srcOrd="0" destOrd="0" presId="urn:microsoft.com/office/officeart/2005/8/layout/orgChart1"/>
    <dgm:cxn modelId="{72FE353B-556C-488E-9365-82D76E35A154}" type="presParOf" srcId="{40EC6273-5720-453E-B4E0-0F5F895611BE}" destId="{70EFB9C2-EB1B-44C1-895A-7757A4C9991C}" srcOrd="1" destOrd="0" presId="urn:microsoft.com/office/officeart/2005/8/layout/orgChart1"/>
    <dgm:cxn modelId="{53CDBCA5-D01D-434A-B6CC-962C7FAC19A1}" type="presParOf" srcId="{2F6568E4-13C4-4913-9F96-6F7B5091F8BA}" destId="{4FC8E98A-3516-406C-BC7A-5BB123FAF8F5}" srcOrd="1" destOrd="0" presId="urn:microsoft.com/office/officeart/2005/8/layout/orgChart1"/>
    <dgm:cxn modelId="{84A79A75-2B46-4D9C-9954-F7C92336961D}" type="presParOf" srcId="{2F6568E4-13C4-4913-9F96-6F7B5091F8BA}" destId="{8FAD3E1E-5E0C-4738-9443-F34A67F80FCF}" srcOrd="2" destOrd="0" presId="urn:microsoft.com/office/officeart/2005/8/layout/orgChart1"/>
    <dgm:cxn modelId="{02F62E5E-BF74-4235-8B4C-7A66EC292F3C}" type="presParOf" srcId="{7EB376F5-B0D0-4C15-9DCF-163DEC5A28FC}" destId="{7FDD156F-2C03-40C8-AD80-A923AF212DA7}" srcOrd="2" destOrd="0" presId="urn:microsoft.com/office/officeart/2005/8/layout/orgChart1"/>
    <dgm:cxn modelId="{4B4D12FC-EE70-478B-B943-B9F7CE8AC807}" type="presParOf" srcId="{02EDD264-7B2A-491B-BA28-B75C8F5554AB}" destId="{4F2A6A31-DB32-4356-8C7B-83661CC6D236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690C3-A4D0-4E6D-9843-3B5091331619}" type="datetimeFigureOut">
              <a:rPr lang="en-US" smtClean="0"/>
              <a:pPr/>
              <a:t>5/1/2019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6648D-7455-4237-AADA-6165E022D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26648D-7455-4237-AADA-6165E022DF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0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12A3A0-7DA0-4062-BD16-68380F2D40AD}" type="slidenum">
              <a:rPr lang="en-US"/>
              <a:pPr/>
              <a:t>30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679450"/>
            <a:ext cx="4629150" cy="3471863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4376738"/>
            <a:ext cx="5038725" cy="4075112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95080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4FFBAFC-EA44-4A45-8FF1-DB06E1D5C5B7}" type="datetime1">
              <a:rPr kumimoji="0" lang="en-US" sz="1200"/>
              <a:pPr/>
              <a:t>5/1/2019</a:t>
            </a:fld>
            <a:endParaRPr kumimoji="0" lang="en-US" sz="1200"/>
          </a:p>
        </p:txBody>
      </p:sp>
      <p:sp>
        <p:nvSpPr>
          <p:cNvPr id="5427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F3454EC-8079-4787-8EA1-D6D04E18A246}" type="slidenum">
              <a:rPr kumimoji="0" lang="en-US" sz="1200"/>
              <a:pPr/>
              <a:t>55</a:t>
            </a:fld>
            <a:endParaRPr kumimoji="0" lang="en-US" sz="1200"/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So how do you mix different types?</a:t>
            </a:r>
          </a:p>
          <a:p>
            <a:endParaRPr lang="en-US" smtClean="0"/>
          </a:p>
          <a:p>
            <a:r>
              <a:rPr lang="en-US" smtClean="0"/>
              <a:t>There’s a special mechanism called </a:t>
            </a:r>
            <a:r>
              <a:rPr lang="en-US" i="1" smtClean="0"/>
              <a:t>XML namespaces</a:t>
            </a:r>
            <a:r>
              <a:rPr lang="en-US" smtClean="0"/>
              <a:t> that lets you do this.</a:t>
            </a:r>
          </a:p>
          <a:p>
            <a:endParaRPr lang="en-US" smtClean="0"/>
          </a:p>
          <a:p>
            <a:r>
              <a:rPr lang="en-US" smtClean="0"/>
              <a:t>Basically you define (using an </a:t>
            </a:r>
            <a:r>
              <a:rPr lang="en-US" b="1" smtClean="0"/>
              <a:t>xmlns</a:t>
            </a:r>
            <a:r>
              <a:rPr lang="en-US" smtClean="0"/>
              <a:t> attribute) a special </a:t>
            </a:r>
            <a:r>
              <a:rPr lang="en-US" i="1" smtClean="0"/>
              <a:t>prefix</a:t>
            </a:r>
            <a:r>
              <a:rPr lang="en-US" smtClean="0"/>
              <a:t> for each language (or a default “empty” prefix for the default language for a document -- for example, in the above, the ‘default’ tags have no prefix and come from the ‘http://www.w3.org/1999/xhtml1’ namespace). </a:t>
            </a:r>
          </a:p>
          <a:p>
            <a:endParaRPr lang="en-US" smtClean="0"/>
          </a:p>
          <a:p>
            <a:r>
              <a:rPr lang="en-US" smtClean="0"/>
              <a:t>Then you just plop the prefix in front of the element or attribute names from the language you want to refer to.</a:t>
            </a:r>
          </a:p>
          <a:p>
            <a:endParaRPr lang="en-US" smtClean="0"/>
          </a:p>
          <a:p>
            <a:r>
              <a:rPr lang="en-US" smtClean="0"/>
              <a:t>And bingo -- you can mix and match 2 or more languages any way you want.</a:t>
            </a:r>
          </a:p>
        </p:txBody>
      </p:sp>
    </p:spTree>
    <p:extLst>
      <p:ext uri="{BB962C8B-B14F-4D97-AF65-F5344CB8AC3E}">
        <p14:creationId xmlns:p14="http://schemas.microsoft.com/office/powerpoint/2010/main" val="329495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B70DABC-BE9C-43E1-A894-82F1D0BBEF7E}" type="datetime1">
              <a:rPr kumimoji="0" lang="en-US" sz="1200"/>
              <a:pPr/>
              <a:t>5/1/2019</a:t>
            </a:fld>
            <a:endParaRPr kumimoji="0" lang="en-US" sz="1200"/>
          </a:p>
        </p:txBody>
      </p:sp>
      <p:sp>
        <p:nvSpPr>
          <p:cNvPr id="56323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8872E90-ED95-4FE9-8022-FC78FC741355}" type="slidenum">
              <a:rPr kumimoji="0" lang="en-US" sz="1200"/>
              <a:pPr/>
              <a:t>62</a:t>
            </a:fld>
            <a:endParaRPr kumimoji="0" lang="en-US" sz="1200"/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Here’s a simplified example of how these languages work in the a real-world application. </a:t>
            </a:r>
            <a:r>
              <a:rPr lang="en-US" dirty="0" smtClean="0"/>
              <a:t>A factory sends parts orders (as XML messages) to the suppliers. The suppliers return (in XML) messages that provide an appropriate response.</a:t>
            </a:r>
          </a:p>
          <a:p>
            <a:endParaRPr lang="en-US" dirty="0" smtClean="0"/>
          </a:p>
          <a:p>
            <a:r>
              <a:rPr lang="en-US" dirty="0" smtClean="0"/>
              <a:t>This is really just EDI. The advantages to the business are cost and breadth. Costs are reduced because the software (XML + other) and networking (Internet) cost much less than proprietary EDI systems (proprietary software and networks).  Breadth is accomplished because many more suppliers (and companies) can afford to go onto such a network, so the number of participants can grow enormously, leading to economies of scale.</a:t>
            </a:r>
          </a:p>
          <a:p>
            <a:endParaRPr lang="en-US" dirty="0" smtClean="0"/>
          </a:p>
          <a:p>
            <a:r>
              <a:rPr lang="en-US" dirty="0" smtClean="0"/>
              <a:t>And, once you have lots of parties, you can add new business models (portal brokers, B-B brokers, group buying, etc.)</a:t>
            </a:r>
          </a:p>
        </p:txBody>
      </p:sp>
    </p:spTree>
    <p:extLst>
      <p:ext uri="{BB962C8B-B14F-4D97-AF65-F5344CB8AC3E}">
        <p14:creationId xmlns:p14="http://schemas.microsoft.com/office/powerpoint/2010/main" val="114476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AE2C-7DB5-41B4-AEDC-33ED730F4907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4843-F34D-4089-8FEC-AD3D01E4000D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A6D6-1539-4646-BE50-5EE9D6E22FA6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C0E5-F22F-4590-90FB-5F7F82C6A6BE}" type="datetime1">
              <a:rPr lang="en-US" smtClean="0"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3CDE-3678-4B89-8BD3-0E9FEDBEE6AD}" type="datetime1">
              <a:rPr lang="en-US" smtClean="0"/>
              <a:t>5/1/2019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9AF1-6352-4EC9-906D-70245620731D}" type="datetime1">
              <a:rPr lang="en-US" smtClean="0"/>
              <a:t>5/1/2019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5951-DE2E-4851-907C-9D2D1E671DB6}" type="datetime1">
              <a:rPr lang="en-US" smtClean="0"/>
              <a:t>5/1/2019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30C4-1468-4E1F-853A-D25F633D75D0}" type="datetime1">
              <a:rPr lang="en-US" smtClean="0"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8D859-6EC5-4B85-B0A9-06A8694623F3}" type="datetime1">
              <a:rPr lang="en-US" smtClean="0"/>
              <a:t>5/1/2019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B7F9-2EE5-4EB6-86F4-0546C46545F8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83E0-BE71-402C-B288-6708CC816619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465C4-EFA9-402B-BF72-81208C4A9BEA}" type="datetime1">
              <a:rPr lang="en-US" smtClean="0"/>
              <a:t>5/1/2019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90800"/>
            <a:ext cx="4267200" cy="147218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/>
              <a:t>XML &amp; Related Technologies</a:t>
            </a:r>
            <a:endParaRPr lang="en-US" sz="4400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Use current technology for developing distributed systems and applications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7620000" cy="476250"/>
          </a:xfrm>
        </p:spPr>
        <p:txBody>
          <a:bodyPr/>
          <a:lstStyle/>
          <a:p>
            <a:pPr algn="ctr"/>
            <a:r>
              <a:rPr lang="en-AU" smtClean="0">
                <a:solidFill>
                  <a:srgbClr val="00B0F0"/>
                </a:solidFill>
              </a:rPr>
              <a:t>HNDIT2411- Enterprise Architecture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8153400" cy="5410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XML stands for </a:t>
            </a:r>
            <a:r>
              <a:rPr lang="en-US" sz="2800" dirty="0" err="1" smtClean="0">
                <a:solidFill>
                  <a:srgbClr val="FF0000"/>
                </a:solidFill>
              </a:rPr>
              <a:t>EX</a:t>
            </a:r>
            <a:r>
              <a:rPr lang="en-US" sz="2800" dirty="0" err="1" smtClean="0"/>
              <a:t>tensible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M</a:t>
            </a:r>
            <a:r>
              <a:rPr lang="en-US" sz="2800" dirty="0" smtClean="0"/>
              <a:t>arkup </a:t>
            </a:r>
            <a:r>
              <a:rPr lang="en-US" sz="2800" dirty="0" smtClean="0">
                <a:solidFill>
                  <a:srgbClr val="FF0000"/>
                </a:solidFill>
              </a:rPr>
              <a:t>L</a:t>
            </a:r>
            <a:r>
              <a:rPr lang="en-US" sz="2800" dirty="0" smtClean="0"/>
              <a:t>anguage.</a:t>
            </a:r>
          </a:p>
          <a:p>
            <a:pPr algn="just">
              <a:buClr>
                <a:schemeClr val="hlink"/>
              </a:buClr>
            </a:pPr>
            <a:r>
              <a:rPr lang="en-US" sz="2800" dirty="0" smtClean="0"/>
              <a:t>XML: A W3C standard to complement HTML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002060"/>
                </a:solidFill>
              </a:rPr>
              <a:t>XML was designed to carry data, not to display data.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Two facets of XML: document-centric and data-centric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7030A0"/>
                </a:solidFill>
              </a:rPr>
              <a:t>XML tags are not predefined. You must define your own tags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00B050"/>
                </a:solidFill>
              </a:rPr>
              <a:t>XML is designed to be self-descriptive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Fundamentals,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81534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Ideal as “Data Interchange” format.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Key technology for “distributed” applications.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All major database products have been retrofitted with facilities to store and construct XML documents.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XML is closely related to object-oriented and so-called semi-structured data.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Document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5791200" cy="4800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&lt;note&gt;</a:t>
            </a:r>
          </a:p>
          <a:p>
            <a:pPr>
              <a:buNone/>
            </a:pPr>
            <a:r>
              <a:rPr lang="en-US" dirty="0" smtClean="0"/>
              <a:t>	&lt;to&gt;</a:t>
            </a:r>
            <a:r>
              <a:rPr lang="en-US" dirty="0" err="1" smtClean="0"/>
              <a:t>Tove</a:t>
            </a:r>
            <a:r>
              <a:rPr lang="en-US" dirty="0" smtClean="0"/>
              <a:t>&lt;/to&gt;</a:t>
            </a:r>
          </a:p>
          <a:p>
            <a:pPr>
              <a:buNone/>
            </a:pPr>
            <a:r>
              <a:rPr lang="en-US" dirty="0" smtClean="0"/>
              <a:t>	&lt;from&gt;</a:t>
            </a:r>
            <a:r>
              <a:rPr lang="en-US" dirty="0" err="1" smtClean="0"/>
              <a:t>Jani</a:t>
            </a:r>
            <a:r>
              <a:rPr lang="en-US" dirty="0" smtClean="0"/>
              <a:t>&lt;/from&gt;</a:t>
            </a:r>
          </a:p>
          <a:p>
            <a:pPr>
              <a:buNone/>
            </a:pPr>
            <a:r>
              <a:rPr lang="en-US" dirty="0" smtClean="0"/>
              <a:t>	&lt;heading&gt;Reminder&lt;/heading&gt;</a:t>
            </a:r>
          </a:p>
          <a:p>
            <a:pPr>
              <a:buNone/>
            </a:pPr>
            <a:r>
              <a:rPr lang="en-US" dirty="0" smtClean="0"/>
              <a:t>	&lt;body&gt;Don't forget me this weekend!&lt;/body&gt;</a:t>
            </a:r>
          </a:p>
          <a:p>
            <a:pPr>
              <a:buNone/>
            </a:pPr>
            <a:r>
              <a:rPr lang="en-US" dirty="0" smtClean="0"/>
              <a:t>&lt;/note&gt;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8153400" cy="1143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XML Data Model: Example – XML Tree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80200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The Difference Between XML and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41020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Used to describe content rather than presentation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New tags may be defined at will by the author of the document (extensible)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No semantics behind tags. For instance, HTML’s 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&lt;table&gt;…&lt;/table&gt;</a:t>
            </a:r>
            <a:r>
              <a:rPr lang="en-US" dirty="0" smtClean="0"/>
              <a:t> means: render contents as a table; in XML: doesn’t mean anything special.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8095488" cy="4800600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Structures may be nested arbitrarily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XML document may contain an optional schema that describes its structure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Intolerant to bugs; Browsers will render buggy HTML pages but XML processors will reject ill-formed XML documents.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structure of an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4800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An XML document starts out with an XML declaration and contains elements and text.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An Element can contain text, child elements, or both(mixed content).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Elements can have attributes. Use attributes to describe how to interpret the element content.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structure of an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&lt;?xml version="1.0" encoding="ISO-8859-1"?&gt;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&lt;root  attribute = “…..”&gt;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subchild</a:t>
            </a:r>
            <a:r>
              <a:rPr lang="en-US" dirty="0" smtClean="0"/>
              <a:t>&gt;.....&lt;/</a:t>
            </a:r>
            <a:r>
              <a:rPr lang="en-US" dirty="0" err="1" smtClean="0"/>
              <a:t>subchild</a:t>
            </a:r>
            <a:r>
              <a:rPr lang="en-US" dirty="0" smtClean="0"/>
              <a:t>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&lt;/child&gt;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&lt;child attribute=“….”&gt;…..&lt;/child&gt;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&lt;/root&gt;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943088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structure of an XML Document,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77200" cy="5181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&lt;?xml version="1.0" encoding="UTF-8"?&gt;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&lt;Email&gt;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&lt;Header&gt;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&lt;From&gt;nethu@gmail.com&lt;/From&gt;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&lt;To&gt;che@yahoo.com&lt;/To&gt;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&lt;CC&gt;deep@gmail.com&lt;/CC&gt;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&lt;Subject&gt;Hello from </a:t>
            </a:r>
            <a:r>
              <a:rPr lang="en-US" dirty="0" err="1" smtClean="0"/>
              <a:t>nanga</a:t>
            </a:r>
            <a:r>
              <a:rPr lang="en-US" dirty="0" smtClean="0"/>
              <a:t>&lt;/Subject&gt;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&lt;/Header&gt;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&lt;Body&gt; Hi… How are u  my dear </a:t>
            </a:r>
            <a:r>
              <a:rPr lang="en-US" dirty="0" err="1" smtClean="0"/>
              <a:t>Ayya</a:t>
            </a:r>
            <a:r>
              <a:rPr lang="en-US" dirty="0" smtClean="0"/>
              <a:t> and </a:t>
            </a:r>
            <a:r>
              <a:rPr lang="en-US" dirty="0" err="1" smtClean="0"/>
              <a:t>Amma</a:t>
            </a:r>
            <a:r>
              <a:rPr lang="en-US" dirty="0" smtClean="0"/>
              <a:t>&lt;/Body&gt;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&lt;/Email&gt;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657600" y="1981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Root Element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Child Elements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0" y="34290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Sub child Elements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rot="10800000" flipV="1">
            <a:off x="2209800" y="2209800"/>
            <a:ext cx="1371600" cy="4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1"/>
          </p:cNvCxnSpPr>
          <p:nvPr/>
        </p:nvCxnSpPr>
        <p:spPr>
          <a:xfrm rot="10800000">
            <a:off x="6019800" y="3276605"/>
            <a:ext cx="457200" cy="383229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1"/>
          </p:cNvCxnSpPr>
          <p:nvPr/>
        </p:nvCxnSpPr>
        <p:spPr>
          <a:xfrm rot="10800000">
            <a:off x="5257800" y="3657601"/>
            <a:ext cx="1219200" cy="2233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1"/>
          </p:cNvCxnSpPr>
          <p:nvPr/>
        </p:nvCxnSpPr>
        <p:spPr>
          <a:xfrm rot="10800000" flipV="1">
            <a:off x="5486400" y="3659833"/>
            <a:ext cx="990600" cy="607368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1"/>
          </p:cNvCxnSpPr>
          <p:nvPr/>
        </p:nvCxnSpPr>
        <p:spPr>
          <a:xfrm rot="10800000" flipV="1">
            <a:off x="5715000" y="3659832"/>
            <a:ext cx="762000" cy="986135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723900" y="3162300"/>
            <a:ext cx="1066800" cy="53340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6200000" flipH="1">
            <a:off x="152400" y="4648200"/>
            <a:ext cx="1676400" cy="45720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15240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XML declaration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rot="10800000">
            <a:off x="5867400" y="1752601"/>
            <a:ext cx="533400" cy="2233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498080" cy="1143000"/>
          </a:xfrm>
        </p:spPr>
        <p:txBody>
          <a:bodyPr/>
          <a:lstStyle/>
          <a:p>
            <a:r>
              <a:rPr lang="en-US" dirty="0" smtClean="0"/>
              <a:t>XML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The main components of an XML document are :</a:t>
            </a:r>
          </a:p>
          <a:p>
            <a:pPr lvl="1" algn="just"/>
            <a:r>
              <a:rPr lang="en-US" sz="3200" dirty="0" smtClean="0"/>
              <a:t>Elements</a:t>
            </a:r>
          </a:p>
          <a:p>
            <a:pPr lvl="1" algn="just"/>
            <a:r>
              <a:rPr lang="en-US" sz="3200" dirty="0" smtClean="0"/>
              <a:t>Content</a:t>
            </a:r>
          </a:p>
          <a:p>
            <a:pPr lvl="1" algn="just"/>
            <a:r>
              <a:rPr lang="en-US" sz="3200" dirty="0" smtClean="0"/>
              <a:t>Attributes</a:t>
            </a:r>
          </a:p>
          <a:p>
            <a:pPr lvl="1" algn="just"/>
            <a:r>
              <a:rPr lang="en-US" sz="3200" dirty="0" smtClean="0"/>
              <a:t>Comments</a:t>
            </a:r>
          </a:p>
          <a:p>
            <a:pPr lvl="1" algn="just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ahoma" pitchFamily="34" charset="0"/>
              </a:rPr>
              <a:t>XML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Components -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1054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An element is the basic building block of an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Used to describe the content in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Elements are the main markup components.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Each element represents a piece of data, identified by a tag.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XML Elements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54864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An element, composed of a start tag and an end tag:</a:t>
            </a:r>
          </a:p>
          <a:p>
            <a:pPr lvl="1"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start_tag</a:t>
            </a:r>
            <a:r>
              <a:rPr lang="en-US" dirty="0" smtClean="0">
                <a:solidFill>
                  <a:srgbClr val="00B050"/>
                </a:solidFill>
              </a:rPr>
              <a:t>&gt; element content &lt;/</a:t>
            </a:r>
            <a:r>
              <a:rPr lang="en-US" dirty="0" err="1" smtClean="0">
                <a:solidFill>
                  <a:srgbClr val="00B050"/>
                </a:solidFill>
              </a:rPr>
              <a:t>end_tag</a:t>
            </a:r>
            <a:r>
              <a:rPr lang="en-US" dirty="0" smtClean="0">
                <a:solidFill>
                  <a:srgbClr val="00B050"/>
                </a:solidFill>
              </a:rPr>
              <a:t>&gt;</a:t>
            </a:r>
          </a:p>
          <a:p>
            <a:pPr algn="just"/>
            <a:r>
              <a:rPr lang="en-US" dirty="0" smtClean="0"/>
              <a:t>Element content can include other elements, or strings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An empty element looks like this: </a:t>
            </a: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empty_element</a:t>
            </a:r>
            <a:r>
              <a:rPr lang="en-US" dirty="0" smtClean="0">
                <a:solidFill>
                  <a:srgbClr val="00B050"/>
                </a:solidFill>
              </a:rPr>
              <a:t>/&gt;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All XML documents (“XML instances”) contain only one top-level element (Root element)</a:t>
            </a:r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/>
              <a:t>  </a:t>
            </a:r>
            <a:endParaRPr lang="en-US" sz="4000" b="1" dirty="0" smtClean="0"/>
          </a:p>
          <a:p>
            <a:pPr algn="just">
              <a:lnSpc>
                <a:spcPct val="150000"/>
              </a:lnSpc>
            </a:pPr>
            <a:endParaRPr lang="en-US" sz="4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Elements can carry attributes in their start tags: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start_tag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attribute_name</a:t>
            </a:r>
            <a:r>
              <a:rPr lang="en-US" dirty="0" smtClean="0">
                <a:solidFill>
                  <a:srgbClr val="00B050"/>
                </a:solidFill>
              </a:rPr>
              <a:t>=“</a:t>
            </a:r>
            <a:r>
              <a:rPr lang="en-US" dirty="0" err="1" smtClean="0">
                <a:solidFill>
                  <a:srgbClr val="00B050"/>
                </a:solidFill>
              </a:rPr>
              <a:t>att_value</a:t>
            </a:r>
            <a:r>
              <a:rPr lang="en-US" dirty="0" smtClean="0">
                <a:solidFill>
                  <a:srgbClr val="00B050"/>
                </a:solidFill>
              </a:rPr>
              <a:t>”&gt;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An element can have as many attributes as are declared for it, and they can be required or optional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Note: </a:t>
            </a:r>
            <a:r>
              <a:rPr lang="en-US" sz="2800" i="1" dirty="0" smtClean="0"/>
              <a:t>Element and attribute names are case-sensitive</a:t>
            </a:r>
            <a:endParaRPr lang="en-US" i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&lt;person&gt;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&lt;name&gt;Alan&lt;/name&gt;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&lt;age&gt;42&lt;/age&gt;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&lt;email&gt;agb@abc.com&lt;/email&gt;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&lt;/person&gt;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5550"/>
            <a:ext cx="4495800" cy="476250"/>
          </a:xfrm>
        </p:spPr>
        <p:txBody>
          <a:bodyPr/>
          <a:lstStyle/>
          <a:p>
            <a:r>
              <a:rPr lang="en-AU" smtClean="0"/>
              <a:t>HNDIT2411- Enterprise Architecture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4800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i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Element includes the start and end tag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No quotation marks around strings; XML treats all data as text. This is referred to as PCDATA (Parsed Character Data).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Empty elements: 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sz="2800" dirty="0" smtClean="0"/>
              <a:t>	&lt;married&gt;&lt;/married&gt; can be abbreviated to &lt;married/&gt;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49808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Elements 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09600"/>
            <a:ext cx="8153400" cy="5410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1800" dirty="0" smtClean="0"/>
              <a:t>Collections are expressed using repeated structures. 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 smtClean="0"/>
              <a:t>Ex. The collection of all persons on the 4th floor:</a:t>
            </a:r>
          </a:p>
          <a:p>
            <a:pPr>
              <a:lnSpc>
                <a:spcPct val="80000"/>
              </a:lnSpc>
            </a:pPr>
            <a:endParaRPr lang="en-US" sz="1600" dirty="0" smtClean="0"/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&lt;table&gt; 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&lt;description&gt;People on the 4th floor&lt;/description&gt;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&lt;people&gt;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	&lt;name&gt;Alan&lt;/name&gt;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 	 &lt;age&gt;42&lt;/age&gt;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  	&lt;email&gt;agb@abc.com&lt;/email&gt;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	&lt;name&gt;Patsy&lt;/name&gt;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	&lt;age&gt;36&lt;/age&gt;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	&lt;email&gt;ptn@abc.com&lt;/email&gt;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&lt;name&gt;Ryan&lt;/name&gt;&lt;age&gt;58&lt;/age&gt;&lt;email&gt;rgz@abc.com&lt;/email&gt;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&lt;/people&gt;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&lt;/table&gt;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010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Attributes define some properties of elements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Expressed as a name-value pairs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As with tags, user may define any number of attributes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Attribute values must be enclosed within quotation marks.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 smtClean="0"/>
              <a:t>Eg</a:t>
            </a:r>
            <a:r>
              <a:rPr lang="en-US" sz="2400" dirty="0" smtClean="0"/>
              <a:t> :      &lt;note </a:t>
            </a:r>
            <a:r>
              <a:rPr 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date=“12/11/2007”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en-US" sz="2400" dirty="0" smtClean="0">
              <a:solidFill>
                <a:srgbClr val="7030A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2296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 smtClean="0">
                <a:solidFill>
                  <a:srgbClr val="002060"/>
                </a:solidFill>
              </a:rPr>
              <a:t>&lt;product&gt;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&lt;name </a:t>
            </a:r>
            <a:r>
              <a:rPr lang="en-US" dirty="0" smtClean="0">
                <a:solidFill>
                  <a:srgbClr val="FF0000"/>
                </a:solidFill>
              </a:rPr>
              <a:t>language="French</a:t>
            </a:r>
            <a:r>
              <a:rPr lang="en-US" dirty="0" smtClean="0"/>
              <a:t>"&gt;</a:t>
            </a:r>
            <a:r>
              <a:rPr lang="en-US" dirty="0" err="1" smtClean="0"/>
              <a:t>trompette</a:t>
            </a:r>
            <a:r>
              <a:rPr lang="en-US" dirty="0" smtClean="0"/>
              <a:t>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&lt;price </a:t>
            </a:r>
            <a:r>
              <a:rPr lang="en-US" dirty="0" smtClean="0">
                <a:solidFill>
                  <a:srgbClr val="FF0000"/>
                </a:solidFill>
              </a:rPr>
              <a:t>currency="Euro"&gt;</a:t>
            </a:r>
            <a:r>
              <a:rPr lang="en-US" dirty="0" smtClean="0"/>
              <a:t>420.12&lt;/price&gt;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&lt;address </a:t>
            </a:r>
            <a:r>
              <a:rPr lang="en-US" dirty="0" smtClean="0">
                <a:solidFill>
                  <a:srgbClr val="FF0000"/>
                </a:solidFill>
              </a:rPr>
              <a:t>format="XLB56" language="French"&gt;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&lt;street&gt;31 rue Croix-</a:t>
            </a:r>
            <a:r>
              <a:rPr lang="en-US" dirty="0" err="1" smtClean="0"/>
              <a:t>Bosset</a:t>
            </a:r>
            <a:r>
              <a:rPr lang="en-US" dirty="0" smtClean="0"/>
              <a:t>&lt;/street&gt;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&lt;zip&gt;92310&lt;/zip&gt;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&lt;city&gt;Sevres&lt;/city&gt;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	 &lt;country&gt;France&lt;/country&gt;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&lt;/address&gt;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>
                <a:solidFill>
                  <a:srgbClr val="002060"/>
                </a:solidFill>
              </a:rPr>
              <a:t>&lt;/product&gt;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Attributes </a:t>
            </a:r>
            <a:r>
              <a:rPr lang="en-US" sz="4400" dirty="0" err="1" smtClean="0">
                <a:latin typeface="Tahoma" pitchFamily="34" charset="0"/>
              </a:rPr>
              <a:t>vs</a:t>
            </a:r>
            <a:r>
              <a:rPr lang="en-US" sz="4400" dirty="0" smtClean="0">
                <a:latin typeface="Tahoma" pitchFamily="34" charset="0"/>
              </a:rPr>
              <a:t> Elements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8458200" cy="5867400"/>
          </a:xfrm>
        </p:spPr>
        <p:txBody>
          <a:bodyPr>
            <a:noAutofit/>
          </a:bodyPr>
          <a:lstStyle/>
          <a:p>
            <a:pPr algn="just">
              <a:buClr>
                <a:schemeClr val="hlink"/>
              </a:buClr>
            </a:pPr>
            <a:r>
              <a:rPr lang="en-US" sz="2400" dirty="0" smtClean="0"/>
              <a:t>A given attribute can occur only once within a tag; Its value is always a string</a:t>
            </a:r>
          </a:p>
          <a:p>
            <a:pPr algn="just">
              <a:buClr>
                <a:schemeClr val="hlink"/>
              </a:buClr>
            </a:pPr>
            <a:r>
              <a:rPr lang="en-US" sz="2400" dirty="0" smtClean="0"/>
              <a:t>On the other hand tags defining elements/sub-elements can repeat any number of times and their values may be string data or sub-elements</a:t>
            </a:r>
          </a:p>
          <a:p>
            <a:pPr algn="just">
              <a:buClr>
                <a:schemeClr val="hlink"/>
              </a:buClr>
            </a:pPr>
            <a:r>
              <a:rPr lang="en-US" sz="2400" dirty="0" smtClean="0"/>
              <a:t>Same data may be encoded using attributes or elements or a combination of the two</a:t>
            </a:r>
          </a:p>
          <a:p>
            <a:pPr algn="just">
              <a:buNone/>
            </a:pPr>
            <a:r>
              <a:rPr lang="en-US" sz="2400" b="1" dirty="0" smtClean="0"/>
              <a:t>	</a:t>
            </a:r>
            <a:r>
              <a:rPr lang="en-US" sz="2400" dirty="0" smtClean="0"/>
              <a:t>&lt;person name="Alan" age="42"&gt;</a:t>
            </a:r>
          </a:p>
          <a:p>
            <a:pPr algn="just">
              <a:buNone/>
            </a:pPr>
            <a:r>
              <a:rPr lang="en-US" sz="2400" dirty="0" smtClean="0"/>
              <a:t>  		&lt;email&gt;agb@abc.com&lt;/email&gt;</a:t>
            </a:r>
          </a:p>
          <a:p>
            <a:pPr algn="just">
              <a:buNone/>
            </a:pPr>
            <a:r>
              <a:rPr lang="en-US" sz="2400" dirty="0" smtClean="0"/>
              <a:t>	&lt;/person&gt;</a:t>
            </a:r>
          </a:p>
          <a:p>
            <a:pPr algn="just"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000" dirty="0" smtClean="0"/>
              <a:t>			or</a:t>
            </a:r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" y="16002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8600" y="4953000"/>
            <a:ext cx="4800600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0000"/>
              </a:lnSpc>
              <a:buNone/>
            </a:pPr>
            <a:r>
              <a:rPr lang="en-US" sz="2400" b="1" dirty="0" smtClean="0"/>
              <a:t>&lt;</a:t>
            </a:r>
            <a:r>
              <a:rPr lang="en-US" sz="2400" dirty="0" smtClean="0"/>
              <a:t>person name="Alan"&gt;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 		 &lt;age&gt;42&lt;/age&gt;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 	 	&lt;email&gt;agb@abc.com&lt;/email&gt;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	&lt;/person&gt;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Mixing Elements and Text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8077200" cy="51816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</a:pPr>
            <a:r>
              <a:rPr lang="en-US" dirty="0" smtClean="0"/>
              <a:t>XML allows us to mix PCDATA and sub-elements within an element.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</a:t>
            </a:r>
            <a:r>
              <a:rPr lang="en-US" sz="2800" b="1" dirty="0" smtClean="0"/>
              <a:t>&lt;person&gt;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This is my best friend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&lt;name&gt;Alan&lt;/name&gt;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&lt;age&gt;42&lt;/age&gt;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I am not sure of the following email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&lt;email&gt;agb@abc.com&lt;/email&gt;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&lt;/person&gt;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</a:pPr>
            <a:r>
              <a:rPr lang="en-US" dirty="0" smtClean="0"/>
              <a:t>This seems un-natural from a database perspective, but from a document perspective, this is quite natural!</a:t>
            </a:r>
          </a:p>
          <a:p>
            <a:pPr algn="just">
              <a:lnSpc>
                <a:spcPct val="17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696200" cy="639762"/>
          </a:xfrm>
        </p:spPr>
        <p:txBody>
          <a:bodyPr>
            <a:noAutofit/>
          </a:bodyPr>
          <a:lstStyle/>
          <a:p>
            <a:r>
              <a:rPr lang="en-US" sz="4000" dirty="0" smtClean="0"/>
              <a:t>Entity References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534400" cy="5943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Some characters have a special meaning in XML.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If you place a character like "&lt;" inside an XML element, it will generate an error because the parser interprets it as the start of a new element.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This will generate an XML </a:t>
            </a:r>
            <a:r>
              <a:rPr lang="en-US" sz="2800" dirty="0" smtClean="0">
                <a:solidFill>
                  <a:srgbClr val="FF0000"/>
                </a:solidFill>
              </a:rPr>
              <a:t>error</a:t>
            </a:r>
            <a:r>
              <a:rPr lang="en-US" sz="2800" dirty="0" smtClean="0"/>
              <a:t>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/>
              <a:t>		&lt;message&gt;</a:t>
            </a:r>
            <a:r>
              <a:rPr lang="en-US" sz="2800" dirty="0" smtClean="0">
                <a:solidFill>
                  <a:srgbClr val="FF0000"/>
                </a:solidFill>
              </a:rPr>
              <a:t>if salary &lt; 1000 then</a:t>
            </a:r>
            <a:r>
              <a:rPr lang="en-US" sz="2800" dirty="0" smtClean="0"/>
              <a:t>&lt;/message&gt;</a:t>
            </a:r>
          </a:p>
          <a:p>
            <a:pPr algn="just"/>
            <a:r>
              <a:rPr lang="en-US" sz="2800" dirty="0" smtClean="0"/>
              <a:t>To </a:t>
            </a:r>
            <a:r>
              <a:rPr lang="en-US" sz="2800" dirty="0" smtClean="0">
                <a:solidFill>
                  <a:srgbClr val="00B0F0"/>
                </a:solidFill>
              </a:rPr>
              <a:t>avoid this error</a:t>
            </a:r>
            <a:r>
              <a:rPr lang="en-US" sz="2800" dirty="0" smtClean="0"/>
              <a:t>, replace the </a:t>
            </a:r>
            <a:r>
              <a:rPr lang="en-US" sz="2800" dirty="0" smtClean="0">
                <a:solidFill>
                  <a:srgbClr val="00B0F0"/>
                </a:solidFill>
              </a:rPr>
              <a:t>"&lt;"</a:t>
            </a:r>
            <a:r>
              <a:rPr lang="en-US" sz="2800" dirty="0" smtClean="0"/>
              <a:t> character with an </a:t>
            </a:r>
            <a:r>
              <a:rPr lang="en-US" sz="2800" b="1" dirty="0" smtClean="0">
                <a:solidFill>
                  <a:srgbClr val="00B0F0"/>
                </a:solidFill>
              </a:rPr>
              <a:t>entity reference</a:t>
            </a:r>
            <a:r>
              <a:rPr lang="en-US" sz="2800" dirty="0" smtClean="0">
                <a:solidFill>
                  <a:srgbClr val="00B0F0"/>
                </a:solidFill>
              </a:rPr>
              <a:t>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/>
              <a:t>	</a:t>
            </a:r>
            <a:r>
              <a:rPr lang="en-US" sz="2800" dirty="0" smtClean="0"/>
              <a:t>	&lt;message&gt;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salary &amp;</a:t>
            </a:r>
            <a:r>
              <a:rPr lang="en-US" sz="2800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lt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 1000 then</a:t>
            </a:r>
            <a:r>
              <a:rPr lang="en-US" sz="2800" dirty="0" smtClean="0"/>
              <a:t>&lt;/message&gt;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8ECF-B5B9-48A4-A454-91CE5FCBA167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rot="10800000" flipV="1">
            <a:off x="4648200" y="44196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Five predefined entity references in XML: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0" y="1752600"/>
          <a:ext cx="7239000" cy="28955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28800"/>
                <a:gridCol w="1676400"/>
                <a:gridCol w="3733800"/>
              </a:tblGrid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&amp;</a:t>
                      </a:r>
                      <a:r>
                        <a:rPr lang="en-US" sz="2800" b="0" dirty="0" err="1"/>
                        <a:t>lt</a:t>
                      </a:r>
                      <a:r>
                        <a:rPr lang="en-US" sz="2800" b="0" dirty="0"/>
                        <a:t>;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&lt;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less than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&amp;gt;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&gt;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/>
                        <a:t>greater than</a:t>
                      </a:r>
                      <a:endParaRPr lang="en-US" sz="280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&amp;amp;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ampersand 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&amp;apos;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'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apostrophe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839635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&amp;quot;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"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/>
                        <a:t>quotation mark</a:t>
                      </a:r>
                      <a:endParaRPr lang="en-US" sz="280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8ECF-B5B9-48A4-A454-91CE5FCBA16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91440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Tahoma" pitchFamily="34" charset="0"/>
              </a:rPr>
              <a:t>Other XML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8153400" cy="57912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Comments: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Used to add notes to an XML document.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The browser and the XML processors ignore comments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2400" dirty="0" smtClean="0"/>
              <a:t>    </a:t>
            </a:r>
            <a:r>
              <a:rPr lang="en-US" sz="2000" b="1" dirty="0" smtClean="0"/>
              <a:t>&lt;!-- this is a comment --&gt;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/>
          <a:lstStyle/>
          <a:p>
            <a:r>
              <a:rPr lang="en-US" sz="4000" dirty="0" smtClean="0">
                <a:latin typeface="Tahoma" pitchFamily="34" charset="0"/>
              </a:rPr>
              <a:t>Other XML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153400" cy="5715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dirty="0" smtClean="0"/>
              <a:t>Processing Instruction (PI):</a:t>
            </a:r>
          </a:p>
          <a:p>
            <a:pPr algn="just">
              <a:buClr>
                <a:schemeClr val="hlink"/>
              </a:buClr>
              <a:buNone/>
            </a:pPr>
            <a:r>
              <a:rPr lang="en-US" dirty="0" smtClean="0"/>
              <a:t>    </a:t>
            </a:r>
            <a:r>
              <a:rPr lang="en-US" sz="2800" b="1" dirty="0" smtClean="0"/>
              <a:t>&lt;?xml version="1.0"?&gt;</a:t>
            </a:r>
          </a:p>
          <a:p>
            <a:pPr>
              <a:buNone/>
            </a:pPr>
            <a:r>
              <a:rPr lang="en-US" sz="2800" b="1" dirty="0" smtClean="0"/>
              <a:t>  	&lt;?xml-</a:t>
            </a:r>
            <a:r>
              <a:rPr lang="en-US" sz="2800" b="1" dirty="0" err="1" smtClean="0"/>
              <a:t>stylesheet</a:t>
            </a:r>
            <a:r>
              <a:rPr lang="en-US" sz="2800" b="1" dirty="0" smtClean="0"/>
              <a:t> type="text/</a:t>
            </a:r>
            <a:r>
              <a:rPr lang="en-US" sz="2800" b="1" dirty="0" err="1" smtClean="0"/>
              <a:t>xsl</a:t>
            </a:r>
            <a:r>
              <a:rPr lang="en-US" sz="2800" b="1" dirty="0" smtClean="0"/>
              <a:t>" </a:t>
            </a:r>
            <a:r>
              <a:rPr lang="en-US" sz="2800" b="1" dirty="0" err="1" smtClean="0"/>
              <a:t>href</a:t>
            </a:r>
            <a:r>
              <a:rPr lang="en-US" sz="2800" b="1" dirty="0" smtClean="0"/>
              <a:t>="classes.xsl"?&gt;</a:t>
            </a:r>
          </a:p>
          <a:p>
            <a:pPr algn="just">
              <a:buNone/>
            </a:pPr>
            <a:r>
              <a:rPr lang="en-US" dirty="0" smtClean="0"/>
              <a:t>  Such instructions are passed on to applications that process XML files.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dirty="0" smtClean="0"/>
              <a:t>CDATA (Character Data): used to write escape blocks containing text that otherwise would be considered markup: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&lt;![CDATA[&lt;start&gt;this is not an element&lt;/start&gt;]]&gt;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Well Formed XML Documents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 "Well Formed" XML document has correct XML syntax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XML documents must have a root element</a:t>
            </a:r>
          </a:p>
          <a:p>
            <a:pPr lvl="1"/>
            <a:r>
              <a:rPr lang="en-US" dirty="0" smtClean="0"/>
              <a:t>XML elements must have a closing tag</a:t>
            </a:r>
          </a:p>
          <a:p>
            <a:pPr lvl="1"/>
            <a:r>
              <a:rPr lang="en-US" dirty="0" smtClean="0"/>
              <a:t>XML tags are case sensitive</a:t>
            </a:r>
          </a:p>
          <a:p>
            <a:pPr lvl="1"/>
            <a:r>
              <a:rPr lang="en-US" dirty="0" smtClean="0"/>
              <a:t>XML elements must be properly nested</a:t>
            </a:r>
          </a:p>
          <a:p>
            <a:pPr lvl="1"/>
            <a:r>
              <a:rPr lang="en-US" dirty="0" smtClean="0"/>
              <a:t>XML attribute values must be quoted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Well Formed XML Documents,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altLang="he-IL" dirty="0" smtClean="0"/>
              <a:t>An XML document must be well-formed before it can be processed.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altLang="he-IL" dirty="0" smtClean="0"/>
              <a:t>A well-formed XML document will parse into a node-labeled tree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Terminology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2296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dirty="0" smtClean="0"/>
              <a:t>&lt;?xml  version=“1.0” ?&gt;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dirty="0" smtClean="0"/>
              <a:t>&lt;</a:t>
            </a:r>
            <a:r>
              <a:rPr lang="en-US" sz="2000" dirty="0" err="1" smtClean="0">
                <a:solidFill>
                  <a:srgbClr val="CC0000"/>
                </a:solidFill>
              </a:rPr>
              <a:t>PersonList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00B050"/>
                </a:solidFill>
              </a:rPr>
              <a:t>Type</a:t>
            </a:r>
            <a:r>
              <a:rPr lang="en-US" sz="2000" dirty="0" smtClean="0">
                <a:solidFill>
                  <a:srgbClr val="00B050"/>
                </a:solidFill>
              </a:rPr>
              <a:t>=“Student”  </a:t>
            </a:r>
            <a:r>
              <a:rPr lang="en-US" sz="2000" i="1" dirty="0" smtClean="0">
                <a:solidFill>
                  <a:srgbClr val="00B050"/>
                </a:solidFill>
              </a:rPr>
              <a:t>Date</a:t>
            </a:r>
            <a:r>
              <a:rPr lang="en-US" sz="2000" dirty="0" smtClean="0">
                <a:solidFill>
                  <a:srgbClr val="00B050"/>
                </a:solidFill>
              </a:rPr>
              <a:t>=“2002-02-02” 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rgbClr val="006600"/>
                </a:solidFill>
              </a:rPr>
              <a:t>Title</a:t>
            </a:r>
            <a:r>
              <a:rPr lang="en-US" sz="2000" dirty="0" smtClean="0"/>
              <a:t>  </a:t>
            </a:r>
            <a:r>
              <a:rPr lang="en-US" sz="2000" i="1" dirty="0" smtClean="0"/>
              <a:t>Value</a:t>
            </a:r>
            <a:r>
              <a:rPr lang="en-US" sz="2000" dirty="0" smtClean="0"/>
              <a:t>=“Student List” /&gt;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40000"/>
              </a:lnSpc>
              <a:buFontTx/>
              <a:buNone/>
            </a:pPr>
            <a:r>
              <a:rPr lang="en-US" sz="2000" dirty="0" smtClean="0"/>
              <a:t>       … … …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&lt;/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40000"/>
              </a:lnSpc>
              <a:buFontTx/>
              <a:buNone/>
            </a:pPr>
            <a:r>
              <a:rPr lang="en-US" sz="2000" dirty="0" smtClean="0"/>
              <a:t>       … … …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&lt;/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&lt;/</a:t>
            </a:r>
            <a:r>
              <a:rPr lang="en-US" sz="2000" dirty="0" err="1" smtClean="0">
                <a:solidFill>
                  <a:srgbClr val="CC0000"/>
                </a:solidFill>
              </a:rPr>
              <a:t>PersonList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/>
            <a:r>
              <a:rPr lang="en-US" sz="2800" dirty="0" smtClean="0"/>
              <a:t>Elements are nested</a:t>
            </a:r>
          </a:p>
          <a:p>
            <a:pPr eaLnBrk="1" hangingPunct="1"/>
            <a:r>
              <a:rPr lang="en-US" sz="2800" dirty="0" smtClean="0"/>
              <a:t>Root element contains all others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3555" name="AutoShape 3"/>
          <p:cNvSpPr>
            <a:spLocks noChangeArrowheads="1"/>
          </p:cNvSpPr>
          <p:nvPr/>
        </p:nvSpPr>
        <p:spPr bwMode="auto">
          <a:xfrm>
            <a:off x="4038600" y="4876800"/>
            <a:ext cx="2209800" cy="609600"/>
          </a:xfrm>
          <a:prstGeom prst="wedgeRoundRectCallout">
            <a:avLst>
              <a:gd name="adj1" fmla="val -132759"/>
              <a:gd name="adj2" fmla="val -166667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i="1">
                <a:latin typeface="Times New Roman" pitchFamily="18" charset="0"/>
              </a:rPr>
              <a:t> </a:t>
            </a:r>
          </a:p>
        </p:txBody>
      </p:sp>
      <p:sp>
        <p:nvSpPr>
          <p:cNvPr id="23556" name="AutoShape 4"/>
          <p:cNvSpPr>
            <a:spLocks noChangeArrowheads="1"/>
          </p:cNvSpPr>
          <p:nvPr/>
        </p:nvSpPr>
        <p:spPr bwMode="auto">
          <a:xfrm>
            <a:off x="4038600" y="4876800"/>
            <a:ext cx="2209800" cy="609600"/>
          </a:xfrm>
          <a:prstGeom prst="wedgeRoundRectCallout">
            <a:avLst>
              <a:gd name="adj1" fmla="val -139870"/>
              <a:gd name="adj2" fmla="val -9088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i="1">
                <a:latin typeface="Times New Roman" pitchFamily="18" charset="0"/>
              </a:rPr>
              <a:t>Element (or tag) names</a:t>
            </a:r>
          </a:p>
        </p:txBody>
      </p:sp>
      <p:sp>
        <p:nvSpPr>
          <p:cNvPr id="23558" name="AutoShape 6"/>
          <p:cNvSpPr>
            <a:spLocks/>
          </p:cNvSpPr>
          <p:nvPr/>
        </p:nvSpPr>
        <p:spPr bwMode="auto">
          <a:xfrm>
            <a:off x="2362200" y="35052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59" name="AutoShape 7"/>
          <p:cNvSpPr>
            <a:spLocks/>
          </p:cNvSpPr>
          <p:nvPr/>
        </p:nvSpPr>
        <p:spPr bwMode="auto">
          <a:xfrm>
            <a:off x="6858000" y="2133600"/>
            <a:ext cx="457200" cy="2209800"/>
          </a:xfrm>
          <a:prstGeom prst="rightBrace">
            <a:avLst>
              <a:gd name="adj1" fmla="val 402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 rot="16200000" flipV="1">
            <a:off x="2328069" y="3309144"/>
            <a:ext cx="1071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i="1">
                <a:latin typeface="Times New Roman" pitchFamily="18" charset="0"/>
              </a:rPr>
              <a:t>elements</a:t>
            </a: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 rot="16200000" flipV="1">
            <a:off x="6880406" y="3072577"/>
            <a:ext cx="15712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</a:rPr>
              <a:t>Root element</a:t>
            </a:r>
          </a:p>
        </p:txBody>
      </p:sp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4724400" y="3505200"/>
            <a:ext cx="1447800" cy="609600"/>
          </a:xfrm>
          <a:prstGeom prst="wedgeRoundRectCallout">
            <a:avLst>
              <a:gd name="adj1" fmla="val -157894"/>
              <a:gd name="adj2" fmla="val -163542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>
                <a:latin typeface="Times New Roman" pitchFamily="18" charset="0"/>
              </a:rPr>
              <a:t>Empty element</a:t>
            </a:r>
          </a:p>
        </p:txBody>
      </p:sp>
      <p:sp>
        <p:nvSpPr>
          <p:cNvPr id="23563" name="AutoShape 11"/>
          <p:cNvSpPr>
            <a:spLocks/>
          </p:cNvSpPr>
          <p:nvPr/>
        </p:nvSpPr>
        <p:spPr bwMode="auto">
          <a:xfrm rot="-5400000">
            <a:off x="2705100" y="1257300"/>
            <a:ext cx="152400" cy="2819400"/>
          </a:xfrm>
          <a:prstGeom prst="leftBrace">
            <a:avLst>
              <a:gd name="adj1" fmla="val 1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5638800" y="990600"/>
            <a:ext cx="1905000" cy="381000"/>
          </a:xfrm>
          <a:prstGeom prst="wedgeRoundRectCallout">
            <a:avLst>
              <a:gd name="adj1" fmla="val -90627"/>
              <a:gd name="adj2" fmla="val 21773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600">
                <a:latin typeface="Times New Roman" pitchFamily="18" charset="0"/>
              </a:rPr>
              <a:t> 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5638800" y="990600"/>
            <a:ext cx="1828800" cy="381000"/>
          </a:xfrm>
          <a:prstGeom prst="wedgeRoundRectCallout">
            <a:avLst>
              <a:gd name="adj1" fmla="val -192310"/>
              <a:gd name="adj2" fmla="val 20972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</a:rPr>
              <a:t>attributes</a:t>
            </a:r>
          </a:p>
        </p:txBody>
      </p:sp>
      <p:sp>
        <p:nvSpPr>
          <p:cNvPr id="23566" name="AutoShape 14"/>
          <p:cNvSpPr>
            <a:spLocks/>
          </p:cNvSpPr>
          <p:nvPr/>
        </p:nvSpPr>
        <p:spPr bwMode="auto">
          <a:xfrm>
            <a:off x="2362200" y="27432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structure of the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Three segments: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 declaration that announces that the file is an XML file.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An optional definition about the type of XML data and what DTD it follows.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The content marked up using XML tags and comments.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XML file begins with an XML declaration.</a:t>
            </a:r>
          </a:p>
          <a:p>
            <a:r>
              <a:rPr lang="en-US" dirty="0" smtClean="0"/>
              <a:t>States that the file is an XML file.</a:t>
            </a:r>
          </a:p>
          <a:p>
            <a:r>
              <a:rPr lang="en-US" dirty="0" smtClean="0"/>
              <a:t>The XML declaration is written as:</a:t>
            </a:r>
          </a:p>
          <a:p>
            <a:pPr>
              <a:buNone/>
            </a:pPr>
            <a:r>
              <a:rPr lang="en-US" dirty="0" smtClean="0"/>
              <a:t>&lt;? xml version encoding standalone ?&gt;</a:t>
            </a:r>
          </a:p>
          <a:p>
            <a:pPr>
              <a:buNone/>
            </a:pPr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&lt;? xml version=“1.0” encoding=“UTF-8” standalone =“yes”?&gt;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381000"/>
            <a:ext cx="615553" cy="6248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Structure of the XML document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DTD –Document Type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8153400" cy="5181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/>
              <a:t>Defines the structure of the content of an XML document, and hence allows storing data in a consistent format.</a:t>
            </a:r>
          </a:p>
          <a:p>
            <a:pPr algn="just">
              <a:lnSpc>
                <a:spcPct val="170000"/>
              </a:lnSpc>
            </a:pPr>
            <a:r>
              <a:rPr lang="en-US" dirty="0" smtClean="0"/>
              <a:t>The DTD is a set of rules that defines an element , element attribute, attribute values, and the relationship between elements in the document</a:t>
            </a:r>
          </a:p>
          <a:p>
            <a:pPr algn="just">
              <a:lnSpc>
                <a:spcPct val="170000"/>
              </a:lnSpc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DTD, 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229600" cy="5257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When an XML document is processed , it is compared to its associated DTD to ensure it is structured correctly and all tags are used correctly.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Two types: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Internal DTD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External DTD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300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Internal DTD</a:t>
            </a:r>
            <a:br>
              <a:rPr lang="en-US" sz="4300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en-US" sz="4300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DTD which includes as a part of a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syntax for creating an internal DTD:</a:t>
            </a: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&lt;!DOCTYPE </a:t>
            </a:r>
            <a:r>
              <a:rPr lang="en-US" sz="2800" dirty="0" err="1" smtClean="0">
                <a:solidFill>
                  <a:srgbClr val="7030A0"/>
                </a:solidFill>
              </a:rPr>
              <a:t>rootelement</a:t>
            </a:r>
            <a:endParaRPr lang="en-US" sz="2800" dirty="0" smtClean="0">
              <a:solidFill>
                <a:srgbClr val="7030A0"/>
              </a:solidFill>
            </a:endParaRP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[element and attribute declarations</a:t>
            </a: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]&gt;   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44196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Document type declaration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371600" y="4419600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8400" y="3733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root element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rot="10800000" flipV="1">
            <a:off x="5638800" y="3918466"/>
            <a:ext cx="609600" cy="1201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498080" cy="1143000"/>
          </a:xfrm>
        </p:spPr>
        <p:txBody>
          <a:bodyPr/>
          <a:lstStyle/>
          <a:p>
            <a:r>
              <a:rPr lang="en-US" dirty="0" smtClean="0"/>
              <a:t>External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382000" cy="5105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Is stored as a separate file having the declaration of all elements and attributes that can be used in an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Syntax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&lt;!DOCTYPE </a:t>
            </a:r>
            <a:r>
              <a:rPr lang="en-US" sz="2800" dirty="0" err="1" smtClean="0">
                <a:solidFill>
                  <a:srgbClr val="7030A0"/>
                </a:solidFill>
              </a:rPr>
              <a:t>rootelement</a:t>
            </a:r>
            <a:r>
              <a:rPr lang="en-US" sz="2800" dirty="0" smtClean="0">
                <a:solidFill>
                  <a:srgbClr val="7030A0"/>
                </a:solidFill>
              </a:rPr>
              <a:t> [</a:t>
            </a:r>
            <a:r>
              <a:rPr lang="en-US" sz="1800" dirty="0" smtClean="0">
                <a:solidFill>
                  <a:srgbClr val="7030A0"/>
                </a:solidFill>
              </a:rPr>
              <a:t>PUBLIC | SYSTEM</a:t>
            </a:r>
            <a:r>
              <a:rPr lang="en-US" sz="2800" dirty="0" smtClean="0">
                <a:solidFill>
                  <a:srgbClr val="7030A0"/>
                </a:solidFill>
              </a:rPr>
              <a:t>] “</a:t>
            </a:r>
            <a:r>
              <a:rPr lang="en-US" sz="2800" dirty="0" err="1" smtClean="0">
                <a:solidFill>
                  <a:srgbClr val="7030A0"/>
                </a:solidFill>
              </a:rPr>
              <a:t>nameoffile</a:t>
            </a:r>
            <a:r>
              <a:rPr lang="en-US" sz="2800" dirty="0" smtClean="0">
                <a:solidFill>
                  <a:srgbClr val="7030A0"/>
                </a:solidFill>
              </a:rPr>
              <a:t>”&gt;   </a:t>
            </a:r>
          </a:p>
          <a:p>
            <a:pPr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51816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Document type declaration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200" y="5257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root element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48400" y="5257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DTD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rot="5400000" flipH="1" flipV="1">
            <a:off x="1524000" y="50292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6200000" flipV="1">
            <a:off x="3390900" y="49911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6200000" flipV="1">
            <a:off x="7353300" y="49911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0600" y="5791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PUBLIC – specifies that a DTD is stored on a public server</a:t>
            </a:r>
          </a:p>
          <a:p>
            <a:r>
              <a:rPr lang="en-US" dirty="0" smtClean="0"/>
              <a:t>SYSTEM - specifies that a DTD is stored on a local machine.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762000"/>
          </a:xfrm>
        </p:spPr>
        <p:txBody>
          <a:bodyPr/>
          <a:lstStyle/>
          <a:p>
            <a:r>
              <a:rPr lang="en-US" dirty="0" smtClean="0"/>
              <a:t>DTD Symbols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90600" y="762000"/>
          <a:ext cx="8153400" cy="58572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66800"/>
                <a:gridCol w="2286000"/>
                <a:gridCol w="19812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Meaning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“and ” in specific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,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and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in that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|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“or”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or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“optional” , can occur only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?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need not to be present, but if it is present , it can occur only once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()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Used for grouping elements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) , Address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An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element or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element must be present and must precede the Address element.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There can be zero or multiple occurrences of the element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)*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Any number of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or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elements can be present in any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+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At least one occurrence of the element. There can be multiple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occurences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+)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There can be multiple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elements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elements in a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XML allows you to create your own set of tags</a:t>
            </a:r>
          </a:p>
          <a:p>
            <a:r>
              <a:rPr lang="en-US" dirty="0" smtClean="0"/>
              <a:t>Syntax 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&lt;! ELEMENT </a:t>
            </a:r>
            <a:r>
              <a:rPr lang="en-US" dirty="0" err="1" smtClean="0">
                <a:solidFill>
                  <a:srgbClr val="7030A0"/>
                </a:solidFill>
              </a:rPr>
              <a:t>elementname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contenet</a:t>
            </a:r>
            <a:r>
              <a:rPr lang="en-US" dirty="0" smtClean="0">
                <a:solidFill>
                  <a:srgbClr val="7030A0"/>
                </a:solidFill>
              </a:rPr>
              <a:t> &gt;</a:t>
            </a:r>
          </a:p>
          <a:p>
            <a:r>
              <a:rPr lang="en-US" dirty="0" smtClean="0"/>
              <a:t>Element names consists of letters, digits, hyphens, underscores, . Spaces and tabs are not allowed.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elements in a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elements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0600" y="1397000"/>
          <a:ext cx="7924800" cy="449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667000"/>
                <a:gridCol w="3124200"/>
              </a:tblGrid>
              <a:tr h="10604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Element type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Syntax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Empty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Empty elements have no content and are marked up as &lt;empty-element/&gt;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EMPTY&gt;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Unrestricted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Can contain any element declared elsewhere in DTD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ANY&gt;</a:t>
                      </a:r>
                    </a:p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Container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Elements can contain</a:t>
                      </a:r>
                      <a:r>
                        <a:rPr lang="en-US" sz="2000" baseline="0" dirty="0" smtClean="0">
                          <a:solidFill>
                            <a:sysClr val="windowText" lastClr="000000"/>
                          </a:solidFill>
                        </a:rPr>
                        <a:t> character data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(#PCDATA)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Declaring elements in a DTD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5562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If both </a:t>
            </a:r>
            <a:r>
              <a:rPr lang="en-US" dirty="0" err="1" smtClean="0"/>
              <a:t>Fname</a:t>
            </a:r>
            <a:r>
              <a:rPr lang="en-US" dirty="0" smtClean="0"/>
              <a:t> and </a:t>
            </a:r>
            <a:r>
              <a:rPr lang="en-US" dirty="0" err="1" smtClean="0"/>
              <a:t>Lname</a:t>
            </a:r>
            <a:r>
              <a:rPr lang="en-US" dirty="0" smtClean="0"/>
              <a:t> have to be specified and </a:t>
            </a:r>
            <a:r>
              <a:rPr lang="en-US" dirty="0" err="1" smtClean="0"/>
              <a:t>Fname</a:t>
            </a:r>
            <a:r>
              <a:rPr lang="en-US" dirty="0" smtClean="0"/>
              <a:t> should be followed by </a:t>
            </a:r>
            <a:r>
              <a:rPr lang="en-US" dirty="0" err="1" smtClean="0"/>
              <a:t>Lname</a:t>
            </a:r>
            <a:r>
              <a:rPr lang="en-US" dirty="0" smtClean="0"/>
              <a:t>, the DTD would look as follows. 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student(</a:t>
            </a:r>
            <a:r>
              <a:rPr lang="en-US" dirty="0" err="1" smtClean="0">
                <a:solidFill>
                  <a:srgbClr val="7030A0"/>
                </a:solidFill>
              </a:rPr>
              <a:t>Fname</a:t>
            </a:r>
            <a:r>
              <a:rPr lang="en-US" dirty="0" smtClean="0">
                <a:solidFill>
                  <a:srgbClr val="7030A0"/>
                </a:solidFill>
              </a:rPr>
              <a:t>, </a:t>
            </a:r>
            <a:r>
              <a:rPr lang="en-US" dirty="0" err="1" smtClean="0">
                <a:solidFill>
                  <a:srgbClr val="7030A0"/>
                </a:solidFill>
              </a:rPr>
              <a:t>Lname</a:t>
            </a:r>
            <a:r>
              <a:rPr lang="en-US" dirty="0" smtClean="0">
                <a:solidFill>
                  <a:srgbClr val="7030A0"/>
                </a:solidFill>
              </a:rPr>
              <a:t>)&gt;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</a:t>
            </a:r>
            <a:r>
              <a:rPr lang="en-US" dirty="0" err="1" smtClean="0">
                <a:solidFill>
                  <a:srgbClr val="7030A0"/>
                </a:solidFill>
              </a:rPr>
              <a:t>Fname</a:t>
            </a:r>
            <a:r>
              <a:rPr lang="en-US" dirty="0" smtClean="0">
                <a:solidFill>
                  <a:srgbClr val="7030A0"/>
                </a:solidFill>
              </a:rPr>
              <a:t>(#PCDATA)&gt;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</a:t>
            </a:r>
            <a:r>
              <a:rPr lang="en-US" dirty="0" err="1" smtClean="0">
                <a:solidFill>
                  <a:srgbClr val="7030A0"/>
                </a:solidFill>
              </a:rPr>
              <a:t>Lname</a:t>
            </a:r>
            <a:r>
              <a:rPr lang="en-US" dirty="0" smtClean="0">
                <a:solidFill>
                  <a:srgbClr val="7030A0"/>
                </a:solidFill>
              </a:rPr>
              <a:t>(#CDATA)&gt;</a:t>
            </a:r>
          </a:p>
          <a:p>
            <a:pPr algn="just">
              <a:buNone/>
            </a:pPr>
            <a:r>
              <a:rPr lang="en-US" dirty="0" smtClean="0"/>
              <a:t>Note:</a:t>
            </a:r>
          </a:p>
          <a:p>
            <a:pPr algn="just">
              <a:buNone/>
            </a:pPr>
            <a:r>
              <a:rPr lang="en-US" dirty="0" smtClean="0"/>
              <a:t>#PCDATA – parsed character data</a:t>
            </a:r>
          </a:p>
          <a:p>
            <a:pPr algn="just">
              <a:buNone/>
            </a:pPr>
            <a:r>
              <a:rPr lang="en-US" dirty="0" smtClean="0"/>
              <a:t>#CDATA – character data , not parsed by a </a:t>
            </a:r>
            <a:r>
              <a:rPr lang="en-US" dirty="0" err="1" smtClean="0"/>
              <a:t>paser</a:t>
            </a:r>
            <a:r>
              <a:rPr lang="en-US" dirty="0" smtClean="0"/>
              <a:t> 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4800600"/>
          </a:xfrm>
        </p:spPr>
        <p:txBody>
          <a:bodyPr/>
          <a:lstStyle/>
          <a:p>
            <a:r>
              <a:rPr lang="en-US" dirty="0" smtClean="0"/>
              <a:t>Syntax:</a:t>
            </a:r>
          </a:p>
          <a:p>
            <a:pPr>
              <a:buNone/>
            </a:pPr>
            <a:r>
              <a:rPr lang="en-US" dirty="0" smtClean="0"/>
              <a:t>&lt; ! ATTLIST element attribute type default &gt;</a:t>
            </a:r>
          </a:p>
          <a:p>
            <a:pPr>
              <a:buNone/>
            </a:pPr>
            <a:r>
              <a:rPr lang="en-US" dirty="0" smtClean="0"/>
              <a:t>Common Attribute types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505200"/>
          <a:ext cx="6781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/>
                <a:gridCol w="33909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Type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 type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CDATA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Any character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(V1, V2, ….)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of V1,V2, 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 </a:t>
            </a:r>
            <a:r>
              <a:rPr lang="en-US" smtClean="0"/>
              <a:t>of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320"/>
            <a:ext cx="7943088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Example DTD (internal DTD)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C7A81-F0A0-40D1-A79C-7321F027605A}" type="slidenum">
              <a:rPr lang="en-CA"/>
              <a:pPr>
                <a:defRPr/>
              </a:pPr>
              <a:t>43</a:t>
            </a:fld>
            <a:endParaRPr lang="en-CA"/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488950" y="1332634"/>
            <a:ext cx="8258175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90000"/>
              </a:lnSpc>
            </a:pPr>
            <a:endParaRPr lang="en-US" sz="2000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&lt;!DOCTYPE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b="1" dirty="0">
                <a:latin typeface="Courier New" pitchFamily="49" charset="0"/>
              </a:rPr>
              <a:t>  [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)+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date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CDATA  #REQUIRED&gt;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amount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transitID</a:t>
            </a:r>
            <a:r>
              <a:rPr lang="en-US" sz="2000" b="1" dirty="0">
                <a:latin typeface="Courier New" pitchFamily="49" charset="0"/>
              </a:rPr>
              <a:t>?,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accountID</a:t>
            </a:r>
            <a:r>
              <a:rPr lang="en-US" sz="2000" b="1" dirty="0">
                <a:latin typeface="Courier New" pitchFamily="49" charset="0"/>
              </a:rPr>
              <a:t>,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            </a:t>
            </a:r>
            <a:r>
              <a:rPr lang="en-US" sz="2000" b="1" dirty="0" err="1">
                <a:latin typeface="Courier New" pitchFamily="49" charset="0"/>
              </a:rPr>
              <a:t>acknowledgeReceipt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type</a:t>
            </a:r>
            <a:r>
              <a:rPr lang="en-US" sz="2000" b="1" dirty="0">
                <a:latin typeface="Courier New" pitchFamily="49" charset="0"/>
              </a:rPr>
              <a:t>  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intrabank</a:t>
            </a:r>
            <a:r>
              <a:rPr lang="en-US" sz="2000" b="1" dirty="0" err="1">
                <a:latin typeface="Courier New" pitchFamily="49" charset="0"/>
              </a:rPr>
              <a:t>|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internal</a:t>
            </a:r>
            <a:r>
              <a:rPr lang="en-US" sz="2000" b="1" dirty="0" err="1">
                <a:latin typeface="Courier New" pitchFamily="49" charset="0"/>
              </a:rPr>
              <a:t>|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other</a:t>
            </a:r>
            <a:r>
              <a:rPr lang="en-US" sz="2000" b="1" dirty="0">
                <a:latin typeface="Courier New" pitchFamily="49" charset="0"/>
              </a:rPr>
              <a:t>)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#REQUIRED&gt;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amount</a:t>
            </a:r>
            <a:r>
              <a:rPr lang="en-US" sz="2000" b="1" dirty="0">
                <a:latin typeface="Courier New" pitchFamily="49" charset="0"/>
              </a:rPr>
              <a:t>  (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#PCDATA</a:t>
            </a:r>
            <a:r>
              <a:rPr lang="en-US" sz="2000" b="1" dirty="0">
                <a:latin typeface="Courier New" pitchFamily="49" charset="0"/>
              </a:rPr>
              <a:t>)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chemeClr val="bg2"/>
                </a:solidFill>
                <a:latin typeface="Courier New" pitchFamily="49" charset="0"/>
              </a:rPr>
              <a:t>. . . Omitted DTD content . . .</a:t>
            </a:r>
            <a:r>
              <a:rPr lang="en-US" sz="2000" b="1" dirty="0">
                <a:latin typeface="Courier New" pitchFamily="49" charset="0"/>
              </a:rPr>
              <a:t> 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EMPTY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account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CDATA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#REQUIRED&gt;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]&gt;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dirty="0"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   &lt;</a:t>
            </a:r>
            <a:r>
              <a:rPr lang="en-US" sz="2000" dirty="0" err="1">
                <a:latin typeface="Courier New" pitchFamily="49" charset="0"/>
              </a:rPr>
              <a:t>fundsTransfer</a:t>
            </a:r>
            <a:r>
              <a:rPr lang="en-US" sz="2000" dirty="0">
                <a:latin typeface="Courier New" pitchFamily="49" charset="0"/>
              </a:rPr>
              <a:t> date="20010923T12:34:34Z"&gt;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      </a:t>
            </a:r>
            <a:r>
              <a:rPr lang="en-US" sz="2000" i="1" dirty="0">
                <a:solidFill>
                  <a:schemeClr val="bg2"/>
                </a:solidFill>
                <a:latin typeface="Courier New" pitchFamily="49" charset="0"/>
              </a:rPr>
              <a:t>. . . As with previous example . .</a:t>
            </a:r>
            <a:r>
              <a:rPr lang="en-US" sz="2000" dirty="0">
                <a:solidFill>
                  <a:schemeClr val="bg2"/>
                </a:solidFill>
                <a:latin typeface="Courier New" pitchFamily="49" charset="0"/>
              </a:rPr>
              <a:t> . </a:t>
            </a:r>
          </a:p>
          <a:p>
            <a:pPr algn="l">
              <a:lnSpc>
                <a:spcPct val="90000"/>
              </a:lnSpc>
            </a:pPr>
            <a:endParaRPr kumimoji="0" lang="en-US" sz="20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2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Parsing XML Documents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943088" cy="4876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AU" dirty="0" smtClean="0"/>
              <a:t>To read and analyse the content of an XML document , you need an </a:t>
            </a:r>
            <a:r>
              <a:rPr lang="en-AU" i="1" dirty="0" smtClean="0"/>
              <a:t>XML parser</a:t>
            </a:r>
            <a:r>
              <a:rPr lang="en-AU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AU" dirty="0" smtClean="0"/>
              <a:t>A </a:t>
            </a:r>
            <a:r>
              <a:rPr lang="en-AU" b="1" dirty="0" smtClean="0">
                <a:solidFill>
                  <a:srgbClr val="FF0000"/>
                </a:solidFill>
              </a:rPr>
              <a:t>parser</a:t>
            </a:r>
            <a:r>
              <a:rPr lang="en-AU" dirty="0" smtClean="0"/>
              <a:t> is a program that reads a document , checks whether it is syntactically correct, and takes some actions as it processes the document. 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5344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Verdana" pitchFamily="34" charset="0"/>
              </a:rPr>
              <a:t>XML Parser Processing Model</a:t>
            </a:r>
            <a:br>
              <a:rPr lang="en-US" sz="3600" b="1" dirty="0">
                <a:latin typeface="Verdana" pitchFamily="34" charset="0"/>
              </a:rPr>
            </a:br>
            <a:endParaRPr lang="en-AU" sz="3600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idx="1"/>
          </p:nvPr>
        </p:nvSpPr>
        <p:spPr bwMode="auto">
          <a:xfrm>
            <a:off x="990600" y="3810000"/>
            <a:ext cx="794308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 lnSpcReduction="10000"/>
          </a:bodyPr>
          <a:lstStyle/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 smtClean="0">
                <a:latin typeface="Arial" pitchFamily="34" charset="0"/>
              </a:rPr>
              <a:t>The </a:t>
            </a:r>
            <a:r>
              <a:rPr kumimoji="0" lang="en-GB" sz="2000" dirty="0">
                <a:latin typeface="Arial" pitchFamily="34" charset="0"/>
              </a:rPr>
              <a:t>parser must verify that the XML data is syntactically correct.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>
                <a:latin typeface="Arial" pitchFamily="34" charset="0"/>
              </a:rPr>
              <a:t>Such data is said to be </a:t>
            </a:r>
            <a:r>
              <a:rPr kumimoji="0" lang="en-GB" sz="2000" b="1" i="1" dirty="0">
                <a:latin typeface="Arial" pitchFamily="34" charset="0"/>
              </a:rPr>
              <a:t>well-formed</a:t>
            </a:r>
          </a:p>
          <a:p>
            <a:pPr marL="684213" lvl="1" indent="-227013" algn="just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1800" dirty="0">
                <a:latin typeface="Arial" pitchFamily="34" charset="0"/>
              </a:rPr>
              <a:t>The minimal requirement to “be” XML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>
                <a:latin typeface="Arial" pitchFamily="34" charset="0"/>
              </a:rPr>
              <a:t>A parser  </a:t>
            </a:r>
            <a:r>
              <a:rPr kumimoji="0" lang="en-GB" sz="2000" b="1" u="sng" dirty="0">
                <a:solidFill>
                  <a:srgbClr val="FF0000"/>
                </a:solidFill>
                <a:latin typeface="Arial" pitchFamily="34" charset="0"/>
              </a:rPr>
              <a:t>MUST</a:t>
            </a:r>
            <a:r>
              <a:rPr kumimoji="0" lang="en-GB" sz="2000" dirty="0">
                <a:latin typeface="Arial" pitchFamily="34" charset="0"/>
              </a:rPr>
              <a:t>  stop processing if the data isn’t well-formed</a:t>
            </a:r>
          </a:p>
          <a:p>
            <a:pPr marL="684213" lvl="1" indent="-227013" algn="just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1800" dirty="0">
                <a:latin typeface="Arial" pitchFamily="34" charset="0"/>
              </a:rPr>
              <a:t>E.g., stop processing and “throw an exception” to the XML-based application.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066800" y="959644"/>
            <a:ext cx="7334250" cy="1792287"/>
            <a:chOff x="958850" y="1217613"/>
            <a:chExt cx="7334250" cy="1792287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1292225" y="2052638"/>
              <a:ext cx="11588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1800">
                  <a:latin typeface="Arial" pitchFamily="34" charset="0"/>
                </a:rPr>
                <a:t>XML data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2800350" y="1943100"/>
              <a:ext cx="939800" cy="9906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kumimoji="0" lang="en-US" sz="2000">
                  <a:latin typeface="Arial" pitchFamily="34" charset="0"/>
                </a:rPr>
                <a:t>parser</a:t>
              </a: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4876800" y="1879600"/>
              <a:ext cx="508000" cy="11303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4632325" y="1217613"/>
              <a:ext cx="1057275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1800">
                  <a:latin typeface="Arial" pitchFamily="34" charset="0"/>
                </a:rPr>
                <a:t>parser</a:t>
              </a:r>
            </a:p>
            <a:p>
              <a:r>
                <a:rPr kumimoji="0" lang="en-US" sz="1800">
                  <a:latin typeface="Arial" pitchFamily="34" charset="0"/>
                </a:rPr>
                <a:t>interface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6413500" y="2025650"/>
              <a:ext cx="1879600" cy="812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kumimoji="0" lang="en-US" sz="2000" dirty="0">
                  <a:latin typeface="Arial" pitchFamily="34" charset="0"/>
                </a:rPr>
                <a:t>XML-based</a:t>
              </a:r>
            </a:p>
            <a:p>
              <a:r>
                <a:rPr kumimoji="0" lang="en-US" sz="2000" dirty="0">
                  <a:latin typeface="Arial" pitchFamily="34" charset="0"/>
                </a:rPr>
                <a:t>application</a:t>
              </a:r>
            </a:p>
          </p:txBody>
        </p:sp>
        <p:cxnSp>
          <p:nvCxnSpPr>
            <p:cNvPr id="21" name="AutoShape 9"/>
            <p:cNvCxnSpPr>
              <a:cxnSpLocks noChangeShapeType="1"/>
              <a:endCxn id="17" idx="1"/>
            </p:cNvCxnSpPr>
            <p:nvPr/>
          </p:nvCxnSpPr>
          <p:spPr bwMode="auto">
            <a:xfrm>
              <a:off x="958850" y="2432050"/>
              <a:ext cx="1841500" cy="635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10"/>
            <p:cNvCxnSpPr>
              <a:cxnSpLocks noChangeShapeType="1"/>
              <a:stCxn id="18" idx="2"/>
              <a:endCxn id="17" idx="3"/>
            </p:cNvCxnSpPr>
            <p:nvPr/>
          </p:nvCxnSpPr>
          <p:spPr bwMode="auto">
            <a:xfrm flipH="1" flipV="1">
              <a:off x="3740150" y="2438400"/>
              <a:ext cx="1136650" cy="6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11"/>
            <p:cNvCxnSpPr>
              <a:cxnSpLocks noChangeShapeType="1"/>
              <a:stCxn id="20" idx="1"/>
              <a:endCxn id="18" idx="6"/>
            </p:cNvCxnSpPr>
            <p:nvPr/>
          </p:nvCxnSpPr>
          <p:spPr bwMode="auto">
            <a:xfrm flipH="1">
              <a:off x="5384800" y="2432050"/>
              <a:ext cx="10287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AutoShape 12"/>
          <p:cNvSpPr>
            <a:spLocks noChangeArrowheads="1"/>
          </p:cNvSpPr>
          <p:nvPr/>
        </p:nvSpPr>
        <p:spPr bwMode="auto">
          <a:xfrm>
            <a:off x="2908300" y="3311886"/>
            <a:ext cx="825500" cy="5969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r>
              <a:rPr kumimoji="0" lang="en-US" sz="1800" b="1">
                <a:latin typeface="Arial" pitchFamily="34" charset="0"/>
              </a:rPr>
              <a:t>DTD</a:t>
            </a:r>
            <a:endParaRPr kumimoji="0" lang="en-US"/>
          </a:p>
        </p:txBody>
      </p:sp>
      <p:cxnSp>
        <p:nvCxnSpPr>
          <p:cNvPr id="25" name="AutoShape 15"/>
          <p:cNvCxnSpPr>
            <a:cxnSpLocks noChangeShapeType="1"/>
            <a:endCxn id="24" idx="0"/>
          </p:cNvCxnSpPr>
          <p:nvPr/>
        </p:nvCxnSpPr>
        <p:spPr bwMode="auto">
          <a:xfrm flipH="1">
            <a:off x="3321050" y="2676886"/>
            <a:ext cx="6350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XML Parsers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Validating/Non-Validating</a:t>
            </a:r>
          </a:p>
          <a:p>
            <a:r>
              <a:rPr lang="en-US" smtClean="0"/>
              <a:t>Tree-based</a:t>
            </a:r>
          </a:p>
          <a:p>
            <a:r>
              <a:rPr lang="en-US" smtClean="0"/>
              <a:t>Event-based</a:t>
            </a:r>
          </a:p>
          <a:p>
            <a:r>
              <a:rPr lang="en-US" smtClean="0"/>
              <a:t>SAX-compliance</a:t>
            </a:r>
          </a:p>
          <a:p>
            <a:r>
              <a:rPr lang="en-US" smtClean="0"/>
              <a:t>Not technically parsers</a:t>
            </a:r>
          </a:p>
          <a:p>
            <a:pPr lvl="1"/>
            <a:r>
              <a:rPr lang="en-US" smtClean="0"/>
              <a:t>XSL</a:t>
            </a:r>
          </a:p>
          <a:p>
            <a:pPr lvl="1"/>
            <a:r>
              <a:rPr lang="en-US" smtClean="0"/>
              <a:t>XPath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Some Java XML Parsers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435608" y="838200"/>
            <a:ext cx="7498080" cy="5791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/>
              <a:t>DOM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Sun JAXP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IBM XML4J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Apache </a:t>
            </a:r>
            <a:r>
              <a:rPr lang="en-US" sz="2000" dirty="0" err="1" smtClean="0"/>
              <a:t>Xerces</a:t>
            </a:r>
            <a:endParaRPr lang="en-US" sz="2000" dirty="0" smtClean="0"/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Resin (</a:t>
            </a:r>
            <a:r>
              <a:rPr lang="en-US" sz="2000" dirty="0" err="1" smtClean="0"/>
              <a:t>Caucho</a:t>
            </a:r>
            <a:r>
              <a:rPr lang="en-US" sz="2000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DXP (</a:t>
            </a:r>
            <a:r>
              <a:rPr lang="en-US" sz="2000" dirty="0" err="1" smtClean="0"/>
              <a:t>DataChannel</a:t>
            </a:r>
            <a:r>
              <a:rPr lang="en-US" sz="20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SAX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Sun JAXP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SAXON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JDOM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Verdana" pitchFamily="34" charset="0"/>
              </a:rPr>
              <a:t>XML Parsers, DTDs, and Internal Entities</a:t>
            </a:r>
            <a:br>
              <a:rPr lang="en-US" b="1" dirty="0">
                <a:latin typeface="Verdana" pitchFamily="34" charset="0"/>
              </a:rPr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77200" cy="4800600"/>
          </a:xfrm>
        </p:spPr>
        <p:txBody>
          <a:bodyPr>
            <a:noAutofit/>
          </a:bodyPr>
          <a:lstStyle/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/>
              <a:t>The parser processes the DTD content, identifies the internal entities, and checks that each entity is well-formed.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There </a:t>
            </a:r>
            <a:r>
              <a:rPr lang="en-GB" sz="2400" dirty="0"/>
              <a:t>are explicit syntax rules for DTD content --  well-formed XML must be correct here also.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 </a:t>
            </a:r>
            <a:r>
              <a:rPr lang="en-GB" sz="2400" dirty="0"/>
              <a:t>parser then replaces every occurrence of an </a:t>
            </a:r>
            <a:r>
              <a:rPr lang="en-GB" sz="2400" b="1" i="1" dirty="0"/>
              <a:t>entity reference</a:t>
            </a:r>
            <a:r>
              <a:rPr lang="en-GB" sz="2400" dirty="0"/>
              <a:t> by the referenced entity (and does so recursively within entities)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 </a:t>
            </a:r>
            <a:r>
              <a:rPr lang="en-GB" sz="2400" dirty="0"/>
              <a:t>“resolved” data object is then made available to the XML application </a:t>
            </a:r>
          </a:p>
          <a:p>
            <a:pPr algn="just">
              <a:lnSpc>
                <a:spcPct val="150000"/>
              </a:lnSpc>
            </a:pPr>
            <a:endParaRPr lang="en-AU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0FF90C-82AB-4A42-B6ED-8811FA061433}" type="slidenum">
              <a:rPr lang="en-CA"/>
              <a:pPr>
                <a:defRPr/>
              </a:pPr>
              <a:t>49</a:t>
            </a:fld>
            <a:endParaRPr lang="en-CA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990600" y="152400"/>
            <a:ext cx="76073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XML Parsers and External Entities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990600" y="838200"/>
            <a:ext cx="8153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25425" indent="-225425" algn="l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>
                <a:latin typeface="Arial" pitchFamily="34" charset="0"/>
              </a:rPr>
              <a:t>The parser processes the DTD content, identifies the external entities, and “tries” to resolve them</a:t>
            </a:r>
          </a:p>
          <a:p>
            <a:pPr marL="225425" indent="-225425" algn="l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 smtClean="0">
                <a:latin typeface="Arial" pitchFamily="34" charset="0"/>
              </a:rPr>
              <a:t>The </a:t>
            </a:r>
            <a:r>
              <a:rPr kumimoji="0" lang="en-GB" sz="2400" dirty="0">
                <a:latin typeface="Arial" pitchFamily="34" charset="0"/>
              </a:rPr>
              <a:t>parser then replaces every occurrence of an </a:t>
            </a:r>
            <a:r>
              <a:rPr kumimoji="0" lang="en-GB" sz="2400" b="1" i="1" dirty="0">
                <a:latin typeface="Arial" pitchFamily="34" charset="0"/>
              </a:rPr>
              <a:t>entity reference</a:t>
            </a:r>
            <a:r>
              <a:rPr kumimoji="0" lang="en-GB" sz="2400" dirty="0">
                <a:latin typeface="Arial" pitchFamily="34" charset="0"/>
              </a:rPr>
              <a:t> by the referenced entity, and does so recursively within all those entities, (like with internal entities)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 smtClean="0">
                <a:latin typeface="Arial" pitchFamily="34" charset="0"/>
              </a:rPr>
              <a:t>That </a:t>
            </a:r>
            <a:r>
              <a:rPr kumimoji="0" lang="en-GB" sz="2400" dirty="0">
                <a:latin typeface="Arial" pitchFamily="34" charset="0"/>
              </a:rPr>
              <a:t>depends on the application / parser type</a:t>
            </a:r>
          </a:p>
          <a:p>
            <a:pPr marL="684213" lvl="1" indent="-227013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>
                <a:latin typeface="Arial" pitchFamily="34" charset="0"/>
              </a:rPr>
              <a:t>There are </a:t>
            </a:r>
            <a:r>
              <a:rPr kumimoji="0" lang="en-GB" sz="2000" b="1" i="1" dirty="0">
                <a:latin typeface="Arial" pitchFamily="34" charset="0"/>
              </a:rPr>
              <a:t>two types of XML parsers</a:t>
            </a:r>
            <a:endParaRPr kumimoji="0" lang="en-GB" sz="2000" b="1" dirty="0">
              <a:latin typeface="Arial" pitchFamily="34" charset="0"/>
            </a:endParaRPr>
          </a:p>
          <a:p>
            <a:pPr marL="684213" lvl="1" indent="-227013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>
                <a:latin typeface="Arial" pitchFamily="34" charset="0"/>
              </a:rPr>
              <a:t>one that MUST retrieve all entities, and one that can ignore them (if it can’t find them)</a:t>
            </a:r>
          </a:p>
          <a:p>
            <a:pPr marL="2057400" lvl="4" indent="-228600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»"/>
            </a:pPr>
            <a:endParaRPr kumimoji="0" lang="en-GB" sz="1600" dirty="0">
              <a:latin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4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882EB6-CBBB-4191-8669-836B3385C186}" type="slidenum">
              <a:rPr lang="en-CA"/>
              <a:pPr>
                <a:defRPr/>
              </a:pPr>
              <a:t>50</a:t>
            </a:fld>
            <a:endParaRPr lang="en-CA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533400" y="127000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b="1">
                <a:latin typeface="Verdana" pitchFamily="34" charset="0"/>
              </a:rPr>
              <a:t>Two types of XML parsers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533400" y="609600"/>
            <a:ext cx="8382000" cy="587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25425" indent="-225425" algn="l"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b="1" dirty="0"/>
              <a:t>Validating parser</a:t>
            </a:r>
            <a:r>
              <a:rPr kumimoji="0" lang="en-GB" sz="2400" dirty="0"/>
              <a:t>  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b="1" i="1" dirty="0"/>
              <a:t>Must</a:t>
            </a:r>
            <a:r>
              <a:rPr kumimoji="0" lang="en-GB" sz="2000" dirty="0"/>
              <a:t> retrieve all entities and must process </a:t>
            </a:r>
            <a:r>
              <a:rPr kumimoji="0" lang="en-GB" sz="2000" b="1" i="1" dirty="0"/>
              <a:t>all</a:t>
            </a:r>
            <a:r>
              <a:rPr kumimoji="0" lang="en-GB" sz="2000" dirty="0"/>
              <a:t>  DTD content.  Will stop processing and indicate a failure if it cannot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/>
              <a:t>There is also the implication that it will test for compatibility with other things in the DTD -- instructions that define syntactic rules for the document (allowed elements, attributes, etc.). We’ll talk about these parts in the next section.</a:t>
            </a:r>
          </a:p>
          <a:p>
            <a:pPr marL="225425" indent="-225425" algn="l"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b="1" dirty="0" smtClean="0"/>
              <a:t>Non-validating </a:t>
            </a:r>
            <a:r>
              <a:rPr kumimoji="0" lang="en-GB" sz="2400" b="1" dirty="0"/>
              <a:t>parser</a:t>
            </a:r>
            <a:r>
              <a:rPr kumimoji="0" lang="en-GB" sz="2400" dirty="0"/>
              <a:t>  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/>
              <a:t>Will try to retrieve all entities defined in the DTD, but will </a:t>
            </a:r>
            <a:r>
              <a:rPr kumimoji="0" lang="en-GB" sz="2000" b="1" i="1" dirty="0"/>
              <a:t>cease processing the DTD</a:t>
            </a:r>
            <a:r>
              <a:rPr kumimoji="0" lang="en-GB" sz="2000" dirty="0"/>
              <a:t> content at the first entity it can’t find, But this is not an error -- the parser simply makes available the XML data (and the names of any unresolved entities) to the application. 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290638" y="5608638"/>
            <a:ext cx="6007100" cy="403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>
                <a:latin typeface="Arial" pitchFamily="34" charset="0"/>
              </a:rPr>
              <a:t>Application behavior will depend on </a:t>
            </a:r>
            <a:r>
              <a:rPr kumimoji="0" lang="en-US" sz="2000" b="1" i="1">
                <a:latin typeface="Arial" pitchFamily="34" charset="0"/>
              </a:rPr>
              <a:t>parser type</a:t>
            </a:r>
            <a:endParaRPr kumimoji="0" lang="en-US" sz="2800"/>
          </a:p>
        </p:txBody>
      </p:sp>
      <p:sp>
        <p:nvSpPr>
          <p:cNvPr id="17414" name="AutoShape 5"/>
          <p:cNvSpPr>
            <a:spLocks noChangeArrowheads="1"/>
          </p:cNvSpPr>
          <p:nvPr/>
        </p:nvSpPr>
        <p:spPr bwMode="auto">
          <a:xfrm>
            <a:off x="7200900" y="5689600"/>
            <a:ext cx="1016000" cy="2540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CCDB3-6CC8-4B09-B874-8C7826E2C5DE}" type="slidenum">
              <a:rPr lang="en-CA"/>
              <a:pPr>
                <a:defRPr/>
              </a:pPr>
              <a:t>51</a:t>
            </a:fld>
            <a:endParaRPr lang="en-CA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990600" y="304800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XML Parser Processing Model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292225" y="2052638"/>
            <a:ext cx="1158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XML data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2800350" y="1943100"/>
            <a:ext cx="939800" cy="990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2000">
                <a:latin typeface="Arial" pitchFamily="34" charset="0"/>
              </a:rPr>
              <a:t>parser</a:t>
            </a: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4876800" y="1879600"/>
            <a:ext cx="508000" cy="11303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kumimoji="0" lang="en-US"/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4632325" y="1217613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parser</a:t>
            </a:r>
          </a:p>
          <a:p>
            <a:r>
              <a:rPr kumimoji="0" lang="en-US" sz="1800">
                <a:latin typeface="Arial" pitchFamily="34" charset="0"/>
              </a:rPr>
              <a:t>interface</a:t>
            </a: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6413500" y="2025650"/>
            <a:ext cx="1879600" cy="812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2000">
                <a:latin typeface="Arial" pitchFamily="34" charset="0"/>
              </a:rPr>
              <a:t>XML-based</a:t>
            </a:r>
          </a:p>
          <a:p>
            <a:r>
              <a:rPr kumimoji="0" lang="en-US" sz="2000">
                <a:latin typeface="Arial" pitchFamily="34" charset="0"/>
              </a:rPr>
              <a:t>application</a:t>
            </a:r>
          </a:p>
        </p:txBody>
      </p:sp>
      <p:cxnSp>
        <p:nvCxnSpPr>
          <p:cNvPr id="18441" name="AutoShape 8"/>
          <p:cNvCxnSpPr>
            <a:cxnSpLocks noChangeShapeType="1"/>
            <a:endCxn id="18437" idx="1"/>
          </p:cNvCxnSpPr>
          <p:nvPr/>
        </p:nvCxnSpPr>
        <p:spPr bwMode="auto">
          <a:xfrm>
            <a:off x="958850" y="2432050"/>
            <a:ext cx="1841500" cy="635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2" name="AutoShape 9"/>
          <p:cNvCxnSpPr>
            <a:cxnSpLocks noChangeShapeType="1"/>
            <a:stCxn id="18438" idx="2"/>
            <a:endCxn id="18437" idx="3"/>
          </p:cNvCxnSpPr>
          <p:nvPr/>
        </p:nvCxnSpPr>
        <p:spPr bwMode="auto">
          <a:xfrm flipH="1" flipV="1">
            <a:off x="3740150" y="2438400"/>
            <a:ext cx="1136650" cy="6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3" name="AutoShape 10"/>
          <p:cNvCxnSpPr>
            <a:cxnSpLocks noChangeShapeType="1"/>
            <a:stCxn id="18440" idx="1"/>
            <a:endCxn id="18438" idx="6"/>
          </p:cNvCxnSpPr>
          <p:nvPr/>
        </p:nvCxnSpPr>
        <p:spPr bwMode="auto">
          <a:xfrm flipH="1">
            <a:off x="5384800" y="2432050"/>
            <a:ext cx="1028700" cy="127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4" name="AutoShape 11"/>
          <p:cNvSpPr>
            <a:spLocks noChangeArrowheads="1"/>
          </p:cNvSpPr>
          <p:nvPr/>
        </p:nvSpPr>
        <p:spPr bwMode="auto">
          <a:xfrm>
            <a:off x="2851150" y="4572000"/>
            <a:ext cx="825500" cy="596900"/>
          </a:xfrm>
          <a:prstGeom prst="roundRect">
            <a:avLst>
              <a:gd name="adj" fmla="val 1914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800" b="1">
                <a:latin typeface="Arial" pitchFamily="34" charset="0"/>
              </a:rPr>
              <a:t>DTD</a:t>
            </a:r>
            <a:endParaRPr kumimoji="0" lang="en-US"/>
          </a:p>
        </p:txBody>
      </p:sp>
      <p:cxnSp>
        <p:nvCxnSpPr>
          <p:cNvPr id="18445" name="AutoShape 12"/>
          <p:cNvCxnSpPr>
            <a:cxnSpLocks noChangeShapeType="1"/>
            <a:stCxn id="18437" idx="2"/>
            <a:endCxn id="18444" idx="0"/>
          </p:cNvCxnSpPr>
          <p:nvPr/>
        </p:nvCxnSpPr>
        <p:spPr bwMode="auto">
          <a:xfrm flipH="1">
            <a:off x="3263900" y="2933700"/>
            <a:ext cx="6350" cy="1638300"/>
          </a:xfrm>
          <a:prstGeom prst="straightConnector1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3286125" y="3240088"/>
            <a:ext cx="13906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600">
                <a:latin typeface="Arial" pitchFamily="34" charset="0"/>
              </a:rPr>
              <a:t>Relationship/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behavior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depends on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parser nature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4810125" y="4772025"/>
            <a:ext cx="3536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600" b="1">
                <a:latin typeface="Arial" pitchFamily="34" charset="0"/>
              </a:rPr>
              <a:t>Many parsers can operate in either</a:t>
            </a:r>
          </a:p>
          <a:p>
            <a:pPr algn="l"/>
            <a:r>
              <a:rPr kumimoji="0" lang="en-US" sz="1600" b="1">
                <a:latin typeface="Arial" pitchFamily="34" charset="0"/>
              </a:rPr>
              <a:t>validating or non-validating mode </a:t>
            </a:r>
          </a:p>
          <a:p>
            <a:pPr algn="l"/>
            <a:r>
              <a:rPr kumimoji="0" lang="en-US" sz="1600" b="1">
                <a:latin typeface="Arial" pitchFamily="34" charset="0"/>
              </a:rPr>
              <a:t>(parameter-dependent)</a:t>
            </a:r>
            <a:endParaRPr kumimoji="0" lang="en-US" sz="1600">
              <a:latin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3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 you define language dialects?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8305800" cy="5181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Two ways of doing so:</a:t>
            </a:r>
          </a:p>
          <a:p>
            <a:pPr lvl="1"/>
            <a:r>
              <a:rPr lang="en-US" b="1" dirty="0" smtClean="0"/>
              <a:t>XML Document Type Declaration (DTD)</a:t>
            </a:r>
            <a:r>
              <a:rPr lang="en-US" dirty="0" smtClean="0"/>
              <a:t> -- Part of core XML spec.</a:t>
            </a:r>
          </a:p>
          <a:p>
            <a:pPr lvl="1"/>
            <a:r>
              <a:rPr lang="en-US" b="1" dirty="0" smtClean="0"/>
              <a:t>XML Schema</a:t>
            </a:r>
            <a:r>
              <a:rPr lang="en-US" dirty="0" smtClean="0"/>
              <a:t> -- New XML specification, which allows for stronger constraints on XML documents. 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Adding dialect specifications implies </a:t>
            </a:r>
            <a:r>
              <a:rPr lang="en-US" b="1" i="1" dirty="0" smtClean="0"/>
              <a:t>two classes</a:t>
            </a:r>
            <a:r>
              <a:rPr lang="en-US" dirty="0" smtClean="0"/>
              <a:t> of XML data:</a:t>
            </a:r>
            <a:endParaRPr lang="en-US" b="1" dirty="0" smtClean="0"/>
          </a:p>
          <a:p>
            <a:pPr lvl="1"/>
            <a:r>
              <a:rPr lang="en-US" b="1" i="1" dirty="0" smtClean="0"/>
              <a:t>Well-formed</a:t>
            </a:r>
            <a:r>
              <a:rPr lang="en-US" b="1" dirty="0" smtClean="0"/>
              <a:t> 	</a:t>
            </a:r>
            <a:r>
              <a:rPr lang="en-US" dirty="0" smtClean="0"/>
              <a:t>An XML document that  is syntactically correct</a:t>
            </a:r>
          </a:p>
          <a:p>
            <a:pPr lvl="1"/>
            <a:r>
              <a:rPr lang="en-US" b="1" i="1" dirty="0" smtClean="0"/>
              <a:t>Valid</a:t>
            </a:r>
            <a:r>
              <a:rPr lang="en-US" b="1" dirty="0" smtClean="0"/>
              <a:t> 		</a:t>
            </a:r>
            <a:r>
              <a:rPr lang="en-US" dirty="0" smtClean="0"/>
              <a:t>An XML document that is both well-formed </a:t>
            </a:r>
            <a:r>
              <a:rPr lang="en-US" i="1" dirty="0" smtClean="0"/>
              <a:t>and</a:t>
            </a:r>
            <a:br>
              <a:rPr lang="en-US" i="1" dirty="0" smtClean="0"/>
            </a:br>
            <a:r>
              <a:rPr lang="en-US" dirty="0" smtClean="0"/>
              <a:t> 			consistent with a specific DTD (or Schema)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What DTDs and/or schema specify: </a:t>
            </a:r>
          </a:p>
          <a:p>
            <a:pPr lvl="1"/>
            <a:r>
              <a:rPr lang="en-US" dirty="0" smtClean="0"/>
              <a:t>Allowed element and attribute names, hierarchical nesting rules; element content/type restrictions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Schemas are more powerful than DTDs. They are often used for </a:t>
            </a:r>
            <a:r>
              <a:rPr lang="en-US" b="1" i="1" dirty="0" smtClean="0"/>
              <a:t>type validation</a:t>
            </a:r>
            <a:r>
              <a:rPr lang="en-US" dirty="0" smtClean="0"/>
              <a:t>, or for relating database schemas to XML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4A0F45-7F96-409D-B90A-A1A1D2AF591D}" type="slidenum">
              <a:rPr lang="en-CA"/>
              <a:pPr>
                <a:defRPr/>
              </a:pPr>
              <a:t>52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3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XML Namespaces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6019800"/>
          </a:xfrm>
        </p:spPr>
        <p:txBody>
          <a:bodyPr>
            <a:normAutofit/>
          </a:bodyPr>
          <a:lstStyle/>
          <a:p>
            <a:r>
              <a:rPr lang="en-US" dirty="0" smtClean="0"/>
              <a:t>In XML, element names are defined by the developer. This often results in a conflict</a:t>
            </a:r>
          </a:p>
          <a:p>
            <a:r>
              <a:rPr lang="en-US" dirty="0" smtClean="0"/>
              <a:t>when trying to mix XML documents from different XML applications.</a:t>
            </a:r>
          </a:p>
          <a:p>
            <a:pPr algn="just"/>
            <a:r>
              <a:rPr lang="en-US" dirty="0" smtClean="0"/>
              <a:t>Mechanism for identifying different “spaces” for XML names</a:t>
            </a:r>
          </a:p>
          <a:p>
            <a:pPr lvl="1" algn="just"/>
            <a:r>
              <a:rPr lang="en-US" dirty="0" smtClean="0"/>
              <a:t>That is, </a:t>
            </a:r>
            <a:r>
              <a:rPr lang="en-US" b="1" i="1" dirty="0" smtClean="0"/>
              <a:t>element</a:t>
            </a:r>
            <a:r>
              <a:rPr lang="en-US" dirty="0" smtClean="0"/>
              <a:t> or </a:t>
            </a:r>
            <a:r>
              <a:rPr lang="en-US" b="1" i="1" dirty="0" smtClean="0"/>
              <a:t>attribute</a:t>
            </a:r>
            <a:r>
              <a:rPr lang="en-US" dirty="0" smtClean="0"/>
              <a:t> names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is a way of identifying different </a:t>
            </a:r>
            <a:r>
              <a:rPr lang="en-US" b="1" i="1" dirty="0" smtClean="0"/>
              <a:t>language dialects</a:t>
            </a:r>
            <a:r>
              <a:rPr lang="en-US" dirty="0" smtClean="0"/>
              <a:t>, consisting of names that have specific semantic (and processing) meanings.</a:t>
            </a:r>
          </a:p>
          <a:p>
            <a:pPr algn="just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14C76C-0AEF-415B-802C-8BA7379A6605}" type="slidenum">
              <a:rPr lang="en-CA"/>
              <a:pPr>
                <a:defRPr/>
              </a:pPr>
              <a:t>53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6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Thus </a:t>
            </a:r>
            <a:r>
              <a:rPr lang="en-US" dirty="0" smtClean="0">
                <a:latin typeface="Courier New" pitchFamily="49" charset="0"/>
              </a:rPr>
              <a:t>&lt;key/&gt;</a:t>
            </a:r>
            <a:r>
              <a:rPr lang="en-US" dirty="0" smtClean="0"/>
              <a:t> in one language (might mean a security key) can be </a:t>
            </a:r>
            <a:r>
              <a:rPr lang="en-US" dirty="0" err="1" smtClean="0"/>
              <a:t>distinguised</a:t>
            </a:r>
            <a:r>
              <a:rPr lang="en-US" dirty="0" smtClean="0"/>
              <a:t> from </a:t>
            </a:r>
            <a:r>
              <a:rPr lang="en-US" dirty="0" smtClean="0">
                <a:latin typeface="Courier New" pitchFamily="49" charset="0"/>
              </a:rPr>
              <a:t>&lt;key/&gt;</a:t>
            </a:r>
            <a:r>
              <a:rPr lang="en-US" dirty="0" smtClean="0"/>
              <a:t> in another language (a database key)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Mechanism uses a special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</a:rPr>
              <a:t>xmlns</a:t>
            </a:r>
            <a:r>
              <a:rPr lang="en-US" dirty="0" smtClean="0"/>
              <a:t> attribute to define the namespace.  The namespace is given as a </a:t>
            </a:r>
            <a:r>
              <a:rPr lang="en-US" b="1" i="1" dirty="0" smtClean="0"/>
              <a:t>URL string</a:t>
            </a:r>
            <a:endParaRPr lang="en-US" dirty="0" smtClean="0"/>
          </a:p>
          <a:p>
            <a:pPr lvl="1" algn="just"/>
            <a:r>
              <a:rPr lang="en-US" dirty="0" smtClean="0"/>
              <a:t>But the URL does not reference anything in particular (there may be nothing there)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498080" cy="762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Mixing language dialects together</a:t>
            </a:r>
          </a:p>
        </p:txBody>
      </p:sp>
      <p:sp>
        <p:nvSpPr>
          <p:cNvPr id="27652" name="Rectangle 1028"/>
          <p:cNvSpPr>
            <a:spLocks noGrp="1" noChangeArrowheads="1"/>
          </p:cNvSpPr>
          <p:nvPr>
            <p:ph idx="1"/>
          </p:nvPr>
        </p:nvSpPr>
        <p:spPr>
          <a:xfrm>
            <a:off x="431800" y="1384300"/>
            <a:ext cx="8242300" cy="4883150"/>
          </a:xfrm>
          <a:noFill/>
        </p:spPr>
        <p:txBody>
          <a:bodyPr lIns="91440" tIns="45720" rIns="91440" bIns="45720">
            <a:normAutofit lnSpcReduction="10000"/>
          </a:bodyPr>
          <a:lstStyle/>
          <a:p>
            <a:pPr>
              <a:lnSpc>
                <a:spcPct val="85000"/>
              </a:lnSpc>
              <a:buFont typeface="Symbol" pitchFamily="18" charset="2"/>
              <a:buNone/>
            </a:pPr>
            <a:endParaRPr lang="en-US" sz="1800" i="1" smtClean="0"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&lt;?xml version= "1.0" encoding= "utf-8" ?&gt;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endParaRPr lang="en-US" sz="1800" smtClean="0"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&lt;html </a:t>
            </a:r>
            <a:r>
              <a:rPr lang="en-US" sz="1800" smtClean="0">
                <a:solidFill>
                  <a:schemeClr val="accent2"/>
                </a:solidFill>
                <a:latin typeface="Courier New" pitchFamily="49" charset="0"/>
              </a:rPr>
              <a:t>xmlns="http://www.w3.org/1999/xhtml1"</a:t>
            </a:r>
            <a:r>
              <a:rPr lang="en-US" sz="1800" smtClean="0">
                <a:latin typeface="Courier New" pitchFamily="49" charset="0"/>
              </a:rPr>
              <a:t>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 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xmlns:mt=</a:t>
            </a:r>
            <a:r>
              <a:rPr lang="en-US" sz="1800" smtClean="0">
                <a:solidFill>
                  <a:srgbClr val="FF0000"/>
                </a:solidFill>
                <a:latin typeface="Courier New" pitchFamily="49" charset="0"/>
              </a:rPr>
              <a:t>"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http://www.w3.org/1998/mathml”</a:t>
            </a:r>
            <a:r>
              <a:rPr lang="en-US" sz="1800" smtClean="0">
                <a:latin typeface="Courier New" pitchFamily="49" charset="0"/>
              </a:rPr>
              <a:t> 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&lt;head&gt;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&lt;title&gt; Title of XHTML Document &lt;/title&gt;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&lt;/head&gt;&lt;body&gt;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&lt;div class="myDiv"&gt;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&lt;h1&gt; Heading of Page &lt;/h1&gt;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&lt;mt:mathml&gt;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          &lt;mt:title&gt; ... </a:t>
            </a:r>
            <a:r>
              <a:rPr lang="en-US" sz="1800" b="1" i="1" smtClean="0">
                <a:solidFill>
                  <a:srgbClr val="FF0000"/>
                </a:solidFill>
                <a:latin typeface="Courier New" pitchFamily="49" charset="0"/>
              </a:rPr>
              <a:t>MathML markup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. . .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    &lt;/mt:mathml&gt;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&lt;p&gt; more html stuff goes here &lt;/p&gt;</a:t>
            </a:r>
            <a:endParaRPr lang="en-US" sz="180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&lt;/div&gt;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&lt;/body&gt;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&lt;/html&gt;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AF6CE4-B278-45AF-BF57-43A21CC8F52B}" type="slidenum">
              <a:rPr lang="en-CA"/>
              <a:pPr>
                <a:defRPr/>
              </a:pPr>
              <a:t>55</a:t>
            </a:fld>
            <a:endParaRPr lang="en-CA"/>
          </a:p>
        </p:txBody>
      </p:sp>
      <p:grpSp>
        <p:nvGrpSpPr>
          <p:cNvPr id="27653" name="Group 1039"/>
          <p:cNvGrpSpPr>
            <a:grpSpLocks/>
          </p:cNvGrpSpPr>
          <p:nvPr/>
        </p:nvGrpSpPr>
        <p:grpSpPr bwMode="auto">
          <a:xfrm>
            <a:off x="6172200" y="2628900"/>
            <a:ext cx="1676400" cy="2095500"/>
            <a:chOff x="3664" y="1232"/>
            <a:chExt cx="1280" cy="1344"/>
          </a:xfrm>
        </p:grpSpPr>
        <p:sp>
          <p:nvSpPr>
            <p:cNvPr id="27658" name="Line 1029"/>
            <p:cNvSpPr>
              <a:spLocks noChangeShapeType="1"/>
            </p:cNvSpPr>
            <p:nvPr/>
          </p:nvSpPr>
          <p:spPr bwMode="auto">
            <a:xfrm>
              <a:off x="4944" y="1241"/>
              <a:ext cx="0" cy="13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sp>
          <p:nvSpPr>
            <p:cNvPr id="27659" name="Line 1030"/>
            <p:cNvSpPr>
              <a:spLocks noChangeShapeType="1"/>
            </p:cNvSpPr>
            <p:nvPr/>
          </p:nvSpPr>
          <p:spPr bwMode="auto">
            <a:xfrm flipH="1">
              <a:off x="3664" y="2576"/>
              <a:ext cx="12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sp>
          <p:nvSpPr>
            <p:cNvPr id="27660" name="Line 1031"/>
            <p:cNvSpPr>
              <a:spLocks noChangeShapeType="1"/>
            </p:cNvSpPr>
            <p:nvPr/>
          </p:nvSpPr>
          <p:spPr bwMode="auto">
            <a:xfrm flipH="1">
              <a:off x="4531" y="1232"/>
              <a:ext cx="41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</p:grpSp>
      <p:sp>
        <p:nvSpPr>
          <p:cNvPr id="27654" name="Text Box 1033"/>
          <p:cNvSpPr txBox="1">
            <a:spLocks noChangeArrowheads="1"/>
          </p:cNvSpPr>
          <p:nvPr/>
        </p:nvSpPr>
        <p:spPr bwMode="auto">
          <a:xfrm>
            <a:off x="6137275" y="4781550"/>
            <a:ext cx="3006725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 b="1">
                <a:solidFill>
                  <a:srgbClr val="FF0000"/>
                </a:solidFill>
                <a:latin typeface="Arial" pitchFamily="34" charset="0"/>
              </a:rPr>
              <a:t>mt:</a:t>
            </a:r>
            <a:r>
              <a:rPr kumimoji="0" lang="en-US" sz="2000">
                <a:latin typeface="Arial" pitchFamily="34" charset="0"/>
              </a:rPr>
              <a:t> prefix indicates ‘space’ </a:t>
            </a:r>
            <a:r>
              <a:rPr kumimoji="0" lang="en-US" sz="2000" i="1">
                <a:latin typeface="Arial" pitchFamily="34" charset="0"/>
              </a:rPr>
              <a:t>mathml</a:t>
            </a:r>
            <a:r>
              <a:rPr kumimoji="0" lang="en-US" sz="2000">
                <a:latin typeface="Arial" pitchFamily="34" charset="0"/>
              </a:rPr>
              <a:t> (a different language)</a:t>
            </a:r>
            <a:endParaRPr kumimoji="0" lang="en-US" sz="2000"/>
          </a:p>
        </p:txBody>
      </p:sp>
      <p:sp>
        <p:nvSpPr>
          <p:cNvPr id="27655" name="Text Box 1035"/>
          <p:cNvSpPr txBox="1">
            <a:spLocks noChangeArrowheads="1"/>
          </p:cNvSpPr>
          <p:nvPr/>
        </p:nvSpPr>
        <p:spPr bwMode="auto">
          <a:xfrm>
            <a:off x="7070725" y="1771650"/>
            <a:ext cx="18478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>
                <a:solidFill>
                  <a:srgbClr val="003399"/>
                </a:solidFill>
                <a:latin typeface="Arial" pitchFamily="34" charset="0"/>
              </a:rPr>
              <a:t>Default ‘space’</a:t>
            </a:r>
          </a:p>
          <a:p>
            <a:pPr algn="l"/>
            <a:r>
              <a:rPr kumimoji="0" lang="en-US" sz="2000">
                <a:solidFill>
                  <a:srgbClr val="003399"/>
                </a:solidFill>
                <a:latin typeface="Arial" pitchFamily="34" charset="0"/>
              </a:rPr>
              <a:t>is </a:t>
            </a:r>
            <a:r>
              <a:rPr kumimoji="0" lang="en-US" sz="2000" i="1">
                <a:solidFill>
                  <a:srgbClr val="003399"/>
                </a:solidFill>
                <a:latin typeface="Arial" pitchFamily="34" charset="0"/>
              </a:rPr>
              <a:t>xhtml</a:t>
            </a:r>
            <a:endParaRPr kumimoji="0" lang="en-US" sz="2000"/>
          </a:p>
        </p:txBody>
      </p:sp>
      <p:sp>
        <p:nvSpPr>
          <p:cNvPr id="27656" name="Line 1036"/>
          <p:cNvSpPr>
            <a:spLocks noChangeShapeType="1"/>
          </p:cNvSpPr>
          <p:nvPr/>
        </p:nvSpPr>
        <p:spPr bwMode="auto">
          <a:xfrm flipH="1">
            <a:off x="6451600" y="2133600"/>
            <a:ext cx="495300" cy="1524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27657" name="Text Box 1040"/>
          <p:cNvSpPr txBox="1">
            <a:spLocks noChangeArrowheads="1"/>
          </p:cNvSpPr>
          <p:nvPr/>
        </p:nvSpPr>
        <p:spPr bwMode="auto">
          <a:xfrm>
            <a:off x="546100" y="881063"/>
            <a:ext cx="66675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 b="1">
                <a:latin typeface="Arial" pitchFamily="34" charset="0"/>
              </a:rPr>
              <a:t>Namespaces let you do this relatively easily:</a:t>
            </a:r>
            <a:endParaRPr kumimoji="0" lang="en-US" sz="20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838200"/>
          </a:xfrm>
        </p:spPr>
        <p:txBody>
          <a:bodyPr/>
          <a:lstStyle/>
          <a:p>
            <a:r>
              <a:rPr lang="en-US" dirty="0" smtClean="0"/>
              <a:t>XML Software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762000"/>
            <a:ext cx="8229600" cy="480060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/>
              <a:t>XML parser</a:t>
            </a:r>
            <a:r>
              <a:rPr lang="en-US" sz="2800" dirty="0" smtClean="0"/>
              <a:t> -- Reads in XML data, checks for syntactic (and possibly DTD/Schema) constraints, and makes data  available to an application.  There are three 'generic' parser APIs</a:t>
            </a:r>
          </a:p>
          <a:p>
            <a:pPr lvl="1" algn="just"/>
            <a:r>
              <a:rPr lang="en-US" sz="2400" dirty="0" smtClean="0"/>
              <a:t>SAX	Simple API to XML (event-based)</a:t>
            </a:r>
          </a:p>
          <a:p>
            <a:pPr lvl="1" algn="just"/>
            <a:r>
              <a:rPr lang="en-US" sz="2400" dirty="0" smtClean="0"/>
              <a:t>DOM	Document Object Model (object/tree based)</a:t>
            </a:r>
          </a:p>
          <a:p>
            <a:pPr lvl="1" algn="just"/>
            <a:r>
              <a:rPr lang="en-US" sz="2400" dirty="0" smtClean="0"/>
              <a:t>JDOM	Java Document Object Model  (object/tree based)</a:t>
            </a:r>
          </a:p>
          <a:p>
            <a:pPr algn="just"/>
            <a:r>
              <a:rPr lang="en-US" sz="2800" dirty="0" smtClean="0"/>
              <a:t>Lots of XML parsers and interface software available (Unix, Windows, OS/390 or Z/OS, etc.)</a:t>
            </a:r>
          </a:p>
          <a:p>
            <a:pPr algn="just"/>
            <a:r>
              <a:rPr lang="en-US" sz="2800" dirty="0" smtClean="0"/>
              <a:t>SAX-based parsers are fast  (often as fast as you can stream data)</a:t>
            </a:r>
          </a:p>
          <a:p>
            <a:pPr algn="just"/>
            <a:r>
              <a:rPr lang="en-US" sz="2800" dirty="0" smtClean="0"/>
              <a:t>DOM slower, more memory intensive (create in-memory version of entire document)</a:t>
            </a:r>
          </a:p>
          <a:p>
            <a:pPr lvl="4" algn="just"/>
            <a:endParaRPr lang="en-US" sz="1600" dirty="0" smtClean="0"/>
          </a:p>
          <a:p>
            <a:pPr algn="just"/>
            <a:r>
              <a:rPr lang="en-US" sz="2800" dirty="0" smtClean="0"/>
              <a:t>And, validating can be </a:t>
            </a:r>
            <a:r>
              <a:rPr lang="en-US" sz="2800" b="1" i="1" dirty="0" smtClean="0"/>
              <a:t>much slower </a:t>
            </a:r>
            <a:r>
              <a:rPr lang="en-US" sz="2800" dirty="0" smtClean="0"/>
              <a:t> than non-validating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0E385-7C47-4F5F-AD63-EC36854614D0}" type="slidenum">
              <a:rPr lang="en-CA"/>
              <a:pPr>
                <a:defRPr/>
              </a:pPr>
              <a:t>56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44562"/>
          </a:xfrm>
        </p:spPr>
        <p:txBody>
          <a:bodyPr/>
          <a:lstStyle/>
          <a:p>
            <a:r>
              <a:rPr lang="en-US" dirty="0" smtClean="0"/>
              <a:t>XML Processing: XSLT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6019800"/>
          </a:xfrm>
        </p:spPr>
        <p:txBody>
          <a:bodyPr>
            <a:normAutofit fontScale="85000" lnSpcReduction="20000"/>
          </a:bodyPr>
          <a:lstStyle/>
          <a:p>
            <a:pPr>
              <a:buFont typeface="Symbol" pitchFamily="18" charset="2"/>
              <a:buNone/>
            </a:pPr>
            <a:r>
              <a:rPr lang="en-US" b="1" dirty="0" smtClean="0"/>
              <a:t> XSLT  </a:t>
            </a:r>
            <a:r>
              <a:rPr lang="en-US" b="1" dirty="0" err="1" smtClean="0"/>
              <a:t>eXtensible</a:t>
            </a:r>
            <a:r>
              <a:rPr lang="en-US" b="1" dirty="0" smtClean="0"/>
              <a:t> </a:t>
            </a:r>
            <a:r>
              <a:rPr lang="en-US" b="1" dirty="0" err="1" smtClean="0"/>
              <a:t>Stylesheet</a:t>
            </a:r>
            <a:r>
              <a:rPr lang="en-US" b="1" dirty="0" smtClean="0"/>
              <a:t> Language -- </a:t>
            </a:r>
            <a:r>
              <a:rPr lang="en-US" b="1" i="1" dirty="0" smtClean="0"/>
              <a:t>Transformations</a:t>
            </a:r>
            <a:endParaRPr lang="en-US" dirty="0" smtClean="0"/>
          </a:p>
          <a:p>
            <a:pPr lvl="1"/>
            <a:r>
              <a:rPr lang="en-US" dirty="0" smtClean="0"/>
              <a:t>An XML language for processing XML</a:t>
            </a:r>
          </a:p>
          <a:p>
            <a:pPr lvl="1"/>
            <a:r>
              <a:rPr lang="en-US" dirty="0" smtClean="0"/>
              <a:t>Does tree transformations -- takes XML and an XSLT style sheet as input, and produces a new XML document with a different structure</a:t>
            </a:r>
          </a:p>
          <a:p>
            <a:pPr>
              <a:spcBef>
                <a:spcPct val="60000"/>
              </a:spcBef>
            </a:pPr>
            <a:r>
              <a:rPr lang="en-US" b="1" dirty="0" smtClean="0"/>
              <a:t>Advantages</a:t>
            </a:r>
            <a:endParaRPr lang="en-US" dirty="0" smtClean="0"/>
          </a:p>
          <a:p>
            <a:pPr lvl="1"/>
            <a:r>
              <a:rPr lang="en-US" dirty="0" smtClean="0"/>
              <a:t>Very useful for tree transformations -- much easier than DOM or SAX for this purpose</a:t>
            </a:r>
          </a:p>
          <a:p>
            <a:pPr lvl="1"/>
            <a:r>
              <a:rPr lang="en-US" dirty="0" smtClean="0"/>
              <a:t>Can be used to query a document (XSLT pulls out the part you want)</a:t>
            </a:r>
          </a:p>
          <a:p>
            <a:pPr>
              <a:spcBef>
                <a:spcPct val="60000"/>
              </a:spcBef>
            </a:pPr>
            <a:r>
              <a:rPr lang="en-US" b="1" dirty="0" smtClean="0"/>
              <a:t>Disadvantages</a:t>
            </a:r>
            <a:endParaRPr lang="en-US" dirty="0" smtClean="0"/>
          </a:p>
          <a:p>
            <a:pPr lvl="1"/>
            <a:r>
              <a:rPr lang="en-US" dirty="0" smtClean="0"/>
              <a:t>Can be slow for large documents or </a:t>
            </a:r>
            <a:r>
              <a:rPr lang="en-US" dirty="0" err="1" smtClean="0"/>
              <a:t>stylesheets</a:t>
            </a:r>
            <a:endParaRPr lang="en-US" dirty="0" smtClean="0"/>
          </a:p>
          <a:p>
            <a:pPr lvl="1"/>
            <a:r>
              <a:rPr lang="en-US" dirty="0" smtClean="0"/>
              <a:t>Can be difficult to debug </a:t>
            </a:r>
            <a:r>
              <a:rPr lang="en-US" dirty="0" err="1" smtClean="0"/>
              <a:t>stylesheets</a:t>
            </a:r>
            <a:r>
              <a:rPr lang="en-US" dirty="0" smtClean="0"/>
              <a:t> (poor error detection; much better if you use schemas)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9C5386-4BC2-4916-9412-A4A16F69B55B}" type="slidenum">
              <a:rPr lang="en-CA"/>
              <a:pPr>
                <a:defRPr/>
              </a:pPr>
              <a:t>57</a:t>
            </a:fld>
            <a:endParaRPr lang="en-C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0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XSLT processing model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447800"/>
            <a:ext cx="7498080" cy="4800600"/>
          </a:xfrm>
          <a:noFill/>
        </p:spPr>
        <p:txBody>
          <a:bodyPr/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dirty="0" smtClean="0"/>
              <a:t>XSLT Processing model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7921EC-8CC8-4418-BB3F-C394184F20CF}" type="slidenum">
              <a:rPr lang="en-CA"/>
              <a:pPr>
                <a:defRPr/>
              </a:pPr>
              <a:t>58</a:t>
            </a:fld>
            <a:endParaRPr lang="en-CA"/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1136650" y="1957388"/>
            <a:ext cx="2149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XSLT style sheet in</a:t>
            </a: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3170238" y="3003550"/>
            <a:ext cx="742950" cy="4714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XML</a:t>
            </a:r>
          </a:p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parser</a:t>
            </a:r>
            <a:endParaRPr kumimoji="0" lang="en-US" sz="2000">
              <a:latin typeface="Arial" pitchFamily="34" charset="0"/>
            </a:endParaRPr>
          </a:p>
        </p:txBody>
      </p:sp>
      <p:sp>
        <p:nvSpPr>
          <p:cNvPr id="38919" name="Oval 6" descr="30%"/>
          <p:cNvSpPr>
            <a:spLocks noChangeArrowheads="1"/>
          </p:cNvSpPr>
          <p:nvPr/>
        </p:nvSpPr>
        <p:spPr bwMode="auto">
          <a:xfrm>
            <a:off x="4767263" y="2801938"/>
            <a:ext cx="401637" cy="893762"/>
          </a:xfrm>
          <a:prstGeom prst="ellipse">
            <a:avLst/>
          </a:prstGeom>
          <a:pattFill prst="pct30">
            <a:fgClr>
              <a:srgbClr val="FF9966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kumimoji="0" lang="en-US"/>
          </a:p>
        </p:txBody>
      </p:sp>
      <p:sp>
        <p:nvSpPr>
          <p:cNvPr id="38920" name="Text Box 7"/>
          <p:cNvSpPr txBox="1">
            <a:spLocks noChangeArrowheads="1"/>
          </p:cNvSpPr>
          <p:nvPr/>
        </p:nvSpPr>
        <p:spPr bwMode="auto">
          <a:xfrm>
            <a:off x="6111875" y="1630363"/>
            <a:ext cx="1655763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b="1" dirty="0">
                <a:latin typeface="Arial" pitchFamily="34" charset="0"/>
              </a:rPr>
              <a:t>XSLT </a:t>
            </a:r>
          </a:p>
          <a:p>
            <a:r>
              <a:rPr kumimoji="0" lang="en-US" b="1" dirty="0">
                <a:latin typeface="Arial" pitchFamily="34" charset="0"/>
              </a:rPr>
              <a:t>processor</a:t>
            </a:r>
            <a:endParaRPr kumimoji="0" lang="en-US" sz="1800" dirty="0">
              <a:latin typeface="Arial" pitchFamily="34" charset="0"/>
            </a:endParaRPr>
          </a:p>
        </p:txBody>
      </p:sp>
      <p:cxnSp>
        <p:nvCxnSpPr>
          <p:cNvPr id="38921" name="AutoShape 8"/>
          <p:cNvCxnSpPr>
            <a:cxnSpLocks noChangeShapeType="1"/>
          </p:cNvCxnSpPr>
          <p:nvPr/>
        </p:nvCxnSpPr>
        <p:spPr bwMode="auto">
          <a:xfrm>
            <a:off x="1363663" y="3233738"/>
            <a:ext cx="1806575" cy="476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2" name="AutoShape 9"/>
          <p:cNvCxnSpPr>
            <a:cxnSpLocks noChangeShapeType="1"/>
            <a:stCxn id="38919" idx="2"/>
            <a:endCxn id="38918" idx="3"/>
          </p:cNvCxnSpPr>
          <p:nvPr/>
        </p:nvCxnSpPr>
        <p:spPr bwMode="auto">
          <a:xfrm flipH="1" flipV="1">
            <a:off x="3913188" y="3238500"/>
            <a:ext cx="854075" cy="111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3" name="Oval 10"/>
          <p:cNvSpPr>
            <a:spLocks noChangeArrowheads="1"/>
          </p:cNvSpPr>
          <p:nvPr/>
        </p:nvSpPr>
        <p:spPr bwMode="auto">
          <a:xfrm>
            <a:off x="3190875" y="4387850"/>
            <a:ext cx="3552825" cy="160655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grpSp>
        <p:nvGrpSpPr>
          <p:cNvPr id="38924" name="Group 11"/>
          <p:cNvGrpSpPr>
            <a:grpSpLocks/>
          </p:cNvGrpSpPr>
          <p:nvPr/>
        </p:nvGrpSpPr>
        <p:grpSpPr bwMode="auto">
          <a:xfrm>
            <a:off x="3560763" y="4687888"/>
            <a:ext cx="1546225" cy="989012"/>
            <a:chOff x="2001" y="516"/>
            <a:chExt cx="5267" cy="3507"/>
          </a:xfrm>
        </p:grpSpPr>
        <p:sp>
          <p:nvSpPr>
            <p:cNvPr id="38959" name="Text Box 12"/>
            <p:cNvSpPr txBox="1">
              <a:spLocks noChangeArrowheads="1"/>
            </p:cNvSpPr>
            <p:nvPr/>
          </p:nvSpPr>
          <p:spPr bwMode="auto">
            <a:xfrm>
              <a:off x="4689" y="910"/>
              <a:ext cx="1470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text</a:t>
              </a:r>
              <a:endParaRPr kumimoji="0" lang="en-US" sz="800"/>
            </a:p>
          </p:txBody>
        </p:sp>
        <p:grpSp>
          <p:nvGrpSpPr>
            <p:cNvPr id="38960" name="Group 13"/>
            <p:cNvGrpSpPr>
              <a:grpSpLocks/>
            </p:cNvGrpSpPr>
            <p:nvPr/>
          </p:nvGrpSpPr>
          <p:grpSpPr bwMode="auto">
            <a:xfrm>
              <a:off x="3215" y="1288"/>
              <a:ext cx="1969" cy="2301"/>
              <a:chOff x="3215" y="1288"/>
              <a:chExt cx="1969" cy="2301"/>
            </a:xfrm>
          </p:grpSpPr>
          <p:cxnSp>
            <p:nvCxnSpPr>
              <p:cNvPr id="38989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3215" y="1995"/>
                <a:ext cx="410" cy="54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0" name="AutoShape 15"/>
              <p:cNvCxnSpPr>
                <a:cxnSpLocks noChangeShapeType="1"/>
              </p:cNvCxnSpPr>
              <p:nvPr/>
            </p:nvCxnSpPr>
            <p:spPr bwMode="auto">
              <a:xfrm>
                <a:off x="3215" y="2875"/>
                <a:ext cx="466" cy="71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1" name="AutoShape 16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705" cy="100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2" name="AutoShape 17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672" cy="61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3" name="AutoShape 18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672" cy="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4" name="AutoShape 19"/>
              <p:cNvCxnSpPr>
                <a:cxnSpLocks noChangeShapeType="1"/>
              </p:cNvCxnSpPr>
              <p:nvPr/>
            </p:nvCxnSpPr>
            <p:spPr bwMode="auto">
              <a:xfrm flipV="1">
                <a:off x="3816" y="1308"/>
                <a:ext cx="672" cy="52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995" name="Line 20"/>
              <p:cNvSpPr>
                <a:spLocks noChangeShapeType="1"/>
              </p:cNvSpPr>
              <p:nvPr/>
            </p:nvSpPr>
            <p:spPr bwMode="auto">
              <a:xfrm>
                <a:off x="4728" y="1288"/>
                <a:ext cx="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en-AU"/>
              </a:p>
            </p:txBody>
          </p:sp>
        </p:grpSp>
        <p:sp>
          <p:nvSpPr>
            <p:cNvPr id="38961" name="Text Box 21"/>
            <p:cNvSpPr txBox="1">
              <a:spLocks noChangeArrowheads="1"/>
            </p:cNvSpPr>
            <p:nvPr/>
          </p:nvSpPr>
          <p:spPr bwMode="auto">
            <a:xfrm>
              <a:off x="2001" y="1788"/>
              <a:ext cx="2201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partorders</a:t>
              </a:r>
            </a:p>
            <a:p>
              <a:endParaRPr kumimoji="0" lang="en-US" sz="800"/>
            </a:p>
          </p:txBody>
        </p:sp>
        <p:sp>
          <p:nvSpPr>
            <p:cNvPr id="38962" name="Text Box 22"/>
            <p:cNvSpPr txBox="1">
              <a:spLocks noChangeArrowheads="1"/>
            </p:cNvSpPr>
            <p:nvPr/>
          </p:nvSpPr>
          <p:spPr bwMode="auto">
            <a:xfrm>
              <a:off x="3007" y="927"/>
              <a:ext cx="1427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63" name="Text Box 23"/>
            <p:cNvSpPr txBox="1">
              <a:spLocks noChangeArrowheads="1"/>
            </p:cNvSpPr>
            <p:nvPr/>
          </p:nvSpPr>
          <p:spPr bwMode="auto">
            <a:xfrm>
              <a:off x="3088" y="2841"/>
              <a:ext cx="1428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64" name="Text Box 24"/>
            <p:cNvSpPr txBox="1">
              <a:spLocks noChangeArrowheads="1"/>
            </p:cNvSpPr>
            <p:nvPr/>
          </p:nvSpPr>
          <p:spPr bwMode="auto">
            <a:xfrm>
              <a:off x="4018" y="516"/>
              <a:ext cx="1644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desc</a:t>
              </a:r>
            </a:p>
            <a:p>
              <a:endParaRPr kumimoji="0" lang="en-US" sz="800"/>
            </a:p>
          </p:txBody>
        </p:sp>
        <p:sp>
          <p:nvSpPr>
            <p:cNvPr id="38965" name="Text Box 25"/>
            <p:cNvSpPr txBox="1">
              <a:spLocks noChangeArrowheads="1"/>
            </p:cNvSpPr>
            <p:nvPr/>
          </p:nvSpPr>
          <p:spPr bwMode="auto">
            <a:xfrm>
              <a:off x="4034" y="1310"/>
              <a:ext cx="1606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part</a:t>
              </a:r>
              <a:endParaRPr kumimoji="0" lang="en-US" sz="800"/>
            </a:p>
          </p:txBody>
        </p:sp>
        <p:sp>
          <p:nvSpPr>
            <p:cNvPr id="38966" name="Text Box 26"/>
            <p:cNvSpPr txBox="1">
              <a:spLocks noChangeArrowheads="1"/>
            </p:cNvSpPr>
            <p:nvPr/>
          </p:nvSpPr>
          <p:spPr bwMode="auto">
            <a:xfrm>
              <a:off x="3607" y="1850"/>
              <a:ext cx="2617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    quantity</a:t>
              </a:r>
              <a:endParaRPr kumimoji="0" lang="en-US" sz="800"/>
            </a:p>
          </p:txBody>
        </p:sp>
        <p:sp>
          <p:nvSpPr>
            <p:cNvPr id="38967" name="Text Box 27"/>
            <p:cNvSpPr txBox="1">
              <a:spLocks noChangeArrowheads="1"/>
            </p:cNvSpPr>
            <p:nvPr/>
          </p:nvSpPr>
          <p:spPr bwMode="auto">
            <a:xfrm>
              <a:off x="4662" y="2430"/>
              <a:ext cx="2606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/>
              <a:r>
                <a:rPr kumimoji="0" lang="en-US" sz="800">
                  <a:latin typeface="Arial" pitchFamily="34" charset="0"/>
                </a:rPr>
                <a:t>delivery-date</a:t>
              </a:r>
              <a:endParaRPr kumimoji="0" lang="en-US" sz="800"/>
            </a:p>
          </p:txBody>
        </p:sp>
        <p:grpSp>
          <p:nvGrpSpPr>
            <p:cNvPr id="38968" name="Group 28"/>
            <p:cNvGrpSpPr>
              <a:grpSpLocks/>
            </p:cNvGrpSpPr>
            <p:nvPr/>
          </p:nvGrpSpPr>
          <p:grpSpPr bwMode="auto">
            <a:xfrm>
              <a:off x="3024" y="520"/>
              <a:ext cx="2224" cy="3472"/>
              <a:chOff x="3024" y="520"/>
              <a:chExt cx="2224" cy="3472"/>
            </a:xfrm>
          </p:grpSpPr>
          <p:grpSp>
            <p:nvGrpSpPr>
              <p:cNvPr id="38969" name="Group 29"/>
              <p:cNvGrpSpPr>
                <a:grpSpLocks/>
              </p:cNvGrpSpPr>
              <p:nvPr/>
            </p:nvGrpSpPr>
            <p:grpSpPr bwMode="auto">
              <a:xfrm>
                <a:off x="3024" y="1072"/>
                <a:ext cx="2224" cy="2920"/>
                <a:chOff x="3024" y="1072"/>
                <a:chExt cx="2224" cy="2920"/>
              </a:xfrm>
            </p:grpSpPr>
            <p:sp>
              <p:nvSpPr>
                <p:cNvPr id="38981" name="Oval 30"/>
                <p:cNvSpPr>
                  <a:spLocks noChangeArrowheads="1"/>
                </p:cNvSpPr>
                <p:nvPr/>
              </p:nvSpPr>
              <p:spPr bwMode="auto">
                <a:xfrm>
                  <a:off x="3024" y="247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2" name="Oval 31"/>
                <p:cNvSpPr>
                  <a:spLocks noChangeArrowheads="1"/>
                </p:cNvSpPr>
                <p:nvPr/>
              </p:nvSpPr>
              <p:spPr bwMode="auto">
                <a:xfrm>
                  <a:off x="3592" y="159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3" name="Oval 32"/>
                <p:cNvSpPr>
                  <a:spLocks noChangeArrowheads="1"/>
                </p:cNvSpPr>
                <p:nvPr/>
              </p:nvSpPr>
              <p:spPr bwMode="auto">
                <a:xfrm>
                  <a:off x="3648" y="3520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4" name="Oval 33"/>
                <p:cNvSpPr>
                  <a:spLocks noChangeArrowheads="1"/>
                </p:cNvSpPr>
                <p:nvPr/>
              </p:nvSpPr>
              <p:spPr bwMode="auto">
                <a:xfrm>
                  <a:off x="4488" y="107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5" name="Oval 34"/>
                <p:cNvSpPr>
                  <a:spLocks noChangeArrowheads="1"/>
                </p:cNvSpPr>
                <p:nvPr/>
              </p:nvSpPr>
              <p:spPr bwMode="auto">
                <a:xfrm>
                  <a:off x="4488" y="164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6" name="Oval 35"/>
                <p:cNvSpPr>
                  <a:spLocks noChangeArrowheads="1"/>
                </p:cNvSpPr>
                <p:nvPr/>
              </p:nvSpPr>
              <p:spPr bwMode="auto">
                <a:xfrm>
                  <a:off x="4488" y="2205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7" name="Oval 36"/>
                <p:cNvSpPr>
                  <a:spLocks noChangeArrowheads="1"/>
                </p:cNvSpPr>
                <p:nvPr/>
              </p:nvSpPr>
              <p:spPr bwMode="auto">
                <a:xfrm>
                  <a:off x="4488" y="2768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8" name="Line 37"/>
                <p:cNvSpPr>
                  <a:spLocks noChangeShapeType="1"/>
                </p:cNvSpPr>
                <p:nvPr/>
              </p:nvSpPr>
              <p:spPr bwMode="auto">
                <a:xfrm>
                  <a:off x="5248" y="1104"/>
                  <a:ext cx="0" cy="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en-AU"/>
                </a:p>
              </p:txBody>
            </p:sp>
          </p:grpSp>
          <p:grpSp>
            <p:nvGrpSpPr>
              <p:cNvPr id="38970" name="Group 38"/>
              <p:cNvGrpSpPr>
                <a:grpSpLocks/>
              </p:cNvGrpSpPr>
              <p:nvPr/>
            </p:nvGrpSpPr>
            <p:grpSpPr bwMode="auto">
              <a:xfrm>
                <a:off x="3248" y="520"/>
                <a:ext cx="1656" cy="3456"/>
                <a:chOff x="3248" y="520"/>
                <a:chExt cx="1656" cy="3456"/>
              </a:xfrm>
            </p:grpSpPr>
            <p:sp>
              <p:nvSpPr>
                <p:cNvPr id="38971" name="Rectangle 39"/>
                <p:cNvSpPr>
                  <a:spLocks noChangeArrowheads="1"/>
                </p:cNvSpPr>
                <p:nvPr/>
              </p:nvSpPr>
              <p:spPr bwMode="auto">
                <a:xfrm>
                  <a:off x="4088" y="3848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2" name="Rectangle 40"/>
                <p:cNvSpPr>
                  <a:spLocks noChangeArrowheads="1"/>
                </p:cNvSpPr>
                <p:nvPr/>
              </p:nvSpPr>
              <p:spPr bwMode="auto">
                <a:xfrm>
                  <a:off x="4088" y="3568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3" name="Rectangle 41"/>
                <p:cNvSpPr>
                  <a:spLocks noChangeArrowheads="1"/>
                </p:cNvSpPr>
                <p:nvPr/>
              </p:nvSpPr>
              <p:spPr bwMode="auto">
                <a:xfrm>
                  <a:off x="4488" y="792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4" name="Rectangle 42"/>
                <p:cNvSpPr>
                  <a:spLocks noChangeArrowheads="1"/>
                </p:cNvSpPr>
                <p:nvPr/>
              </p:nvSpPr>
              <p:spPr bwMode="auto">
                <a:xfrm>
                  <a:off x="4488" y="520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5" name="Rectangle 43"/>
                <p:cNvSpPr>
                  <a:spLocks noChangeArrowheads="1"/>
                </p:cNvSpPr>
                <p:nvPr/>
              </p:nvSpPr>
              <p:spPr bwMode="auto">
                <a:xfrm>
                  <a:off x="3408" y="2640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cxnSp>
              <p:nvCxnSpPr>
                <p:cNvPr id="38976" name="AutoShape 44"/>
                <p:cNvCxnSpPr>
                  <a:cxnSpLocks noChangeShapeType="1"/>
                  <a:stCxn id="38982" idx="6"/>
                  <a:endCxn id="38974" idx="1"/>
                </p:cNvCxnSpPr>
                <p:nvPr/>
              </p:nvCxnSpPr>
              <p:spPr bwMode="auto">
                <a:xfrm flipV="1">
                  <a:off x="3816" y="584"/>
                  <a:ext cx="672" cy="124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7" name="AutoShape 45"/>
                <p:cNvCxnSpPr>
                  <a:cxnSpLocks noChangeShapeType="1"/>
                  <a:stCxn id="38982" idx="6"/>
                  <a:endCxn id="38973" idx="1"/>
                </p:cNvCxnSpPr>
                <p:nvPr/>
              </p:nvCxnSpPr>
              <p:spPr bwMode="auto">
                <a:xfrm flipV="1">
                  <a:off x="3816" y="856"/>
                  <a:ext cx="672" cy="97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8" name="AutoShape 46"/>
                <p:cNvCxnSpPr>
                  <a:cxnSpLocks noChangeShapeType="1"/>
                  <a:stCxn id="38981" idx="6"/>
                  <a:endCxn id="38975" idx="1"/>
                </p:cNvCxnSpPr>
                <p:nvPr/>
              </p:nvCxnSpPr>
              <p:spPr bwMode="auto">
                <a:xfrm flipV="1">
                  <a:off x="3248" y="2704"/>
                  <a:ext cx="160" cy="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9" name="AutoShape 47"/>
                <p:cNvCxnSpPr>
                  <a:cxnSpLocks noChangeShapeType="1"/>
                  <a:stCxn id="38983" idx="6"/>
                  <a:endCxn id="38972" idx="1"/>
                </p:cNvCxnSpPr>
                <p:nvPr/>
              </p:nvCxnSpPr>
              <p:spPr bwMode="auto">
                <a:xfrm flipV="1">
                  <a:off x="3872" y="3632"/>
                  <a:ext cx="216" cy="12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80" name="AutoShape 48"/>
                <p:cNvCxnSpPr>
                  <a:cxnSpLocks noChangeShapeType="1"/>
                  <a:stCxn id="38983" idx="6"/>
                  <a:endCxn id="38971" idx="1"/>
                </p:cNvCxnSpPr>
                <p:nvPr/>
              </p:nvCxnSpPr>
              <p:spPr bwMode="auto">
                <a:xfrm>
                  <a:off x="3872" y="3756"/>
                  <a:ext cx="216" cy="15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cxnSp>
        <p:nvCxnSpPr>
          <p:cNvPr id="38925" name="AutoShape 49"/>
          <p:cNvCxnSpPr>
            <a:cxnSpLocks noChangeShapeType="1"/>
            <a:stCxn id="38919" idx="4"/>
            <a:endCxn id="38923" idx="0"/>
          </p:cNvCxnSpPr>
          <p:nvPr/>
        </p:nvCxnSpPr>
        <p:spPr bwMode="auto">
          <a:xfrm>
            <a:off x="4967288" y="3695700"/>
            <a:ext cx="0" cy="692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6" name="Text Box 50"/>
          <p:cNvSpPr txBox="1">
            <a:spLocks noChangeArrowheads="1"/>
          </p:cNvSpPr>
          <p:nvPr/>
        </p:nvSpPr>
        <p:spPr bwMode="auto">
          <a:xfrm>
            <a:off x="5351463" y="3959225"/>
            <a:ext cx="2454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document “objects” for</a:t>
            </a:r>
          </a:p>
          <a:p>
            <a:r>
              <a:rPr kumimoji="0" lang="en-US" sz="1800">
                <a:latin typeface="Arial" pitchFamily="34" charset="0"/>
              </a:rPr>
              <a:t>data and style sheet</a:t>
            </a:r>
          </a:p>
        </p:txBody>
      </p:sp>
      <p:sp>
        <p:nvSpPr>
          <p:cNvPr id="38927" name="Rectangle 52"/>
          <p:cNvSpPr>
            <a:spLocks noChangeArrowheads="1"/>
          </p:cNvSpPr>
          <p:nvPr/>
        </p:nvSpPr>
        <p:spPr bwMode="auto">
          <a:xfrm>
            <a:off x="3732213" y="2109788"/>
            <a:ext cx="742950" cy="4714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XML</a:t>
            </a:r>
          </a:p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parser</a:t>
            </a:r>
            <a:endParaRPr kumimoji="0" lang="en-US" sz="2000">
              <a:latin typeface="Arial" pitchFamily="34" charset="0"/>
            </a:endParaRPr>
          </a:p>
        </p:txBody>
      </p:sp>
      <p:sp>
        <p:nvSpPr>
          <p:cNvPr id="38928" name="Text Box 53"/>
          <p:cNvSpPr txBox="1">
            <a:spLocks noChangeArrowheads="1"/>
          </p:cNvSpPr>
          <p:nvPr/>
        </p:nvSpPr>
        <p:spPr bwMode="auto">
          <a:xfrm>
            <a:off x="1211263" y="2860675"/>
            <a:ext cx="1400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XML data in</a:t>
            </a:r>
          </a:p>
        </p:txBody>
      </p:sp>
      <p:cxnSp>
        <p:nvCxnSpPr>
          <p:cNvPr id="38929" name="AutoShape 54"/>
          <p:cNvCxnSpPr>
            <a:cxnSpLocks noChangeShapeType="1"/>
            <a:endCxn id="38927" idx="1"/>
          </p:cNvCxnSpPr>
          <p:nvPr/>
        </p:nvCxnSpPr>
        <p:spPr bwMode="auto">
          <a:xfrm>
            <a:off x="1363663" y="2339975"/>
            <a:ext cx="2368550" cy="63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0" name="AutoShape 55"/>
          <p:cNvCxnSpPr>
            <a:cxnSpLocks noChangeShapeType="1"/>
            <a:stCxn id="38927" idx="3"/>
            <a:endCxn id="38919" idx="0"/>
          </p:cNvCxnSpPr>
          <p:nvPr/>
        </p:nvCxnSpPr>
        <p:spPr bwMode="auto">
          <a:xfrm>
            <a:off x="4475163" y="2346325"/>
            <a:ext cx="492125" cy="4556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931" name="Group 56"/>
          <p:cNvGrpSpPr>
            <a:grpSpLocks/>
          </p:cNvGrpSpPr>
          <p:nvPr/>
        </p:nvGrpSpPr>
        <p:grpSpPr bwMode="auto">
          <a:xfrm>
            <a:off x="5078413" y="4800600"/>
            <a:ext cx="1096962" cy="823913"/>
            <a:chOff x="437" y="2632"/>
            <a:chExt cx="962" cy="721"/>
          </a:xfrm>
        </p:grpSpPr>
        <p:cxnSp>
          <p:nvCxnSpPr>
            <p:cNvPr id="38941" name="AutoShape 57"/>
            <p:cNvCxnSpPr>
              <a:cxnSpLocks noChangeShapeType="1"/>
            </p:cNvCxnSpPr>
            <p:nvPr/>
          </p:nvCxnSpPr>
          <p:spPr bwMode="auto">
            <a:xfrm flipV="1">
              <a:off x="747" y="2884"/>
              <a:ext cx="96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2" name="AutoShape 58"/>
            <p:cNvCxnSpPr>
              <a:cxnSpLocks noChangeShapeType="1"/>
            </p:cNvCxnSpPr>
            <p:nvPr/>
          </p:nvCxnSpPr>
          <p:spPr bwMode="auto">
            <a:xfrm>
              <a:off x="747" y="3081"/>
              <a:ext cx="109" cy="1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3" name="AutoShape 59"/>
            <p:cNvCxnSpPr>
              <a:cxnSpLocks noChangeShapeType="1"/>
            </p:cNvCxnSpPr>
            <p:nvPr/>
          </p:nvCxnSpPr>
          <p:spPr bwMode="auto">
            <a:xfrm>
              <a:off x="887" y="2846"/>
              <a:ext cx="15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4" name="AutoShape 60"/>
            <p:cNvCxnSpPr>
              <a:cxnSpLocks noChangeShapeType="1"/>
            </p:cNvCxnSpPr>
            <p:nvPr/>
          </p:nvCxnSpPr>
          <p:spPr bwMode="auto">
            <a:xfrm>
              <a:off x="887" y="2846"/>
              <a:ext cx="157" cy="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45" name="Text Box 61"/>
            <p:cNvSpPr txBox="1">
              <a:spLocks noChangeArrowheads="1"/>
            </p:cNvSpPr>
            <p:nvPr/>
          </p:nvSpPr>
          <p:spPr bwMode="auto">
            <a:xfrm>
              <a:off x="437" y="2822"/>
              <a:ext cx="5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partorders</a:t>
              </a:r>
            </a:p>
            <a:p>
              <a:endParaRPr kumimoji="0" lang="en-US" sz="800"/>
            </a:p>
          </p:txBody>
        </p:sp>
        <p:sp>
          <p:nvSpPr>
            <p:cNvPr id="38946" name="Text Box 62"/>
            <p:cNvSpPr txBox="1">
              <a:spLocks noChangeArrowheads="1"/>
            </p:cNvSpPr>
            <p:nvPr/>
          </p:nvSpPr>
          <p:spPr bwMode="auto">
            <a:xfrm>
              <a:off x="717" y="2632"/>
              <a:ext cx="29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xza</a:t>
              </a:r>
            </a:p>
            <a:p>
              <a:endParaRPr kumimoji="0" lang="en-US" sz="800"/>
            </a:p>
          </p:txBody>
        </p:sp>
        <p:sp>
          <p:nvSpPr>
            <p:cNvPr id="38947" name="Text Box 63"/>
            <p:cNvSpPr txBox="1">
              <a:spLocks noChangeArrowheads="1"/>
            </p:cNvSpPr>
            <p:nvPr/>
          </p:nvSpPr>
          <p:spPr bwMode="auto">
            <a:xfrm>
              <a:off x="702" y="3061"/>
              <a:ext cx="3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48" name="Text Box 64"/>
            <p:cNvSpPr txBox="1">
              <a:spLocks noChangeArrowheads="1"/>
            </p:cNvSpPr>
            <p:nvPr/>
          </p:nvSpPr>
          <p:spPr bwMode="auto">
            <a:xfrm>
              <a:off x="983" y="2720"/>
              <a:ext cx="384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foo</a:t>
              </a:r>
              <a:endParaRPr kumimoji="0" lang="en-US" sz="800"/>
            </a:p>
          </p:txBody>
        </p:sp>
        <p:sp>
          <p:nvSpPr>
            <p:cNvPr id="38949" name="Text Box 65"/>
            <p:cNvSpPr txBox="1">
              <a:spLocks noChangeArrowheads="1"/>
            </p:cNvSpPr>
            <p:nvPr/>
          </p:nvSpPr>
          <p:spPr bwMode="auto">
            <a:xfrm>
              <a:off x="890" y="2840"/>
              <a:ext cx="509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    bee</a:t>
              </a:r>
              <a:endParaRPr kumimoji="0" lang="en-US" sz="800"/>
            </a:p>
          </p:txBody>
        </p:sp>
        <p:sp>
          <p:nvSpPr>
            <p:cNvPr id="38950" name="Oval 66"/>
            <p:cNvSpPr>
              <a:spLocks noChangeArrowheads="1"/>
            </p:cNvSpPr>
            <p:nvPr/>
          </p:nvSpPr>
          <p:spPr bwMode="auto">
            <a:xfrm>
              <a:off x="702" y="2991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1" name="Oval 67"/>
            <p:cNvSpPr>
              <a:spLocks noChangeArrowheads="1"/>
            </p:cNvSpPr>
            <p:nvPr/>
          </p:nvSpPr>
          <p:spPr bwMode="auto">
            <a:xfrm>
              <a:off x="835" y="2793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2" name="Oval 68"/>
            <p:cNvSpPr>
              <a:spLocks noChangeArrowheads="1"/>
            </p:cNvSpPr>
            <p:nvPr/>
          </p:nvSpPr>
          <p:spPr bwMode="auto">
            <a:xfrm>
              <a:off x="848" y="3226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3" name="Oval 69"/>
            <p:cNvSpPr>
              <a:spLocks noChangeArrowheads="1"/>
            </p:cNvSpPr>
            <p:nvPr/>
          </p:nvSpPr>
          <p:spPr bwMode="auto">
            <a:xfrm>
              <a:off x="1044" y="2804"/>
              <a:ext cx="53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4" name="Oval 70"/>
            <p:cNvSpPr>
              <a:spLocks noChangeArrowheads="1"/>
            </p:cNvSpPr>
            <p:nvPr/>
          </p:nvSpPr>
          <p:spPr bwMode="auto">
            <a:xfrm>
              <a:off x="1044" y="2931"/>
              <a:ext cx="53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5" name="Rectangle 71"/>
            <p:cNvSpPr>
              <a:spLocks noChangeArrowheads="1"/>
            </p:cNvSpPr>
            <p:nvPr/>
          </p:nvSpPr>
          <p:spPr bwMode="auto">
            <a:xfrm>
              <a:off x="951" y="3299"/>
              <a:ext cx="97" cy="29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6" name="Rectangle 72"/>
            <p:cNvSpPr>
              <a:spLocks noChangeArrowheads="1"/>
            </p:cNvSpPr>
            <p:nvPr/>
          </p:nvSpPr>
          <p:spPr bwMode="auto">
            <a:xfrm>
              <a:off x="791" y="3028"/>
              <a:ext cx="98" cy="29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cxnSp>
          <p:nvCxnSpPr>
            <p:cNvPr id="38957" name="AutoShape 73"/>
            <p:cNvCxnSpPr>
              <a:cxnSpLocks noChangeShapeType="1"/>
              <a:stCxn id="38950" idx="6"/>
              <a:endCxn id="38956" idx="1"/>
            </p:cNvCxnSpPr>
            <p:nvPr/>
          </p:nvCxnSpPr>
          <p:spPr bwMode="auto">
            <a:xfrm flipV="1">
              <a:off x="754" y="3042"/>
              <a:ext cx="37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58" name="AutoShape 74"/>
            <p:cNvCxnSpPr>
              <a:cxnSpLocks noChangeShapeType="1"/>
              <a:stCxn id="38952" idx="6"/>
              <a:endCxn id="38955" idx="1"/>
            </p:cNvCxnSpPr>
            <p:nvPr/>
          </p:nvCxnSpPr>
          <p:spPr bwMode="auto">
            <a:xfrm>
              <a:off x="900" y="3279"/>
              <a:ext cx="51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932" name="AutoShape 75"/>
          <p:cNvCxnSpPr>
            <a:cxnSpLocks noChangeShapeType="1"/>
            <a:stCxn id="38919" idx="6"/>
          </p:cNvCxnSpPr>
          <p:nvPr/>
        </p:nvCxnSpPr>
        <p:spPr bwMode="auto">
          <a:xfrm flipV="1">
            <a:off x="5168900" y="3238500"/>
            <a:ext cx="2679700" cy="11113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3" name="Text Box 76"/>
          <p:cNvSpPr txBox="1">
            <a:spLocks noChangeArrowheads="1"/>
          </p:cNvSpPr>
          <p:nvPr/>
        </p:nvSpPr>
        <p:spPr bwMode="auto">
          <a:xfrm>
            <a:off x="6324600" y="2860675"/>
            <a:ext cx="169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data out (XML)</a:t>
            </a:r>
          </a:p>
        </p:txBody>
      </p:sp>
      <p:grpSp>
        <p:nvGrpSpPr>
          <p:cNvPr id="38934" name="Group 77"/>
          <p:cNvGrpSpPr>
            <a:grpSpLocks/>
          </p:cNvGrpSpPr>
          <p:nvPr/>
        </p:nvGrpSpPr>
        <p:grpSpPr bwMode="auto">
          <a:xfrm>
            <a:off x="5229225" y="2039938"/>
            <a:ext cx="1108075" cy="903287"/>
            <a:chOff x="3360" y="832"/>
            <a:chExt cx="884" cy="720"/>
          </a:xfrm>
        </p:grpSpPr>
        <p:sp>
          <p:nvSpPr>
            <p:cNvPr id="38939" name="Line 78"/>
            <p:cNvSpPr>
              <a:spLocks noChangeShapeType="1"/>
            </p:cNvSpPr>
            <p:nvPr/>
          </p:nvSpPr>
          <p:spPr bwMode="auto">
            <a:xfrm flipH="1">
              <a:off x="3360" y="832"/>
              <a:ext cx="592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cxnSp>
          <p:nvCxnSpPr>
            <p:cNvPr id="38940" name="AutoShape 79"/>
            <p:cNvCxnSpPr>
              <a:cxnSpLocks noChangeShapeType="1"/>
              <a:stCxn id="38939" idx="0"/>
              <a:endCxn id="38920" idx="1"/>
            </p:cNvCxnSpPr>
            <p:nvPr/>
          </p:nvCxnSpPr>
          <p:spPr bwMode="auto">
            <a:xfrm>
              <a:off x="3952" y="832"/>
              <a:ext cx="29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935" name="AutoShape 80"/>
          <p:cNvSpPr>
            <a:spLocks noChangeArrowheads="1"/>
          </p:cNvSpPr>
          <p:nvPr/>
        </p:nvSpPr>
        <p:spPr bwMode="auto">
          <a:xfrm>
            <a:off x="2933700" y="3924300"/>
            <a:ext cx="596900" cy="381000"/>
          </a:xfrm>
          <a:prstGeom prst="roundRect">
            <a:avLst>
              <a:gd name="adj" fmla="val 16667"/>
            </a:avLst>
          </a:prstGeom>
          <a:solidFill>
            <a:schemeClr val="folHlink">
              <a:alpha val="50195"/>
            </a:schemeClr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200" i="1">
                <a:solidFill>
                  <a:schemeClr val="bg2"/>
                </a:solidFill>
                <a:latin typeface="Arial" pitchFamily="34" charset="0"/>
              </a:rPr>
              <a:t>schema</a:t>
            </a:r>
            <a:endParaRPr kumimoji="0" lang="en-US"/>
          </a:p>
        </p:txBody>
      </p:sp>
      <p:cxnSp>
        <p:nvCxnSpPr>
          <p:cNvPr id="38936" name="AutoShape 81"/>
          <p:cNvCxnSpPr>
            <a:cxnSpLocks noChangeShapeType="1"/>
            <a:stCxn id="38918" idx="2"/>
            <a:endCxn id="38935" idx="0"/>
          </p:cNvCxnSpPr>
          <p:nvPr/>
        </p:nvCxnSpPr>
        <p:spPr bwMode="auto">
          <a:xfrm flipH="1">
            <a:off x="3232150" y="3475038"/>
            <a:ext cx="309563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7" name="AutoShape 82"/>
          <p:cNvSpPr>
            <a:spLocks noChangeArrowheads="1"/>
          </p:cNvSpPr>
          <p:nvPr/>
        </p:nvSpPr>
        <p:spPr bwMode="auto">
          <a:xfrm>
            <a:off x="4229100" y="1257300"/>
            <a:ext cx="596900" cy="381000"/>
          </a:xfrm>
          <a:prstGeom prst="roundRect">
            <a:avLst>
              <a:gd name="adj" fmla="val 16667"/>
            </a:avLst>
          </a:prstGeom>
          <a:solidFill>
            <a:schemeClr val="folHlink">
              <a:alpha val="50195"/>
            </a:schemeClr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200" i="1">
                <a:solidFill>
                  <a:schemeClr val="bg2"/>
                </a:solidFill>
                <a:latin typeface="Arial" pitchFamily="34" charset="0"/>
              </a:rPr>
              <a:t>schema</a:t>
            </a:r>
            <a:endParaRPr kumimoji="0" lang="en-US"/>
          </a:p>
        </p:txBody>
      </p:sp>
      <p:cxnSp>
        <p:nvCxnSpPr>
          <p:cNvPr id="38938" name="AutoShape 83"/>
          <p:cNvCxnSpPr>
            <a:cxnSpLocks noChangeShapeType="1"/>
            <a:stCxn id="38927" idx="0"/>
            <a:endCxn id="38937" idx="2"/>
          </p:cNvCxnSpPr>
          <p:nvPr/>
        </p:nvCxnSpPr>
        <p:spPr bwMode="auto">
          <a:xfrm flipV="1">
            <a:off x="4103688" y="1638300"/>
            <a:ext cx="423862" cy="4714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838200"/>
          </a:xfrm>
        </p:spPr>
        <p:txBody>
          <a:bodyPr/>
          <a:lstStyle/>
          <a:p>
            <a:r>
              <a:rPr lang="en-US" dirty="0" smtClean="0"/>
              <a:t>XML Messaging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4800600"/>
          </a:xfrm>
        </p:spPr>
        <p:txBody>
          <a:bodyPr>
            <a:noAutofit/>
          </a:bodyPr>
          <a:lstStyle/>
          <a:p>
            <a:r>
              <a:rPr lang="en-US" sz="2400" dirty="0" smtClean="0"/>
              <a:t>Use XML as the format for sending messages between systems</a:t>
            </a:r>
          </a:p>
          <a:p>
            <a:r>
              <a:rPr lang="en-US" sz="2400" dirty="0" smtClean="0"/>
              <a:t>Advantages are:</a:t>
            </a:r>
          </a:p>
          <a:p>
            <a:pPr lvl="1"/>
            <a:r>
              <a:rPr lang="en-US" sz="2000" dirty="0" smtClean="0"/>
              <a:t>Common syntax; self-describing (easier to parse)</a:t>
            </a:r>
          </a:p>
          <a:p>
            <a:pPr lvl="1"/>
            <a:r>
              <a:rPr lang="en-US" sz="2000" dirty="0" smtClean="0"/>
              <a:t>Can use common/existing transport mechanisms to “move” the XML data (HTTP, HTTPS,  SMTP (email), MQ, IIOP/(CORBA), JMS, ….)</a:t>
            </a:r>
          </a:p>
          <a:p>
            <a:r>
              <a:rPr lang="en-US" sz="2400" dirty="0" smtClean="0"/>
              <a:t>Requirements</a:t>
            </a:r>
          </a:p>
          <a:p>
            <a:pPr lvl="1"/>
            <a:r>
              <a:rPr lang="en-US" sz="2000" dirty="0" smtClean="0"/>
              <a:t>Shared understanding of dialects for transport (required registry [namespace!] ) for identifying dialects</a:t>
            </a:r>
          </a:p>
          <a:p>
            <a:pPr lvl="1"/>
            <a:r>
              <a:rPr lang="en-US" sz="2000" dirty="0" smtClean="0"/>
              <a:t>Shared acceptance of </a:t>
            </a:r>
            <a:r>
              <a:rPr lang="en-US" sz="2000" b="1" i="1" dirty="0" smtClean="0"/>
              <a:t>messaging contract</a:t>
            </a:r>
            <a:r>
              <a:rPr lang="en-US" sz="2000" dirty="0" smtClean="0"/>
              <a:t> </a:t>
            </a:r>
          </a:p>
          <a:p>
            <a:r>
              <a:rPr lang="en-US" sz="2400" dirty="0" smtClean="0"/>
              <a:t>Disadvantages</a:t>
            </a:r>
          </a:p>
          <a:p>
            <a:pPr lvl="1"/>
            <a:r>
              <a:rPr lang="en-US" sz="2000" dirty="0" smtClean="0"/>
              <a:t>Asynchronous transport; no guarantee of delivery, no guarantee that partner (external) shares acceptance of contract.</a:t>
            </a:r>
          </a:p>
          <a:p>
            <a:pPr lvl="1"/>
            <a:r>
              <a:rPr lang="en-US" sz="2000" dirty="0" smtClean="0"/>
              <a:t>Messages will be much larger than binary (10x or more) [can compress]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D159E1-95FE-48A5-951B-86291345073A}" type="slidenum">
              <a:rPr lang="en-CA"/>
              <a:pPr>
                <a:defRPr/>
              </a:pPr>
              <a:t>59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Common messaging model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XML over HTTP </a:t>
            </a:r>
          </a:p>
          <a:p>
            <a:pPr lvl="1"/>
            <a:r>
              <a:rPr lang="en-US" smtClean="0"/>
              <a:t>Use HTTP to transport XML messages </a:t>
            </a:r>
          </a:p>
          <a:p>
            <a:pPr lvl="1"/>
            <a:r>
              <a:rPr lang="en-US" b="1" smtClean="0">
                <a:latin typeface="Courier New" pitchFamily="49" charset="0"/>
              </a:rPr>
              <a:t/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POST /path/to/interface.pl  HTTP/1.1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Referer:  http://www.foo.org/myClient.html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User-agent: db-server-olk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Accept-encoding: gzip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Accept-charset: iso-8859-1, utf-8, ucs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Content-type: application/xml; charset=utf-8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Content-length: 13221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latin typeface="Courier New" pitchFamily="49" charset="0"/>
              </a:rPr>
              <a:t>. . . </a:t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latin typeface="Courier New" pitchFamily="49" charset="0"/>
              </a:rPr>
              <a:t/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&lt;?xml version=“1.0” encoding=“utf-8” ?&gt;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&lt;message&gt;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/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    . . . </a:t>
            </a:r>
            <a:r>
              <a:rPr lang="en-US" b="1" i="1" smtClean="0">
                <a:solidFill>
                  <a:srgbClr val="FF0000"/>
                </a:solidFill>
                <a:latin typeface="Courier New" pitchFamily="49" charset="0"/>
              </a:rPr>
              <a:t>Markup in message</a:t>
            </a: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 . . . 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/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&lt;/message&gt;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67B44-7A22-4C9F-8CB4-1CDA474DDCCD}" type="slidenum">
              <a:rPr lang="en-CA"/>
              <a:pPr>
                <a:defRPr/>
              </a:pPr>
              <a:t>60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6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Some standards for message format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914400"/>
            <a:ext cx="8153400" cy="5334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Define dialects designed to “wrap” remote invocation messages</a:t>
            </a:r>
            <a:br>
              <a:rPr lang="en-US" sz="2800" dirty="0" smtClean="0"/>
            </a:br>
            <a:endParaRPr lang="en-US" sz="2800" dirty="0" smtClean="0"/>
          </a:p>
          <a:p>
            <a:r>
              <a:rPr lang="en-US" sz="2800" b="1" dirty="0" smtClean="0"/>
              <a:t>XML-RPC</a:t>
            </a:r>
            <a:r>
              <a:rPr lang="en-US" sz="2800" dirty="0" smtClean="0"/>
              <a:t>   				</a:t>
            </a:r>
          </a:p>
          <a:p>
            <a:pPr lvl="1"/>
            <a:r>
              <a:rPr lang="en-US" sz="2400" dirty="0" smtClean="0"/>
              <a:t>Very simple way of encoding function/method call name, and passed </a:t>
            </a:r>
            <a:br>
              <a:rPr lang="en-US" sz="2400" dirty="0" smtClean="0"/>
            </a:br>
            <a:r>
              <a:rPr lang="en-US" sz="2400" dirty="0" smtClean="0"/>
              <a:t>parameters, in an XML message.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800" b="1" dirty="0" smtClean="0"/>
              <a:t>SOAP</a:t>
            </a:r>
            <a:r>
              <a:rPr lang="en-US" sz="2800" dirty="0" smtClean="0"/>
              <a:t> (Simple object access protocol)	</a:t>
            </a:r>
          </a:p>
          <a:p>
            <a:pPr lvl="1"/>
            <a:r>
              <a:rPr lang="en-US" sz="2400" dirty="0" smtClean="0"/>
              <a:t>More complex wrapper, which lets you specify schemas for interfaces; more complex rules for handling/</a:t>
            </a:r>
            <a:r>
              <a:rPr lang="en-US" sz="2400" dirty="0" err="1" smtClean="0"/>
              <a:t>proxying</a:t>
            </a:r>
            <a:r>
              <a:rPr lang="en-US" sz="2400" dirty="0" smtClean="0"/>
              <a:t> messages, etc. This is a core component of Microsoft’s .NET strategy, and is integrated into more recent versions of </a:t>
            </a:r>
            <a:r>
              <a:rPr lang="en-US" sz="2400" dirty="0" err="1" smtClean="0"/>
              <a:t>Websphere</a:t>
            </a:r>
            <a:r>
              <a:rPr lang="en-US" sz="2400" dirty="0" smtClean="0"/>
              <a:t> and other commercial packages.					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833DD7-C560-4286-91D5-C7A6B0AD5226}" type="slidenum">
              <a:rPr lang="en-CA"/>
              <a:pPr>
                <a:defRPr/>
              </a:pPr>
              <a:t>61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6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XML Messaging + Processing</a:t>
            </a:r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4EF720-F5DC-49DA-B513-5C1A77542006}" type="slidenum">
              <a:rPr lang="en-CA"/>
              <a:pPr>
                <a:defRPr/>
              </a:pPr>
              <a:t>62</a:t>
            </a:fld>
            <a:endParaRPr lang="en-CA"/>
          </a:p>
        </p:txBody>
      </p:sp>
      <p:sp>
        <p:nvSpPr>
          <p:cNvPr id="44036" name="Rectangle 1027"/>
          <p:cNvSpPr>
            <a:spLocks noChangeArrowheads="1"/>
          </p:cNvSpPr>
          <p:nvPr/>
        </p:nvSpPr>
        <p:spPr bwMode="auto">
          <a:xfrm>
            <a:off x="3503613" y="2928938"/>
            <a:ext cx="573087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0" lang="en-GB"/>
          </a:p>
        </p:txBody>
      </p:sp>
      <p:sp>
        <p:nvSpPr>
          <p:cNvPr id="44037" name="Rectangle 1028"/>
          <p:cNvSpPr>
            <a:spLocks noChangeArrowheads="1"/>
          </p:cNvSpPr>
          <p:nvPr/>
        </p:nvSpPr>
        <p:spPr bwMode="auto">
          <a:xfrm>
            <a:off x="7000875" y="4857750"/>
            <a:ext cx="573088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38" name="Rectangle 1029"/>
          <p:cNvSpPr>
            <a:spLocks noChangeArrowheads="1"/>
          </p:cNvSpPr>
          <p:nvPr/>
        </p:nvSpPr>
        <p:spPr bwMode="auto">
          <a:xfrm>
            <a:off x="7835900" y="2636838"/>
            <a:ext cx="573088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39" name="Rectangle 1030"/>
          <p:cNvSpPr>
            <a:spLocks noChangeArrowheads="1"/>
          </p:cNvSpPr>
          <p:nvPr/>
        </p:nvSpPr>
        <p:spPr bwMode="auto">
          <a:xfrm>
            <a:off x="7470775" y="3748088"/>
            <a:ext cx="573088" cy="817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0" name="Freeform 1031"/>
          <p:cNvSpPr>
            <a:spLocks/>
          </p:cNvSpPr>
          <p:nvPr/>
        </p:nvSpPr>
        <p:spPr bwMode="auto">
          <a:xfrm>
            <a:off x="4186238" y="2682875"/>
            <a:ext cx="3487737" cy="422275"/>
          </a:xfrm>
          <a:custGeom>
            <a:avLst/>
            <a:gdLst>
              <a:gd name="T0" fmla="*/ 0 w 3312"/>
              <a:gd name="T1" fmla="*/ 422275 h 344"/>
              <a:gd name="T2" fmla="*/ 1213126 w 3312"/>
              <a:gd name="T3" fmla="*/ 68742 h 344"/>
              <a:gd name="T4" fmla="*/ 2476799 w 3312"/>
              <a:gd name="T5" fmla="*/ 9820 h 344"/>
              <a:gd name="T6" fmla="*/ 3487737 w 3312"/>
              <a:gd name="T7" fmla="*/ 127665 h 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12" h="344">
                <a:moveTo>
                  <a:pt x="0" y="344"/>
                </a:moveTo>
                <a:cubicBezTo>
                  <a:pt x="380" y="228"/>
                  <a:pt x="760" y="112"/>
                  <a:pt x="1152" y="56"/>
                </a:cubicBezTo>
                <a:cubicBezTo>
                  <a:pt x="1544" y="0"/>
                  <a:pt x="1992" y="0"/>
                  <a:pt x="2352" y="8"/>
                </a:cubicBezTo>
                <a:cubicBezTo>
                  <a:pt x="2712" y="16"/>
                  <a:pt x="3012" y="60"/>
                  <a:pt x="3312" y="104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1" name="Freeform 1032"/>
          <p:cNvSpPr>
            <a:spLocks/>
          </p:cNvSpPr>
          <p:nvPr/>
        </p:nvSpPr>
        <p:spPr bwMode="auto">
          <a:xfrm>
            <a:off x="4224338" y="3503613"/>
            <a:ext cx="2679700" cy="1647825"/>
          </a:xfrm>
          <a:custGeom>
            <a:avLst/>
            <a:gdLst>
              <a:gd name="T0" fmla="*/ 0 w 2544"/>
              <a:gd name="T1" fmla="*/ 0 h 1344"/>
              <a:gd name="T2" fmla="*/ 808966 w 2544"/>
              <a:gd name="T3" fmla="*/ 1118167 h 1344"/>
              <a:gd name="T4" fmla="*/ 1617932 w 2544"/>
              <a:gd name="T5" fmla="*/ 1471272 h 1344"/>
              <a:gd name="T6" fmla="*/ 2679700 w 2544"/>
              <a:gd name="T7" fmla="*/ 1647825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44" h="1344">
                <a:moveTo>
                  <a:pt x="0" y="0"/>
                </a:moveTo>
                <a:cubicBezTo>
                  <a:pt x="256" y="356"/>
                  <a:pt x="512" y="712"/>
                  <a:pt x="768" y="912"/>
                </a:cubicBezTo>
                <a:cubicBezTo>
                  <a:pt x="1024" y="1112"/>
                  <a:pt x="1240" y="1128"/>
                  <a:pt x="1536" y="1200"/>
                </a:cubicBezTo>
                <a:cubicBezTo>
                  <a:pt x="1832" y="1272"/>
                  <a:pt x="2188" y="1308"/>
                  <a:pt x="2544" y="1344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2" name="Freeform 1033"/>
          <p:cNvSpPr>
            <a:spLocks/>
          </p:cNvSpPr>
          <p:nvPr/>
        </p:nvSpPr>
        <p:spPr bwMode="auto">
          <a:xfrm>
            <a:off x="4232275" y="3335338"/>
            <a:ext cx="3133725" cy="646112"/>
          </a:xfrm>
          <a:custGeom>
            <a:avLst/>
            <a:gdLst>
              <a:gd name="T0" fmla="*/ 0 w 2976"/>
              <a:gd name="T1" fmla="*/ 0 h 528"/>
              <a:gd name="T2" fmla="*/ 1111967 w 2976"/>
              <a:gd name="T3" fmla="*/ 293687 h 528"/>
              <a:gd name="T4" fmla="*/ 3133725 w 2976"/>
              <a:gd name="T5" fmla="*/ 646112 h 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6" h="528">
                <a:moveTo>
                  <a:pt x="0" y="0"/>
                </a:moveTo>
                <a:cubicBezTo>
                  <a:pt x="280" y="76"/>
                  <a:pt x="560" y="152"/>
                  <a:pt x="1056" y="240"/>
                </a:cubicBezTo>
                <a:cubicBezTo>
                  <a:pt x="1552" y="328"/>
                  <a:pt x="2264" y="428"/>
                  <a:pt x="2976" y="528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3" name="Text Box 1034"/>
          <p:cNvSpPr txBox="1">
            <a:spLocks noChangeArrowheads="1"/>
          </p:cNvSpPr>
          <p:nvPr/>
        </p:nvSpPr>
        <p:spPr bwMode="auto">
          <a:xfrm>
            <a:off x="3354388" y="2578100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Factory</a:t>
            </a:r>
          </a:p>
        </p:txBody>
      </p:sp>
      <p:sp>
        <p:nvSpPr>
          <p:cNvPr id="44044" name="Text Box 1035"/>
          <p:cNvSpPr txBox="1">
            <a:spLocks noChangeArrowheads="1"/>
          </p:cNvSpPr>
          <p:nvPr/>
        </p:nvSpPr>
        <p:spPr bwMode="auto">
          <a:xfrm>
            <a:off x="7596188" y="2314575"/>
            <a:ext cx="1042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5" name="Text Box 1036"/>
          <p:cNvSpPr txBox="1">
            <a:spLocks noChangeArrowheads="1"/>
          </p:cNvSpPr>
          <p:nvPr/>
        </p:nvSpPr>
        <p:spPr bwMode="auto">
          <a:xfrm>
            <a:off x="7262813" y="3425825"/>
            <a:ext cx="1042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6" name="Text Box 1037"/>
          <p:cNvSpPr txBox="1">
            <a:spLocks noChangeArrowheads="1"/>
          </p:cNvSpPr>
          <p:nvPr/>
        </p:nvSpPr>
        <p:spPr bwMode="auto">
          <a:xfrm>
            <a:off x="6794500" y="4535488"/>
            <a:ext cx="10429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7" name="Text Box 1038"/>
          <p:cNvSpPr txBox="1">
            <a:spLocks noChangeArrowheads="1"/>
          </p:cNvSpPr>
          <p:nvPr/>
        </p:nvSpPr>
        <p:spPr bwMode="auto">
          <a:xfrm>
            <a:off x="4341813" y="1579563"/>
            <a:ext cx="21891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Place order</a:t>
            </a:r>
          </a:p>
          <a:p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(XML/edi) using </a:t>
            </a:r>
            <a:br>
              <a:rPr kumimoji="0" lang="en-GB" sz="2000">
                <a:solidFill>
                  <a:schemeClr val="accent2"/>
                </a:solidFill>
                <a:latin typeface="Arial" pitchFamily="34" charset="0"/>
              </a:rPr>
            </a:br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SOAP over HTTP</a:t>
            </a:r>
            <a:endParaRPr kumimoji="0" lang="en-GB" sz="2000">
              <a:solidFill>
                <a:schemeClr val="accent2"/>
              </a:solidFill>
            </a:endParaRPr>
          </a:p>
        </p:txBody>
      </p:sp>
      <p:sp>
        <p:nvSpPr>
          <p:cNvPr id="44048" name="Text Box 1039"/>
          <p:cNvSpPr txBox="1">
            <a:spLocks noChangeArrowheads="1"/>
          </p:cNvSpPr>
          <p:nvPr/>
        </p:nvSpPr>
        <p:spPr bwMode="auto">
          <a:xfrm>
            <a:off x="3503613" y="4840288"/>
            <a:ext cx="21891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Response</a:t>
            </a:r>
          </a:p>
          <a:p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(XML/edi) using </a:t>
            </a:r>
            <a:br>
              <a:rPr kumimoji="0" lang="en-GB" sz="2000">
                <a:solidFill>
                  <a:srgbClr val="FF0000"/>
                </a:solidFill>
                <a:latin typeface="Arial" pitchFamily="34" charset="0"/>
              </a:rPr>
            </a:br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SOAP over HTTP</a:t>
            </a:r>
            <a:endParaRPr kumimoji="0" lang="en-GB" sz="2000"/>
          </a:p>
        </p:txBody>
      </p:sp>
      <p:sp>
        <p:nvSpPr>
          <p:cNvPr id="44049" name="Freeform 1040"/>
          <p:cNvSpPr>
            <a:spLocks/>
          </p:cNvSpPr>
          <p:nvPr/>
        </p:nvSpPr>
        <p:spPr bwMode="auto">
          <a:xfrm>
            <a:off x="4232275" y="3451225"/>
            <a:ext cx="3133725" cy="647700"/>
          </a:xfrm>
          <a:custGeom>
            <a:avLst/>
            <a:gdLst>
              <a:gd name="T0" fmla="*/ 0 w 2976"/>
              <a:gd name="T1" fmla="*/ 0 h 528"/>
              <a:gd name="T2" fmla="*/ 1111967 w 2976"/>
              <a:gd name="T3" fmla="*/ 294409 h 528"/>
              <a:gd name="T4" fmla="*/ 3133725 w 2976"/>
              <a:gd name="T5" fmla="*/ 647700 h 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6" h="528">
                <a:moveTo>
                  <a:pt x="0" y="0"/>
                </a:moveTo>
                <a:cubicBezTo>
                  <a:pt x="280" y="76"/>
                  <a:pt x="560" y="152"/>
                  <a:pt x="1056" y="240"/>
                </a:cubicBezTo>
                <a:cubicBezTo>
                  <a:pt x="1552" y="328"/>
                  <a:pt x="2264" y="428"/>
                  <a:pt x="2976" y="52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0" name="Freeform 1041"/>
          <p:cNvSpPr>
            <a:spLocks/>
          </p:cNvSpPr>
          <p:nvPr/>
        </p:nvSpPr>
        <p:spPr bwMode="auto">
          <a:xfrm>
            <a:off x="4186238" y="2809875"/>
            <a:ext cx="3487737" cy="422275"/>
          </a:xfrm>
          <a:custGeom>
            <a:avLst/>
            <a:gdLst>
              <a:gd name="T0" fmla="*/ 0 w 3312"/>
              <a:gd name="T1" fmla="*/ 422275 h 344"/>
              <a:gd name="T2" fmla="*/ 1213126 w 3312"/>
              <a:gd name="T3" fmla="*/ 68742 h 344"/>
              <a:gd name="T4" fmla="*/ 2476799 w 3312"/>
              <a:gd name="T5" fmla="*/ 9820 h 344"/>
              <a:gd name="T6" fmla="*/ 3487737 w 3312"/>
              <a:gd name="T7" fmla="*/ 127665 h 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12" h="344">
                <a:moveTo>
                  <a:pt x="0" y="344"/>
                </a:moveTo>
                <a:cubicBezTo>
                  <a:pt x="380" y="228"/>
                  <a:pt x="760" y="112"/>
                  <a:pt x="1152" y="56"/>
                </a:cubicBezTo>
                <a:cubicBezTo>
                  <a:pt x="1544" y="0"/>
                  <a:pt x="1992" y="0"/>
                  <a:pt x="2352" y="8"/>
                </a:cubicBezTo>
                <a:cubicBezTo>
                  <a:pt x="2712" y="16"/>
                  <a:pt x="3012" y="60"/>
                  <a:pt x="3312" y="10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1" name="Freeform 1042"/>
          <p:cNvSpPr>
            <a:spLocks/>
          </p:cNvSpPr>
          <p:nvPr/>
        </p:nvSpPr>
        <p:spPr bwMode="auto">
          <a:xfrm>
            <a:off x="4173538" y="3621088"/>
            <a:ext cx="2678112" cy="1646237"/>
          </a:xfrm>
          <a:custGeom>
            <a:avLst/>
            <a:gdLst>
              <a:gd name="T0" fmla="*/ 0 w 2544"/>
              <a:gd name="T1" fmla="*/ 0 h 1344"/>
              <a:gd name="T2" fmla="*/ 808487 w 2544"/>
              <a:gd name="T3" fmla="*/ 1117089 h 1344"/>
              <a:gd name="T4" fmla="*/ 1616973 w 2544"/>
              <a:gd name="T5" fmla="*/ 1469854 h 1344"/>
              <a:gd name="T6" fmla="*/ 2678112 w 2544"/>
              <a:gd name="T7" fmla="*/ 1646237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44" h="1344">
                <a:moveTo>
                  <a:pt x="0" y="0"/>
                </a:moveTo>
                <a:cubicBezTo>
                  <a:pt x="256" y="356"/>
                  <a:pt x="512" y="712"/>
                  <a:pt x="768" y="912"/>
                </a:cubicBezTo>
                <a:cubicBezTo>
                  <a:pt x="1024" y="1112"/>
                  <a:pt x="1240" y="1128"/>
                  <a:pt x="1536" y="1200"/>
                </a:cubicBezTo>
                <a:cubicBezTo>
                  <a:pt x="1832" y="1272"/>
                  <a:pt x="2188" y="1308"/>
                  <a:pt x="2544" y="134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2" name="Oval 1043"/>
          <p:cNvSpPr>
            <a:spLocks noChangeArrowheads="1"/>
          </p:cNvSpPr>
          <p:nvPr/>
        </p:nvSpPr>
        <p:spPr bwMode="auto">
          <a:xfrm>
            <a:off x="3998913" y="3006725"/>
            <a:ext cx="157162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3" name="Oval 1044"/>
          <p:cNvSpPr>
            <a:spLocks noChangeArrowheads="1"/>
          </p:cNvSpPr>
          <p:nvPr/>
        </p:nvSpPr>
        <p:spPr bwMode="auto">
          <a:xfrm>
            <a:off x="7756525" y="2714625"/>
            <a:ext cx="157163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4" name="Oval 1045"/>
          <p:cNvSpPr>
            <a:spLocks noChangeArrowheads="1"/>
          </p:cNvSpPr>
          <p:nvPr/>
        </p:nvSpPr>
        <p:spPr bwMode="auto">
          <a:xfrm>
            <a:off x="7391400" y="3806825"/>
            <a:ext cx="157163" cy="6810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5" name="Oval 1046"/>
          <p:cNvSpPr>
            <a:spLocks noChangeArrowheads="1"/>
          </p:cNvSpPr>
          <p:nvPr/>
        </p:nvSpPr>
        <p:spPr bwMode="auto">
          <a:xfrm>
            <a:off x="6913563" y="4926013"/>
            <a:ext cx="157162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6" name="Text Box 1047"/>
          <p:cNvSpPr txBox="1">
            <a:spLocks noChangeArrowheads="1"/>
          </p:cNvSpPr>
          <p:nvPr/>
        </p:nvSpPr>
        <p:spPr bwMode="auto">
          <a:xfrm>
            <a:off x="6534150" y="1670050"/>
            <a:ext cx="193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latin typeface="Arial" pitchFamily="34" charset="0"/>
              </a:rPr>
              <a:t>SOAP interface</a:t>
            </a:r>
            <a:endParaRPr kumimoji="0" lang="en-GB" sz="2000">
              <a:solidFill>
                <a:schemeClr val="accent2"/>
              </a:solidFill>
            </a:endParaRPr>
          </a:p>
        </p:txBody>
      </p:sp>
      <p:sp>
        <p:nvSpPr>
          <p:cNvPr id="44057" name="Line 1048"/>
          <p:cNvSpPr>
            <a:spLocks noChangeShapeType="1"/>
          </p:cNvSpPr>
          <p:nvPr/>
        </p:nvSpPr>
        <p:spPr bwMode="auto">
          <a:xfrm>
            <a:off x="7573963" y="1974850"/>
            <a:ext cx="157162" cy="739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8" name="Rectangle 1050"/>
          <p:cNvSpPr>
            <a:spLocks noChangeArrowheads="1"/>
          </p:cNvSpPr>
          <p:nvPr/>
        </p:nvSpPr>
        <p:spPr bwMode="auto">
          <a:xfrm>
            <a:off x="889000" y="2997200"/>
            <a:ext cx="952500" cy="13335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600">
                <a:latin typeface="Arial" pitchFamily="34" charset="0"/>
              </a:rPr>
              <a:t>SOAP</a:t>
            </a:r>
            <a:endParaRPr kumimoji="0" lang="en-US" sz="1800">
              <a:latin typeface="Arial" pitchFamily="34" charset="0"/>
            </a:endParaRPr>
          </a:p>
          <a:p>
            <a:endParaRPr kumimoji="0" lang="en-US" sz="1800">
              <a:latin typeface="Arial" pitchFamily="34" charset="0"/>
            </a:endParaRPr>
          </a:p>
          <a:p>
            <a:endParaRPr kumimoji="0" lang="en-US" sz="1800">
              <a:latin typeface="Arial" pitchFamily="34" charset="0"/>
            </a:endParaRPr>
          </a:p>
          <a:p>
            <a:endParaRPr kumimoji="0" lang="en-US"/>
          </a:p>
        </p:txBody>
      </p:sp>
      <p:sp>
        <p:nvSpPr>
          <p:cNvPr id="44059" name="Rectangle 1051"/>
          <p:cNvSpPr>
            <a:spLocks noChangeArrowheads="1"/>
          </p:cNvSpPr>
          <p:nvPr/>
        </p:nvSpPr>
        <p:spPr bwMode="auto">
          <a:xfrm>
            <a:off x="889000" y="445770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Transport</a:t>
            </a:r>
            <a:endParaRPr kumimoji="0" lang="en-US" sz="2000"/>
          </a:p>
        </p:txBody>
      </p:sp>
      <p:sp>
        <p:nvSpPr>
          <p:cNvPr id="44060" name="Rectangle 1052"/>
          <p:cNvSpPr>
            <a:spLocks noChangeArrowheads="1"/>
          </p:cNvSpPr>
          <p:nvPr/>
        </p:nvSpPr>
        <p:spPr bwMode="auto">
          <a:xfrm>
            <a:off x="965200" y="3429000"/>
            <a:ext cx="800100" cy="812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600">
                <a:latin typeface="Arial" pitchFamily="34" charset="0"/>
              </a:rPr>
              <a:t>XML/</a:t>
            </a:r>
          </a:p>
          <a:p>
            <a:r>
              <a:rPr kumimoji="0" lang="en-US" sz="1600">
                <a:latin typeface="Arial" pitchFamily="34" charset="0"/>
              </a:rPr>
              <a:t>EDI</a:t>
            </a:r>
            <a:endParaRPr kumimoji="0" lang="en-US" sz="2000"/>
          </a:p>
        </p:txBody>
      </p:sp>
      <p:sp>
        <p:nvSpPr>
          <p:cNvPr id="44061" name="Text Box 1053"/>
          <p:cNvSpPr txBox="1">
            <a:spLocks noChangeArrowheads="1"/>
          </p:cNvSpPr>
          <p:nvPr/>
        </p:nvSpPr>
        <p:spPr bwMode="auto">
          <a:xfrm>
            <a:off x="1914525" y="4521200"/>
            <a:ext cx="782638" cy="63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200">
                <a:latin typeface="Arial" pitchFamily="34" charset="0"/>
              </a:rPr>
              <a:t>HTTP(S)</a:t>
            </a:r>
          </a:p>
          <a:p>
            <a:pPr algn="l"/>
            <a:r>
              <a:rPr kumimoji="0" lang="en-US" sz="1200">
                <a:latin typeface="Arial" pitchFamily="34" charset="0"/>
              </a:rPr>
              <a:t>SMTP</a:t>
            </a:r>
          </a:p>
          <a:p>
            <a:pPr algn="l"/>
            <a:r>
              <a:rPr kumimoji="0" lang="en-US" sz="1200">
                <a:latin typeface="Arial" pitchFamily="34" charset="0"/>
              </a:rPr>
              <a:t>other ...</a:t>
            </a:r>
            <a:endParaRPr kumimoji="0" lang="en-US" sz="1800"/>
          </a:p>
        </p:txBody>
      </p:sp>
      <p:cxnSp>
        <p:nvCxnSpPr>
          <p:cNvPr id="44062" name="AutoShape 1056"/>
          <p:cNvCxnSpPr>
            <a:cxnSpLocks noChangeShapeType="1"/>
            <a:stCxn id="44058" idx="2"/>
            <a:endCxn id="44059" idx="0"/>
          </p:cNvCxnSpPr>
          <p:nvPr/>
        </p:nvCxnSpPr>
        <p:spPr bwMode="auto">
          <a:xfrm>
            <a:off x="1365250" y="4330700"/>
            <a:ext cx="0" cy="127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3" name="Line 1061"/>
          <p:cNvSpPr>
            <a:spLocks noChangeShapeType="1"/>
          </p:cNvSpPr>
          <p:nvPr/>
        </p:nvSpPr>
        <p:spPr bwMode="auto">
          <a:xfrm flipH="1" flipV="1">
            <a:off x="1819275" y="2495550"/>
            <a:ext cx="2266950" cy="49847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64" name="Line 1063"/>
          <p:cNvSpPr>
            <a:spLocks noChangeShapeType="1"/>
          </p:cNvSpPr>
          <p:nvPr/>
        </p:nvSpPr>
        <p:spPr bwMode="auto">
          <a:xfrm flipH="1">
            <a:off x="1857375" y="3689350"/>
            <a:ext cx="2228850" cy="10541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65" name="Rectangle 1064"/>
          <p:cNvSpPr>
            <a:spLocks noChangeArrowheads="1"/>
          </p:cNvSpPr>
          <p:nvPr/>
        </p:nvSpPr>
        <p:spPr bwMode="auto">
          <a:xfrm>
            <a:off x="889000" y="200660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Application</a:t>
            </a:r>
            <a:endParaRPr kumimoji="0" lang="en-US" sz="2000"/>
          </a:p>
        </p:txBody>
      </p:sp>
      <p:sp>
        <p:nvSpPr>
          <p:cNvPr id="44066" name="Rectangle 1065"/>
          <p:cNvSpPr>
            <a:spLocks noChangeArrowheads="1"/>
          </p:cNvSpPr>
          <p:nvPr/>
        </p:nvSpPr>
        <p:spPr bwMode="auto">
          <a:xfrm>
            <a:off x="889000" y="248285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SOAP API</a:t>
            </a:r>
            <a:endParaRPr kumimoji="0" lang="en-US" sz="1800"/>
          </a:p>
        </p:txBody>
      </p:sp>
      <p:cxnSp>
        <p:nvCxnSpPr>
          <p:cNvPr id="44067" name="AutoShape 1066"/>
          <p:cNvCxnSpPr>
            <a:cxnSpLocks noChangeShapeType="1"/>
            <a:stCxn id="44066" idx="2"/>
            <a:endCxn id="44058" idx="0"/>
          </p:cNvCxnSpPr>
          <p:nvPr/>
        </p:nvCxnSpPr>
        <p:spPr bwMode="auto">
          <a:xfrm>
            <a:off x="1365250" y="2787650"/>
            <a:ext cx="0" cy="209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8" name="Text Box 1068"/>
          <p:cNvSpPr txBox="1">
            <a:spLocks noChangeArrowheads="1"/>
          </p:cNvSpPr>
          <p:nvPr/>
        </p:nvSpPr>
        <p:spPr bwMode="auto">
          <a:xfrm>
            <a:off x="650875" y="903288"/>
            <a:ext cx="7796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buFontTx/>
              <a:buChar char="•"/>
            </a:pPr>
            <a:r>
              <a:rPr kumimoji="0" lang="en-US"/>
              <a:t> </a:t>
            </a:r>
            <a:r>
              <a:rPr kumimoji="0" lang="en-US">
                <a:latin typeface="Arial" pitchFamily="34" charset="0"/>
              </a:rPr>
              <a:t>XML as a </a:t>
            </a:r>
            <a:r>
              <a:rPr kumimoji="0" lang="en-US" b="1" i="1">
                <a:latin typeface="Arial" pitchFamily="34" charset="0"/>
              </a:rPr>
              <a:t>universal format </a:t>
            </a:r>
            <a:r>
              <a:rPr kumimoji="0" lang="en-US">
                <a:latin typeface="Arial" pitchFamily="34" charset="0"/>
              </a:rPr>
              <a:t> for data exchange</a:t>
            </a:r>
            <a:endParaRPr kumimoji="0"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4675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2CEBC4-D135-48D6-83B7-ABCEC59EA828}" type="slidenum">
              <a:rPr lang="en-CA"/>
              <a:pPr>
                <a:defRPr/>
              </a:pPr>
              <a:t>63</a:t>
            </a:fld>
            <a:endParaRPr lang="en-CA"/>
          </a:p>
        </p:txBody>
      </p:sp>
      <p:sp>
        <p:nvSpPr>
          <p:cNvPr id="46083" name="Text Box 3151" descr="Wide downward diagonal"/>
          <p:cNvSpPr txBox="1">
            <a:spLocks noChangeArrowheads="1"/>
          </p:cNvSpPr>
          <p:nvPr/>
        </p:nvSpPr>
        <p:spPr bwMode="auto">
          <a:xfrm>
            <a:off x="244475" y="4587875"/>
            <a:ext cx="708025" cy="314325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SAX 1</a:t>
            </a:r>
            <a:endParaRPr kumimoji="0" lang="en-US" b="1"/>
          </a:p>
        </p:txBody>
      </p:sp>
      <p:sp>
        <p:nvSpPr>
          <p:cNvPr id="46084" name="Rectangle 3152"/>
          <p:cNvSpPr>
            <a:spLocks noChangeArrowheads="1"/>
          </p:cNvSpPr>
          <p:nvPr/>
        </p:nvSpPr>
        <p:spPr bwMode="auto">
          <a:xfrm>
            <a:off x="0" y="6173788"/>
            <a:ext cx="91440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085" name="Oval 3153"/>
          <p:cNvSpPr>
            <a:spLocks noChangeArrowheads="1"/>
          </p:cNvSpPr>
          <p:nvPr/>
        </p:nvSpPr>
        <p:spPr bwMode="auto">
          <a:xfrm>
            <a:off x="3492500" y="712788"/>
            <a:ext cx="3454400" cy="711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086" name="Rectangle 3154"/>
          <p:cNvSpPr>
            <a:spLocks noChangeArrowheads="1"/>
          </p:cNvSpPr>
          <p:nvPr/>
        </p:nvSpPr>
        <p:spPr bwMode="auto">
          <a:xfrm>
            <a:off x="596900" y="90488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b="1">
                <a:latin typeface="Verdana" pitchFamily="34" charset="0"/>
              </a:rPr>
              <a:t>XML (and related) Specifications</a:t>
            </a:r>
          </a:p>
        </p:txBody>
      </p:sp>
      <p:sp>
        <p:nvSpPr>
          <p:cNvPr id="46087" name="Text Box 3155"/>
          <p:cNvSpPr txBox="1">
            <a:spLocks noChangeArrowheads="1"/>
          </p:cNvSpPr>
          <p:nvPr/>
        </p:nvSpPr>
        <p:spPr bwMode="auto">
          <a:xfrm>
            <a:off x="4052888" y="911225"/>
            <a:ext cx="8604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1.0</a:t>
            </a:r>
            <a:endParaRPr kumimoji="0" lang="en-US" b="1"/>
          </a:p>
        </p:txBody>
      </p:sp>
      <p:sp>
        <p:nvSpPr>
          <p:cNvPr id="46088" name="Text Box 3156"/>
          <p:cNvSpPr txBox="1">
            <a:spLocks noChangeArrowheads="1"/>
          </p:cNvSpPr>
          <p:nvPr/>
        </p:nvSpPr>
        <p:spPr bwMode="auto">
          <a:xfrm>
            <a:off x="5281613" y="949325"/>
            <a:ext cx="11763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names</a:t>
            </a:r>
            <a:endParaRPr kumimoji="0" lang="en-US" b="1"/>
          </a:p>
        </p:txBody>
      </p:sp>
      <p:sp>
        <p:nvSpPr>
          <p:cNvPr id="46089" name="Text Box 3157"/>
          <p:cNvSpPr txBox="1">
            <a:spLocks noChangeArrowheads="1"/>
          </p:cNvSpPr>
          <p:nvPr/>
        </p:nvSpPr>
        <p:spPr bwMode="auto">
          <a:xfrm>
            <a:off x="2371725" y="1749425"/>
            <a:ext cx="6826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Xpath</a:t>
            </a:r>
            <a:endParaRPr kumimoji="0" lang="en-US" b="1"/>
          </a:p>
        </p:txBody>
      </p:sp>
      <p:sp>
        <p:nvSpPr>
          <p:cNvPr id="46090" name="Text Box 3158"/>
          <p:cNvSpPr txBox="1">
            <a:spLocks noChangeArrowheads="1"/>
          </p:cNvSpPr>
          <p:nvPr/>
        </p:nvSpPr>
        <p:spPr bwMode="auto">
          <a:xfrm>
            <a:off x="2397125" y="2468563"/>
            <a:ext cx="6445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XSLT</a:t>
            </a:r>
            <a:endParaRPr kumimoji="0" lang="en-US" b="1"/>
          </a:p>
        </p:txBody>
      </p:sp>
      <p:sp>
        <p:nvSpPr>
          <p:cNvPr id="46091" name="Text Box 3159"/>
          <p:cNvSpPr txBox="1">
            <a:spLocks noChangeArrowheads="1"/>
          </p:cNvSpPr>
          <p:nvPr/>
        </p:nvSpPr>
        <p:spPr bwMode="auto">
          <a:xfrm>
            <a:off x="2447925" y="3235325"/>
            <a:ext cx="5365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XSL</a:t>
            </a:r>
            <a:endParaRPr kumimoji="0" lang="en-US" b="1"/>
          </a:p>
        </p:txBody>
      </p:sp>
      <p:sp>
        <p:nvSpPr>
          <p:cNvPr id="46092" name="Text Box 3160"/>
          <p:cNvSpPr txBox="1">
            <a:spLocks noChangeArrowheads="1"/>
          </p:cNvSpPr>
          <p:nvPr/>
        </p:nvSpPr>
        <p:spPr bwMode="auto">
          <a:xfrm>
            <a:off x="76200" y="3511550"/>
            <a:ext cx="7524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1</a:t>
            </a:r>
            <a:endParaRPr kumimoji="0" lang="en-US" b="1"/>
          </a:p>
        </p:txBody>
      </p:sp>
      <p:sp>
        <p:nvSpPr>
          <p:cNvPr id="46093" name="Text Box 3161" descr="Wide downward diagonal"/>
          <p:cNvSpPr txBox="1">
            <a:spLocks noChangeArrowheads="1"/>
          </p:cNvSpPr>
          <p:nvPr/>
        </p:nvSpPr>
        <p:spPr bwMode="auto">
          <a:xfrm>
            <a:off x="7889875" y="349250"/>
            <a:ext cx="120491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‘Open’ std</a:t>
            </a:r>
            <a:endParaRPr kumimoji="0" lang="en-US" b="1"/>
          </a:p>
        </p:txBody>
      </p:sp>
      <p:sp>
        <p:nvSpPr>
          <p:cNvPr id="46094" name="Text Box 3162"/>
          <p:cNvSpPr txBox="1">
            <a:spLocks noChangeArrowheads="1"/>
          </p:cNvSpPr>
          <p:nvPr/>
        </p:nvSpPr>
        <p:spPr bwMode="auto">
          <a:xfrm>
            <a:off x="7783513" y="2114550"/>
            <a:ext cx="8588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MathML</a:t>
            </a:r>
            <a:endParaRPr kumimoji="0" lang="en-US" b="1"/>
          </a:p>
        </p:txBody>
      </p:sp>
      <p:sp>
        <p:nvSpPr>
          <p:cNvPr id="46095" name="Text Box 3163"/>
          <p:cNvSpPr txBox="1">
            <a:spLocks noChangeArrowheads="1"/>
          </p:cNvSpPr>
          <p:nvPr/>
        </p:nvSpPr>
        <p:spPr bwMode="auto">
          <a:xfrm>
            <a:off x="7767638" y="2479675"/>
            <a:ext cx="11366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SMIL  1 &amp; 2</a:t>
            </a:r>
            <a:endParaRPr kumimoji="0" lang="en-US" b="1"/>
          </a:p>
        </p:txBody>
      </p:sp>
      <p:sp>
        <p:nvSpPr>
          <p:cNvPr id="46096" name="Text Box 3164"/>
          <p:cNvSpPr txBox="1">
            <a:spLocks noChangeArrowheads="1"/>
          </p:cNvSpPr>
          <p:nvPr/>
        </p:nvSpPr>
        <p:spPr bwMode="auto">
          <a:xfrm>
            <a:off x="7783513" y="2857500"/>
            <a:ext cx="5667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SVG</a:t>
            </a:r>
            <a:endParaRPr kumimoji="0" lang="en-US" b="1"/>
          </a:p>
        </p:txBody>
      </p:sp>
      <p:sp>
        <p:nvSpPr>
          <p:cNvPr id="46097" name="Text Box 3165"/>
          <p:cNvSpPr txBox="1">
            <a:spLocks noChangeArrowheads="1"/>
          </p:cNvSpPr>
          <p:nvPr/>
        </p:nvSpPr>
        <p:spPr bwMode="auto">
          <a:xfrm>
            <a:off x="7783513" y="3654425"/>
            <a:ext cx="1096962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 1.0</a:t>
            </a:r>
            <a:endParaRPr kumimoji="0" lang="en-US" b="1"/>
          </a:p>
        </p:txBody>
      </p:sp>
      <p:sp>
        <p:nvSpPr>
          <p:cNvPr id="46098" name="Text Box 3166"/>
          <p:cNvSpPr txBox="1">
            <a:spLocks noChangeArrowheads="1"/>
          </p:cNvSpPr>
          <p:nvPr/>
        </p:nvSpPr>
        <p:spPr bwMode="auto">
          <a:xfrm>
            <a:off x="6956425" y="4978400"/>
            <a:ext cx="1273175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Modularized </a:t>
            </a:r>
          </a:p>
          <a:p>
            <a:r>
              <a:rPr kumimoji="0" lang="en-US" sz="1400" b="1">
                <a:latin typeface="Arial" pitchFamily="34" charset="0"/>
              </a:rPr>
              <a:t>XHTML</a:t>
            </a:r>
            <a:endParaRPr kumimoji="0" lang="en-US" b="1"/>
          </a:p>
        </p:txBody>
      </p:sp>
      <p:sp>
        <p:nvSpPr>
          <p:cNvPr id="46099" name="Text Box 3167"/>
          <p:cNvSpPr txBox="1">
            <a:spLocks noChangeArrowheads="1"/>
          </p:cNvSpPr>
          <p:nvPr/>
        </p:nvSpPr>
        <p:spPr bwMode="auto">
          <a:xfrm>
            <a:off x="8266113" y="4518025"/>
            <a:ext cx="801687" cy="523875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</a:t>
            </a:r>
          </a:p>
          <a:p>
            <a:r>
              <a:rPr kumimoji="0" lang="en-US" sz="1400" b="1">
                <a:latin typeface="Arial" pitchFamily="34" charset="0"/>
              </a:rPr>
              <a:t>basic</a:t>
            </a:r>
            <a:endParaRPr kumimoji="0" lang="en-US" b="1"/>
          </a:p>
        </p:txBody>
      </p:sp>
      <p:sp>
        <p:nvSpPr>
          <p:cNvPr id="46100" name="AutoShape 3168"/>
          <p:cNvSpPr>
            <a:spLocks/>
          </p:cNvSpPr>
          <p:nvPr/>
        </p:nvSpPr>
        <p:spPr bwMode="auto">
          <a:xfrm>
            <a:off x="7327900" y="2109788"/>
            <a:ext cx="368300" cy="1841500"/>
          </a:xfrm>
          <a:prstGeom prst="leftBrace">
            <a:avLst>
              <a:gd name="adj1" fmla="val 4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cxnSp>
        <p:nvCxnSpPr>
          <p:cNvPr id="46101" name="AutoShape 3169"/>
          <p:cNvCxnSpPr>
            <a:cxnSpLocks noChangeShapeType="1"/>
            <a:stCxn id="46091" idx="0"/>
            <a:endCxn id="46090" idx="2"/>
          </p:cNvCxnSpPr>
          <p:nvPr/>
        </p:nvCxnSpPr>
        <p:spPr bwMode="auto">
          <a:xfrm flipV="1">
            <a:off x="2716213" y="2779713"/>
            <a:ext cx="3175" cy="455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2" name="AutoShape 3170"/>
          <p:cNvCxnSpPr>
            <a:cxnSpLocks noChangeShapeType="1"/>
            <a:stCxn id="46090" idx="0"/>
            <a:endCxn id="46089" idx="2"/>
          </p:cNvCxnSpPr>
          <p:nvPr/>
        </p:nvCxnSpPr>
        <p:spPr bwMode="auto">
          <a:xfrm flipH="1" flipV="1">
            <a:off x="2713038" y="2060575"/>
            <a:ext cx="6350" cy="407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3" name="Text Box 3171"/>
          <p:cNvSpPr txBox="1">
            <a:spLocks noChangeArrowheads="1"/>
          </p:cNvSpPr>
          <p:nvPr/>
        </p:nvSpPr>
        <p:spPr bwMode="auto">
          <a:xfrm>
            <a:off x="6513513" y="4505325"/>
            <a:ext cx="803275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Xforms</a:t>
            </a:r>
            <a:endParaRPr kumimoji="0" lang="en-US" b="1"/>
          </a:p>
        </p:txBody>
      </p:sp>
      <p:sp>
        <p:nvSpPr>
          <p:cNvPr id="46104" name="Text Box 3172"/>
          <p:cNvSpPr txBox="1">
            <a:spLocks noChangeArrowheads="1"/>
          </p:cNvSpPr>
          <p:nvPr/>
        </p:nvSpPr>
        <p:spPr bwMode="auto">
          <a:xfrm>
            <a:off x="560388" y="1749425"/>
            <a:ext cx="10366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Canonical</a:t>
            </a:r>
            <a:endParaRPr kumimoji="0" lang="en-US" b="1"/>
          </a:p>
        </p:txBody>
      </p:sp>
      <p:sp>
        <p:nvSpPr>
          <p:cNvPr id="46105" name="Text Box 3173"/>
          <p:cNvSpPr txBox="1">
            <a:spLocks noChangeArrowheads="1"/>
          </p:cNvSpPr>
          <p:nvPr/>
        </p:nvSpPr>
        <p:spPr bwMode="auto">
          <a:xfrm>
            <a:off x="1319213" y="3636963"/>
            <a:ext cx="987425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</a:t>
            </a:r>
          </a:p>
          <a:p>
            <a:r>
              <a:rPr kumimoji="0" lang="en-US" sz="1400" b="1">
                <a:latin typeface="Arial" pitchFamily="34" charset="0"/>
              </a:rPr>
              <a:t>signature</a:t>
            </a:r>
            <a:endParaRPr kumimoji="0" lang="en-US" b="1"/>
          </a:p>
        </p:txBody>
      </p:sp>
      <p:sp>
        <p:nvSpPr>
          <p:cNvPr id="46106" name="Text Box 3174"/>
          <p:cNvSpPr txBox="1">
            <a:spLocks noChangeArrowheads="1"/>
          </p:cNvSpPr>
          <p:nvPr/>
        </p:nvSpPr>
        <p:spPr bwMode="auto">
          <a:xfrm>
            <a:off x="5348288" y="2481263"/>
            <a:ext cx="101758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base</a:t>
            </a:r>
            <a:endParaRPr kumimoji="0" lang="en-US" b="1"/>
          </a:p>
        </p:txBody>
      </p:sp>
      <p:sp>
        <p:nvSpPr>
          <p:cNvPr id="46107" name="Text Box 3175"/>
          <p:cNvSpPr txBox="1">
            <a:spLocks noChangeArrowheads="1"/>
          </p:cNvSpPr>
          <p:nvPr/>
        </p:nvSpPr>
        <p:spPr bwMode="auto">
          <a:xfrm>
            <a:off x="4451350" y="3179763"/>
            <a:ext cx="614363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Xlink</a:t>
            </a:r>
            <a:endParaRPr kumimoji="0" lang="en-US" b="1"/>
          </a:p>
        </p:txBody>
      </p:sp>
      <p:sp>
        <p:nvSpPr>
          <p:cNvPr id="46108" name="Text Box 3176"/>
          <p:cNvSpPr txBox="1">
            <a:spLocks noChangeArrowheads="1"/>
          </p:cNvSpPr>
          <p:nvPr/>
        </p:nvSpPr>
        <p:spPr bwMode="auto">
          <a:xfrm>
            <a:off x="3525838" y="2481263"/>
            <a:ext cx="9096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Xpointer</a:t>
            </a:r>
            <a:endParaRPr kumimoji="0" lang="en-US" b="1"/>
          </a:p>
        </p:txBody>
      </p:sp>
      <p:sp>
        <p:nvSpPr>
          <p:cNvPr id="46109" name="Text Box 3177"/>
          <p:cNvSpPr txBox="1">
            <a:spLocks noChangeArrowheads="1"/>
          </p:cNvSpPr>
          <p:nvPr/>
        </p:nvSpPr>
        <p:spPr bwMode="auto">
          <a:xfrm>
            <a:off x="3000375" y="3935413"/>
            <a:ext cx="1373188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query ….</a:t>
            </a:r>
            <a:endParaRPr kumimoji="0" lang="en-US" b="1"/>
          </a:p>
        </p:txBody>
      </p:sp>
      <p:sp>
        <p:nvSpPr>
          <p:cNvPr id="46110" name="Text Box 3178"/>
          <p:cNvSpPr txBox="1">
            <a:spLocks noChangeArrowheads="1"/>
          </p:cNvSpPr>
          <p:nvPr/>
        </p:nvSpPr>
        <p:spPr bwMode="auto">
          <a:xfrm>
            <a:off x="5464175" y="3179763"/>
            <a:ext cx="769938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Infoset</a:t>
            </a:r>
            <a:endParaRPr kumimoji="0" lang="en-US" b="1"/>
          </a:p>
        </p:txBody>
      </p:sp>
      <p:sp>
        <p:nvSpPr>
          <p:cNvPr id="46111" name="Text Box 3179"/>
          <p:cNvSpPr txBox="1">
            <a:spLocks noChangeArrowheads="1"/>
          </p:cNvSpPr>
          <p:nvPr/>
        </p:nvSpPr>
        <p:spPr bwMode="auto">
          <a:xfrm>
            <a:off x="4159250" y="4513263"/>
            <a:ext cx="1274763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schema</a:t>
            </a:r>
            <a:endParaRPr kumimoji="0" lang="en-US" b="1"/>
          </a:p>
        </p:txBody>
      </p:sp>
      <p:sp>
        <p:nvSpPr>
          <p:cNvPr id="46112" name="Text Box 3180"/>
          <p:cNvSpPr txBox="1">
            <a:spLocks noChangeArrowheads="1"/>
          </p:cNvSpPr>
          <p:nvPr/>
        </p:nvSpPr>
        <p:spPr bwMode="auto">
          <a:xfrm>
            <a:off x="7770813" y="1376363"/>
            <a:ext cx="5556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RDF</a:t>
            </a:r>
            <a:endParaRPr kumimoji="0" lang="en-US" b="1"/>
          </a:p>
        </p:txBody>
      </p:sp>
      <p:cxnSp>
        <p:nvCxnSpPr>
          <p:cNvPr id="46113" name="AutoShape 3181"/>
          <p:cNvCxnSpPr>
            <a:cxnSpLocks noChangeShapeType="1"/>
            <a:stCxn id="46104" idx="0"/>
            <a:endCxn id="46085" idx="2"/>
          </p:cNvCxnSpPr>
          <p:nvPr/>
        </p:nvCxnSpPr>
        <p:spPr bwMode="auto">
          <a:xfrm rot="-5400000">
            <a:off x="1945481" y="202407"/>
            <a:ext cx="681037" cy="2413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4" name="AutoShape 3182"/>
          <p:cNvCxnSpPr>
            <a:cxnSpLocks noChangeShapeType="1"/>
            <a:stCxn id="46090" idx="0"/>
            <a:endCxn id="46085" idx="3"/>
          </p:cNvCxnSpPr>
          <p:nvPr/>
        </p:nvCxnSpPr>
        <p:spPr bwMode="auto">
          <a:xfrm rot="-5400000">
            <a:off x="2784476" y="1254125"/>
            <a:ext cx="1149350" cy="1279525"/>
          </a:xfrm>
          <a:prstGeom prst="curvedConnector3">
            <a:avLst>
              <a:gd name="adj1" fmla="val 2555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5" name="AutoShape 3183"/>
          <p:cNvCxnSpPr>
            <a:cxnSpLocks noChangeShapeType="1"/>
            <a:stCxn id="46100" idx="1"/>
            <a:endCxn id="46085" idx="5"/>
          </p:cNvCxnSpPr>
          <p:nvPr/>
        </p:nvCxnSpPr>
        <p:spPr bwMode="auto">
          <a:xfrm rot="10800000">
            <a:off x="6440488" y="1319213"/>
            <a:ext cx="887412" cy="17113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6" name="AutoShape 3184"/>
          <p:cNvCxnSpPr>
            <a:cxnSpLocks noChangeShapeType="1"/>
            <a:stCxn id="46104" idx="3"/>
            <a:endCxn id="46089" idx="1"/>
          </p:cNvCxnSpPr>
          <p:nvPr/>
        </p:nvCxnSpPr>
        <p:spPr bwMode="auto">
          <a:xfrm>
            <a:off x="1597025" y="1905000"/>
            <a:ext cx="7747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7" name="AutoShape 3185"/>
          <p:cNvCxnSpPr>
            <a:cxnSpLocks noChangeShapeType="1"/>
            <a:stCxn id="46089" idx="0"/>
            <a:endCxn id="46085" idx="2"/>
          </p:cNvCxnSpPr>
          <p:nvPr/>
        </p:nvCxnSpPr>
        <p:spPr bwMode="auto">
          <a:xfrm rot="-5400000">
            <a:off x="2762250" y="1019176"/>
            <a:ext cx="681037" cy="779462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8" name="AutoShape 3186"/>
          <p:cNvCxnSpPr>
            <a:cxnSpLocks noChangeShapeType="1"/>
            <a:stCxn id="46098" idx="0"/>
            <a:endCxn id="46097" idx="2"/>
          </p:cNvCxnSpPr>
          <p:nvPr/>
        </p:nvCxnSpPr>
        <p:spPr bwMode="auto">
          <a:xfrm rot="-5400000">
            <a:off x="7456488" y="4102100"/>
            <a:ext cx="1012825" cy="739775"/>
          </a:xfrm>
          <a:prstGeom prst="curvedConnector3">
            <a:avLst>
              <a:gd name="adj1" fmla="val 3369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9" name="AutoShape 3187"/>
          <p:cNvCxnSpPr>
            <a:cxnSpLocks noChangeShapeType="1"/>
            <a:stCxn id="46099" idx="0"/>
            <a:endCxn id="46097" idx="2"/>
          </p:cNvCxnSpPr>
          <p:nvPr/>
        </p:nvCxnSpPr>
        <p:spPr bwMode="auto">
          <a:xfrm rot="5400000" flipH="1">
            <a:off x="8224044" y="4074319"/>
            <a:ext cx="552450" cy="33496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20" name="Text Box 3188"/>
          <p:cNvSpPr txBox="1">
            <a:spLocks noChangeArrowheads="1"/>
          </p:cNvSpPr>
          <p:nvPr/>
        </p:nvSpPr>
        <p:spPr bwMode="auto">
          <a:xfrm>
            <a:off x="7789863" y="919163"/>
            <a:ext cx="1068387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Xfragment</a:t>
            </a:r>
            <a:endParaRPr kumimoji="0" lang="en-US" b="1"/>
          </a:p>
        </p:txBody>
      </p:sp>
      <p:cxnSp>
        <p:nvCxnSpPr>
          <p:cNvPr id="46121" name="AutoShape 3189"/>
          <p:cNvCxnSpPr>
            <a:cxnSpLocks noChangeShapeType="1"/>
            <a:stCxn id="46120" idx="1"/>
            <a:endCxn id="46085" idx="6"/>
          </p:cNvCxnSpPr>
          <p:nvPr/>
        </p:nvCxnSpPr>
        <p:spPr bwMode="auto">
          <a:xfrm flipH="1" flipV="1">
            <a:off x="6946900" y="1068388"/>
            <a:ext cx="842963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2" name="AutoShape 3190"/>
          <p:cNvCxnSpPr>
            <a:cxnSpLocks noChangeShapeType="1"/>
            <a:stCxn id="46112" idx="1"/>
            <a:endCxn id="46085" idx="6"/>
          </p:cNvCxnSpPr>
          <p:nvPr/>
        </p:nvCxnSpPr>
        <p:spPr bwMode="auto">
          <a:xfrm rot="10800000">
            <a:off x="6946900" y="1068388"/>
            <a:ext cx="823913" cy="463550"/>
          </a:xfrm>
          <a:prstGeom prst="curvedConnector3">
            <a:avLst>
              <a:gd name="adj1" fmla="val 4990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3" name="AutoShape 3191"/>
          <p:cNvCxnSpPr>
            <a:cxnSpLocks noChangeShapeType="1"/>
            <a:stCxn id="46106" idx="0"/>
            <a:endCxn id="46085" idx="4"/>
          </p:cNvCxnSpPr>
          <p:nvPr/>
        </p:nvCxnSpPr>
        <p:spPr bwMode="auto">
          <a:xfrm rot="5400000" flipH="1">
            <a:off x="5010150" y="1633538"/>
            <a:ext cx="1057275" cy="6381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4" name="AutoShape 3192"/>
          <p:cNvCxnSpPr>
            <a:cxnSpLocks noChangeShapeType="1"/>
            <a:stCxn id="46106" idx="2"/>
            <a:endCxn id="46110" idx="0"/>
          </p:cNvCxnSpPr>
          <p:nvPr/>
        </p:nvCxnSpPr>
        <p:spPr bwMode="auto">
          <a:xfrm flipH="1">
            <a:off x="5849938" y="2792413"/>
            <a:ext cx="7937" cy="387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5" name="AutoShape 3193"/>
          <p:cNvCxnSpPr>
            <a:cxnSpLocks noChangeShapeType="1"/>
            <a:stCxn id="46105" idx="3"/>
            <a:endCxn id="46108" idx="2"/>
          </p:cNvCxnSpPr>
          <p:nvPr/>
        </p:nvCxnSpPr>
        <p:spPr bwMode="auto">
          <a:xfrm flipV="1">
            <a:off x="2306638" y="2792413"/>
            <a:ext cx="1674812" cy="1106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6" name="AutoShape 3194"/>
          <p:cNvCxnSpPr>
            <a:cxnSpLocks noChangeShapeType="1"/>
            <a:stCxn id="46105" idx="0"/>
            <a:endCxn id="46090" idx="1"/>
          </p:cNvCxnSpPr>
          <p:nvPr/>
        </p:nvCxnSpPr>
        <p:spPr bwMode="auto">
          <a:xfrm rot="-5400000">
            <a:off x="1598612" y="2838451"/>
            <a:ext cx="1012825" cy="5842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7" name="AutoShape 3195"/>
          <p:cNvCxnSpPr>
            <a:cxnSpLocks noChangeShapeType="1"/>
            <a:stCxn id="46108" idx="0"/>
            <a:endCxn id="46089" idx="3"/>
          </p:cNvCxnSpPr>
          <p:nvPr/>
        </p:nvCxnSpPr>
        <p:spPr bwMode="auto">
          <a:xfrm rot="5400000" flipH="1">
            <a:off x="3229768" y="1729582"/>
            <a:ext cx="576263" cy="927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8" name="AutoShape 3196"/>
          <p:cNvCxnSpPr>
            <a:cxnSpLocks noChangeShapeType="1"/>
            <a:stCxn id="46108" idx="0"/>
            <a:endCxn id="46085" idx="3"/>
          </p:cNvCxnSpPr>
          <p:nvPr/>
        </p:nvCxnSpPr>
        <p:spPr bwMode="auto">
          <a:xfrm rot="-5400000">
            <a:off x="3409157" y="1891506"/>
            <a:ext cx="1162050" cy="17463"/>
          </a:xfrm>
          <a:prstGeom prst="curvedConnector3">
            <a:avLst>
              <a:gd name="adj1" fmla="val 4549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9" name="AutoShape 3197"/>
          <p:cNvCxnSpPr>
            <a:cxnSpLocks noChangeShapeType="1"/>
            <a:stCxn id="46107" idx="0"/>
            <a:endCxn id="46106" idx="1"/>
          </p:cNvCxnSpPr>
          <p:nvPr/>
        </p:nvCxnSpPr>
        <p:spPr bwMode="auto">
          <a:xfrm rot="-5400000">
            <a:off x="4782344" y="2613819"/>
            <a:ext cx="542925" cy="58896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30" name="Freeform 3198"/>
          <p:cNvSpPr>
            <a:spLocks/>
          </p:cNvSpPr>
          <p:nvPr/>
        </p:nvSpPr>
        <p:spPr bwMode="auto">
          <a:xfrm>
            <a:off x="279400" y="2173288"/>
            <a:ext cx="1150938" cy="3179762"/>
          </a:xfrm>
          <a:custGeom>
            <a:avLst/>
            <a:gdLst>
              <a:gd name="T0" fmla="*/ 0 w 725"/>
              <a:gd name="T1" fmla="*/ 5148 h 1853"/>
              <a:gd name="T2" fmla="*/ 608013 w 725"/>
              <a:gd name="T3" fmla="*/ 241957 h 1853"/>
              <a:gd name="T4" fmla="*/ 920750 w 725"/>
              <a:gd name="T5" fmla="*/ 1455174 h 1853"/>
              <a:gd name="T6" fmla="*/ 998538 w 725"/>
              <a:gd name="T7" fmla="*/ 2893189 h 1853"/>
              <a:gd name="T8" fmla="*/ 7938 w 725"/>
              <a:gd name="T9" fmla="*/ 3174614 h 18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5" h="1853">
                <a:moveTo>
                  <a:pt x="0" y="3"/>
                </a:moveTo>
                <a:cubicBezTo>
                  <a:pt x="64" y="26"/>
                  <a:pt x="286" y="0"/>
                  <a:pt x="383" y="141"/>
                </a:cubicBezTo>
                <a:cubicBezTo>
                  <a:pt x="480" y="282"/>
                  <a:pt x="539" y="591"/>
                  <a:pt x="580" y="848"/>
                </a:cubicBezTo>
                <a:cubicBezTo>
                  <a:pt x="621" y="1105"/>
                  <a:pt x="725" y="1519"/>
                  <a:pt x="629" y="1686"/>
                </a:cubicBezTo>
                <a:cubicBezTo>
                  <a:pt x="533" y="1853"/>
                  <a:pt x="135" y="1816"/>
                  <a:pt x="5" y="185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cxnSp>
        <p:nvCxnSpPr>
          <p:cNvPr id="46131" name="AutoShape 3199"/>
          <p:cNvCxnSpPr>
            <a:cxnSpLocks noChangeShapeType="1"/>
            <a:stCxn id="46111" idx="0"/>
            <a:endCxn id="46108" idx="2"/>
          </p:cNvCxnSpPr>
          <p:nvPr/>
        </p:nvCxnSpPr>
        <p:spPr bwMode="auto">
          <a:xfrm rot="5400000" flipH="1">
            <a:off x="3529013" y="3244850"/>
            <a:ext cx="1720850" cy="815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2" name="AutoShape 3200"/>
          <p:cNvCxnSpPr>
            <a:cxnSpLocks noChangeShapeType="1"/>
            <a:stCxn id="46111" idx="0"/>
            <a:endCxn id="46110" idx="2"/>
          </p:cNvCxnSpPr>
          <p:nvPr/>
        </p:nvCxnSpPr>
        <p:spPr bwMode="auto">
          <a:xfrm rot="-5400000">
            <a:off x="4812507" y="3475831"/>
            <a:ext cx="1022350" cy="105251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3" name="AutoShape 3201"/>
          <p:cNvCxnSpPr>
            <a:cxnSpLocks noChangeShapeType="1"/>
            <a:stCxn id="46105" idx="0"/>
            <a:endCxn id="46104" idx="2"/>
          </p:cNvCxnSpPr>
          <p:nvPr/>
        </p:nvCxnSpPr>
        <p:spPr bwMode="auto">
          <a:xfrm rot="5400000" flipH="1">
            <a:off x="658019" y="2482056"/>
            <a:ext cx="1576388" cy="733425"/>
          </a:xfrm>
          <a:prstGeom prst="curvedConnector3">
            <a:avLst>
              <a:gd name="adj1" fmla="val 4994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4" name="AutoShape 3202"/>
          <p:cNvCxnSpPr>
            <a:cxnSpLocks noChangeShapeType="1"/>
            <a:stCxn id="46103" idx="3"/>
            <a:endCxn id="46097" idx="2"/>
          </p:cNvCxnSpPr>
          <p:nvPr/>
        </p:nvCxnSpPr>
        <p:spPr bwMode="auto">
          <a:xfrm flipV="1">
            <a:off x="7316788" y="3965575"/>
            <a:ext cx="1016000" cy="6953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35" name="Text Box 3203"/>
          <p:cNvSpPr txBox="1">
            <a:spLocks noChangeArrowheads="1"/>
          </p:cNvSpPr>
          <p:nvPr/>
        </p:nvSpPr>
        <p:spPr bwMode="auto">
          <a:xfrm>
            <a:off x="6515100" y="3789363"/>
            <a:ext cx="801688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</a:t>
            </a:r>
          </a:p>
          <a:p>
            <a:r>
              <a:rPr kumimoji="0" lang="en-US" sz="1400" b="1">
                <a:latin typeface="Arial" pitchFamily="34" charset="0"/>
              </a:rPr>
              <a:t>events</a:t>
            </a:r>
            <a:endParaRPr kumimoji="0" lang="en-US" b="1"/>
          </a:p>
        </p:txBody>
      </p:sp>
      <p:cxnSp>
        <p:nvCxnSpPr>
          <p:cNvPr id="46136" name="AutoShape 3204"/>
          <p:cNvCxnSpPr>
            <a:cxnSpLocks noChangeShapeType="1"/>
            <a:stCxn id="46103" idx="0"/>
            <a:endCxn id="46135" idx="2"/>
          </p:cNvCxnSpPr>
          <p:nvPr/>
        </p:nvCxnSpPr>
        <p:spPr bwMode="auto">
          <a:xfrm flipV="1">
            <a:off x="6915150" y="4313238"/>
            <a:ext cx="1588" cy="192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7" name="AutoShape 3205"/>
          <p:cNvCxnSpPr>
            <a:cxnSpLocks noChangeShapeType="1"/>
            <a:stCxn id="46103" idx="1"/>
            <a:endCxn id="46089" idx="3"/>
          </p:cNvCxnSpPr>
          <p:nvPr/>
        </p:nvCxnSpPr>
        <p:spPr bwMode="auto">
          <a:xfrm rot="10800000">
            <a:off x="3054350" y="1905000"/>
            <a:ext cx="3459163" cy="2755900"/>
          </a:xfrm>
          <a:prstGeom prst="curvedConnector3">
            <a:avLst>
              <a:gd name="adj1" fmla="val 374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8" name="AutoShape 3206"/>
          <p:cNvCxnSpPr>
            <a:cxnSpLocks noChangeShapeType="1"/>
            <a:stCxn id="46103" idx="1"/>
            <a:endCxn id="46111" idx="3"/>
          </p:cNvCxnSpPr>
          <p:nvPr/>
        </p:nvCxnSpPr>
        <p:spPr bwMode="auto">
          <a:xfrm rot="10800000" flipV="1">
            <a:off x="5434013" y="4660900"/>
            <a:ext cx="1079500" cy="79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9" name="AutoShape 3207"/>
          <p:cNvCxnSpPr>
            <a:cxnSpLocks noChangeShapeType="1"/>
            <a:stCxn id="46135" idx="0"/>
            <a:endCxn id="46085" idx="5"/>
          </p:cNvCxnSpPr>
          <p:nvPr/>
        </p:nvCxnSpPr>
        <p:spPr bwMode="auto">
          <a:xfrm rot="5400000" flipH="1">
            <a:off x="5443538" y="2316163"/>
            <a:ext cx="2470150" cy="476250"/>
          </a:xfrm>
          <a:prstGeom prst="curvedConnector3">
            <a:avLst>
              <a:gd name="adj1" fmla="val 365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40" name="Text Box 3208" descr="Wide downward diagonal"/>
          <p:cNvSpPr txBox="1">
            <a:spLocks noChangeArrowheads="1"/>
          </p:cNvSpPr>
          <p:nvPr/>
        </p:nvSpPr>
        <p:spPr bwMode="auto">
          <a:xfrm>
            <a:off x="1576388" y="5135563"/>
            <a:ext cx="6953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SOAP</a:t>
            </a:r>
            <a:endParaRPr kumimoji="0" lang="en-US" b="1"/>
          </a:p>
        </p:txBody>
      </p:sp>
      <p:sp>
        <p:nvSpPr>
          <p:cNvPr id="46141" name="Text Box 3209" descr="Wide downward diagonal"/>
          <p:cNvSpPr txBox="1">
            <a:spLocks noChangeArrowheads="1"/>
          </p:cNvSpPr>
          <p:nvPr/>
        </p:nvSpPr>
        <p:spPr bwMode="auto">
          <a:xfrm>
            <a:off x="3213100" y="5218113"/>
            <a:ext cx="62547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UDDI</a:t>
            </a:r>
            <a:endParaRPr kumimoji="0" lang="en-US" b="1"/>
          </a:p>
        </p:txBody>
      </p:sp>
      <p:sp>
        <p:nvSpPr>
          <p:cNvPr id="46142" name="Text Box 3210"/>
          <p:cNvSpPr txBox="1">
            <a:spLocks noChangeArrowheads="1"/>
          </p:cNvSpPr>
          <p:nvPr/>
        </p:nvSpPr>
        <p:spPr bwMode="auto">
          <a:xfrm>
            <a:off x="5283200" y="5289550"/>
            <a:ext cx="83026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FinXML</a:t>
            </a:r>
            <a:endParaRPr kumimoji="0" lang="en-US" b="1"/>
          </a:p>
        </p:txBody>
      </p:sp>
      <p:sp>
        <p:nvSpPr>
          <p:cNvPr id="46143" name="Text Box 3211"/>
          <p:cNvSpPr txBox="1">
            <a:spLocks noChangeArrowheads="1"/>
          </p:cNvSpPr>
          <p:nvPr/>
        </p:nvSpPr>
        <p:spPr bwMode="auto">
          <a:xfrm>
            <a:off x="6073775" y="5713413"/>
            <a:ext cx="79216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dirXML</a:t>
            </a:r>
            <a:endParaRPr kumimoji="0" lang="en-US" b="1"/>
          </a:p>
        </p:txBody>
      </p:sp>
      <p:sp>
        <p:nvSpPr>
          <p:cNvPr id="46144" name="Text Box 3212" descr="Wide downward diagonal"/>
          <p:cNvSpPr txBox="1">
            <a:spLocks noChangeArrowheads="1"/>
          </p:cNvSpPr>
          <p:nvPr/>
        </p:nvSpPr>
        <p:spPr bwMode="auto">
          <a:xfrm>
            <a:off x="1587500" y="5524500"/>
            <a:ext cx="10001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XML-RPC</a:t>
            </a:r>
            <a:endParaRPr kumimoji="0" lang="en-US" b="1"/>
          </a:p>
        </p:txBody>
      </p:sp>
      <p:sp>
        <p:nvSpPr>
          <p:cNvPr id="46145" name="Freeform 3213"/>
          <p:cNvSpPr>
            <a:spLocks/>
          </p:cNvSpPr>
          <p:nvPr/>
        </p:nvSpPr>
        <p:spPr bwMode="auto">
          <a:xfrm>
            <a:off x="1433513" y="4962525"/>
            <a:ext cx="1773237" cy="1652588"/>
          </a:xfrm>
          <a:custGeom>
            <a:avLst/>
            <a:gdLst>
              <a:gd name="T0" fmla="*/ 0 w 1117"/>
              <a:gd name="T1" fmla="*/ 146050 h 1041"/>
              <a:gd name="T2" fmla="*/ 282575 w 1117"/>
              <a:gd name="T3" fmla="*/ 30163 h 1041"/>
              <a:gd name="T4" fmla="*/ 742950 w 1117"/>
              <a:gd name="T5" fmla="*/ 15875 h 1041"/>
              <a:gd name="T6" fmla="*/ 1120775 w 1117"/>
              <a:gd name="T7" fmla="*/ 131763 h 1041"/>
              <a:gd name="T8" fmla="*/ 1457325 w 1117"/>
              <a:gd name="T9" fmla="*/ 534988 h 1041"/>
              <a:gd name="T10" fmla="*/ 1773237 w 1117"/>
              <a:gd name="T11" fmla="*/ 1652588 h 10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17" h="1041">
                <a:moveTo>
                  <a:pt x="0" y="92"/>
                </a:moveTo>
                <a:cubicBezTo>
                  <a:pt x="50" y="62"/>
                  <a:pt x="100" y="33"/>
                  <a:pt x="178" y="19"/>
                </a:cubicBezTo>
                <a:cubicBezTo>
                  <a:pt x="255" y="6"/>
                  <a:pt x="379" y="0"/>
                  <a:pt x="468" y="10"/>
                </a:cubicBezTo>
                <a:cubicBezTo>
                  <a:pt x="556" y="20"/>
                  <a:pt x="630" y="28"/>
                  <a:pt x="706" y="83"/>
                </a:cubicBezTo>
                <a:cubicBezTo>
                  <a:pt x="781" y="137"/>
                  <a:pt x="850" y="177"/>
                  <a:pt x="918" y="337"/>
                </a:cubicBezTo>
                <a:cubicBezTo>
                  <a:pt x="986" y="497"/>
                  <a:pt x="1076" y="894"/>
                  <a:pt x="1117" y="104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46" name="Text Box 3214"/>
          <p:cNvSpPr txBox="1">
            <a:spLocks noChangeArrowheads="1"/>
          </p:cNvSpPr>
          <p:nvPr/>
        </p:nvSpPr>
        <p:spPr bwMode="auto">
          <a:xfrm>
            <a:off x="7397750" y="6046788"/>
            <a:ext cx="135731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100's more ....</a:t>
            </a:r>
            <a:endParaRPr kumimoji="0" lang="en-US" b="1"/>
          </a:p>
        </p:txBody>
      </p:sp>
      <p:sp>
        <p:nvSpPr>
          <p:cNvPr id="46147" name="Text Box 3215" descr="Wide downward diagonal"/>
          <p:cNvSpPr txBox="1">
            <a:spLocks noChangeArrowheads="1"/>
          </p:cNvSpPr>
          <p:nvPr/>
        </p:nvSpPr>
        <p:spPr bwMode="auto">
          <a:xfrm>
            <a:off x="333375" y="4833938"/>
            <a:ext cx="704850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SAX 2</a:t>
            </a:r>
            <a:endParaRPr kumimoji="0" lang="en-US" b="1"/>
          </a:p>
        </p:txBody>
      </p:sp>
      <p:sp>
        <p:nvSpPr>
          <p:cNvPr id="46148" name="Text Box 3216"/>
          <p:cNvSpPr txBox="1">
            <a:spLocks noChangeArrowheads="1"/>
          </p:cNvSpPr>
          <p:nvPr/>
        </p:nvSpPr>
        <p:spPr bwMode="auto">
          <a:xfrm>
            <a:off x="177800" y="3778250"/>
            <a:ext cx="7524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2</a:t>
            </a:r>
            <a:endParaRPr kumimoji="0" lang="en-US" b="1"/>
          </a:p>
        </p:txBody>
      </p:sp>
      <p:sp>
        <p:nvSpPr>
          <p:cNvPr id="46149" name="Text Box 3217"/>
          <p:cNvSpPr txBox="1">
            <a:spLocks noChangeArrowheads="1"/>
          </p:cNvSpPr>
          <p:nvPr/>
        </p:nvSpPr>
        <p:spPr bwMode="auto">
          <a:xfrm>
            <a:off x="342900" y="4044950"/>
            <a:ext cx="752475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3</a:t>
            </a:r>
            <a:endParaRPr kumimoji="0" lang="en-US" b="1"/>
          </a:p>
        </p:txBody>
      </p:sp>
      <p:sp>
        <p:nvSpPr>
          <p:cNvPr id="46150" name="Text Box 3218"/>
          <p:cNvSpPr txBox="1">
            <a:spLocks noChangeArrowheads="1"/>
          </p:cNvSpPr>
          <p:nvPr/>
        </p:nvSpPr>
        <p:spPr bwMode="auto">
          <a:xfrm>
            <a:off x="230188" y="5626100"/>
            <a:ext cx="7048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1</a:t>
            </a:r>
            <a:endParaRPr kumimoji="0" lang="en-US" b="1"/>
          </a:p>
        </p:txBody>
      </p:sp>
      <p:sp>
        <p:nvSpPr>
          <p:cNvPr id="46151" name="Text Box 3219"/>
          <p:cNvSpPr txBox="1">
            <a:spLocks noChangeArrowheads="1"/>
          </p:cNvSpPr>
          <p:nvPr/>
        </p:nvSpPr>
        <p:spPr bwMode="auto">
          <a:xfrm>
            <a:off x="331788" y="5892800"/>
            <a:ext cx="7048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2</a:t>
            </a:r>
            <a:endParaRPr kumimoji="0" lang="en-US" b="1"/>
          </a:p>
        </p:txBody>
      </p:sp>
      <p:sp>
        <p:nvSpPr>
          <p:cNvPr id="46152" name="Text Box 3220"/>
          <p:cNvSpPr txBox="1">
            <a:spLocks noChangeArrowheads="1"/>
          </p:cNvSpPr>
          <p:nvPr/>
        </p:nvSpPr>
        <p:spPr bwMode="auto">
          <a:xfrm>
            <a:off x="496888" y="6159500"/>
            <a:ext cx="704850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3</a:t>
            </a:r>
            <a:endParaRPr kumimoji="0" lang="en-US" b="1"/>
          </a:p>
        </p:txBody>
      </p:sp>
      <p:sp>
        <p:nvSpPr>
          <p:cNvPr id="46153" name="Text Box 3221" descr="Wide downward diagonal"/>
          <p:cNvSpPr txBox="1">
            <a:spLocks noChangeArrowheads="1"/>
          </p:cNvSpPr>
          <p:nvPr/>
        </p:nvSpPr>
        <p:spPr bwMode="auto">
          <a:xfrm>
            <a:off x="127000" y="2608263"/>
            <a:ext cx="70326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JDOM</a:t>
            </a:r>
            <a:endParaRPr kumimoji="0" lang="en-US" b="1"/>
          </a:p>
        </p:txBody>
      </p:sp>
      <p:sp>
        <p:nvSpPr>
          <p:cNvPr id="46154" name="Text Box 3222" descr="Wide downward diagonal"/>
          <p:cNvSpPr txBox="1">
            <a:spLocks noChangeArrowheads="1"/>
          </p:cNvSpPr>
          <p:nvPr/>
        </p:nvSpPr>
        <p:spPr bwMode="auto">
          <a:xfrm>
            <a:off x="200025" y="3060700"/>
            <a:ext cx="655638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JAXP</a:t>
            </a:r>
            <a:endParaRPr kumimoji="0" lang="en-US" b="1"/>
          </a:p>
        </p:txBody>
      </p:sp>
      <p:sp>
        <p:nvSpPr>
          <p:cNvPr id="46155" name="Freeform 3223"/>
          <p:cNvSpPr>
            <a:spLocks/>
          </p:cNvSpPr>
          <p:nvPr/>
        </p:nvSpPr>
        <p:spPr bwMode="auto">
          <a:xfrm>
            <a:off x="509588" y="5330825"/>
            <a:ext cx="881062" cy="1444625"/>
          </a:xfrm>
          <a:custGeom>
            <a:avLst/>
            <a:gdLst>
              <a:gd name="T0" fmla="*/ 0 w 555"/>
              <a:gd name="T1" fmla="*/ 63500 h 910"/>
              <a:gd name="T2" fmla="*/ 469900 w 555"/>
              <a:gd name="T3" fmla="*/ 50800 h 910"/>
              <a:gd name="T4" fmla="*/ 804862 w 555"/>
              <a:gd name="T5" fmla="*/ 373063 h 910"/>
              <a:gd name="T6" fmla="*/ 871537 w 555"/>
              <a:gd name="T7" fmla="*/ 614363 h 910"/>
              <a:gd name="T8" fmla="*/ 849312 w 555"/>
              <a:gd name="T9" fmla="*/ 906463 h 910"/>
              <a:gd name="T10" fmla="*/ 863600 w 555"/>
              <a:gd name="T11" fmla="*/ 1182688 h 910"/>
              <a:gd name="T12" fmla="*/ 747712 w 555"/>
              <a:gd name="T13" fmla="*/ 1444625 h 9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55" h="910">
                <a:moveTo>
                  <a:pt x="0" y="40"/>
                </a:moveTo>
                <a:cubicBezTo>
                  <a:pt x="49" y="39"/>
                  <a:pt x="212" y="0"/>
                  <a:pt x="296" y="32"/>
                </a:cubicBezTo>
                <a:cubicBezTo>
                  <a:pt x="380" y="64"/>
                  <a:pt x="465" y="176"/>
                  <a:pt x="507" y="235"/>
                </a:cubicBezTo>
                <a:cubicBezTo>
                  <a:pt x="549" y="294"/>
                  <a:pt x="544" y="331"/>
                  <a:pt x="549" y="387"/>
                </a:cubicBezTo>
                <a:cubicBezTo>
                  <a:pt x="554" y="443"/>
                  <a:pt x="536" y="511"/>
                  <a:pt x="535" y="571"/>
                </a:cubicBezTo>
                <a:cubicBezTo>
                  <a:pt x="534" y="631"/>
                  <a:pt x="555" y="689"/>
                  <a:pt x="544" y="745"/>
                </a:cubicBezTo>
                <a:cubicBezTo>
                  <a:pt x="533" y="801"/>
                  <a:pt x="486" y="876"/>
                  <a:pt x="471" y="91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56" name="Text Box 3229"/>
          <p:cNvSpPr txBox="1">
            <a:spLocks noChangeArrowheads="1"/>
          </p:cNvSpPr>
          <p:nvPr/>
        </p:nvSpPr>
        <p:spPr bwMode="auto">
          <a:xfrm>
            <a:off x="4113213" y="5797550"/>
            <a:ext cx="71437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WSDL</a:t>
            </a:r>
            <a:endParaRPr kumimoji="0" lang="en-US" b="1"/>
          </a:p>
        </p:txBody>
      </p:sp>
      <p:sp>
        <p:nvSpPr>
          <p:cNvPr id="46157" name="Text Box 3230"/>
          <p:cNvSpPr txBox="1">
            <a:spLocks noChangeArrowheads="1"/>
          </p:cNvSpPr>
          <p:nvPr/>
        </p:nvSpPr>
        <p:spPr bwMode="auto">
          <a:xfrm>
            <a:off x="5419725" y="5654675"/>
            <a:ext cx="46672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IFX</a:t>
            </a:r>
            <a:endParaRPr kumimoji="0" lang="en-US" b="1"/>
          </a:p>
        </p:txBody>
      </p:sp>
      <p:sp>
        <p:nvSpPr>
          <p:cNvPr id="46158" name="Text Box 3231"/>
          <p:cNvSpPr txBox="1">
            <a:spLocks noChangeArrowheads="1"/>
          </p:cNvSpPr>
          <p:nvPr/>
        </p:nvSpPr>
        <p:spPr bwMode="auto">
          <a:xfrm>
            <a:off x="5354638" y="6088063"/>
            <a:ext cx="661987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FpML</a:t>
            </a:r>
            <a:endParaRPr kumimoji="0" lang="en-US" b="1"/>
          </a:p>
        </p:txBody>
      </p:sp>
      <p:sp>
        <p:nvSpPr>
          <p:cNvPr id="46159" name="Text Box 3232"/>
          <p:cNvSpPr txBox="1">
            <a:spLocks noChangeArrowheads="1"/>
          </p:cNvSpPr>
          <p:nvPr/>
        </p:nvSpPr>
        <p:spPr bwMode="auto">
          <a:xfrm>
            <a:off x="6356350" y="6156325"/>
            <a:ext cx="338138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...</a:t>
            </a:r>
            <a:endParaRPr kumimoji="0" lang="en-US" b="1"/>
          </a:p>
        </p:txBody>
      </p:sp>
      <p:sp>
        <p:nvSpPr>
          <p:cNvPr id="46160" name="Text Box 3233" descr="Wide downward diagonal"/>
          <p:cNvSpPr txBox="1">
            <a:spLocks noChangeArrowheads="1"/>
          </p:cNvSpPr>
          <p:nvPr/>
        </p:nvSpPr>
        <p:spPr bwMode="auto">
          <a:xfrm>
            <a:off x="3211513" y="5726113"/>
            <a:ext cx="7715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ebXML</a:t>
            </a:r>
            <a:endParaRPr kumimoji="0" lang="en-US" b="1"/>
          </a:p>
        </p:txBody>
      </p:sp>
      <p:sp>
        <p:nvSpPr>
          <p:cNvPr id="46161" name="Text Box 3234"/>
          <p:cNvSpPr txBox="1">
            <a:spLocks noChangeArrowheads="1"/>
          </p:cNvSpPr>
          <p:nvPr/>
        </p:nvSpPr>
        <p:spPr bwMode="auto">
          <a:xfrm>
            <a:off x="3968750" y="5338763"/>
            <a:ext cx="762000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Biztalk</a:t>
            </a:r>
            <a:endParaRPr kumimoji="0" lang="en-US" b="1"/>
          </a:p>
        </p:txBody>
      </p:sp>
      <p:sp>
        <p:nvSpPr>
          <p:cNvPr id="46162" name="Text Box 3235" descr="Wide downward diagonal"/>
          <p:cNvSpPr txBox="1">
            <a:spLocks noChangeArrowheads="1"/>
          </p:cNvSpPr>
          <p:nvPr/>
        </p:nvSpPr>
        <p:spPr bwMode="auto">
          <a:xfrm>
            <a:off x="1577975" y="5943600"/>
            <a:ext cx="73501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WDDX</a:t>
            </a:r>
            <a:endParaRPr kumimoji="0" lang="en-US" b="1"/>
          </a:p>
        </p:txBody>
      </p:sp>
      <p:sp>
        <p:nvSpPr>
          <p:cNvPr id="46163" name="Text Box 3236"/>
          <p:cNvSpPr txBox="1">
            <a:spLocks noChangeArrowheads="1"/>
          </p:cNvSpPr>
          <p:nvPr/>
        </p:nvSpPr>
        <p:spPr bwMode="auto">
          <a:xfrm>
            <a:off x="2443163" y="5999163"/>
            <a:ext cx="506412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XMI</a:t>
            </a:r>
            <a:endParaRPr kumimoji="0" lang="en-US" b="1"/>
          </a:p>
        </p:txBody>
      </p:sp>
      <p:sp>
        <p:nvSpPr>
          <p:cNvPr id="46164" name="Text Box 3237"/>
          <p:cNvSpPr txBox="1">
            <a:spLocks noChangeArrowheads="1"/>
          </p:cNvSpPr>
          <p:nvPr/>
        </p:nvSpPr>
        <p:spPr bwMode="auto">
          <a:xfrm>
            <a:off x="3836988" y="6157913"/>
            <a:ext cx="338137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...</a:t>
            </a:r>
            <a:endParaRPr kumimoji="0" lang="en-US" b="1"/>
          </a:p>
        </p:txBody>
      </p:sp>
      <p:sp>
        <p:nvSpPr>
          <p:cNvPr id="46165" name="Text Box 3238"/>
          <p:cNvSpPr txBox="1">
            <a:spLocks noChangeArrowheads="1"/>
          </p:cNvSpPr>
          <p:nvPr/>
        </p:nvSpPr>
        <p:spPr bwMode="auto">
          <a:xfrm>
            <a:off x="1763713" y="6294438"/>
            <a:ext cx="361950" cy="3429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600" b="1">
                <a:latin typeface="Arial" pitchFamily="34" charset="0"/>
              </a:rPr>
              <a:t>...</a:t>
            </a:r>
            <a:endParaRPr kumimoji="0" lang="en-US" sz="2800" b="1"/>
          </a:p>
        </p:txBody>
      </p:sp>
      <p:sp>
        <p:nvSpPr>
          <p:cNvPr id="46166" name="Freeform 3239"/>
          <p:cNvSpPr>
            <a:spLocks/>
          </p:cNvSpPr>
          <p:nvPr/>
        </p:nvSpPr>
        <p:spPr bwMode="auto">
          <a:xfrm>
            <a:off x="2967038" y="4962525"/>
            <a:ext cx="2066925" cy="1639888"/>
          </a:xfrm>
          <a:custGeom>
            <a:avLst/>
            <a:gdLst>
              <a:gd name="T0" fmla="*/ 0 w 1302"/>
              <a:gd name="T1" fmla="*/ 203200 h 1033"/>
              <a:gd name="T2" fmla="*/ 327025 w 1302"/>
              <a:gd name="T3" fmla="*/ 87313 h 1033"/>
              <a:gd name="T4" fmla="*/ 828675 w 1302"/>
              <a:gd name="T5" fmla="*/ 3175 h 1033"/>
              <a:gd name="T6" fmla="*/ 1433513 w 1302"/>
              <a:gd name="T7" fmla="*/ 111125 h 1033"/>
              <a:gd name="T8" fmla="*/ 1970088 w 1302"/>
              <a:gd name="T9" fmla="*/ 500063 h 1033"/>
              <a:gd name="T10" fmla="*/ 2009775 w 1302"/>
              <a:gd name="T11" fmla="*/ 1639888 h 10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02" h="1033">
                <a:moveTo>
                  <a:pt x="0" y="128"/>
                </a:moveTo>
                <a:cubicBezTo>
                  <a:pt x="58" y="98"/>
                  <a:pt x="119" y="76"/>
                  <a:pt x="206" y="55"/>
                </a:cubicBezTo>
                <a:cubicBezTo>
                  <a:pt x="293" y="34"/>
                  <a:pt x="406" y="0"/>
                  <a:pt x="522" y="2"/>
                </a:cubicBezTo>
                <a:cubicBezTo>
                  <a:pt x="638" y="4"/>
                  <a:pt x="783" y="18"/>
                  <a:pt x="903" y="70"/>
                </a:cubicBezTo>
                <a:cubicBezTo>
                  <a:pt x="1023" y="122"/>
                  <a:pt x="1180" y="154"/>
                  <a:pt x="1241" y="315"/>
                </a:cubicBezTo>
                <a:cubicBezTo>
                  <a:pt x="1302" y="476"/>
                  <a:pt x="1261" y="884"/>
                  <a:pt x="1266" y="103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67" name="Freeform 3240"/>
          <p:cNvSpPr>
            <a:spLocks/>
          </p:cNvSpPr>
          <p:nvPr/>
        </p:nvSpPr>
        <p:spPr bwMode="auto">
          <a:xfrm>
            <a:off x="5065713" y="5113338"/>
            <a:ext cx="2057400" cy="1528762"/>
          </a:xfrm>
          <a:custGeom>
            <a:avLst/>
            <a:gdLst>
              <a:gd name="T0" fmla="*/ 0 w 1296"/>
              <a:gd name="T1" fmla="*/ 163512 h 963"/>
              <a:gd name="T2" fmla="*/ 327025 w 1296"/>
              <a:gd name="T3" fmla="*/ 47625 h 963"/>
              <a:gd name="T4" fmla="*/ 849313 w 1296"/>
              <a:gd name="T5" fmla="*/ 12700 h 963"/>
              <a:gd name="T6" fmla="*/ 1439863 w 1296"/>
              <a:gd name="T7" fmla="*/ 120650 h 963"/>
              <a:gd name="T8" fmla="*/ 1882775 w 1296"/>
              <a:gd name="T9" fmla="*/ 536575 h 963"/>
              <a:gd name="T10" fmla="*/ 2057400 w 1296"/>
              <a:gd name="T11" fmla="*/ 1528762 h 9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96" h="963">
                <a:moveTo>
                  <a:pt x="0" y="103"/>
                </a:moveTo>
                <a:cubicBezTo>
                  <a:pt x="58" y="73"/>
                  <a:pt x="117" y="46"/>
                  <a:pt x="206" y="30"/>
                </a:cubicBezTo>
                <a:cubicBezTo>
                  <a:pt x="295" y="14"/>
                  <a:pt x="418" y="0"/>
                  <a:pt x="535" y="8"/>
                </a:cubicBezTo>
                <a:cubicBezTo>
                  <a:pt x="652" y="16"/>
                  <a:pt x="799" y="21"/>
                  <a:pt x="907" y="76"/>
                </a:cubicBezTo>
                <a:cubicBezTo>
                  <a:pt x="1015" y="131"/>
                  <a:pt x="1121" y="190"/>
                  <a:pt x="1186" y="338"/>
                </a:cubicBezTo>
                <a:cubicBezTo>
                  <a:pt x="1251" y="486"/>
                  <a:pt x="1273" y="833"/>
                  <a:pt x="1296" y="96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68" name="Text Box 3241"/>
          <p:cNvSpPr txBox="1">
            <a:spLocks noChangeArrowheads="1"/>
          </p:cNvSpPr>
          <p:nvPr/>
        </p:nvSpPr>
        <p:spPr bwMode="auto">
          <a:xfrm>
            <a:off x="136525" y="2249488"/>
            <a:ext cx="5191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200" b="1">
                <a:solidFill>
                  <a:schemeClr val="accent2"/>
                </a:solidFill>
                <a:latin typeface="Arial" pitchFamily="34" charset="0"/>
              </a:rPr>
              <a:t>APIs</a:t>
            </a:r>
          </a:p>
        </p:txBody>
      </p:sp>
      <p:sp>
        <p:nvSpPr>
          <p:cNvPr id="46169" name="Text Box 3242"/>
          <p:cNvSpPr txBox="1">
            <a:spLocks noChangeArrowheads="1"/>
          </p:cNvSpPr>
          <p:nvPr/>
        </p:nvSpPr>
        <p:spPr bwMode="auto">
          <a:xfrm>
            <a:off x="631825" y="6510338"/>
            <a:ext cx="6048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Style</a:t>
            </a:r>
          </a:p>
        </p:txBody>
      </p:sp>
      <p:sp>
        <p:nvSpPr>
          <p:cNvPr id="46170" name="Text Box 3243"/>
          <p:cNvSpPr txBox="1">
            <a:spLocks noChangeArrowheads="1"/>
          </p:cNvSpPr>
          <p:nvPr/>
        </p:nvSpPr>
        <p:spPr bwMode="auto">
          <a:xfrm>
            <a:off x="2125663" y="6510338"/>
            <a:ext cx="9985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Protocols</a:t>
            </a:r>
          </a:p>
        </p:txBody>
      </p:sp>
      <p:sp>
        <p:nvSpPr>
          <p:cNvPr id="46171" name="Text Box 3244"/>
          <p:cNvSpPr txBox="1">
            <a:spLocks noChangeArrowheads="1"/>
          </p:cNvSpPr>
          <p:nvPr/>
        </p:nvSpPr>
        <p:spPr bwMode="auto">
          <a:xfrm>
            <a:off x="3344863" y="6510338"/>
            <a:ext cx="13350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Web Services</a:t>
            </a:r>
          </a:p>
        </p:txBody>
      </p:sp>
      <p:sp>
        <p:nvSpPr>
          <p:cNvPr id="46172" name="Text Box 3245"/>
          <p:cNvSpPr txBox="1">
            <a:spLocks noChangeArrowheads="1"/>
          </p:cNvSpPr>
          <p:nvPr/>
        </p:nvSpPr>
        <p:spPr bwMode="auto">
          <a:xfrm>
            <a:off x="5267325" y="6510338"/>
            <a:ext cx="165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Application areas</a:t>
            </a:r>
          </a:p>
        </p:txBody>
      </p:sp>
      <p:sp>
        <p:nvSpPr>
          <p:cNvPr id="46173" name="Text Box 3246"/>
          <p:cNvSpPr txBox="1">
            <a:spLocks noChangeArrowheads="1"/>
          </p:cNvSpPr>
          <p:nvPr/>
        </p:nvSpPr>
        <p:spPr bwMode="auto">
          <a:xfrm>
            <a:off x="1265238" y="823913"/>
            <a:ext cx="1247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 b="1">
                <a:solidFill>
                  <a:schemeClr val="accent2"/>
                </a:solidFill>
                <a:latin typeface="Arial" pitchFamily="34" charset="0"/>
              </a:rPr>
              <a:t>XML Core</a:t>
            </a:r>
          </a:p>
        </p:txBody>
      </p:sp>
      <p:sp>
        <p:nvSpPr>
          <p:cNvPr id="46174" name="Text Box 3247"/>
          <p:cNvSpPr txBox="1">
            <a:spLocks noChangeArrowheads="1"/>
          </p:cNvSpPr>
          <p:nvPr/>
        </p:nvSpPr>
        <p:spPr bwMode="auto">
          <a:xfrm>
            <a:off x="6808788" y="1588"/>
            <a:ext cx="1033462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W3C rec</a:t>
            </a:r>
            <a:endParaRPr kumimoji="0" lang="en-US" b="1"/>
          </a:p>
        </p:txBody>
      </p:sp>
      <p:sp>
        <p:nvSpPr>
          <p:cNvPr id="46175" name="Text Box 3248"/>
          <p:cNvSpPr txBox="1">
            <a:spLocks noChangeArrowheads="1"/>
          </p:cNvSpPr>
          <p:nvPr/>
        </p:nvSpPr>
        <p:spPr bwMode="auto">
          <a:xfrm>
            <a:off x="6808788" y="349250"/>
            <a:ext cx="1033462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W3C draft</a:t>
            </a:r>
            <a:endParaRPr kumimoji="0" lang="en-US" b="1"/>
          </a:p>
        </p:txBody>
      </p:sp>
      <p:sp>
        <p:nvSpPr>
          <p:cNvPr id="46176" name="Text Box 3249"/>
          <p:cNvSpPr txBox="1">
            <a:spLocks noChangeArrowheads="1"/>
          </p:cNvSpPr>
          <p:nvPr/>
        </p:nvSpPr>
        <p:spPr bwMode="auto">
          <a:xfrm>
            <a:off x="7891463" y="0"/>
            <a:ext cx="120332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industry std</a:t>
            </a:r>
            <a:endParaRPr kumimoji="0" lang="en-US" b="1"/>
          </a:p>
        </p:txBody>
      </p:sp>
      <p:sp>
        <p:nvSpPr>
          <p:cNvPr id="46177" name="Text Box 3253"/>
          <p:cNvSpPr txBox="1">
            <a:spLocks noChangeArrowheads="1"/>
          </p:cNvSpPr>
          <p:nvPr/>
        </p:nvSpPr>
        <p:spPr bwMode="auto">
          <a:xfrm>
            <a:off x="7800975" y="3251200"/>
            <a:ext cx="515938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…...</a:t>
            </a:r>
            <a:endParaRPr kumimoji="0" lang="en-US" b="1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33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w3school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595</TotalTime>
  <Words>3617</Words>
  <Application>Microsoft Office PowerPoint</Application>
  <PresentationFormat>On-screen Show (4:3)</PresentationFormat>
  <Paragraphs>803</Paragraphs>
  <Slides>64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Algerian</vt:lpstr>
      <vt:lpstr>Arial</vt:lpstr>
      <vt:lpstr>Calibri</vt:lpstr>
      <vt:lpstr>Courier New</vt:lpstr>
      <vt:lpstr>Symbol</vt:lpstr>
      <vt:lpstr>Tahoma</vt:lpstr>
      <vt:lpstr>Times New Roman</vt:lpstr>
      <vt:lpstr>Verdana</vt:lpstr>
      <vt:lpstr>Verdana</vt:lpstr>
      <vt:lpstr>Wingdings</vt:lpstr>
      <vt:lpstr>HNDIT</vt:lpstr>
      <vt:lpstr>XML &amp; Related Technologies</vt:lpstr>
      <vt:lpstr>Learning Outcomes</vt:lpstr>
      <vt:lpstr>XML Fundamentals</vt:lpstr>
      <vt:lpstr>XML Fundamentals, cont’</vt:lpstr>
      <vt:lpstr>XML Document Example</vt:lpstr>
      <vt:lpstr>XML Data Model: Example – XML Tree</vt:lpstr>
      <vt:lpstr>The Difference Between XML and HTML</vt:lpstr>
      <vt:lpstr>PowerPoint Presentation</vt:lpstr>
      <vt:lpstr>The structure of an XML Document</vt:lpstr>
      <vt:lpstr>The structure of an XML Document</vt:lpstr>
      <vt:lpstr>The structure of an XML Document, example</vt:lpstr>
      <vt:lpstr>XML Components</vt:lpstr>
      <vt:lpstr>XML Syntax</vt:lpstr>
      <vt:lpstr>XML Components - Elements</vt:lpstr>
      <vt:lpstr>XML Elements </vt:lpstr>
      <vt:lpstr>PowerPoint Presentation</vt:lpstr>
      <vt:lpstr>PowerPoint Presentation</vt:lpstr>
      <vt:lpstr>PowerPoint Presentation</vt:lpstr>
      <vt:lpstr>Elements , cont’</vt:lpstr>
      <vt:lpstr>Attributes</vt:lpstr>
      <vt:lpstr>Attributes , cont’</vt:lpstr>
      <vt:lpstr>Attributes vs Elements </vt:lpstr>
      <vt:lpstr>Mixing Elements and Text </vt:lpstr>
      <vt:lpstr>Entity References</vt:lpstr>
      <vt:lpstr>Five predefined entity references in XML:</vt:lpstr>
      <vt:lpstr>Other XML Constructs</vt:lpstr>
      <vt:lpstr>Other XML Constructs</vt:lpstr>
      <vt:lpstr>Well Formed XML Documents </vt:lpstr>
      <vt:lpstr>Well Formed XML Documents, cont’</vt:lpstr>
      <vt:lpstr>Terminology</vt:lpstr>
      <vt:lpstr>The structure of the XML document</vt:lpstr>
      <vt:lpstr>Declaration</vt:lpstr>
      <vt:lpstr>DTD –Document Type Definition</vt:lpstr>
      <vt:lpstr>DTD, cont</vt:lpstr>
      <vt:lpstr>Internal DTD </vt:lpstr>
      <vt:lpstr>External DTD</vt:lpstr>
      <vt:lpstr>DTD Symbols</vt:lpstr>
      <vt:lpstr>Declaring elements in a DTD</vt:lpstr>
      <vt:lpstr>Declaring elements in a DTD</vt:lpstr>
      <vt:lpstr>Declaring elements in a DTD - Example</vt:lpstr>
      <vt:lpstr>Attributes</vt:lpstr>
      <vt:lpstr>Categories of attributes</vt:lpstr>
      <vt:lpstr>Example DTD (internal DTD)</vt:lpstr>
      <vt:lpstr>Parsing XML Documents</vt:lpstr>
      <vt:lpstr>XML Parser Processing Model </vt:lpstr>
      <vt:lpstr>XML Parsers</vt:lpstr>
      <vt:lpstr>Some Java XML Parsers</vt:lpstr>
      <vt:lpstr>XML Parsers, DTDs, and Internal Entities </vt:lpstr>
      <vt:lpstr>PowerPoint Presentation</vt:lpstr>
      <vt:lpstr>PowerPoint Presentation</vt:lpstr>
      <vt:lpstr>PowerPoint Presentation</vt:lpstr>
      <vt:lpstr>How do you define language dialects?</vt:lpstr>
      <vt:lpstr>XML Namespaces</vt:lpstr>
      <vt:lpstr>XML Namespaces</vt:lpstr>
      <vt:lpstr>Mixing language dialects together</vt:lpstr>
      <vt:lpstr>XML Software</vt:lpstr>
      <vt:lpstr>XML Processing: XSLT</vt:lpstr>
      <vt:lpstr>XSLT processing model</vt:lpstr>
      <vt:lpstr>XML Messaging</vt:lpstr>
      <vt:lpstr>Common messaging model</vt:lpstr>
      <vt:lpstr>Some standards for message format</vt:lpstr>
      <vt:lpstr>XML Messaging + Processing</vt:lpstr>
      <vt:lpstr>PowerPoint Presentation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&amp; Related Technologies</dc:title>
  <dc:creator>User</dc:creator>
  <cp:lastModifiedBy>Admin</cp:lastModifiedBy>
  <cp:revision>44</cp:revision>
  <dcterms:created xsi:type="dcterms:W3CDTF">2012-11-12T19:00:52Z</dcterms:created>
  <dcterms:modified xsi:type="dcterms:W3CDTF">2019-01-05T06:34:32Z</dcterms:modified>
</cp:coreProperties>
</file>