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3"/>
  </p:notesMasterIdLst>
  <p:sldIdLst>
    <p:sldId id="256" r:id="rId2"/>
    <p:sldId id="326" r:id="rId3"/>
    <p:sldId id="327" r:id="rId4"/>
    <p:sldId id="261" r:id="rId5"/>
    <p:sldId id="262" r:id="rId6"/>
    <p:sldId id="265" r:id="rId7"/>
    <p:sldId id="264" r:id="rId8"/>
    <p:sldId id="266" r:id="rId9"/>
    <p:sldId id="267" r:id="rId10"/>
    <p:sldId id="268" r:id="rId11"/>
    <p:sldId id="269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34" autoAdjust="0"/>
    <p:restoredTop sz="94660"/>
  </p:normalViewPr>
  <p:slideViewPr>
    <p:cSldViewPr>
      <p:cViewPr varScale="1">
        <p:scale>
          <a:sx n="70" d="100"/>
          <a:sy n="70" d="100"/>
        </p:scale>
        <p:origin x="51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1AF1BF-01CA-4961-8652-E6477156C05F}" type="datetimeFigureOut">
              <a:rPr lang="en-US" smtClean="0"/>
              <a:pPr/>
              <a:t>11/24/2018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1FD58E-DEE8-4398-ADC3-3A3441DE8C8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205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1FD58E-DEE8-4398-ADC3-3A3441DE8C8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097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3A8F1-B951-458F-9D16-0991B858F1CE}" type="datetime1">
              <a:rPr lang="en-US" smtClean="0"/>
              <a:t>11/24/2018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SLIATE HNDIT 2 Year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7" name="Picture 3" descr="C:\Users\Dell PC\Desktop\mainpa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738" y="2133600"/>
            <a:ext cx="9162738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Chapter 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8600" y="22479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Course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1274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912F3-04AD-4AF0-9B9B-31A22E9D22F3}" type="datetime1">
              <a:rPr lang="en-US" smtClean="0"/>
              <a:t>11/24/2018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SLIATE HNDIT 2 Year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6" name="Picture 2" descr="C:\Users\Dell PC\Desktop\template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172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F98F2-7674-4B9A-9507-E8637229935B}" type="datetime1">
              <a:rPr lang="en-US" smtClean="0"/>
              <a:t>11/24/2018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SLIATE HNDIT 2 Year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10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E20D7-8BA9-435E-9AD4-2BE9B590B159}" type="datetime1">
              <a:rPr lang="en-US" smtClean="0"/>
              <a:t>11/24/2018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SLIATE HNDIT 2 Year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815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C2BA6-6E47-4138-8050-6589F480AFE8}" type="datetime1">
              <a:rPr lang="en-US" smtClean="0"/>
              <a:t>11/24/2018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SLIATE HNDIT 2 Year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61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AEB14-564B-46F8-8801-EC0DDD2E149D}" type="datetime1">
              <a:rPr lang="en-US" smtClean="0"/>
              <a:t>11/24/2018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SLIATE HNDIT 2 Year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9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C38F9-F14D-424D-BEB9-1FB0363F268B}" type="datetime1">
              <a:rPr lang="en-US" smtClean="0"/>
              <a:t>11/24/2018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SLIATE HNDIT 2 Year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40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F5B57-2446-4362-8A24-3A19669FF22C}" type="datetime1">
              <a:rPr lang="en-US" smtClean="0"/>
              <a:t>11/24/2018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SLIATE HNDIT 2 Year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32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1F186-CD7E-4927-9224-6DDBF50681A9}" type="datetime1">
              <a:rPr lang="en-US" smtClean="0"/>
              <a:t>11/24/2018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SLIATE HNDIT 2 Year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718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0320C-148B-4002-B0BB-E06E619B6A24}" type="datetime1">
              <a:rPr lang="en-US" smtClean="0"/>
              <a:t>11/24/2018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SLIATE HNDIT 2 Year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74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D39C8-A2D3-4561-AE1C-9B5F286CBFE0}" type="datetime1">
              <a:rPr lang="en-US" smtClean="0"/>
              <a:t>11/24/2018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SLIATE HNDIT 2 Year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65A7BC-8A43-4297-8D5A-7E79147F839C}" type="datetime1">
              <a:rPr lang="en-US" smtClean="0"/>
              <a:t>11/24/2018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SLIATE HNDIT 2 Year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87FE11-6A5F-4A23-80E7-CB018A3301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2" descr="C:\Users\Dell PC\Desktop\template2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343400"/>
            <a:ext cx="7406640" cy="1752600"/>
          </a:xfrm>
        </p:spPr>
        <p:txBody>
          <a:bodyPr/>
          <a:lstStyle/>
          <a:p>
            <a:pPr algn="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40" y="813816"/>
            <a:ext cx="8153400" cy="1472184"/>
          </a:xfrm>
        </p:spPr>
        <p:txBody>
          <a:bodyPr>
            <a:noAutofit/>
          </a:bodyPr>
          <a:lstStyle/>
          <a:p>
            <a:r>
              <a:rPr lang="en-US" sz="4800" dirty="0"/>
              <a:t>HNDIT2411: Enterprise </a:t>
            </a:r>
            <a:r>
              <a:rPr lang="en-US" sz="4800" dirty="0" smtClean="0"/>
              <a:t>Architecture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Times New Roman" panose="02020603050405020304" pitchFamily="18" charset="0"/>
                <a:cs typeface="Iskoola Pota" panose="020B0502040204020203" pitchFamily="34" charset="0"/>
              </a:rPr>
              <a:t/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Times New Roman" panose="02020603050405020304" pitchFamily="18" charset="0"/>
                <a:cs typeface="Iskoola Pota" panose="020B0502040204020203" pitchFamily="34" charset="0"/>
              </a:rPr>
            </a:br>
            <a:endParaRPr lang="en-US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094699"/>
              </p:ext>
            </p:extLst>
          </p:nvPr>
        </p:nvGraphicFramePr>
        <p:xfrm>
          <a:off x="0" y="3175062"/>
          <a:ext cx="9144000" cy="2920938"/>
        </p:xfrm>
        <a:graphic>
          <a:graphicData uri="http://schemas.openxmlformats.org/drawingml/2006/table">
            <a:tbl>
              <a:tblPr firstRow="1" firstCol="1" bandRow="1">
                <a:tableStyleId>{35758FB7-9AC5-4552-8A53-C91805E547FA}</a:tableStyleId>
              </a:tblPr>
              <a:tblGrid>
                <a:gridCol w="2374507"/>
                <a:gridCol w="2026438"/>
                <a:gridCol w="2210009"/>
                <a:gridCol w="1090699"/>
                <a:gridCol w="1442347"/>
              </a:tblGrid>
              <a:tr h="76404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2000" dirty="0">
                          <a:effectLst/>
                        </a:rPr>
                        <a:t>Module Code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2000" dirty="0">
                          <a:effectLst/>
                        </a:rPr>
                        <a:t>HNDIT2411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</a:rPr>
                        <a:t>Module Title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</a:rPr>
                        <a:t>Enterprise Architecture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9139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</a:rPr>
                        <a:t>Credits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</a:rPr>
                        <a:t>3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</a:rPr>
                        <a:t>Hours /Week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</a:rPr>
                        <a:t>Lectures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</a:rPr>
                        <a:t>15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</a:tr>
              <a:tr h="98278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</a:rPr>
                        <a:t>GPA/NGPA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</a:rPr>
                        <a:t>GPA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</a:rPr>
                        <a:t>Lab/Tutorial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</a:rPr>
                        <a:t>60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</a:tr>
              <a:tr h="58125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</a:rPr>
                        <a:t>Semester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</a:rPr>
                        <a:t>4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</a:rPr>
                        <a:t>Module Type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r>
                        <a:rPr lang="en-US" sz="2000" dirty="0">
                          <a:effectLst/>
                        </a:rPr>
                        <a:t>Field Elective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828801" y="4482412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4572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300" b="0" i="0" u="none" strike="noStrike" cap="none" normalizeH="0" baseline="0" smtClean="0">
              <a:ln>
                <a:noFill/>
              </a:ln>
              <a:solidFill>
                <a:srgbClr val="2E74B5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Latha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SLIATE HNDIT 2 Year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Outline</a:t>
            </a:r>
            <a:r>
              <a:rPr lang="en-US" b="1" dirty="0">
                <a:latin typeface="Calibri" panose="020F0502020204030204" pitchFamily="34" charset="0"/>
                <a:ea typeface="Times New Roman" panose="02020603050405020304" pitchFamily="18" charset="0"/>
                <a:cs typeface="Iskoola Pota" panose="020B0502040204020203" pitchFamily="34" charset="0"/>
              </a:rPr>
              <a:t> </a:t>
            </a:r>
            <a:r>
              <a:rPr lang="en-US" b="1" dirty="0"/>
              <a:t>Syllabus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8719678"/>
              </p:ext>
            </p:extLst>
          </p:nvPr>
        </p:nvGraphicFramePr>
        <p:xfrm>
          <a:off x="419669" y="1761699"/>
          <a:ext cx="8686800" cy="6408828"/>
        </p:xfrm>
        <a:graphic>
          <a:graphicData uri="http://schemas.openxmlformats.org/drawingml/2006/table">
            <a:tbl>
              <a:tblPr firstRow="1" firstCol="1" bandRow="1"/>
              <a:tblGrid>
                <a:gridCol w="8686800"/>
              </a:tblGrid>
              <a:tr h="23581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</a:pPr>
                      <a:endParaRPr lang="en-US" sz="24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Iskoola Pota" panose="020B0502040204020203" pitchFamily="34" charset="0"/>
                      </a:endParaRPr>
                    </a:p>
                  </a:txBody>
                  <a:tcPr marL="36161" marR="3616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860188">
                <a:tc>
                  <a:txBody>
                    <a:bodyPr/>
                    <a:lstStyle/>
                    <a:p>
                      <a:pPr marL="342900" marR="0" lvl="0" indent="-342900" algn="l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Introduction to distributed computing paradigm and service-oriented computing paradigm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Iskoola Pota" panose="020B0502040204020203" pitchFamily="34" charset="0"/>
                      </a:endParaRPr>
                    </a:p>
                    <a:p>
                      <a:pPr marL="342900" marR="0" lvl="0" indent="-342900" algn="l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Principles of distributed software development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Iskoola Pota" panose="020B0502040204020203" pitchFamily="34" charset="0"/>
                      </a:endParaRPr>
                    </a:p>
                    <a:p>
                      <a:pPr marL="342900" marR="0" lvl="0" indent="-342900" algn="l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Programming with concurrency and multithreading (in Java)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Iskoola Pota" panose="020B0502040204020203" pitchFamily="34" charset="0"/>
                      </a:endParaRPr>
                    </a:p>
                    <a:p>
                      <a:pPr marL="342900" marR="0" lvl="0" indent="-342900" algn="l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Working with databases (in Java)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Iskoola Pota" panose="020B0502040204020203" pitchFamily="34" charset="0"/>
                      </a:endParaRPr>
                    </a:p>
                    <a:p>
                      <a:pPr marL="742950" marR="0" lvl="1" indent="-285750" algn="l">
                        <a:lnSpc>
                          <a:spcPct val="150000"/>
                        </a:lnSpc>
                        <a:buFont typeface="+mj-lt"/>
                        <a:buAutoNum type="alphaLcPeriod"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Introduction to JDBC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Iskoola Pota" panose="020B0502040204020203" pitchFamily="34" charset="0"/>
                      </a:endParaRPr>
                    </a:p>
                    <a:p>
                      <a:pPr marL="742950" marR="0" lvl="1" indent="-285750" algn="l">
                        <a:lnSpc>
                          <a:spcPct val="150000"/>
                        </a:lnSpc>
                        <a:buFont typeface="+mj-lt"/>
                        <a:buAutoNum type="alphaLcPeriod"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Processing SQL statements with </a:t>
                      </a:r>
                      <a:r>
                        <a:rPr lang="en-US" sz="24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JDBC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Iskoola Pota" panose="020B0502040204020203" pitchFamily="34" charset="0"/>
                      </a:endParaRPr>
                    </a:p>
                  </a:txBody>
                  <a:tcPr marL="36161" marR="3616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SLIATE HNDIT 2 Year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7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" panose="020F0502020204030204" pitchFamily="34" charset="0"/>
                <a:ea typeface="Times New Roman" panose="02020603050405020304" pitchFamily="18" charset="0"/>
                <a:cs typeface="Iskoola Pota" panose="020B0502040204020203" pitchFamily="34" charset="0"/>
              </a:rPr>
              <a:t>Outline </a:t>
            </a:r>
            <a:r>
              <a:rPr lang="en-US" b="1" dirty="0" smtClean="0">
                <a:latin typeface="Calibri" panose="020F0502020204030204" pitchFamily="34" charset="0"/>
                <a:ea typeface="Times New Roman" panose="02020603050405020304" pitchFamily="18" charset="0"/>
                <a:cs typeface="Iskoola Pota" panose="020B0502040204020203" pitchFamily="34" charset="0"/>
              </a:rPr>
              <a:t>Syllabus….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457200" lvl="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 startAt="5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Web-based application development and state management</a:t>
            </a: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Iskoola Pota" panose="020B0502040204020203" pitchFamily="34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+mj-lt"/>
              <a:buAutoNum type="alphaLcPeriod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Describe the role of web components in a Java EE application</a:t>
            </a: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Iskoola Pota" panose="020B0502040204020203" pitchFamily="34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+mj-lt"/>
              <a:buAutoNum type="alphaLcPeriod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Define the HTTP request-response model</a:t>
            </a: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Iskoola Pota" panose="020B0502040204020203" pitchFamily="34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+mj-lt"/>
              <a:buAutoNum type="alphaLcPeriod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Developing Servlets</a:t>
            </a: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Iskoola Pota" panose="020B0502040204020203" pitchFamily="34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+mj-lt"/>
              <a:buAutoNum type="alphaLcPeriod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Servlet Overview: Life cycle of Servlet, Handling Client HTTP Request &amp; Server HTTP Response, Initializing Parameters &amp; Servlet Context, Initializing a Servlet, Session Management, Request Dispatcher &amp; Redirecting</a:t>
            </a: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Iskoola Pota" panose="020B0502040204020203" pitchFamily="34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+mj-lt"/>
              <a:buAutoNum type="alphaLcPeriod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Developing With Java Server Pages Technology: Overview of JSP, JSP Architecture &amp; life cycle, , Components of Java Server Pages, Implicit Objects &amp; Standard JSP Tags, Scope of JSP objects</a:t>
            </a: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Iskoola Pota" panose="020B0502040204020203" pitchFamily="34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+mj-lt"/>
              <a:buAutoNum type="alphaLcPeriod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EJB Overview: </a:t>
            </a: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Iskoola Pota" panose="020B0502040204020203" pitchFamily="34" charset="0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  <a:buFont typeface="+mj-lt"/>
              <a:buAutoNum type="romanLcPeriod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EJB 3.0 overview &amp; Architecture, Features of EJB 3.0, About Session Beans, EJB 3.0 Persistence Programming Model, Java EE Application Assembly and Deployment – Anatomy of EJB Module &amp; Packaging, Java Persistence API, Designing a Java Enterprise Application</a:t>
            </a:r>
            <a:endParaRPr lang="en-US" dirty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Iskoola Pota" panose="020B0502040204020203" pitchFamily="34" charset="0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  <a:buFont typeface="+mj-lt"/>
              <a:buAutoNum type="romanLcPeriod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 View Controller (MVC)2 Architecture &amp; Packaging EJB Module</a:t>
            </a:r>
            <a:endParaRPr lang="en-US" dirty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Iskoola Pota" panose="020B0502040204020203" pitchFamily="34" charset="0"/>
            </a:endParaRPr>
          </a:p>
          <a:p>
            <a:pPr lvl="0">
              <a:lnSpc>
                <a:spcPct val="150000"/>
              </a:lnSpc>
              <a:spcBef>
                <a:spcPts val="0"/>
              </a:spcBef>
              <a:buFont typeface="+mj-lt"/>
              <a:buAutoNum type="arabicPeriod" startAt="5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XML data representation and processing </a:t>
            </a: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Iskoola Pota" panose="020B0502040204020203" pitchFamily="34" charset="0"/>
            </a:endParaRPr>
          </a:p>
          <a:p>
            <a:pPr lvl="0">
              <a:lnSpc>
                <a:spcPct val="150000"/>
              </a:lnSpc>
              <a:spcBef>
                <a:spcPts val="0"/>
              </a:spcBef>
              <a:buFont typeface="+mj-lt"/>
              <a:buAutoNum type="arabicPeriod" startAt="5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Introduction to frameworks</a:t>
            </a: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Iskoola Pota" panose="020B0502040204020203" pitchFamily="34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+mj-lt"/>
              <a:buAutoNum type="alphaLcPeriod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Struts2 FRAMEWORK</a:t>
            </a: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Iskoola Pota" panose="020B0502040204020203" pitchFamily="34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+mj-lt"/>
              <a:buAutoNum type="alphaLcPeriod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Iskoola Pota" panose="020B0502040204020203" pitchFamily="34" charset="0"/>
              </a:rPr>
              <a:t>Hibernate</a:t>
            </a: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Iskoola Pota" panose="020B0502040204020203" pitchFamily="34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+mj-lt"/>
              <a:buAutoNum type="alphaLcPeriod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Iskoola Pota" panose="020B0502040204020203" pitchFamily="34" charset="0"/>
              </a:rPr>
              <a:t>Spring</a:t>
            </a: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Iskoola Pota" panose="020B0502040204020203" pitchFamily="34" charset="0"/>
            </a:endParaRP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SLIATE HNDIT 2 Year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241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8229600" cy="1143000"/>
          </a:xfrm>
        </p:spPr>
        <p:txBody>
          <a:bodyPr/>
          <a:lstStyle/>
          <a:p>
            <a:r>
              <a:rPr lang="en-US" b="1" dirty="0" smtClean="0"/>
              <a:t>Assessment and Weighting</a:t>
            </a:r>
            <a:endParaRPr lang="en-US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 rot="16200000">
            <a:off x="-2438400" y="3886200"/>
            <a:ext cx="5410200" cy="53340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2800" b="1" i="1" dirty="0" smtClean="0">
                <a:solidFill>
                  <a:srgbClr val="EAEAE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Assessment and Weighting</a:t>
            </a:r>
            <a:endParaRPr lang="en-US" sz="2800" b="1" i="1" dirty="0">
              <a:solidFill>
                <a:srgbClr val="EAEAEA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lt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4171019"/>
              </p:ext>
            </p:extLst>
          </p:nvPr>
        </p:nvGraphicFramePr>
        <p:xfrm>
          <a:off x="566381" y="1447800"/>
          <a:ext cx="8577619" cy="4371988"/>
        </p:xfrm>
        <a:graphic>
          <a:graphicData uri="http://schemas.openxmlformats.org/drawingml/2006/table">
            <a:tbl>
              <a:tblPr firstRow="1" firstCol="1" bandRow="1">
                <a:tableStyleId>{22838BEF-8BB2-4498-84A7-C5851F593DF1}</a:tableStyleId>
              </a:tblPr>
              <a:tblGrid>
                <a:gridCol w="2885378"/>
                <a:gridCol w="3602707"/>
                <a:gridCol w="2089534"/>
              </a:tblGrid>
              <a:tr h="93689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800">
                          <a:effectLst/>
                        </a:rPr>
                        <a:t>Type                                    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800">
                          <a:effectLst/>
                        </a:rPr>
                        <a:t>Activity                                                                   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800">
                          <a:effectLst/>
                        </a:rPr>
                        <a:t>Weighting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/>
                </a:tc>
              </a:tr>
              <a:tr h="130412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800">
                          <a:effectLst/>
                        </a:rPr>
                        <a:t>Continuous Assessment 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800">
                          <a:effectLst/>
                        </a:rPr>
                        <a:t>In class participation, discussions and group work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800">
                          <a:effectLst/>
                        </a:rPr>
                        <a:t>25%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/>
                </a:tc>
              </a:tr>
              <a:tr h="93689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800">
                          <a:effectLst/>
                        </a:rPr>
                        <a:t> 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800">
                          <a:effectLst/>
                        </a:rPr>
                        <a:t>Tutorials and assignments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800">
                          <a:effectLst/>
                        </a:rPr>
                        <a:t>25%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/>
                </a:tc>
              </a:tr>
              <a:tr h="93689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800">
                          <a:effectLst/>
                        </a:rPr>
                        <a:t>End of semester examination 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800">
                          <a:effectLst/>
                        </a:rPr>
                        <a:t>Structured question paper 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800" dirty="0">
                          <a:effectLst/>
                        </a:rPr>
                        <a:t>50%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Iskoola Pota" panose="020B0502040204020203" pitchFamily="34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SLIATE HNDIT 2 Year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152400"/>
            <a:ext cx="7498080" cy="1143000"/>
          </a:xfrm>
        </p:spPr>
        <p:txBody>
          <a:bodyPr/>
          <a:lstStyle/>
          <a:p>
            <a:r>
              <a:rPr lang="en-US" b="1" dirty="0" smtClean="0"/>
              <a:t>Prescribed 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47800"/>
            <a:ext cx="8534400" cy="5410200"/>
          </a:xfrm>
        </p:spPr>
        <p:txBody>
          <a:bodyPr>
            <a:normAutofit/>
          </a:bodyPr>
          <a:lstStyle/>
          <a:p>
            <a:pPr algn="just">
              <a:lnSpc>
                <a:spcPct val="160000"/>
              </a:lnSpc>
            </a:pPr>
            <a:r>
              <a:rPr lang="en-US" i="1" dirty="0"/>
              <a:t>Expert One-on-One J2EE Design and Development by Rod Johnson</a:t>
            </a:r>
            <a:endParaRPr lang="en-US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 rot="16200000">
            <a:off x="-2438400" y="3886200"/>
            <a:ext cx="5410200" cy="53340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2800" b="1" i="1" dirty="0" smtClean="0">
                <a:solidFill>
                  <a:srgbClr val="EAEAE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rPr>
              <a:t>Prescribed Text</a:t>
            </a:r>
            <a:endParaRPr lang="en-US" sz="2800" b="1" i="1" dirty="0">
              <a:solidFill>
                <a:srgbClr val="EAEAEA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lt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SLIATE HNDIT 2 Year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1066800"/>
            <a:ext cx="8229600" cy="1524000"/>
          </a:xfrm>
        </p:spPr>
        <p:txBody>
          <a:bodyPr>
            <a:noAutofit/>
            <a:scene3d>
              <a:camera prst="orthographicFront"/>
              <a:lightRig rig="threePt" dir="t"/>
            </a:scene3d>
            <a:sp3d extrusionH="57150">
              <a:bevelT w="82550" h="38100" prst="coolSlant"/>
            </a:sp3d>
          </a:bodyPr>
          <a:lstStyle/>
          <a:p>
            <a:pPr algn="ctr"/>
            <a:r>
              <a:rPr lang="en-US" sz="4000" b="1" dirty="0" smtClean="0"/>
              <a:t>Introduction </a:t>
            </a:r>
            <a:r>
              <a:rPr lang="en-US" sz="4000" b="1" dirty="0"/>
              <a:t>t</a:t>
            </a:r>
            <a:r>
              <a:rPr lang="en-US" sz="4000" b="1" dirty="0" smtClean="0"/>
              <a:t>o Distributed Computing Paradigm and Service-oriented Computing Paradigm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endParaRPr lang="en-US" b="1" dirty="0"/>
          </a:p>
        </p:txBody>
      </p:sp>
      <p:sp>
        <p:nvSpPr>
          <p:cNvPr id="3" name="Rectangle 2"/>
          <p:cNvSpPr/>
          <p:nvPr/>
        </p:nvSpPr>
        <p:spPr>
          <a:xfrm>
            <a:off x="838200" y="4800600"/>
            <a:ext cx="8991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/>
              <a:t>HNDIT2411: Enterprise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524000" y="2895600"/>
            <a:ext cx="181351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/>
              <a:t>Chapter 1</a:t>
            </a:r>
            <a:endParaRPr lang="en-US" sz="32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SLIATE HNDIT 2 Year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1388"/>
            <a:ext cx="8229600" cy="1143000"/>
          </a:xfrm>
        </p:spPr>
        <p:txBody>
          <a:bodyPr/>
          <a:lstStyle/>
          <a:p>
            <a:r>
              <a:rPr lang="en-US" b="1" dirty="0" smtClean="0"/>
              <a:t>Computing Paradigms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1642"/>
            <a:ext cx="8077200" cy="54102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A computing paradigm refers to the set of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 </a:t>
            </a:r>
            <a:r>
              <a:rPr lang="en-US" b="1" dirty="0" smtClean="0"/>
              <a:t>concepts, </a:t>
            </a:r>
          </a:p>
          <a:p>
            <a:pPr lvl="1">
              <a:lnSpc>
                <a:spcPct val="150000"/>
              </a:lnSpc>
            </a:pPr>
            <a:r>
              <a:rPr lang="en-US" b="1" dirty="0" smtClean="0"/>
              <a:t>principles, </a:t>
            </a:r>
            <a:r>
              <a:rPr lang="en-US" dirty="0" smtClean="0"/>
              <a:t>and </a:t>
            </a:r>
          </a:p>
          <a:p>
            <a:pPr lvl="1">
              <a:lnSpc>
                <a:spcPct val="150000"/>
              </a:lnSpc>
            </a:pPr>
            <a:r>
              <a:rPr lang="en-US" b="1" dirty="0" smtClean="0"/>
              <a:t>methods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 smtClean="0"/>
              <a:t>of expressing computation that 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allows </a:t>
            </a:r>
            <a:r>
              <a:rPr lang="en-US" b="1" dirty="0" smtClean="0"/>
              <a:t>human command </a:t>
            </a:r>
            <a:r>
              <a:rPr lang="en-US" dirty="0" smtClean="0"/>
              <a:t>on one hand and 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allows the </a:t>
            </a:r>
            <a:r>
              <a:rPr lang="en-US" b="1" dirty="0" smtClean="0"/>
              <a:t>computer to efficiently execute </a:t>
            </a:r>
            <a:r>
              <a:rPr lang="en-US" dirty="0" smtClean="0"/>
              <a:t>on the other hand.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SLIATE HNDIT 2 Year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8337"/>
            <a:ext cx="8229600" cy="1143000"/>
          </a:xfrm>
        </p:spPr>
        <p:txBody>
          <a:bodyPr/>
          <a:lstStyle/>
          <a:p>
            <a:r>
              <a:rPr lang="en-US" b="1" dirty="0"/>
              <a:t>The M</a:t>
            </a:r>
            <a:r>
              <a:rPr lang="en-US" b="1" dirty="0" smtClean="0"/>
              <a:t>ajor </a:t>
            </a:r>
            <a:r>
              <a:rPr lang="en-US" b="1" dirty="0"/>
              <a:t>Computing </a:t>
            </a:r>
            <a:r>
              <a:rPr lang="en-US" b="1" dirty="0" smtClean="0"/>
              <a:t>paradigms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738312"/>
            <a:ext cx="8229600" cy="480060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The major computing paradigms that have dominated computer science education and software development are:</a:t>
            </a:r>
          </a:p>
          <a:p>
            <a:pPr marL="1371600" lvl="2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i="1" dirty="0" smtClean="0">
                <a:solidFill>
                  <a:srgbClr val="FF0000"/>
                </a:solidFill>
              </a:rPr>
              <a:t>Imperative computing</a:t>
            </a:r>
          </a:p>
          <a:p>
            <a:pPr marL="1371600" lvl="2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i="1" dirty="0">
                <a:solidFill>
                  <a:srgbClr val="FF0000"/>
                </a:solidFill>
              </a:rPr>
              <a:t>Procedural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i="1" dirty="0">
                <a:solidFill>
                  <a:srgbClr val="FF0000"/>
                </a:solidFill>
              </a:rPr>
              <a:t>computing</a:t>
            </a:r>
          </a:p>
          <a:p>
            <a:pPr marL="1371600" lvl="2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i="1" dirty="0" smtClean="0">
                <a:solidFill>
                  <a:srgbClr val="FF0000"/>
                </a:solidFill>
              </a:rPr>
              <a:t>Object-Oriented Computing (OOC)</a:t>
            </a:r>
          </a:p>
          <a:p>
            <a:pPr marL="1371600" lvl="2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i="1" dirty="0" smtClean="0">
                <a:solidFill>
                  <a:srgbClr val="FF0000"/>
                </a:solidFill>
              </a:rPr>
              <a:t>Service-Oriented Computing (SOC)</a:t>
            </a:r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SLIATE HNDIT 2 Year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337" y="457200"/>
            <a:ext cx="8229600" cy="1143000"/>
          </a:xfrm>
        </p:spPr>
        <p:txBody>
          <a:bodyPr/>
          <a:lstStyle/>
          <a:p>
            <a:r>
              <a:rPr lang="en-US" b="1" dirty="0" smtClean="0"/>
              <a:t>1. Imperative computing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51037"/>
            <a:ext cx="8229600" cy="4221163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Developed in the 1950s. 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FORTRAN was the flagship language of this approach, which dominated software development in the 50s and 60s and extended even into 70s.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SLIATE HNDIT 2 Year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r>
              <a:rPr lang="en-US" b="1" dirty="0" smtClean="0"/>
              <a:t>2. Procedural computing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962956"/>
            <a:ext cx="8763000" cy="3371044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Developed during the 1970s and 80s, which emphasized modular software design. 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Programming languages </a:t>
            </a:r>
            <a:r>
              <a:rPr lang="en-US" dirty="0" err="1" smtClean="0"/>
              <a:t>Algol</a:t>
            </a:r>
            <a:r>
              <a:rPr lang="en-US" dirty="0" smtClean="0"/>
              <a:t>, Pascal, and C represent this approach.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SLIATE HNDIT 2 Year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810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3. Object-Oriented Computing (OOC)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07442"/>
            <a:ext cx="8153400" cy="480060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Developed after the 80s, with an emphasis on abstraction and code reuse. 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Representative object-oriented programming languages include C++, Java, and C#.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SLIATE HNDIT 2 Year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7FE11-6A5F-4A23-80E7-CB018A330197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HNDIT</Template>
  <TotalTime>461</TotalTime>
  <Words>519</Words>
  <Application>Microsoft Office PowerPoint</Application>
  <PresentationFormat>On-screen Show (4:3)</PresentationFormat>
  <Paragraphs>106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Iskoola Pota</vt:lpstr>
      <vt:lpstr>Latha</vt:lpstr>
      <vt:lpstr>Times New Roman</vt:lpstr>
      <vt:lpstr>HNDIT</vt:lpstr>
      <vt:lpstr>HNDIT2411: Enterprise Architecture </vt:lpstr>
      <vt:lpstr>Outline Syllabus</vt:lpstr>
      <vt:lpstr>Outline Syllabus….</vt:lpstr>
      <vt:lpstr>Assessment and Weighting</vt:lpstr>
      <vt:lpstr>Prescribed Text</vt:lpstr>
      <vt:lpstr>Introduction to Distributed Computing Paradigm and Service-oriented Computing Paradigm  </vt:lpstr>
      <vt:lpstr>Computing Paradigms</vt:lpstr>
      <vt:lpstr>The Major Computing paradigms</vt:lpstr>
      <vt:lpstr>1. Imperative computing</vt:lpstr>
      <vt:lpstr>2. Procedural computing</vt:lpstr>
      <vt:lpstr>3. Object-Oriented Computing (OOC)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IT4101 Multi-tiered application development</dc:title>
  <dc:creator>User</dc:creator>
  <cp:lastModifiedBy>Admin</cp:lastModifiedBy>
  <cp:revision>43</cp:revision>
  <dcterms:created xsi:type="dcterms:W3CDTF">2012-08-01T05:29:21Z</dcterms:created>
  <dcterms:modified xsi:type="dcterms:W3CDTF">2018-11-24T09:49:40Z</dcterms:modified>
</cp:coreProperties>
</file>