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5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11/24/2018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1FD58E-DEE8-4398-ADC3-3A3441DE8C8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3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0A07-FF6B-44D8-9F10-C9AAFDF71F18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FD93-1041-4D0E-81B9-AE363BB46210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40EE2-209E-472F-98CC-CFBB42F90AFA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AEF48-1A68-4141-9C38-8785F72C4C3C}" type="datetime1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A0B2-2E9F-4BB4-B2A7-29A7EECE3B13}" type="datetime1">
              <a:rPr lang="en-US" smtClean="0"/>
              <a:t>11/24/2018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9452A-DCDF-411B-B728-53568DDA2D1C}" type="datetime1">
              <a:rPr lang="en-US" smtClean="0"/>
              <a:t>11/24/2018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639FD-D578-401F-8FDF-A22C765409CE}" type="datetime1">
              <a:rPr lang="en-US" smtClean="0"/>
              <a:t>11/24/2018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6F011-F775-4732-8EDE-76865F0133DC}" type="datetime1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A1670-853F-474E-821F-433B6457DF9B}" type="datetime1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F9D1-901B-446B-86B4-27FE3BC2325C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55413-DDFE-4825-831E-692F7E8D6FF6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57AE-5614-4CD9-B2F8-425DB2A8BD32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43400"/>
            <a:ext cx="7406640" cy="1752600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imes New Roman" panose="02020603050405020304" pitchFamily="18" charset="0"/>
                <a:cs typeface="Iskoola Pota" panose="020B0502040204020203" pitchFamily="34" charset="0"/>
              </a:rPr>
              <a:t>HNDIT2411: Enterprise Architecture</a:t>
            </a:r>
          </a:p>
          <a:p>
            <a:pPr algn="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imes New Roman" panose="02020603050405020304" pitchFamily="18" charset="0"/>
                <a:cs typeface="Iskoola Pota" panose="020B0502040204020203" pitchFamily="34" charset="0"/>
              </a:rPr>
              <a:t>Chapter 03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imes New Roman" panose="02020603050405020304" pitchFamily="18" charset="0"/>
                <a:cs typeface="Iskoola Pota" panose="020B0502040204020203" pitchFamily="34" charset="0"/>
              </a:rPr>
              <a:t/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Times New Roman" panose="02020603050405020304" pitchFamily="18" charset="0"/>
                <a:cs typeface="Iskoola Pota" panose="020B0502040204020203" pitchFamily="34" charset="0"/>
              </a:rPr>
            </a:br>
            <a:endParaRPr lang="en-US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8153400" cy="1472184"/>
          </a:xfrm>
        </p:spPr>
        <p:txBody>
          <a:bodyPr>
            <a:noAutofit/>
          </a:bodyPr>
          <a:lstStyle/>
          <a:p>
            <a:pPr lvl="0"/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Programming with </a:t>
            </a:r>
            <a:r>
              <a:rPr lang="en-US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Concurrency </a:t>
            </a:r>
            <a:r>
              <a:rPr lang="en-US" sz="4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Multithreading </a:t>
            </a:r>
            <a:r>
              <a:rPr lang="en-US" sz="4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Times New Roman" panose="02020603050405020304" pitchFamily="18" charset="0"/>
              </a:rPr>
              <a:t>(in Java)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Iskoola Pota" panose="020B0502040204020203" pitchFamily="34" charset="0"/>
              </a:rPr>
              <a:t/>
            </a:r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Times New Roman" panose="02020603050405020304" pitchFamily="18" charset="0"/>
                <a:cs typeface="Iskoola Pota" panose="020B0502040204020203" pitchFamily="34" charset="0"/>
              </a:rPr>
            </a:b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28801" y="44824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0" i="0" u="none" strike="noStrike" cap="none" normalizeH="0" baseline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2475" y="25802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Week 01: Practical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18" y="381000"/>
            <a:ext cx="7772400" cy="1143000"/>
          </a:xfrm>
        </p:spPr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437" y="1676400"/>
            <a:ext cx="8716963" cy="44958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</a:rPr>
              <a:t>Operating systems on single-processor computers create the illusion of concurrent execution by rapidly switching between activities, but on such computers </a:t>
            </a:r>
            <a:r>
              <a:rPr lang="en-US" sz="2400" dirty="0" smtClean="0">
                <a:solidFill>
                  <a:srgbClr val="FF0000"/>
                </a:solidFill>
              </a:rPr>
              <a:t>only a single instruction can execute at once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</a:rPr>
              <a:t>Java makes concurrency available to you through the language and APIs.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</a:rPr>
              <a:t>You specify that an application contains separate </a:t>
            </a:r>
            <a:r>
              <a:rPr lang="en-US" sz="2400" dirty="0" smtClean="0">
                <a:solidFill>
                  <a:srgbClr val="0000FF"/>
                </a:solidFill>
              </a:rPr>
              <a:t>threads of execution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</a:rPr>
              <a:t>each thread has its own method-call stack and program counter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</a:rPr>
              <a:t>can execute concurrently with other threads while sharing application wide resources such as memory with them.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000000"/>
                </a:solidFill>
              </a:rPr>
              <a:t>This capability is called </a:t>
            </a:r>
            <a:r>
              <a:rPr lang="en-US" sz="2400" dirty="0" smtClean="0">
                <a:solidFill>
                  <a:srgbClr val="0000FF"/>
                </a:solidFill>
              </a:rPr>
              <a:t>multithreading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  <a:p>
            <a:pPr algn="just"/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914400"/>
            <a:ext cx="7772400" cy="1143000"/>
          </a:xfrm>
        </p:spPr>
        <p:txBody>
          <a:bodyPr>
            <a:noAutofit/>
          </a:bodyPr>
          <a:lstStyle/>
          <a:p>
            <a:r>
              <a:rPr lang="en-US" b="1" dirty="0" smtClean="0"/>
              <a:t>What is concurrency?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458200" cy="41148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Concurrency is the ability to run several programs or several parts of a program in parallel. If a time consuming task can be performed asynchronously or in parallel, this improve the throughput and the interactivity of the program. 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A modern computer has several CPU's or several cores within one CPU. The ability to leverage these multi-cores can be the key for a successful high-volume application. 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5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/>
          <p:cNvSpPr txBox="1"/>
          <p:nvPr/>
        </p:nvSpPr>
        <p:spPr>
          <a:xfrm>
            <a:off x="461169" y="712996"/>
            <a:ext cx="8301832" cy="437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990"/>
              </a:lnSpc>
              <a:defRPr/>
            </a:pPr>
            <a:r>
              <a:rPr lang="en-CA" sz="4400" b="1" dirty="0" smtClean="0">
                <a:solidFill>
                  <a:srgbClr val="000000"/>
                </a:solidFill>
                <a:cs typeface="Arial"/>
              </a:rPr>
              <a:t>Multitasking</a:t>
            </a:r>
            <a:endParaRPr lang="en-CA" sz="4400" b="1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533400" y="1476717"/>
            <a:ext cx="2035878" cy="6412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2"/>
              </a:buBlip>
              <a:defRPr/>
            </a:pPr>
            <a:r>
              <a:rPr lang="en-CA" sz="2400" b="1" dirty="0">
                <a:solidFill>
                  <a:srgbClr val="000000"/>
                </a:solidFill>
                <a:cs typeface="Arial"/>
              </a:rPr>
              <a:t>Process-based</a:t>
            </a:r>
          </a:p>
          <a:p>
            <a:pPr>
              <a:lnSpc>
                <a:spcPts val="2530"/>
              </a:lnSpc>
              <a:defRPr/>
            </a:pPr>
            <a:endParaRPr lang="en-CA" sz="2400" b="1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110456" y="1911039"/>
            <a:ext cx="6661824" cy="8848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Allows your computer to run two or more programs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  <a:cs typeface="Arial"/>
              </a:rPr>
              <a:t>concurrently.</a:t>
            </a:r>
          </a:p>
          <a:p>
            <a:pPr>
              <a:lnSpc>
                <a:spcPts val="2300"/>
              </a:lnSpc>
              <a:buFontTx/>
              <a:buBlip>
                <a:blip r:embed="rId3"/>
              </a:buBlip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5127" name="TextBox 6"/>
          <p:cNvSpPr txBox="1">
            <a:spLocks noChangeArrowheads="1"/>
          </p:cNvSpPr>
          <p:nvPr/>
        </p:nvSpPr>
        <p:spPr bwMode="auto">
          <a:xfrm>
            <a:off x="1143000" y="2579377"/>
            <a:ext cx="71674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2000"/>
              </a:lnSpc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Ex: Running Java compiler and the text editor at the same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time</a:t>
            </a:r>
          </a:p>
          <a:p>
            <a:pPr>
              <a:lnSpc>
                <a:spcPts val="2000"/>
              </a:lnSpc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143000" y="3228975"/>
            <a:ext cx="4112601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Each process has own variables</a:t>
            </a:r>
          </a:p>
          <a:p>
            <a:pPr>
              <a:lnSpc>
                <a:spcPts val="2415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29230" y="3806032"/>
            <a:ext cx="1967270" cy="6412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2"/>
              </a:buBlip>
              <a:defRPr/>
            </a:pPr>
            <a:r>
              <a:rPr lang="en-CA" sz="2400" b="1" dirty="0">
                <a:solidFill>
                  <a:srgbClr val="000000"/>
                </a:solidFill>
                <a:cs typeface="Arial"/>
              </a:rPr>
              <a:t>Thread-based</a:t>
            </a:r>
          </a:p>
          <a:p>
            <a:pPr>
              <a:lnSpc>
                <a:spcPts val="2530"/>
              </a:lnSpc>
              <a:defRPr/>
            </a:pPr>
            <a:endParaRPr lang="en-CA" sz="2400" b="1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110456" y="4419600"/>
            <a:ext cx="5619936" cy="846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200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Single program performs two or more tasks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  <a:cs typeface="Arial"/>
              </a:rPr>
              <a:t>simultaneously.</a:t>
            </a:r>
          </a:p>
          <a:p>
            <a:pPr>
              <a:lnSpc>
                <a:spcPts val="220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5131" name="TextBox 10"/>
          <p:cNvSpPr txBox="1">
            <a:spLocks noChangeArrowheads="1"/>
          </p:cNvSpPr>
          <p:nvPr/>
        </p:nvSpPr>
        <p:spPr bwMode="auto">
          <a:xfrm>
            <a:off x="1153236" y="5033823"/>
            <a:ext cx="6937605" cy="730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1900"/>
              </a:lnSpc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Ex: Text editor formatting text and at the same time it is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printing</a:t>
            </a:r>
          </a:p>
          <a:p>
            <a:pPr>
              <a:lnSpc>
                <a:spcPts val="1900"/>
              </a:lnSpc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1120823" y="5510937"/>
            <a:ext cx="3815468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15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Threads share the same data</a:t>
            </a:r>
          </a:p>
          <a:p>
            <a:pPr>
              <a:lnSpc>
                <a:spcPts val="2415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461168" y="6003614"/>
            <a:ext cx="7692232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Process-based multitasking is not under the</a:t>
            </a:r>
          </a:p>
          <a:p>
            <a:pPr>
              <a:lnSpc>
                <a:spcPts val="2990"/>
              </a:lnSpc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control of Java</a:t>
            </a:r>
          </a:p>
          <a:p>
            <a:pPr>
              <a:lnSpc>
                <a:spcPts val="299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8978900" y="6743700"/>
            <a:ext cx="1554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150"/>
              </a:lnSpc>
              <a:defRPr/>
            </a:pPr>
            <a:r>
              <a:rPr lang="en-CA" sz="2400">
                <a:solidFill>
                  <a:srgbClr val="000000"/>
                </a:solidFill>
                <a:cs typeface="Arial"/>
              </a:rPr>
              <a:t>3</a:t>
            </a:r>
          </a:p>
          <a:p>
            <a:pPr>
              <a:lnSpc>
                <a:spcPts val="1150"/>
              </a:lnSpc>
              <a:defRPr/>
            </a:pPr>
            <a:endParaRPr sz="24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07363" cy="4572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/>
              <a:t>A </a:t>
            </a:r>
            <a:r>
              <a:rPr lang="en-US" sz="2400" i="1" dirty="0" smtClean="0"/>
              <a:t>process</a:t>
            </a:r>
            <a:r>
              <a:rPr lang="en-US" sz="2400" dirty="0" smtClean="0"/>
              <a:t> runs </a:t>
            </a:r>
            <a:r>
              <a:rPr lang="en-US" sz="2400" u="sng" dirty="0" smtClean="0"/>
              <a:t>independently</a:t>
            </a:r>
            <a:r>
              <a:rPr lang="en-US" sz="2400" dirty="0" smtClean="0"/>
              <a:t> and </a:t>
            </a:r>
            <a:r>
              <a:rPr lang="en-US" sz="2400" u="sng" dirty="0" smtClean="0"/>
              <a:t>isolated</a:t>
            </a:r>
            <a:r>
              <a:rPr lang="en-US" sz="2400" dirty="0" smtClean="0"/>
              <a:t> of other processes.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/>
              <a:t> It cannot directly access shared data in other processes. The resources of the process, e.g. memory and CPU time, are allocated to it via the operating system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6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388" y="381000"/>
            <a:ext cx="7772400" cy="1143000"/>
          </a:xfrm>
        </p:spPr>
        <p:txBody>
          <a:bodyPr/>
          <a:lstStyle/>
          <a:p>
            <a:r>
              <a:rPr lang="en-US" b="1" dirty="0" smtClean="0"/>
              <a:t>Thread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259080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A </a:t>
            </a:r>
            <a:r>
              <a:rPr lang="en-US" sz="2400" i="1" dirty="0" smtClean="0">
                <a:solidFill>
                  <a:srgbClr val="FF0000"/>
                </a:solidFill>
              </a:rPr>
              <a:t>thread</a:t>
            </a:r>
            <a:r>
              <a:rPr lang="en-US" sz="2400" dirty="0" smtClean="0">
                <a:solidFill>
                  <a:srgbClr val="FF0000"/>
                </a:solidFill>
              </a:rPr>
              <a:t> is a so called lightweight process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2400" dirty="0" smtClean="0"/>
              <a:t> It has its own call stack, but can access shared data of other threads in the same process.</a:t>
            </a:r>
          </a:p>
          <a:p>
            <a:pPr algn="just">
              <a:lnSpc>
                <a:spcPct val="170000"/>
              </a:lnSpc>
            </a:pPr>
            <a:r>
              <a:rPr lang="en-US" sz="2400" dirty="0" smtClean="0"/>
              <a:t> Every thread has its own memory cache. If a thread reads shared data it stores this data in its own memory cache. </a:t>
            </a:r>
          </a:p>
          <a:p>
            <a:pPr algn="just">
              <a:lnSpc>
                <a:spcPct val="170000"/>
              </a:lnSpc>
            </a:pPr>
            <a:r>
              <a:rPr lang="en-US" sz="2400" dirty="0" smtClean="0"/>
              <a:t>A thread can re-read the shared data.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5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0" y="533400"/>
            <a:ext cx="8978900" cy="11588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485"/>
              </a:lnSpc>
              <a:defRPr/>
            </a:pPr>
            <a:r>
              <a:rPr lang="en-CA" sz="4400" b="1" dirty="0">
                <a:latin typeface="+mj-lt"/>
                <a:cs typeface="Arial Bold"/>
              </a:rPr>
              <a:t>Processes vs. Threads</a:t>
            </a:r>
          </a:p>
          <a:p>
            <a:pPr algn="ctr">
              <a:lnSpc>
                <a:spcPts val="4485"/>
              </a:lnSpc>
              <a:defRPr/>
            </a:pPr>
            <a:endParaRPr lang="en-CA" sz="4400" b="1" dirty="0">
              <a:latin typeface="+mj-lt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62000" y="1405780"/>
            <a:ext cx="5421741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Because threads share address space, it is</a:t>
            </a:r>
          </a:p>
          <a:p>
            <a:pPr>
              <a:lnSpc>
                <a:spcPts val="299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086561" y="1991617"/>
            <a:ext cx="6178166" cy="11926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100"/>
              </a:lnSpc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  relatively simple to communicate between them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</a:rPr>
              <a:t>  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(e.g. shared objects)</a:t>
            </a:r>
          </a:p>
          <a:p>
            <a:pPr>
              <a:lnSpc>
                <a:spcPts val="310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2016918" y="2846535"/>
            <a:ext cx="3899337" cy="6412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530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This can be a danger as well…</a:t>
            </a:r>
          </a:p>
          <a:p>
            <a:pPr>
              <a:lnSpc>
                <a:spcPts val="253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34930" y="3293416"/>
            <a:ext cx="7874000" cy="119221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lnSpc>
                <a:spcPts val="3100"/>
              </a:lnSpc>
              <a:buFontTx/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Processes have it more difficult - pipes, files,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</a:rPr>
              <a:t>   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sockets, etc. are typical ways to do IPC.</a:t>
            </a:r>
          </a:p>
          <a:p>
            <a:pPr>
              <a:lnSpc>
                <a:spcPts val="310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762000" y="4210246"/>
            <a:ext cx="6034024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Switching between processes is called </a:t>
            </a:r>
            <a:r>
              <a:rPr lang="en-CA" sz="2400" dirty="0">
                <a:solidFill>
                  <a:srgbClr val="000000"/>
                </a:solidFill>
                <a:cs typeface="Arial Italic"/>
              </a:rPr>
              <a:t>context-</a:t>
            </a:r>
          </a:p>
          <a:p>
            <a:pPr>
              <a:lnSpc>
                <a:spcPts val="299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573087" y="4806352"/>
            <a:ext cx="6369885" cy="119263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100"/>
              </a:lnSpc>
              <a:defRPr/>
            </a:pPr>
            <a:r>
              <a:rPr lang="en-CA" sz="2400" dirty="0">
                <a:solidFill>
                  <a:srgbClr val="000000"/>
                </a:solidFill>
                <a:cs typeface="Arial Italic"/>
              </a:rPr>
              <a:t>   switching 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and is relatively expensive compared to</a:t>
            </a:r>
            <a:r>
              <a:rPr lang="en-CA" sz="2400" dirty="0">
                <a:solidFill>
                  <a:srgbClr val="000000"/>
                </a:solidFill>
              </a:rPr>
              <a:t/>
            </a:r>
            <a:br>
              <a:rPr lang="en-CA" sz="2400" dirty="0">
                <a:solidFill>
                  <a:srgbClr val="000000"/>
                </a:solidFill>
              </a:rPr>
            </a:br>
            <a:r>
              <a:rPr lang="en-CA" sz="2400" dirty="0">
                <a:solidFill>
                  <a:srgbClr val="000000"/>
                </a:solidFill>
              </a:rPr>
              <a:t>   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switching between threads inside a process</a:t>
            </a:r>
          </a:p>
          <a:p>
            <a:pPr>
              <a:lnSpc>
                <a:spcPts val="310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8978900" y="6743700"/>
            <a:ext cx="254000" cy="190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150"/>
              </a:lnSpc>
              <a:defRPr/>
            </a:pPr>
            <a:r>
              <a:rPr lang="en-CA" sz="1008">
                <a:solidFill>
                  <a:srgbClr val="000000"/>
                </a:solidFill>
                <a:latin typeface="Arial"/>
                <a:cs typeface="Arial"/>
              </a:rPr>
              <a:t>4</a:t>
            </a:r>
          </a:p>
          <a:p>
            <a:pPr>
              <a:lnSpc>
                <a:spcPts val="1150"/>
              </a:lnSpc>
              <a:defRPr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0" y="685800"/>
            <a:ext cx="9144000" cy="10915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CA" sz="4400" b="1" dirty="0">
                <a:latin typeface="+mj-lt"/>
                <a:cs typeface="Arial Bold"/>
              </a:rPr>
              <a:t>Multithreaded Programming </a:t>
            </a:r>
            <a:r>
              <a:rPr lang="en-CA" sz="4400" b="1" dirty="0" smtClean="0">
                <a:latin typeface="+mj-lt"/>
                <a:cs typeface="Arial Bold"/>
              </a:rPr>
              <a:t>in Java</a:t>
            </a:r>
            <a:endParaRPr lang="en-CA" sz="4400" b="1" dirty="0">
              <a:latin typeface="+mj-lt"/>
              <a:cs typeface="Arial Bold"/>
            </a:endParaRPr>
          </a:p>
          <a:p>
            <a:pPr algn="ctr">
              <a:lnSpc>
                <a:spcPts val="4200"/>
              </a:lnSpc>
              <a:defRPr/>
            </a:pPr>
            <a:endParaRPr lang="en-CA" sz="4400" dirty="0">
              <a:latin typeface="+mj-lt"/>
            </a:endParaRP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609600" y="2209800"/>
            <a:ext cx="8305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Java is the first widely used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programming language </a:t>
            </a: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to provide support for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concurrent programming </a:t>
            </a:r>
            <a:r>
              <a:rPr lang="en-CA" sz="2400" dirty="0">
                <a:solidFill>
                  <a:srgbClr val="000000"/>
                </a:solidFill>
                <a:ea typeface="Arial Italic"/>
                <a:cs typeface="Arial Italic"/>
              </a:rPr>
              <a:t>at the language level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7173" name="TextBox 4"/>
          <p:cNvSpPr txBox="1">
            <a:spLocks noChangeArrowheads="1"/>
          </p:cNvSpPr>
          <p:nvPr/>
        </p:nvSpPr>
        <p:spPr bwMode="auto">
          <a:xfrm>
            <a:off x="609600" y="3594795"/>
            <a:ext cx="7924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Java supports concurrency through the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use of </a:t>
            </a:r>
            <a:r>
              <a:rPr lang="en-CA" sz="2400" dirty="0">
                <a:solidFill>
                  <a:srgbClr val="000000"/>
                </a:solidFill>
                <a:ea typeface="Arial Italic"/>
                <a:cs typeface="Arial Italic"/>
              </a:rPr>
              <a:t>threads</a:t>
            </a: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, and provides mechanisms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for synchronization </a:t>
            </a: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between threads</a:t>
            </a:r>
          </a:p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152400" y="514424"/>
            <a:ext cx="8858250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485"/>
              </a:lnSpc>
              <a:defRPr/>
            </a:pPr>
            <a:r>
              <a:rPr lang="en-CA" sz="3600" b="1" dirty="0">
                <a:latin typeface="Arial Bold"/>
                <a:cs typeface="Arial Bold"/>
              </a:rPr>
              <a:t>The Main Thread</a:t>
            </a:r>
          </a:p>
          <a:p>
            <a:pPr algn="ctr">
              <a:lnSpc>
                <a:spcPts val="4485"/>
              </a:lnSpc>
              <a:defRPr/>
            </a:pPr>
            <a:endParaRPr lang="en-CA" sz="3600" dirty="0"/>
          </a:p>
        </p:txBody>
      </p:sp>
      <p:sp>
        <p:nvSpPr>
          <p:cNvPr id="8196" name="TextBox 3"/>
          <p:cNvSpPr txBox="1">
            <a:spLocks noChangeArrowheads="1"/>
          </p:cNvSpPr>
          <p:nvPr/>
        </p:nvSpPr>
        <p:spPr bwMode="auto">
          <a:xfrm>
            <a:off x="690349" y="2145605"/>
            <a:ext cx="8320301" cy="427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When a Java program starts up, main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thread runs </a:t>
            </a: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immediately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.</a:t>
            </a:r>
            <a:endParaRPr lang="en-CA" sz="2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8197" name="TextBox 4"/>
          <p:cNvSpPr txBox="1">
            <a:spLocks noChangeArrowheads="1"/>
          </p:cNvSpPr>
          <p:nvPr/>
        </p:nvSpPr>
        <p:spPr bwMode="auto">
          <a:xfrm>
            <a:off x="669567" y="2830559"/>
            <a:ext cx="8102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ts val="3600"/>
              </a:lnSpc>
              <a:buFontTx/>
              <a:buBlip>
                <a:blip r:embed="rId2"/>
              </a:buBlip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Main thread can be controlled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through Thread </a:t>
            </a: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object.</a:t>
            </a:r>
          </a:p>
          <a:p>
            <a:pPr>
              <a:lnSpc>
                <a:spcPts val="3600"/>
              </a:lnSpc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676400" y="3440068"/>
            <a:ext cx="4579010" cy="14619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3800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Thread t = </a:t>
            </a:r>
            <a:r>
              <a:rPr lang="en-CA" sz="2400" dirty="0" err="1">
                <a:solidFill>
                  <a:srgbClr val="000000"/>
                </a:solidFill>
                <a:cs typeface="Arial"/>
              </a:rPr>
              <a:t>Thread.currentThread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();</a:t>
            </a:r>
          </a:p>
          <a:p>
            <a:pPr>
              <a:lnSpc>
                <a:spcPts val="3800"/>
              </a:lnSpc>
              <a:buFontTx/>
              <a:buBlip>
                <a:blip r:embed="rId3"/>
              </a:buBlip>
              <a:defRPr/>
            </a:pPr>
            <a:r>
              <a:rPr lang="en-CA" sz="2400" dirty="0" err="1">
                <a:solidFill>
                  <a:srgbClr val="000000"/>
                </a:solidFill>
                <a:cs typeface="Arial"/>
              </a:rPr>
              <a:t>Thread.sleep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 (1000);</a:t>
            </a:r>
          </a:p>
          <a:p>
            <a:pPr>
              <a:lnSpc>
                <a:spcPts val="380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003300" y="6743700"/>
            <a:ext cx="0" cy="3079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150"/>
              </a:lnSpc>
              <a:defRPr/>
            </a:pPr>
            <a:endParaRPr lang="en-CA" sz="1008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1150"/>
              </a:lnSpc>
              <a:defRPr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57200" y="586532"/>
            <a:ext cx="8001000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485"/>
              </a:lnSpc>
              <a:defRPr/>
            </a:pPr>
            <a:r>
              <a:rPr lang="en-CA" sz="4400" b="1" dirty="0">
                <a:latin typeface="+mj-lt"/>
                <a:cs typeface="Arial Bold"/>
              </a:rPr>
              <a:t>Using Java Threads</a:t>
            </a:r>
          </a:p>
          <a:p>
            <a:pPr algn="ctr">
              <a:lnSpc>
                <a:spcPts val="4485"/>
              </a:lnSpc>
              <a:defRPr/>
            </a:pPr>
            <a:endParaRPr lang="en-CA" sz="4400" dirty="0">
              <a:latin typeface="+mj-lt"/>
            </a:endParaRPr>
          </a:p>
        </p:txBody>
      </p:sp>
      <p:sp>
        <p:nvSpPr>
          <p:cNvPr id="9220" name="TextBox 3"/>
          <p:cNvSpPr txBox="1">
            <a:spLocks noChangeArrowheads="1"/>
          </p:cNvSpPr>
          <p:nvPr/>
        </p:nvSpPr>
        <p:spPr bwMode="auto">
          <a:xfrm>
            <a:off x="943596" y="1931194"/>
            <a:ext cx="7362203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3200"/>
              </a:lnSpc>
              <a:buFontTx/>
              <a:buBlip>
                <a:blip r:embed="rId2"/>
              </a:buBlip>
            </a:pP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In Java, thread instances come in </a:t>
            </a:r>
            <a:r>
              <a:rPr lang="en-CA" sz="2400" dirty="0" smtClean="0">
                <a:solidFill>
                  <a:srgbClr val="000000"/>
                </a:solidFill>
                <a:cs typeface="Arial" pitchFamily="34" charset="0"/>
              </a:rPr>
              <a:t>two </a:t>
            </a:r>
            <a:r>
              <a:rPr lang="en-CA" sz="2400" dirty="0" smtClean="0">
                <a:solidFill>
                  <a:srgbClr val="000000"/>
                </a:solidFill>
              </a:rPr>
              <a:t> </a:t>
            </a:r>
            <a:r>
              <a:rPr lang="en-CA" sz="2400" dirty="0">
                <a:solidFill>
                  <a:srgbClr val="000000"/>
                </a:solidFill>
                <a:cs typeface="Arial" pitchFamily="34" charset="0"/>
              </a:rPr>
              <a:t>varieties:</a:t>
            </a:r>
          </a:p>
          <a:p>
            <a:pPr>
              <a:lnSpc>
                <a:spcPts val="3200"/>
              </a:lnSpc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1447800" y="2557711"/>
            <a:ext cx="2372765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3"/>
              </a:buBlip>
              <a:defRPr/>
            </a:pPr>
            <a:r>
              <a:rPr lang="en-CA" sz="2400" i="1" dirty="0">
                <a:solidFill>
                  <a:srgbClr val="000000"/>
                </a:solidFill>
                <a:cs typeface="Arial Italic"/>
              </a:rPr>
              <a:t> </a:t>
            </a:r>
            <a:r>
              <a:rPr lang="en-CA" sz="2400" i="1" dirty="0" err="1">
                <a:solidFill>
                  <a:srgbClr val="000000"/>
                </a:solidFill>
                <a:cs typeface="Arial Italic"/>
              </a:rPr>
              <a:t>java.lang.Thread</a:t>
            </a:r>
            <a:endParaRPr lang="en-CA" sz="2400" i="1" dirty="0">
              <a:solidFill>
                <a:srgbClr val="000000"/>
              </a:solidFill>
              <a:cs typeface="Arial Italic"/>
            </a:endParaRPr>
          </a:p>
          <a:p>
            <a:pPr>
              <a:lnSpc>
                <a:spcPts val="299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1905000" y="2938711"/>
            <a:ext cx="6629400" cy="961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500"/>
              </a:lnSpc>
              <a:buFontTx/>
              <a:buBlip>
                <a:blip r:embed="rId4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Extend the </a:t>
            </a:r>
            <a:r>
              <a:rPr lang="en-CA" sz="2400" dirty="0" err="1">
                <a:solidFill>
                  <a:srgbClr val="000000"/>
                </a:solidFill>
                <a:cs typeface="Courier New"/>
              </a:rPr>
              <a:t>java.lang.Thread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 class (</a:t>
            </a:r>
            <a:r>
              <a:rPr lang="en-CA" sz="2400" dirty="0" smtClean="0">
                <a:solidFill>
                  <a:srgbClr val="000000"/>
                </a:solidFill>
                <a:cs typeface="Arial"/>
              </a:rPr>
              <a:t>and override 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its </a:t>
            </a:r>
            <a:r>
              <a:rPr lang="en-CA" sz="2400" dirty="0">
                <a:solidFill>
                  <a:srgbClr val="000000"/>
                </a:solidFill>
                <a:cs typeface="Courier New"/>
              </a:rPr>
              <a:t>run()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 method)</a:t>
            </a:r>
          </a:p>
          <a:p>
            <a:pPr>
              <a:lnSpc>
                <a:spcPts val="2500"/>
              </a:lnSpc>
              <a:buFontTx/>
              <a:buBlip>
                <a:blip r:embed="rId4"/>
              </a:buBlip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1447800" y="3700711"/>
            <a:ext cx="2692084" cy="7545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990"/>
              </a:lnSpc>
              <a:buFontTx/>
              <a:buBlip>
                <a:blip r:embed="rId3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 Italic"/>
              </a:rPr>
              <a:t> </a:t>
            </a:r>
            <a:r>
              <a:rPr lang="en-CA" sz="2400" i="1" dirty="0" err="1">
                <a:solidFill>
                  <a:srgbClr val="000000"/>
                </a:solidFill>
                <a:cs typeface="Arial Italic"/>
              </a:rPr>
              <a:t>java.lang.Runnable</a:t>
            </a:r>
            <a:endParaRPr lang="en-CA" sz="2400" i="1" dirty="0">
              <a:solidFill>
                <a:srgbClr val="000000"/>
              </a:solidFill>
              <a:cs typeface="Arial Italic"/>
            </a:endParaRPr>
          </a:p>
          <a:p>
            <a:pPr>
              <a:lnSpc>
                <a:spcPts val="2990"/>
              </a:lnSpc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1802642" y="4136727"/>
            <a:ext cx="6553199" cy="333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645"/>
              </a:lnSpc>
              <a:buFontTx/>
              <a:buBlip>
                <a:blip r:embed="rId4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Have your class implement </a:t>
            </a:r>
            <a:r>
              <a:rPr lang="en-CA" sz="2400" dirty="0" smtClean="0">
                <a:solidFill>
                  <a:srgbClr val="000000"/>
                </a:solidFill>
                <a:cs typeface="Arial"/>
              </a:rPr>
              <a:t>the  </a:t>
            </a: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1828800" y="4545726"/>
            <a:ext cx="7086600" cy="1282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2500"/>
              </a:lnSpc>
              <a:defRPr/>
            </a:pPr>
            <a:r>
              <a:rPr lang="en-CA" sz="2400" dirty="0">
                <a:solidFill>
                  <a:srgbClr val="000000"/>
                </a:solidFill>
                <a:cs typeface="Courier New"/>
              </a:rPr>
              <a:t> </a:t>
            </a:r>
            <a:r>
              <a:rPr lang="en-CA" sz="2400" dirty="0" err="1">
                <a:solidFill>
                  <a:srgbClr val="000000"/>
                </a:solidFill>
                <a:cs typeface="Courier New"/>
              </a:rPr>
              <a:t>java.lang.Runnable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 interface and associate </a:t>
            </a:r>
            <a:r>
              <a:rPr lang="en-CA" sz="2400" dirty="0" smtClean="0">
                <a:solidFill>
                  <a:srgbClr val="000000"/>
                </a:solidFill>
                <a:cs typeface="Arial"/>
              </a:rPr>
              <a:t>an instance 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of your class with </a:t>
            </a:r>
            <a:r>
              <a:rPr lang="en-CA" sz="2400" dirty="0" err="1">
                <a:solidFill>
                  <a:srgbClr val="000000"/>
                </a:solidFill>
                <a:cs typeface="Courier New"/>
              </a:rPr>
              <a:t>java.lang.Thread</a:t>
            </a:r>
            <a:r>
              <a:rPr lang="en-CA" sz="2400" dirty="0">
                <a:solidFill>
                  <a:srgbClr val="000000"/>
                </a:solidFill>
                <a:cs typeface="Arial"/>
              </a:rPr>
              <a:t>.</a:t>
            </a:r>
          </a:p>
          <a:p>
            <a:pPr>
              <a:lnSpc>
                <a:spcPts val="2500"/>
              </a:lnSpc>
              <a:defRPr/>
            </a:pPr>
            <a:endParaRPr lang="en-CA" sz="2400" dirty="0">
              <a:solidFill>
                <a:srgbClr val="000000"/>
              </a:solidFill>
              <a:cs typeface="Arial"/>
            </a:endParaRPr>
          </a:p>
          <a:p>
            <a:pPr>
              <a:lnSpc>
                <a:spcPts val="2500"/>
              </a:lnSpc>
              <a:buFontTx/>
              <a:buBlip>
                <a:blip r:embed="rId4"/>
              </a:buBlip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1828800" y="5322786"/>
            <a:ext cx="3325526" cy="6668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645"/>
              </a:lnSpc>
              <a:buFontTx/>
              <a:buBlip>
                <a:blip r:embed="rId4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Implement run() method</a:t>
            </a:r>
          </a:p>
          <a:p>
            <a:pPr>
              <a:lnSpc>
                <a:spcPts val="2645"/>
              </a:lnSpc>
              <a:buFontTx/>
              <a:buBlip>
                <a:blip r:embed="rId5"/>
              </a:buBlip>
              <a:defRPr/>
            </a:pP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7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71840" y="608856"/>
            <a:ext cx="9055100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485"/>
              </a:lnSpc>
              <a:defRPr/>
            </a:pPr>
            <a:r>
              <a:rPr lang="en-CA" sz="4400" b="1" dirty="0">
                <a:latin typeface="+mj-lt"/>
                <a:cs typeface="Arial Bold"/>
              </a:rPr>
              <a:t>Using Java Threads</a:t>
            </a:r>
          </a:p>
          <a:p>
            <a:pPr algn="ctr">
              <a:lnSpc>
                <a:spcPts val="4485"/>
              </a:lnSpc>
              <a:defRPr/>
            </a:pPr>
            <a:endParaRPr lang="en-CA" sz="4400" dirty="0">
              <a:latin typeface="+mj-lt"/>
            </a:endParaRPr>
          </a:p>
        </p:txBody>
      </p:sp>
      <p:sp>
        <p:nvSpPr>
          <p:cNvPr id="10248" name="TextBox 7"/>
          <p:cNvSpPr txBox="1">
            <a:spLocks noChangeArrowheads="1"/>
          </p:cNvSpPr>
          <p:nvPr/>
        </p:nvSpPr>
        <p:spPr bwMode="auto">
          <a:xfrm>
            <a:off x="914400" y="5257800"/>
            <a:ext cx="218008" cy="423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3600"/>
              </a:lnSpc>
            </a:pPr>
            <a:r>
              <a:rPr lang="en-CA" sz="24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  <a:endParaRPr lang="en-CA" sz="24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1666" y="1272927"/>
            <a:ext cx="79441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Tx/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cs typeface="Arial"/>
              </a:rPr>
              <a:t>Most important method: </a:t>
            </a:r>
            <a:r>
              <a:rPr lang="en-CA" sz="2400" dirty="0">
                <a:solidFill>
                  <a:srgbClr val="000000"/>
                </a:solidFill>
                <a:cs typeface="Courier New"/>
              </a:rPr>
              <a:t>run</a:t>
            </a:r>
            <a:r>
              <a:rPr lang="en-CA" sz="2400" dirty="0" smtClean="0">
                <a:solidFill>
                  <a:srgbClr val="000000"/>
                </a:solidFill>
                <a:cs typeface="Courier New"/>
              </a:rPr>
              <a:t>()</a:t>
            </a:r>
          </a:p>
          <a:p>
            <a:pPr>
              <a:lnSpc>
                <a:spcPct val="150000"/>
              </a:lnSpc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The default version of this method 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does</a:t>
            </a:r>
            <a:r>
              <a:rPr lang="en-CA" sz="2400" dirty="0" smtClean="0">
                <a:solidFill>
                  <a:srgbClr val="000000"/>
                </a:solidFill>
              </a:rPr>
              <a:t> 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nothing </a:t>
            </a: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so it must be overridden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.</a:t>
            </a:r>
          </a:p>
          <a:p>
            <a:pPr marL="0" lvl="3">
              <a:lnSpc>
                <a:spcPct val="150000"/>
              </a:lnSpc>
              <a:buBlip>
                <a:blip r:embed="rId2"/>
              </a:buBlip>
              <a:defRPr/>
            </a:pP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Should call start() to begin execution 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of the </a:t>
            </a: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new thread.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If you are not overriding any 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of </a:t>
            </a: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Thread’s other methods, can 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simply implement </a:t>
            </a:r>
            <a:r>
              <a:rPr lang="en-CA" sz="2400" dirty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runnable</a:t>
            </a:r>
            <a:r>
              <a:rPr lang="en-CA" sz="2400" dirty="0" smtClean="0">
                <a:solidFill>
                  <a:srgbClr val="000000"/>
                </a:solidFill>
                <a:ea typeface="Verdana" pitchFamily="34" charset="0"/>
                <a:cs typeface="Verdana" pitchFamily="34" charset="0"/>
              </a:rPr>
              <a:t>.</a:t>
            </a:r>
            <a:endParaRPr lang="en-CA" sz="2400" dirty="0">
              <a:solidFill>
                <a:srgbClr val="000000"/>
              </a:solidFill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450687" y="486064"/>
            <a:ext cx="8540913" cy="1154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485"/>
              </a:lnSpc>
              <a:defRPr/>
            </a:pPr>
            <a:r>
              <a:rPr lang="en-CA" sz="4400" b="1" dirty="0">
                <a:latin typeface="+mj-lt"/>
                <a:cs typeface="Arial Bold"/>
              </a:rPr>
              <a:t>Example: extending Thread</a:t>
            </a:r>
          </a:p>
          <a:p>
            <a:pPr algn="ctr">
              <a:lnSpc>
                <a:spcPts val="4485"/>
              </a:lnSpc>
              <a:defRPr/>
            </a:pPr>
            <a:endParaRPr lang="en-CA" sz="4400" dirty="0">
              <a:latin typeface="+mj-lt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393537" y="2171700"/>
            <a:ext cx="5060681" cy="512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Public class 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PrintThread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 extends Thread {</a:t>
            </a:r>
          </a:p>
          <a:p>
            <a:pPr>
              <a:lnSpc>
                <a:spcPts val="1955"/>
              </a:lnSpc>
              <a:defRPr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20850" y="2438400"/>
            <a:ext cx="5184111" cy="12824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2450"/>
              </a:lnSpc>
              <a:tabLst>
                <a:tab pos="571500" algn="l"/>
                <a:tab pos="571500" algn="l"/>
              </a:tabLst>
              <a:defRPr/>
            </a:pP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public static void main( String[] 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args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 ) {</a:t>
            </a:r>
            <a:r>
              <a:rPr lang="en-CA" sz="1600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600" dirty="0">
                <a:solidFill>
                  <a:srgbClr val="000000"/>
                </a:solidFill>
                <a:latin typeface="Times New Roman"/>
              </a:rPr>
            </a:b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PrintThread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 p = new 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PrintThread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  <a:r>
              <a:rPr lang="en-CA" sz="1600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1600" dirty="0">
                <a:solidFill>
                  <a:srgbClr val="000000"/>
                </a:solidFill>
                <a:latin typeface="Times New Roman"/>
              </a:rPr>
            </a:b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p.start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</a:p>
          <a:p>
            <a:pPr>
              <a:lnSpc>
                <a:spcPts val="2450"/>
              </a:lnSpc>
              <a:defRPr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898484" y="3512939"/>
            <a:ext cx="7776168" cy="512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while(true) { 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System.out.println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( </a:t>
            </a:r>
            <a:r>
              <a:rPr lang="en-CA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“Now running main thread”); 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 dirty="0"/>
          </a:p>
        </p:txBody>
      </p:sp>
      <p:sp>
        <p:nvSpPr>
          <p:cNvPr id="9" name="TextBox 6"/>
          <p:cNvSpPr txBox="1"/>
          <p:nvPr/>
        </p:nvSpPr>
        <p:spPr>
          <a:xfrm>
            <a:off x="381991" y="3721100"/>
            <a:ext cx="123432" cy="512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60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10" name="TextBox 7"/>
          <p:cNvSpPr txBox="1"/>
          <p:nvPr/>
        </p:nvSpPr>
        <p:spPr>
          <a:xfrm>
            <a:off x="450687" y="4025900"/>
            <a:ext cx="2345194" cy="512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public void run() {</a:t>
            </a:r>
          </a:p>
          <a:p>
            <a:pPr>
              <a:lnSpc>
                <a:spcPts val="1955"/>
              </a:lnSpc>
              <a:defRPr/>
            </a:pPr>
            <a:endParaRPr dirty="0"/>
          </a:p>
        </p:txBody>
      </p:sp>
      <p:sp>
        <p:nvSpPr>
          <p:cNvPr id="11" name="TextBox 8"/>
          <p:cNvSpPr txBox="1"/>
          <p:nvPr/>
        </p:nvSpPr>
        <p:spPr>
          <a:xfrm>
            <a:off x="1188441" y="4343400"/>
            <a:ext cx="7529305" cy="512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while(true) { </a:t>
            </a:r>
            <a:r>
              <a:rPr lang="en-CA" sz="1600" dirty="0" err="1">
                <a:solidFill>
                  <a:srgbClr val="000000"/>
                </a:solidFill>
                <a:latin typeface="Courier New"/>
                <a:cs typeface="Courier New"/>
              </a:rPr>
              <a:t>System.out.println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( </a:t>
            </a:r>
            <a:r>
              <a:rPr lang="en-CA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“Now running p thread</a:t>
            </a:r>
            <a:r>
              <a:rPr lang="en-CA" sz="1600" dirty="0">
                <a:solidFill>
                  <a:srgbClr val="000000"/>
                </a:solidFill>
                <a:latin typeface="Courier New"/>
                <a:cs typeface="Courier New"/>
              </a:rPr>
              <a:t>” ); }</a:t>
            </a:r>
          </a:p>
          <a:p>
            <a:pPr>
              <a:lnSpc>
                <a:spcPts val="1955"/>
              </a:lnSpc>
              <a:defRPr/>
            </a:pPr>
            <a:endParaRPr dirty="0"/>
          </a:p>
        </p:txBody>
      </p:sp>
      <p:sp>
        <p:nvSpPr>
          <p:cNvPr id="12" name="TextBox 9"/>
          <p:cNvSpPr txBox="1"/>
          <p:nvPr/>
        </p:nvSpPr>
        <p:spPr>
          <a:xfrm>
            <a:off x="345046" y="4648200"/>
            <a:ext cx="123432" cy="51296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60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/>
          </a:p>
        </p:txBody>
      </p:sp>
      <p:sp>
        <p:nvSpPr>
          <p:cNvPr id="13" name="TextBox 10"/>
          <p:cNvSpPr txBox="1"/>
          <p:nvPr/>
        </p:nvSpPr>
        <p:spPr>
          <a:xfrm>
            <a:off x="2146" y="4965700"/>
            <a:ext cx="404091" cy="3175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ts val="1955"/>
              </a:lnSpc>
              <a:defRPr/>
            </a:pPr>
            <a:r>
              <a:rPr lang="en-CA" sz="1704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ts val="1955"/>
              </a:lnSpc>
              <a:defRPr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 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7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498</TotalTime>
  <Words>671</Words>
  <Application>Microsoft Office PowerPoint</Application>
  <PresentationFormat>On-screen Show (4:3)</PresentationFormat>
  <Paragraphs>98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Arial Bold</vt:lpstr>
      <vt:lpstr>Arial Italic</vt:lpstr>
      <vt:lpstr>Calibri</vt:lpstr>
      <vt:lpstr>Calibri Light</vt:lpstr>
      <vt:lpstr>Courier New</vt:lpstr>
      <vt:lpstr>Iskoola Pota</vt:lpstr>
      <vt:lpstr>Latha</vt:lpstr>
      <vt:lpstr>Times New Roman</vt:lpstr>
      <vt:lpstr>Verdana</vt:lpstr>
      <vt:lpstr>HNDIT</vt:lpstr>
      <vt:lpstr> Programming with Concurrency and Multithreading (in Java) </vt:lpstr>
      <vt:lpstr>Introduction</vt:lpstr>
      <vt:lpstr>What is concurrency? </vt:lpstr>
      <vt:lpstr>PowerPoint Presentation</vt:lpstr>
      <vt:lpstr>Process</vt:lpstr>
      <vt:lpstr>Thread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Admin</cp:lastModifiedBy>
  <cp:revision>52</cp:revision>
  <dcterms:created xsi:type="dcterms:W3CDTF">2012-08-01T05:29:21Z</dcterms:created>
  <dcterms:modified xsi:type="dcterms:W3CDTF">2018-11-24T09:46:26Z</dcterms:modified>
</cp:coreProperties>
</file>