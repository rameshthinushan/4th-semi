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939C97-9EE7-4E93-9AB7-F22D4BAD168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221EB67F-DE8F-4DA0-968B-01A46184572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6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19/1/2019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Servlet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servlets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i="1" dirty="0"/>
              <a:t>server-side programs </a:t>
            </a:r>
            <a:r>
              <a:rPr lang="en-US" dirty="0"/>
              <a:t>(running inside a web server) that handle clients' requests and return </a:t>
            </a:r>
            <a:r>
              <a:rPr lang="en-US" dirty="0" smtClean="0"/>
              <a:t>a customized</a:t>
            </a:r>
            <a:r>
              <a:rPr lang="en-US" i="1" dirty="0" smtClean="0"/>
              <a:t> </a:t>
            </a:r>
            <a:r>
              <a:rPr lang="en-US" dirty="0"/>
              <a:t>or </a:t>
            </a:r>
            <a:r>
              <a:rPr lang="en-US" i="1" dirty="0"/>
              <a:t>dynamic response </a:t>
            </a:r>
            <a:r>
              <a:rPr lang="en-US" dirty="0"/>
              <a:t>for each request.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dynamic response could be based on user's </a:t>
            </a:r>
            <a:r>
              <a:rPr lang="en-US" dirty="0" smtClean="0"/>
              <a:t>input (</a:t>
            </a:r>
            <a:r>
              <a:rPr lang="en-US" dirty="0"/>
              <a:t>e.g., search, online shopping, online transaction) with data retrieved from databases or </a:t>
            </a:r>
            <a:r>
              <a:rPr lang="en-US" dirty="0" smtClean="0"/>
              <a:t>other applications</a:t>
            </a:r>
            <a:r>
              <a:rPr lang="en-US" dirty="0"/>
              <a:t>, or time-sensitive data (such as news and stock prices).</a:t>
            </a:r>
          </a:p>
          <a:p>
            <a:r>
              <a:rPr lang="en-US" dirty="0"/>
              <a:t>Java servlets typically run on the HTTP protocol. HTTP is an </a:t>
            </a:r>
            <a:r>
              <a:rPr lang="en-US" i="1" dirty="0"/>
              <a:t>asymmetrical request-response protocol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client sends a </a:t>
            </a:r>
            <a:r>
              <a:rPr lang="en-US" i="1" dirty="0" smtClean="0"/>
              <a:t>request message </a:t>
            </a:r>
            <a:r>
              <a:rPr lang="en-US" dirty="0" smtClean="0"/>
              <a:t>to the server, and the server returns a </a:t>
            </a:r>
            <a:r>
              <a:rPr lang="en-US" i="1" dirty="0" smtClean="0"/>
              <a:t>response message </a:t>
            </a:r>
            <a:r>
              <a:rPr lang="en-US" dirty="0" smtClean="0"/>
              <a:t>as illustrated.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74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1970" t="15838" r="7786" b="18485"/>
          <a:stretch/>
        </p:blipFill>
        <p:spPr>
          <a:xfrm>
            <a:off x="1473630" y="520082"/>
            <a:ext cx="8861781" cy="54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1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Server-Side Technologies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are many (competing) server-side technologies available: Java-based (servlet, JSP, JSF, Struts, Spring, Hibernate), ASP, PHP, CGI Script, </a:t>
            </a:r>
            <a:r>
              <a:rPr lang="en-US" dirty="0" smtClean="0"/>
              <a:t>and many </a:t>
            </a:r>
            <a:r>
              <a:rPr lang="en-US" dirty="0"/>
              <a:t>others.</a:t>
            </a:r>
          </a:p>
          <a:p>
            <a:r>
              <a:rPr lang="en-US" dirty="0"/>
              <a:t>Java servlet is the </a:t>
            </a:r>
            <a:r>
              <a:rPr lang="en-US" i="1" dirty="0"/>
              <a:t>foundation </a:t>
            </a:r>
            <a:r>
              <a:rPr lang="en-US" dirty="0"/>
              <a:t>of the Java server-side technology, JSP (</a:t>
            </a:r>
            <a:r>
              <a:rPr lang="en-US" dirty="0" err="1"/>
              <a:t>JavaServer</a:t>
            </a:r>
            <a:r>
              <a:rPr lang="en-US" dirty="0"/>
              <a:t> Pages), JSF (</a:t>
            </a:r>
            <a:r>
              <a:rPr lang="en-US" dirty="0" err="1"/>
              <a:t>JavaServer</a:t>
            </a:r>
            <a:r>
              <a:rPr lang="en-US" dirty="0"/>
              <a:t> Faces), Struts, Spring, Hibernate, </a:t>
            </a:r>
            <a:r>
              <a:rPr lang="en-US" dirty="0" smtClean="0"/>
              <a:t>and others</a:t>
            </a:r>
            <a:r>
              <a:rPr lang="en-US" dirty="0"/>
              <a:t>, are extensions of the servlet technology.</a:t>
            </a:r>
          </a:p>
        </p:txBody>
      </p:sp>
    </p:spTree>
    <p:extLst>
      <p:ext uri="{BB962C8B-B14F-4D97-AF65-F5344CB8AC3E}">
        <p14:creationId xmlns:p14="http://schemas.microsoft.com/office/powerpoint/2010/main" val="291869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709" y="19830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package </a:t>
            </a:r>
            <a:r>
              <a:rPr lang="en-US" sz="2400" dirty="0" err="1"/>
              <a:t>mypkg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import java.io.*;</a:t>
            </a:r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javax.servlet</a:t>
            </a:r>
            <a:r>
              <a:rPr lang="en-US" sz="2400" dirty="0"/>
              <a:t>.*;</a:t>
            </a:r>
          </a:p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javax.servlet.http</a:t>
            </a:r>
            <a:r>
              <a:rPr lang="en-US" sz="2400" dirty="0"/>
              <a:t>.*;</a:t>
            </a:r>
          </a:p>
          <a:p>
            <a:pPr marL="0" indent="0">
              <a:buNone/>
            </a:pPr>
            <a:r>
              <a:rPr lang="en-US" sz="2400" dirty="0"/>
              <a:t>public class </a:t>
            </a:r>
            <a:r>
              <a:rPr lang="en-US" sz="2400" dirty="0" err="1"/>
              <a:t>HelloServlet</a:t>
            </a:r>
            <a:r>
              <a:rPr lang="en-US" sz="2400" dirty="0"/>
              <a:t> extends </a:t>
            </a:r>
            <a:r>
              <a:rPr lang="en-US" sz="2400" dirty="0" err="1">
                <a:solidFill>
                  <a:srgbClr val="00B0F0"/>
                </a:solidFill>
              </a:rPr>
              <a:t>HttpServlet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 smtClean="0"/>
              <a:t>	@</a:t>
            </a:r>
            <a:r>
              <a:rPr lang="en-US" sz="2400" dirty="0"/>
              <a:t>Override</a:t>
            </a:r>
          </a:p>
          <a:p>
            <a:pPr marL="0" indent="0">
              <a:buNone/>
            </a:pPr>
            <a:r>
              <a:rPr lang="en-US" sz="2400" dirty="0" smtClean="0"/>
              <a:t>	public </a:t>
            </a:r>
            <a:r>
              <a:rPr lang="en-US" sz="2400" dirty="0"/>
              <a:t>void </a:t>
            </a:r>
            <a:r>
              <a:rPr lang="en-US" sz="2400" dirty="0" err="1">
                <a:solidFill>
                  <a:srgbClr val="00B0F0"/>
                </a:solidFill>
              </a:rPr>
              <a:t>doGet</a:t>
            </a:r>
            <a:r>
              <a:rPr lang="en-US" sz="2400" dirty="0">
                <a:solidFill>
                  <a:srgbClr val="00B0F0"/>
                </a:solidFill>
              </a:rPr>
              <a:t>(</a:t>
            </a:r>
            <a:r>
              <a:rPr lang="en-US" sz="2400" dirty="0" err="1">
                <a:solidFill>
                  <a:srgbClr val="00B0F0"/>
                </a:solidFill>
              </a:rPr>
              <a:t>HttpServletRequest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request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00B0F0"/>
                </a:solidFill>
              </a:rPr>
              <a:t>HttpServletResponse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response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smtClean="0"/>
              <a:t>					throws </a:t>
            </a:r>
            <a:r>
              <a:rPr lang="en-US" sz="2400" dirty="0" err="1"/>
              <a:t>IOException</a:t>
            </a:r>
            <a:r>
              <a:rPr lang="en-US" sz="2400" dirty="0"/>
              <a:t>, </a:t>
            </a:r>
            <a:r>
              <a:rPr lang="en-US" sz="2400" dirty="0" err="1"/>
              <a:t>ServletException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 smtClean="0"/>
              <a:t>		// </a:t>
            </a:r>
            <a:r>
              <a:rPr lang="en-US" sz="2400" dirty="0"/>
              <a:t>Set the response message's MIME type</a:t>
            </a:r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en-US" sz="2400" dirty="0" err="1" smtClean="0">
                <a:solidFill>
                  <a:srgbClr val="00B0F0"/>
                </a:solidFill>
              </a:rPr>
              <a:t>response.setContentType</a:t>
            </a:r>
            <a:r>
              <a:rPr lang="en-US" sz="2400" dirty="0">
                <a:solidFill>
                  <a:srgbClr val="00B0F0"/>
                </a:solidFill>
              </a:rPr>
              <a:t>("text/</a:t>
            </a:r>
            <a:r>
              <a:rPr lang="en-US" sz="2400" dirty="0" err="1">
                <a:solidFill>
                  <a:srgbClr val="00B0F0"/>
                </a:solidFill>
              </a:rPr>
              <a:t>html;charset</a:t>
            </a:r>
            <a:r>
              <a:rPr lang="en-US" sz="2400" dirty="0">
                <a:solidFill>
                  <a:srgbClr val="00B0F0"/>
                </a:solidFill>
              </a:rPr>
              <a:t>=UTF-8");</a:t>
            </a:r>
          </a:p>
          <a:p>
            <a:pPr marL="0" indent="0">
              <a:buNone/>
            </a:pPr>
            <a:r>
              <a:rPr lang="en-US" sz="2400" dirty="0" smtClean="0"/>
              <a:t>		// </a:t>
            </a:r>
            <a:r>
              <a:rPr lang="en-US" sz="2400" dirty="0"/>
              <a:t>Allocate a output writer to write the response message into the network </a:t>
            </a:r>
            <a:r>
              <a:rPr lang="en-US" sz="2400" dirty="0" smtClean="0"/>
              <a:t>socket</a:t>
            </a:r>
          </a:p>
          <a:p>
            <a:pPr marL="1828800" lvl="4" indent="0">
              <a:buNone/>
            </a:pPr>
            <a:r>
              <a:rPr lang="en-US" sz="2400" dirty="0" err="1">
                <a:solidFill>
                  <a:srgbClr val="00B0F0"/>
                </a:solidFill>
              </a:rPr>
              <a:t>PrintWriter</a:t>
            </a:r>
            <a:r>
              <a:rPr lang="en-US" sz="2400" dirty="0">
                <a:solidFill>
                  <a:srgbClr val="00B0F0"/>
                </a:solidFill>
              </a:rPr>
              <a:t> out = </a:t>
            </a:r>
            <a:r>
              <a:rPr lang="en-US" sz="2400" dirty="0" err="1">
                <a:solidFill>
                  <a:srgbClr val="00B0F0"/>
                </a:solidFill>
              </a:rPr>
              <a:t>response.getWriter</a:t>
            </a:r>
            <a:r>
              <a:rPr lang="en-US" sz="2400" dirty="0">
                <a:solidFill>
                  <a:srgbClr val="00B0F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7068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31" y="0"/>
            <a:ext cx="10515600" cy="59289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// Write the response message, in an HTML page</a:t>
            </a:r>
          </a:p>
          <a:p>
            <a:pPr marL="0" indent="0">
              <a:buNone/>
            </a:pPr>
            <a:r>
              <a:rPr lang="en-US" sz="2000" dirty="0"/>
              <a:t>try {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("&lt;!DOCTYPE html&gt;");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("&lt;html&gt;&lt;head&gt;");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("&lt;meta http-</a:t>
            </a:r>
            <a:r>
              <a:rPr lang="en-US" sz="2000" dirty="0" err="1"/>
              <a:t>equiv</a:t>
            </a:r>
            <a:r>
              <a:rPr lang="en-US" sz="2000" dirty="0"/>
              <a:t>='Content-Type' content='text/html; charset=UTF-8'&gt;");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("&lt;title&gt;Hello, World&lt;/title&gt;&lt;/head&gt;");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("&lt;body&gt;");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("&lt;h1&gt;Hello, world!&lt;/h1&gt;"); // says Hello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("&lt;/body&gt;");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out.println</a:t>
            </a:r>
            <a:r>
              <a:rPr lang="en-US" sz="2000" dirty="0"/>
              <a:t>("&lt;/html&gt;");</a:t>
            </a:r>
          </a:p>
          <a:p>
            <a:pPr marL="0" indent="0">
              <a:buNone/>
            </a:pPr>
            <a:r>
              <a:rPr lang="en-US" sz="2000" dirty="0"/>
              <a:t>} finally {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out.close</a:t>
            </a:r>
            <a:r>
              <a:rPr lang="en-US" sz="2000" dirty="0"/>
              <a:t>(); // Always close the output writer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827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209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Servlet</vt:lpstr>
      <vt:lpstr>Java servlets </vt:lpstr>
      <vt:lpstr>PowerPoint Presentation</vt:lpstr>
      <vt:lpstr>Server-Side Technologies 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2019-01-19T06:26:54Z</dcterms:created>
  <dcterms:modified xsi:type="dcterms:W3CDTF">2019-01-19T09:30:33Z</dcterms:modified>
</cp:coreProperties>
</file>