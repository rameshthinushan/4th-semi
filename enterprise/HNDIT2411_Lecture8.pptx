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94" y="2286000"/>
            <a:ext cx="7162800" cy="1752600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</a:rPr>
              <a:t>Web-based application development and state </a:t>
            </a:r>
            <a:r>
              <a:rPr lang="en-US" sz="3600" b="1" dirty="0" smtClean="0">
                <a:solidFill>
                  <a:schemeClr val="tx1"/>
                </a:solidFill>
              </a:rPr>
              <a:t>management </a:t>
            </a:r>
            <a:endParaRPr lang="en-US" sz="3600" b="1" dirty="0">
              <a:solidFill>
                <a:schemeClr val="tx1"/>
              </a:solidFill>
            </a:endParaRPr>
          </a:p>
          <a:p>
            <a:pPr algn="l"/>
            <a:endParaRPr lang="en-US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8153400" cy="1472184"/>
          </a:xfrm>
        </p:spPr>
        <p:txBody>
          <a:bodyPr>
            <a:normAutofit/>
          </a:bodyPr>
          <a:lstStyle/>
          <a:p>
            <a:r>
              <a:rPr lang="en-US" b="1" dirty="0"/>
              <a:t>HNDIT2411: Enterprise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71744"/>
            <a:ext cx="1219200" cy="1261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About Servlets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 Tracking</a:t>
            </a:r>
          </a:p>
        </p:txBody>
      </p:sp>
    </p:spTree>
    <p:extLst>
      <p:ext uri="{BB962C8B-B14F-4D97-AF65-F5344CB8AC3E}">
        <p14:creationId xmlns:p14="http://schemas.microsoft.com/office/powerpoint/2010/main" val="3071265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information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181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A server site typically needs to maintain two kinds of </a:t>
            </a:r>
            <a:r>
              <a:rPr lang="en-US" altLang="en-US" dirty="0">
                <a:solidFill>
                  <a:schemeClr val="tx2"/>
                </a:solidFill>
              </a:rPr>
              <a:t>persistent</a:t>
            </a:r>
            <a:r>
              <a:rPr lang="en-US" altLang="en-US" dirty="0"/>
              <a:t> (remembered) </a:t>
            </a:r>
            <a:r>
              <a:rPr lang="en-US" altLang="en-US" dirty="0">
                <a:solidFill>
                  <a:schemeClr val="tx2"/>
                </a:solidFill>
              </a:rPr>
              <a:t>information</a:t>
            </a:r>
            <a:r>
              <a:rPr lang="en-US" altLang="en-US" dirty="0"/>
              <a:t>:</a:t>
            </a:r>
          </a:p>
          <a:p>
            <a:pPr lvl="1" algn="just"/>
            <a:r>
              <a:rPr lang="en-US" altLang="en-US" dirty="0"/>
              <a:t>Information about the session</a:t>
            </a:r>
          </a:p>
          <a:p>
            <a:pPr lvl="2" algn="just"/>
            <a:r>
              <a:rPr lang="en-US" altLang="en-US" dirty="0"/>
              <a:t>A </a:t>
            </a:r>
            <a:r>
              <a:rPr lang="en-US" altLang="en-US" dirty="0">
                <a:solidFill>
                  <a:schemeClr val="tx2"/>
                </a:solidFill>
              </a:rPr>
              <a:t>session</a:t>
            </a:r>
            <a:r>
              <a:rPr lang="en-US" altLang="en-US" dirty="0"/>
              <a:t> starts when the user logs in or otherwise identifies himself/herself, and continues until the user logs out or completes the transaction (for example, makes a purchase)</a:t>
            </a:r>
            <a:endParaRPr lang="en-US" altLang="en-US" sz="2400" dirty="0"/>
          </a:p>
          <a:p>
            <a:pPr lvl="1" algn="just"/>
            <a:r>
              <a:rPr lang="en-US" altLang="en-US" dirty="0"/>
              <a:t>Information about the user</a:t>
            </a:r>
          </a:p>
          <a:p>
            <a:pPr lvl="2" algn="just"/>
            <a:r>
              <a:rPr lang="en-US" altLang="en-US" dirty="0"/>
              <a:t>User information must generally be maintained much longer than session information (for example, remembering a purchase)</a:t>
            </a:r>
          </a:p>
          <a:p>
            <a:pPr lvl="2" algn="just"/>
            <a:r>
              <a:rPr lang="en-US" altLang="en-US" dirty="0"/>
              <a:t>This information must be stored on the server, for example on a file or in a database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600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 capabilities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51054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/>
              <a:t>Servlets, like Applets, can be </a:t>
            </a:r>
            <a:r>
              <a:rPr lang="en-US" altLang="en-US" sz="2400" dirty="0">
                <a:solidFill>
                  <a:schemeClr val="tx2"/>
                </a:solidFill>
              </a:rPr>
              <a:t>trusted</a:t>
            </a:r>
            <a:r>
              <a:rPr lang="en-US" altLang="en-US" sz="2400" dirty="0"/>
              <a:t> or </a:t>
            </a:r>
            <a:r>
              <a:rPr lang="en-US" altLang="en-US" sz="2400" dirty="0">
                <a:solidFill>
                  <a:schemeClr val="tx2"/>
                </a:solidFill>
              </a:rPr>
              <a:t>untrusted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/>
              <a:t>A servlet can use a unique ID to store and retrieve information about a given session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/>
              <a:t>User information usually requires a login ID and a password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/>
              <a:t>Since servlets don’t quit between requests, </a:t>
            </a:r>
            <a:r>
              <a:rPr lang="en-US" altLang="en-US" sz="2000" i="1" dirty="0"/>
              <a:t>any</a:t>
            </a:r>
            <a:r>
              <a:rPr lang="en-US" altLang="en-US" sz="2000" dirty="0"/>
              <a:t> servlet can maintain information in its internal data structures, as long as the server keeps running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/>
              <a:t>A </a:t>
            </a:r>
            <a:r>
              <a:rPr lang="en-US" altLang="en-US" sz="2000" i="1" dirty="0"/>
              <a:t>trusted</a:t>
            </a:r>
            <a:r>
              <a:rPr lang="en-US" altLang="en-US" sz="2000" dirty="0"/>
              <a:t> servlet can read and write files on the server, hence can maintain information about sessions and users even when the server is stopped and restarted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dirty="0"/>
              <a:t>An untrusted servlet will lose </a:t>
            </a:r>
            <a:r>
              <a:rPr lang="en-US" altLang="en-US" sz="2000" i="1" dirty="0"/>
              <a:t>all</a:t>
            </a:r>
            <a:r>
              <a:rPr lang="en-US" altLang="en-US" sz="2000" dirty="0"/>
              <a:t> information when the servlet or server stops for any reason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 dirty="0"/>
              <a:t>This is sometimes good enough for session information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 dirty="0"/>
              <a:t>This is almost never good enough for user information</a:t>
            </a:r>
          </a:p>
        </p:txBody>
      </p:sp>
    </p:spTree>
    <p:extLst>
      <p:ext uri="{BB962C8B-B14F-4D97-AF65-F5344CB8AC3E}">
        <p14:creationId xmlns:p14="http://schemas.microsoft.com/office/powerpoint/2010/main" val="137829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 tracking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HTTP is </a:t>
            </a:r>
            <a:r>
              <a:rPr lang="en-US" altLang="en-US" dirty="0">
                <a:solidFill>
                  <a:schemeClr val="tx2"/>
                </a:solidFill>
              </a:rPr>
              <a:t>stateless</a:t>
            </a:r>
            <a:r>
              <a:rPr lang="en-US" altLang="en-US" dirty="0"/>
              <a:t>: When it gets a page request, it has </a:t>
            </a:r>
            <a:r>
              <a:rPr lang="en-US" altLang="en-US" i="1" dirty="0"/>
              <a:t>no memory</a:t>
            </a:r>
            <a:r>
              <a:rPr lang="en-US" altLang="en-US" dirty="0"/>
              <a:t> of any previous requests from the same client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This makes it difficult to hold a “conversation”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400" dirty="0"/>
              <a:t>Typical example: Putting things one at a time into a shopping cart, then checking out--each page request must somehow be associated with previous requests</a:t>
            </a:r>
            <a:endParaRPr lang="en-US" altLang="en-US" dirty="0"/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The server must be able to keep track of multiple conversations with multiple users</a:t>
            </a:r>
          </a:p>
          <a:p>
            <a:pPr algn="just">
              <a:lnSpc>
                <a:spcPct val="90000"/>
              </a:lnSpc>
            </a:pPr>
            <a:r>
              <a:rPr lang="en-US" altLang="en-US" dirty="0">
                <a:solidFill>
                  <a:schemeClr val="tx2"/>
                </a:solidFill>
              </a:rPr>
              <a:t>Session tracking</a:t>
            </a:r>
            <a:r>
              <a:rPr lang="en-US" altLang="en-US" dirty="0"/>
              <a:t> is keeping track of what has gone before in this particular conversation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Since HTTP is stateless, it does not do this for you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You have to do it yourself, in your servlets</a:t>
            </a:r>
          </a:p>
        </p:txBody>
      </p:sp>
    </p:spTree>
    <p:extLst>
      <p:ext uri="{BB962C8B-B14F-4D97-AF65-F5344CB8AC3E}">
        <p14:creationId xmlns:p14="http://schemas.microsoft.com/office/powerpoint/2010/main" val="51045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 tracking solutions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altLang="en-US" dirty="0">
                <a:solidFill>
                  <a:schemeClr val="tx2"/>
                </a:solidFill>
              </a:rPr>
              <a:t>Cookies</a:t>
            </a:r>
            <a:r>
              <a:rPr lang="en-US" altLang="en-US" dirty="0"/>
              <a:t> are small files that the servlet can store on the client computer, and retrieve later</a:t>
            </a:r>
          </a:p>
          <a:p>
            <a:pPr algn="just"/>
            <a:r>
              <a:rPr lang="en-US" altLang="en-US" dirty="0">
                <a:solidFill>
                  <a:schemeClr val="tx2"/>
                </a:solidFill>
              </a:rPr>
              <a:t>URL rewriting</a:t>
            </a:r>
            <a:r>
              <a:rPr lang="en-US" altLang="en-US" dirty="0"/>
              <a:t>: You can append a unique ID after the URL to identify the user</a:t>
            </a:r>
          </a:p>
          <a:p>
            <a:pPr algn="just"/>
            <a:r>
              <a:rPr lang="en-US" altLang="en-US" dirty="0">
                <a:solidFill>
                  <a:schemeClr val="tx2"/>
                </a:solidFill>
              </a:rPr>
              <a:t>Hidden &lt;form&gt; fields</a:t>
            </a:r>
            <a:r>
              <a:rPr lang="en-US" altLang="en-US" dirty="0"/>
              <a:t> can be used to store a unique ID</a:t>
            </a:r>
          </a:p>
          <a:p>
            <a:pPr algn="just"/>
            <a:r>
              <a:rPr lang="en-US" altLang="en-US" dirty="0"/>
              <a:t>Java’s </a:t>
            </a:r>
            <a:r>
              <a:rPr lang="en-US" altLang="en-US" dirty="0">
                <a:solidFill>
                  <a:schemeClr val="tx2"/>
                </a:solidFill>
              </a:rPr>
              <a:t>Session Tracking API</a:t>
            </a:r>
            <a:r>
              <a:rPr lang="en-US" altLang="en-US" dirty="0"/>
              <a:t> can be used to do most of the work for you</a:t>
            </a:r>
          </a:p>
        </p:txBody>
      </p:sp>
    </p:spTree>
    <p:extLst>
      <p:ext uri="{BB962C8B-B14F-4D97-AF65-F5344CB8AC3E}">
        <p14:creationId xmlns:p14="http://schemas.microsoft.com/office/powerpoint/2010/main" val="263519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 </a:t>
            </a:r>
            <a:r>
              <a:rPr lang="en-US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&lt;form&gt;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fields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&lt;input type="hidden" name="sessionID" value="..."&gt;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Advantage: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Requires the least knowledge: All you need to know is how to read and write parameters</a:t>
            </a:r>
          </a:p>
          <a:p>
            <a:pPr>
              <a:lnSpc>
                <a:spcPct val="90000"/>
              </a:lnSpc>
            </a:pPr>
            <a:r>
              <a:rPr lang="en-US" altLang="en-US"/>
              <a:t>Disadvantages: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Not kept across sessions, so useless for maintaining persistent information about a user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Since the session ID must be incorporated into every HTML page, every HTML page must be dynamically generated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There’s not much more to say about using hidden form fields, since you should already know enough to do it</a:t>
            </a:r>
          </a:p>
        </p:txBody>
      </p:sp>
    </p:spTree>
    <p:extLst>
      <p:ext uri="{BB962C8B-B14F-4D97-AF65-F5344CB8AC3E}">
        <p14:creationId xmlns:p14="http://schemas.microsoft.com/office/powerpoint/2010/main" val="237168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Cookies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A </a:t>
            </a:r>
            <a:r>
              <a:rPr lang="en-US" altLang="en-US" sz="2400">
                <a:solidFill>
                  <a:schemeClr val="tx2"/>
                </a:solidFill>
              </a:rPr>
              <a:t>cookie</a:t>
            </a:r>
            <a:r>
              <a:rPr lang="en-US" altLang="en-US" sz="2400"/>
              <a:t> is a small bit of text sent to the client that can be read again later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Limitations (for the protection of the client):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Not more than 4KB per cookie (more than enough in general)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Not more than 20 cookies per site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Not more than 300 cookies total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Cookies are </a:t>
            </a:r>
            <a:r>
              <a:rPr lang="en-US" altLang="en-US" sz="2400" i="1"/>
              <a:t>not</a:t>
            </a:r>
            <a:r>
              <a:rPr lang="en-US" altLang="en-US" sz="2400"/>
              <a:t> a security threat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Cookies </a:t>
            </a:r>
            <a:r>
              <a:rPr lang="en-US" altLang="en-US" sz="2400" i="1"/>
              <a:t>can be</a:t>
            </a:r>
            <a:r>
              <a:rPr lang="en-US" altLang="en-US" sz="2400"/>
              <a:t> a privacy threat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Cookies can be used to customize advertisements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Outlook Express allows cookies to be embedded in email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 servlet can read your cookies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Incompetent companies might keep your credit card info in a cookie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Netscape lets you refuse cookies to sites other than that to which you connected</a:t>
            </a:r>
          </a:p>
        </p:txBody>
      </p:sp>
    </p:spTree>
    <p:extLst>
      <p:ext uri="{BB962C8B-B14F-4D97-AF65-F5344CB8AC3E}">
        <p14:creationId xmlns:p14="http://schemas.microsoft.com/office/powerpoint/2010/main" val="425257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cookies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7924800" cy="4760913"/>
          </a:xfrm>
        </p:spPr>
        <p:txBody>
          <a:bodyPr>
            <a:normAutofit lnSpcReduction="10000"/>
          </a:bodyPr>
          <a:lstStyle/>
          <a:p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import javax.servlet.http.*;</a:t>
            </a:r>
          </a:p>
          <a:p>
            <a:r>
              <a:rPr lang="en-US" altLang="en-US" sz="2400"/>
              <a:t>Constructor: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Cookie(String name, String value)</a:t>
            </a:r>
          </a:p>
          <a:p>
            <a:r>
              <a:rPr lang="en-US" altLang="en-US" sz="2400"/>
              <a:t>Assuming </a:t>
            </a:r>
            <a:r>
              <a:rPr lang="en-US" altLang="en-US" sz="2400" b="1" i="1">
                <a:solidFill>
                  <a:schemeClr val="hlink"/>
                </a:solidFill>
              </a:rPr>
              <a:t>request</a:t>
            </a:r>
            <a:r>
              <a:rPr lang="en-US" altLang="en-US" sz="2400"/>
              <a:t> is an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HttpServletRequest</a:t>
            </a:r>
            <a:r>
              <a:rPr lang="en-US" altLang="en-US" sz="2400"/>
              <a:t> and </a:t>
            </a:r>
            <a:r>
              <a:rPr lang="en-US" altLang="en-US" sz="2400" b="1" i="1">
                <a:solidFill>
                  <a:schemeClr val="hlink"/>
                </a:solidFill>
              </a:rPr>
              <a:t>response</a:t>
            </a:r>
            <a:r>
              <a:rPr lang="en-US" altLang="en-US" sz="2400"/>
              <a:t> is an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HttpServletResponse</a:t>
            </a:r>
            <a:r>
              <a:rPr lang="en-US" altLang="en-US" sz="2400">
                <a:solidFill>
                  <a:schemeClr val="accent2"/>
                </a:solidFill>
              </a:rPr>
              <a:t>,</a:t>
            </a:r>
          </a:p>
          <a:p>
            <a:pPr lvl="1"/>
            <a:r>
              <a:rPr lang="en-US" altLang="en-US" b="1" i="1">
                <a:solidFill>
                  <a:schemeClr val="hlink"/>
                </a:solidFill>
              </a:rPr>
              <a:t>response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.addCookie(cookie);</a:t>
            </a:r>
          </a:p>
          <a:p>
            <a:pPr lvl="1"/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Cookie[ ] cookies = </a:t>
            </a:r>
            <a:r>
              <a:rPr lang="en-US" altLang="en-US" b="1" i="1">
                <a:solidFill>
                  <a:schemeClr val="hlink"/>
                </a:solidFill>
              </a:rPr>
              <a:t>request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.getCookies();</a:t>
            </a:r>
          </a:p>
          <a:p>
            <a:pPr lvl="2"/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String name = cookies[i].getName();</a:t>
            </a:r>
          </a:p>
          <a:p>
            <a:pPr lvl="2"/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String value = cookies[i].getValue();</a:t>
            </a:r>
          </a:p>
          <a:p>
            <a:r>
              <a:rPr lang="en-US" altLang="en-US"/>
              <a:t>There are, of course, many more methods in the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HttpServletRequest</a:t>
            </a:r>
            <a:r>
              <a:rPr lang="en-US" altLang="en-US"/>
              <a:t>,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HttpServletResponse</a:t>
            </a:r>
            <a:r>
              <a:rPr lang="en-US" altLang="en-US"/>
              <a:t>, and</a:t>
            </a:r>
            <a:br>
              <a:rPr lang="en-US" altLang="en-US"/>
            </a:b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Cookie</a:t>
            </a:r>
            <a:r>
              <a:rPr lang="en-US" altLang="en-US" sz="24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/>
              <a:t>classes in the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javax.servlet.http</a:t>
            </a:r>
            <a:r>
              <a:rPr lang="en-US" altLang="en-US" sz="2400">
                <a:solidFill>
                  <a:srgbClr val="FFFF7F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/>
              <a:t>package</a:t>
            </a:r>
            <a:endParaRPr lang="en-US" altLang="en-US" sz="2400">
              <a:solidFill>
                <a:srgbClr val="FFFF7F"/>
              </a:solidFill>
              <a:latin typeface="Trebuchet MS" panose="020B0603020202020204" pitchFamily="34" charset="0"/>
            </a:endParaRPr>
          </a:p>
        </p:txBody>
      </p:sp>
      <p:pic>
        <p:nvPicPr>
          <p:cNvPr id="10245" name="Picture 5" descr="cookie-1.gif                                                   0016A239Quicksilver                    ABA78158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888" y="5362575"/>
            <a:ext cx="1662112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08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more </a:t>
            </a:r>
            <a:r>
              <a:rPr lang="en-US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Cookie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methods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public void setComment(String </a:t>
            </a:r>
            <a:r>
              <a:rPr lang="en-US" altLang="en-US" b="1" i="1">
                <a:solidFill>
                  <a:schemeClr val="hlink"/>
                </a:solidFill>
              </a:rPr>
              <a:t>purpose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800">
                <a:solidFill>
                  <a:schemeClr val="accent2"/>
                </a:solidFill>
                <a:latin typeface="Trebuchet MS" panose="020B0603020202020204" pitchFamily="34" charset="0"/>
              </a:rPr>
              <a:t>public String getComment()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public void setMaxAge(int </a:t>
            </a:r>
            <a:r>
              <a:rPr lang="en-US" altLang="en-US" b="1" i="1">
                <a:solidFill>
                  <a:schemeClr val="hlink"/>
                </a:solidFill>
              </a:rPr>
              <a:t>expiry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800">
                <a:solidFill>
                  <a:schemeClr val="accent2"/>
                </a:solidFill>
                <a:latin typeface="Trebuchet MS" panose="020B0603020202020204" pitchFamily="34" charset="0"/>
              </a:rPr>
              <a:t>public int getMaxAge()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Max age in seconds after which cookie will expire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expiry</a:t>
            </a:r>
            <a:r>
              <a:rPr lang="en-US" altLang="en-US"/>
              <a:t> is negative, delete when browser exits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expiry</a:t>
            </a:r>
            <a:r>
              <a:rPr lang="en-US" altLang="en-US"/>
              <a:t> is zero, delete cookie immediately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setSecure(boolean </a:t>
            </a:r>
            <a:r>
              <a:rPr lang="en-US" altLang="en-US" b="1" i="1">
                <a:solidFill>
                  <a:schemeClr val="hlink"/>
                </a:solidFill>
              </a:rPr>
              <a:t>flag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)</a:t>
            </a:r>
            <a:endParaRPr lang="en-US" altLang="en-US">
              <a:solidFill>
                <a:srgbClr val="FFFF7F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800">
                <a:solidFill>
                  <a:schemeClr val="accent2"/>
                </a:solidFill>
                <a:latin typeface="Trebuchet MS" panose="020B0603020202020204" pitchFamily="34" charset="0"/>
              </a:rPr>
              <a:t>public boolean getSecure()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Indicates to the browser whether the cookie should only be sent using a secure protocol, such as HTTPS or SSL </a:t>
            </a:r>
          </a:p>
        </p:txBody>
      </p:sp>
    </p:spTree>
    <p:extLst>
      <p:ext uri="{BB962C8B-B14F-4D97-AF65-F5344CB8AC3E}">
        <p14:creationId xmlns:p14="http://schemas.microsoft.com/office/powerpoint/2010/main" val="376883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8991600" cy="5334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</a:t>
            </a:r>
            <a:r>
              <a:rPr lang="en-US" alt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HttpServletRequest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methods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public HttpSession getSession()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Gets the session object for this request (or creates one if necessary)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public Enumeration getHeaderNames()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Gets an Enumeration of all the field names in the HTTP header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public String getHeader(String name)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Given the header name, return its value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public int getIntHeader(String name)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Given the header name, return its value as an </a:t>
            </a:r>
            <a:r>
              <a:rPr lang="en-US" alt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int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en-US" altLang="en-US" sz="2000"/>
              <a:t>Returns </a:t>
            </a:r>
            <a:r>
              <a:rPr lang="en-US" alt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-1</a:t>
            </a:r>
            <a:r>
              <a:rPr lang="en-US" altLang="en-US" sz="2000"/>
              <a:t> if no such header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Could throw a </a:t>
            </a:r>
            <a:r>
              <a:rPr lang="en-US" altLang="en-US" sz="2000">
                <a:solidFill>
                  <a:schemeClr val="accent2"/>
                </a:solidFill>
                <a:latin typeface="Trebuchet MS" panose="020B0603020202020204" pitchFamily="34" charset="0"/>
              </a:rPr>
              <a:t>NumberFormatException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public Enumeration getHeaders(String </a:t>
            </a:r>
            <a:r>
              <a:rPr lang="en-US" altLang="en-US" sz="2400" b="1" i="1">
                <a:solidFill>
                  <a:schemeClr val="hlink"/>
                </a:solidFill>
              </a:rPr>
              <a:t>name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)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Given the header name, return an Enumeration of all its values</a:t>
            </a:r>
          </a:p>
        </p:txBody>
      </p:sp>
    </p:spTree>
    <p:extLst>
      <p:ext uri="{BB962C8B-B14F-4D97-AF65-F5344CB8AC3E}">
        <p14:creationId xmlns:p14="http://schemas.microsoft.com/office/powerpoint/2010/main" val="447138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Session Tracking API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09713"/>
            <a:ext cx="7924800" cy="4814887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The session tracking API is in </a:t>
            </a:r>
            <a:r>
              <a:rPr lang="en-US" altLang="en-US" sz="2400">
                <a:solidFill>
                  <a:schemeClr val="accent2"/>
                </a:solidFill>
                <a:latin typeface="Trebuchet MS" panose="020B0603020202020204" pitchFamily="34" charset="0"/>
              </a:rPr>
              <a:t>javax.servlet.http.HttpSession</a:t>
            </a:r>
            <a:r>
              <a:rPr lang="en-US" altLang="en-US" sz="2400"/>
              <a:t> and is built on top of cookies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To use the session tracking API</a:t>
            </a:r>
            <a:r>
              <a:rPr lang="en-US" altLang="en-US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Create a session: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HttpSession session = </a:t>
            </a:r>
            <a:r>
              <a:rPr lang="en-US" altLang="en-US" b="1" i="1">
                <a:solidFill>
                  <a:schemeClr val="hlink"/>
                </a:solidFill>
              </a:rPr>
              <a:t>request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.getSession();</a:t>
            </a:r>
            <a:endParaRPr lang="en-US" altLang="en-US"/>
          </a:p>
          <a:p>
            <a:pPr lvl="3">
              <a:lnSpc>
                <a:spcPct val="90000"/>
              </a:lnSpc>
            </a:pPr>
            <a:r>
              <a:rPr lang="en-US" altLang="en-US"/>
              <a:t>Returns the session associated with this request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If there was no associated session, one is created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Store information in the session and retrieve it as needed: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session.setAttribute(</a:t>
            </a:r>
            <a:r>
              <a:rPr lang="en-US" altLang="en-US" b="1" i="1">
                <a:solidFill>
                  <a:schemeClr val="hlink"/>
                </a:solidFill>
              </a:rPr>
              <a:t>name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b="1" i="1">
                <a:solidFill>
                  <a:schemeClr val="hlink"/>
                </a:solidFill>
              </a:rPr>
              <a:t>value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);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Object </a:t>
            </a:r>
            <a:r>
              <a:rPr lang="en-US" altLang="en-US" b="1" i="1">
                <a:solidFill>
                  <a:schemeClr val="hlink"/>
                </a:solidFill>
              </a:rPr>
              <a:t>obj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 = getAttribute(</a:t>
            </a:r>
            <a:r>
              <a:rPr lang="en-US" altLang="en-US" b="1" i="1">
                <a:solidFill>
                  <a:schemeClr val="hlink"/>
                </a:solidFill>
              </a:rPr>
              <a:t>name</a:t>
            </a:r>
            <a:r>
              <a:rPr lang="en-US" altLang="en-US">
                <a:solidFill>
                  <a:schemeClr val="accent2"/>
                </a:solidFill>
                <a:latin typeface="Trebuchet MS" panose="020B0603020202020204" pitchFamily="34" charset="0"/>
              </a:rPr>
              <a:t>);</a:t>
            </a:r>
            <a:endParaRPr lang="en-US" altLang="en-US">
              <a:solidFill>
                <a:srgbClr val="FFFF7F"/>
              </a:solidFill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/>
              <a:t>Session information is automatically maintained across requests</a:t>
            </a:r>
            <a:endParaRPr lang="en-US" altLang="en-US">
              <a:solidFill>
                <a:srgbClr val="FFFF7F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165493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314</TotalTime>
  <Words>723</Words>
  <Application>Microsoft Office PowerPoint</Application>
  <PresentationFormat>On-screen Show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HNDIT</vt:lpstr>
      <vt:lpstr>HNDIT2411: Enterprise Architecture</vt:lpstr>
      <vt:lpstr>More About Servlets</vt:lpstr>
      <vt:lpstr>Persistent information</vt:lpstr>
      <vt:lpstr>Server capabilities</vt:lpstr>
      <vt:lpstr>Session tracking</vt:lpstr>
      <vt:lpstr>Session tracking solutions</vt:lpstr>
      <vt:lpstr>Hidden &lt;form&gt; fields</vt:lpstr>
      <vt:lpstr>Cookies</vt:lpstr>
      <vt:lpstr>Using cookies</vt:lpstr>
      <vt:lpstr>Some more Cookie methods</vt:lpstr>
      <vt:lpstr>More HttpServletRequest methods</vt:lpstr>
      <vt:lpstr>The Session Tracking API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Acer</cp:lastModifiedBy>
  <cp:revision>33</cp:revision>
  <dcterms:created xsi:type="dcterms:W3CDTF">2012-08-01T05:29:21Z</dcterms:created>
  <dcterms:modified xsi:type="dcterms:W3CDTF">2015-12-08T18:22:34Z</dcterms:modified>
</cp:coreProperties>
</file>