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70" r:id="rId3"/>
    <p:sldId id="271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4" autoAdjust="0"/>
    <p:restoredTop sz="94660"/>
  </p:normalViewPr>
  <p:slideViewPr>
    <p:cSldViewPr>
      <p:cViewPr varScale="1">
        <p:scale>
          <a:sx n="70" d="100"/>
          <a:sy n="70" d="100"/>
        </p:scale>
        <p:origin x="5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AF1BF-01CA-4961-8652-E6477156C05F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FD58E-DEE8-4398-ADC3-3A3441DE8C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0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FC9A3-AF3C-4CC1-8FAA-58AD05255FE4}" type="datetimeFigureOut">
              <a:rPr lang="en-US" smtClean="0"/>
              <a:pPr/>
              <a:t>1/12/2018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43400"/>
            <a:ext cx="7406640" cy="1752600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dirty="0"/>
              <a:t/>
            </a:r>
            <a:br>
              <a:rPr lang="en-US" dirty="0"/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  <a:t>HNDIT2411: Enterprise Architecture</a:t>
            </a:r>
          </a:p>
          <a:p>
            <a:pPr algn="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  <a:t>Chapter 03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  <a:t/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</a:b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8153400" cy="1472184"/>
          </a:xfrm>
        </p:spPr>
        <p:txBody>
          <a:bodyPr>
            <a:noAutofit/>
          </a:bodyPr>
          <a:lstStyle/>
          <a:p>
            <a:pPr lvl="0"/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Programming with </a:t>
            </a:r>
            <a:r>
              <a:rPr lang="en-US" sz="48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Concurrency </a:t>
            </a:r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48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Multithreading </a:t>
            </a:r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 Java)</a:t>
            </a:r>
            <a:r>
              <a:rPr lang="en-US" sz="480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/>
            </a:r>
            <a:br>
              <a:rPr lang="en-US" sz="4800" dirty="0"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</a:b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28801" y="44824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0" i="0" u="none" strike="noStrike" cap="none" normalizeH="0" baseline="0" smtClean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Lath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475" y="2580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Week 01: Practical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Example: Runnable interface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003300" y="2133600"/>
            <a:ext cx="90551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tabLst>
                <a:tab pos="342900" algn="l"/>
              </a:tabLst>
              <a:defRPr/>
            </a:pP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Public class </a:t>
            </a: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PrintRunnableThread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 implements </a:t>
            </a: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Runnable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 {</a:t>
            </a:r>
            <a:r>
              <a:rPr lang="en-CA" sz="1896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96" dirty="0">
                <a:solidFill>
                  <a:srgbClr val="000000"/>
                </a:solidFill>
                <a:latin typeface="Times New Roman"/>
              </a:rPr>
            </a:b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	public static void main(String[] </a:t>
            </a: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args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pPr>
              <a:lnSpc>
                <a:spcPts val="2800"/>
              </a:lnSpc>
              <a:defRPr/>
            </a:pPr>
            <a:endParaRPr lang="en-CA" sz="1896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917700" y="2844800"/>
            <a:ext cx="8140700" cy="749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700"/>
              </a:lnSpc>
              <a:defRPr/>
            </a:pP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Thread t = new Thread(new </a:t>
            </a: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PrintRunnableThread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());</a:t>
            </a:r>
            <a:r>
              <a:rPr lang="en-CA" sz="1896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96" dirty="0">
                <a:solidFill>
                  <a:srgbClr val="000000"/>
                </a:solidFill>
                <a:latin typeface="Times New Roman"/>
              </a:rPr>
            </a:b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t.start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();</a:t>
            </a:r>
          </a:p>
          <a:p>
            <a:pPr>
              <a:lnSpc>
                <a:spcPts val="2700"/>
              </a:lnSpc>
              <a:defRPr/>
            </a:pPr>
            <a:endParaRPr lang="en-CA" sz="1896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917700" y="3581400"/>
            <a:ext cx="65532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while(true) { System.out.println(“main”); 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1346200" y="3924300"/>
            <a:ext cx="4953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10" name="TextBox 7"/>
          <p:cNvSpPr txBox="1"/>
          <p:nvPr/>
        </p:nvSpPr>
        <p:spPr>
          <a:xfrm>
            <a:off x="1346200" y="4622800"/>
            <a:ext cx="3060700" cy="330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public void run() {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11" name="TextBox 8"/>
          <p:cNvSpPr txBox="1"/>
          <p:nvPr/>
        </p:nvSpPr>
        <p:spPr>
          <a:xfrm>
            <a:off x="1917700" y="4965700"/>
            <a:ext cx="74295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while( true ) { System.out.println( “Thread” ); 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12" name="TextBox 9"/>
          <p:cNvSpPr txBox="1"/>
          <p:nvPr/>
        </p:nvSpPr>
        <p:spPr>
          <a:xfrm>
            <a:off x="1346200" y="5321300"/>
            <a:ext cx="4953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13" name="TextBox 10"/>
          <p:cNvSpPr txBox="1"/>
          <p:nvPr/>
        </p:nvSpPr>
        <p:spPr>
          <a:xfrm>
            <a:off x="1003300" y="5664200"/>
            <a:ext cx="4953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56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182" t="41667" r="27380" b="17708"/>
          <a:stretch/>
        </p:blipFill>
        <p:spPr>
          <a:xfrm>
            <a:off x="34344" y="2079938"/>
            <a:ext cx="8720223" cy="419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4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 dirty="0">
                <a:solidFill>
                  <a:srgbClr val="320065"/>
                </a:solidFill>
                <a:latin typeface="Arial Bold"/>
                <a:cs typeface="Arial Bold"/>
              </a:rPr>
              <a:t>Controlling Threads</a:t>
            </a:r>
          </a:p>
          <a:p>
            <a:pPr>
              <a:lnSpc>
                <a:spcPts val="4485"/>
              </a:lnSpc>
              <a:defRPr/>
            </a:pPr>
            <a:endParaRPr lang="en-CA" sz="3912" dirty="0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066800" y="2438400"/>
            <a:ext cx="6618288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Thread.sleep</a:t>
            </a:r>
            <a:r>
              <a:rPr lang="en-CA" sz="2592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method puts the current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running thread to pause execution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765300" y="3225800"/>
            <a:ext cx="3368675" cy="641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sleep( long milliseconds )</a:t>
            </a:r>
          </a:p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765300" y="3594100"/>
            <a:ext cx="3276600" cy="641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r>
              <a:rPr lang="en-CA" sz="2208">
                <a:solidFill>
                  <a:srgbClr val="000000"/>
                </a:solidFill>
                <a:latin typeface="Arial"/>
                <a:cs typeface="Arial"/>
              </a:rPr>
              <a:t>sleep( long ms, long ns )</a:t>
            </a:r>
          </a:p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endParaRPr lang="en-CA" sz="2208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143000" y="3962400"/>
            <a:ext cx="7292975" cy="14366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A thread that is sleeping can be interrupted, so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you must handle a </a:t>
            </a: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InterruptedException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if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you put a thread to sleep</a:t>
            </a:r>
          </a:p>
          <a:p>
            <a:pPr>
              <a:lnSpc>
                <a:spcPts val="28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422400" y="5092700"/>
            <a:ext cx="86360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try {</a:t>
            </a:r>
          </a:p>
          <a:p>
            <a:pPr>
              <a:lnSpc>
                <a:spcPts val="1955"/>
              </a:lnSpc>
              <a:defRPr/>
            </a:pPr>
            <a:endParaRPr lang="en-CA" sz="1704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993900" y="5384800"/>
            <a:ext cx="80645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Thread.sleep( 5000 )</a:t>
            </a:r>
          </a:p>
          <a:p>
            <a:pPr>
              <a:lnSpc>
                <a:spcPts val="1955"/>
              </a:lnSpc>
              <a:defRPr/>
            </a:pPr>
            <a:endParaRPr lang="en-CA" sz="1704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422400" y="5664200"/>
            <a:ext cx="86360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} catch( InterruptedException ie ) {</a:t>
            </a:r>
          </a:p>
          <a:p>
            <a:pPr>
              <a:lnSpc>
                <a:spcPts val="1955"/>
              </a:lnSpc>
              <a:defRPr/>
            </a:pPr>
            <a:endParaRPr lang="en-CA" sz="1704">
              <a:solidFill>
                <a:srgbClr val="000000"/>
              </a:solidFill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1422400" y="5880100"/>
            <a:ext cx="8636000" cy="63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569976">
              <a:lnSpc>
                <a:spcPts val="2200"/>
              </a:lnSpc>
              <a:defRPr/>
            </a:pPr>
            <a:r>
              <a:rPr lang="en-CA" sz="1704" dirty="0" err="1">
                <a:solidFill>
                  <a:srgbClr val="000000"/>
                </a:solidFill>
                <a:latin typeface="Courier New"/>
                <a:cs typeface="Courier New"/>
              </a:rPr>
              <a:t>System.out.println</a:t>
            </a: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( “Interrupted” );</a:t>
            </a:r>
            <a:r>
              <a:rPr lang="en-CA" sz="1704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704" dirty="0">
                <a:solidFill>
                  <a:srgbClr val="000000"/>
                </a:solidFill>
                <a:latin typeface="Times New Roman"/>
              </a:rPr>
            </a:b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2200"/>
              </a:lnSpc>
              <a:defRPr/>
            </a:pPr>
            <a:endParaRPr lang="en-CA" sz="1704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28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 dirty="0">
                <a:solidFill>
                  <a:srgbClr val="320065"/>
                </a:solidFill>
                <a:latin typeface="Arial Bold"/>
                <a:cs typeface="Arial Bold"/>
              </a:rPr>
              <a:t>What happens to new threads?</a:t>
            </a:r>
          </a:p>
          <a:p>
            <a:pPr>
              <a:lnSpc>
                <a:spcPts val="4485"/>
              </a:lnSpc>
              <a:defRPr/>
            </a:pPr>
            <a:endParaRPr lang="en-CA" sz="3912" dirty="0">
              <a:solidFill>
                <a:srgbClr val="000000"/>
              </a:solidFill>
            </a:endParaRP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838200" y="2286000"/>
            <a:ext cx="4048125" cy="89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45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Main thread continues</a:t>
            </a:r>
          </a:p>
          <a:p>
            <a:pPr>
              <a:lnSpc>
                <a:spcPts val="345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4341" name="TextBox 4"/>
          <p:cNvSpPr txBox="1">
            <a:spLocks noChangeArrowheads="1"/>
          </p:cNvSpPr>
          <p:nvPr/>
        </p:nvSpPr>
        <p:spPr bwMode="auto">
          <a:xfrm>
            <a:off x="838200" y="2819400"/>
            <a:ext cx="79343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New threads execute the run method and die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when they are finished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4342" name="TextBox 5"/>
          <p:cNvSpPr txBox="1">
            <a:spLocks noChangeArrowheads="1"/>
          </p:cNvSpPr>
          <p:nvPr/>
        </p:nvSpPr>
        <p:spPr bwMode="auto">
          <a:xfrm>
            <a:off x="838200" y="3733800"/>
            <a:ext cx="804545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If any thread calls System.exit(0), it will kill  all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threads.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4343" name="TextBox 6"/>
          <p:cNvSpPr txBox="1">
            <a:spLocks noChangeArrowheads="1"/>
          </p:cNvSpPr>
          <p:nvPr/>
        </p:nvSpPr>
        <p:spPr bwMode="auto">
          <a:xfrm>
            <a:off x="838200" y="4724400"/>
            <a:ext cx="6249988" cy="89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45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Think of each run() as its own main</a:t>
            </a:r>
          </a:p>
          <a:p>
            <a:pPr>
              <a:lnSpc>
                <a:spcPts val="345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4344" name="TextBox 7"/>
          <p:cNvSpPr txBox="1">
            <a:spLocks noChangeArrowheads="1"/>
          </p:cNvSpPr>
          <p:nvPr/>
        </p:nvSpPr>
        <p:spPr bwMode="auto">
          <a:xfrm>
            <a:off x="762000" y="5473700"/>
            <a:ext cx="75914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Program does not exit until all non-daemon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threads die.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02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Controlling Threads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15364" name="TextBox 3"/>
          <p:cNvSpPr txBox="1">
            <a:spLocks noChangeArrowheads="1"/>
          </p:cNvSpPr>
          <p:nvPr/>
        </p:nvSpPr>
        <p:spPr bwMode="auto">
          <a:xfrm>
            <a:off x="762000" y="2057400"/>
            <a:ext cx="7456488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8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Thread.yield()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method allows other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threads a chance to execute.</a:t>
            </a:r>
          </a:p>
          <a:p>
            <a:pPr>
              <a:lnSpc>
                <a:spcPts val="38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5365" name="TextBox 4"/>
          <p:cNvSpPr txBox="1">
            <a:spLocks noChangeArrowheads="1"/>
          </p:cNvSpPr>
          <p:nvPr/>
        </p:nvSpPr>
        <p:spPr bwMode="auto">
          <a:xfrm>
            <a:off x="838200" y="3810000"/>
            <a:ext cx="7899400" cy="277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JVM thread scheduler is generally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fair, but in intensive operations a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thread can monopolize.  Adding in a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random chance of yielding can improve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fairness.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03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Thread Ops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346200" y="2184400"/>
            <a:ext cx="7234238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3047"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Arial"/>
                <a:cs typeface="Arial"/>
              </a:rPr>
              <a:t>isAlive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() - Tests if this thread is alive. A thread is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alive if it has been started and has not yet died.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346200" y="2971800"/>
            <a:ext cx="5210175" cy="7699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592">
                <a:solidFill>
                  <a:srgbClr val="000000"/>
                </a:solidFill>
                <a:latin typeface="Arial"/>
                <a:cs typeface="Arial"/>
              </a:rPr>
              <a:t>join() - Waits for this thread to die.</a:t>
            </a:r>
          </a:p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endParaRPr lang="en-CA" sz="2592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346200" y="3403600"/>
            <a:ext cx="7127875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Thread.activeCount</a:t>
            </a:r>
            <a:r>
              <a:rPr lang="en-CA" sz="2592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- returns number of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active threads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346200" y="4203700"/>
            <a:ext cx="7138988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Thread.enumerate</a:t>
            </a:r>
            <a:r>
              <a:rPr lang="en-CA" sz="2592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- fills an array with the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currently active threads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346200" y="4991100"/>
            <a:ext cx="7618413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Thread.currentThread</a:t>
            </a:r>
            <a:r>
              <a:rPr lang="en-CA" sz="2592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- returns the current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thread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346200" y="5778500"/>
            <a:ext cx="7115175" cy="7699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592">
                <a:solidFill>
                  <a:srgbClr val="000000"/>
                </a:solidFill>
                <a:latin typeface="Courier New"/>
                <a:cs typeface="Courier New"/>
              </a:rPr>
              <a:t>Thread.dumpStack()</a:t>
            </a:r>
            <a:r>
              <a:rPr lang="en-CA" sz="2592">
                <a:solidFill>
                  <a:srgbClr val="000000"/>
                </a:solidFill>
                <a:latin typeface="Arial"/>
                <a:cs typeface="Arial"/>
              </a:rPr>
              <a:t> - useful for debugging</a:t>
            </a:r>
          </a:p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endParaRPr lang="en-CA" sz="2592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16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0058400" cy="775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Thread State Diagram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17412" name="TextBox 3"/>
          <p:cNvSpPr txBox="1">
            <a:spLocks noChangeArrowheads="1"/>
          </p:cNvSpPr>
          <p:nvPr/>
        </p:nvSpPr>
        <p:spPr bwMode="auto">
          <a:xfrm>
            <a:off x="3606800" y="2438400"/>
            <a:ext cx="6451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075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Alive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3" name="TextBox 4"/>
          <p:cNvSpPr txBox="1">
            <a:spLocks noChangeArrowheads="1"/>
          </p:cNvSpPr>
          <p:nvPr/>
        </p:nvSpPr>
        <p:spPr bwMode="auto">
          <a:xfrm>
            <a:off x="4724400" y="3175000"/>
            <a:ext cx="5334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075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Running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4" name="TextBox 5"/>
          <p:cNvSpPr txBox="1">
            <a:spLocks noChangeArrowheads="1"/>
          </p:cNvSpPr>
          <p:nvPr/>
        </p:nvSpPr>
        <p:spPr bwMode="auto">
          <a:xfrm>
            <a:off x="698500" y="3556000"/>
            <a:ext cx="39243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new </a:t>
            </a:r>
            <a:r>
              <a:rPr lang="en-CA" sz="18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CounterThread</a:t>
            </a:r>
            <a:r>
              <a:rPr lang="en-CA" sz="18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();</a:t>
            </a:r>
          </a:p>
          <a:p>
            <a:pPr>
              <a:lnSpc>
                <a:spcPts val="2075"/>
              </a:lnSpc>
            </a:pPr>
            <a:endParaRPr lang="en-CA" sz="1800" dirty="0">
              <a:solidFill>
                <a:srgbClr val="000000"/>
              </a:solidFill>
            </a:endParaRPr>
          </a:p>
        </p:txBody>
      </p:sp>
      <p:sp>
        <p:nvSpPr>
          <p:cNvPr id="17415" name="TextBox 6"/>
          <p:cNvSpPr txBox="1">
            <a:spLocks noChangeArrowheads="1"/>
          </p:cNvSpPr>
          <p:nvPr/>
        </p:nvSpPr>
        <p:spPr bwMode="auto">
          <a:xfrm>
            <a:off x="1028700" y="4229100"/>
            <a:ext cx="3594100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tabLst>
                <a:tab pos="1498600" algn="l"/>
              </a:tabLst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New Thread</a:t>
            </a:r>
            <a:r>
              <a:rPr lang="en-CA" sz="1800">
                <a:solidFill>
                  <a:srgbClr val="000000"/>
                </a:solidFill>
              </a:rPr>
              <a:t/>
            </a:r>
            <a:br>
              <a:rPr lang="en-CA" sz="1800">
                <a:solidFill>
                  <a:srgbClr val="000000"/>
                </a:solidFill>
              </a:rPr>
            </a:b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	Thread.start();</a:t>
            </a:r>
          </a:p>
          <a:p>
            <a:pPr>
              <a:lnSpc>
                <a:spcPts val="2325"/>
              </a:lnSpc>
              <a:tabLst>
                <a:tab pos="1498600" algn="l"/>
              </a:tabLst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2298700" y="5676900"/>
            <a:ext cx="2324100" cy="927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111">
              <a:lnSpc>
                <a:spcPts val="2100"/>
              </a:lnSpc>
              <a:defRPr/>
            </a:pPr>
            <a:r>
              <a:rPr lang="en-CA" sz="1800">
                <a:solidFill>
                  <a:srgbClr val="000000"/>
                </a:solidFill>
                <a:latin typeface="Tahoma"/>
                <a:cs typeface="Tahoma"/>
              </a:rPr>
              <a:t>Object.wait()</a:t>
            </a:r>
            <a:r>
              <a:rPr lang="en-CA" sz="180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00">
                <a:solidFill>
                  <a:srgbClr val="000000"/>
                </a:solidFill>
                <a:latin typeface="Times New Roman"/>
              </a:rPr>
            </a:br>
            <a:r>
              <a:rPr lang="en-CA" sz="1800">
                <a:solidFill>
                  <a:srgbClr val="000000"/>
                </a:solidFill>
                <a:latin typeface="Tahoma"/>
                <a:cs typeface="Tahoma"/>
              </a:rPr>
              <a:t>Thread.sleep()</a:t>
            </a:r>
            <a:r>
              <a:rPr lang="en-CA" sz="180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00">
                <a:solidFill>
                  <a:srgbClr val="000000"/>
                </a:solidFill>
                <a:latin typeface="Times New Roman"/>
              </a:rPr>
            </a:br>
            <a:r>
              <a:rPr lang="en-CA" sz="1800">
                <a:solidFill>
                  <a:srgbClr val="000000"/>
                </a:solidFill>
                <a:latin typeface="Tahoma"/>
                <a:cs typeface="Tahoma"/>
              </a:rPr>
              <a:t>blocking IO call</a:t>
            </a:r>
          </a:p>
          <a:p>
            <a:pPr>
              <a:lnSpc>
                <a:spcPts val="2160"/>
              </a:lnSpc>
              <a:defRPr/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7" name="TextBox 8"/>
          <p:cNvSpPr txBox="1">
            <a:spLocks noChangeArrowheads="1"/>
          </p:cNvSpPr>
          <p:nvPr/>
        </p:nvSpPr>
        <p:spPr bwMode="auto">
          <a:xfrm>
            <a:off x="2298700" y="6515100"/>
            <a:ext cx="2324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waiting on a monitor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8" name="TextBox 9"/>
          <p:cNvSpPr txBox="1">
            <a:spLocks noChangeArrowheads="1"/>
          </p:cNvSpPr>
          <p:nvPr/>
        </p:nvSpPr>
        <p:spPr bwMode="auto">
          <a:xfrm>
            <a:off x="4737100" y="3644900"/>
            <a:ext cx="2324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while (…) { … }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9" name="TextBox 10"/>
          <p:cNvSpPr txBox="1">
            <a:spLocks noChangeArrowheads="1"/>
          </p:cNvSpPr>
          <p:nvPr/>
        </p:nvSpPr>
        <p:spPr bwMode="auto">
          <a:xfrm>
            <a:off x="4737100" y="4254500"/>
            <a:ext cx="2324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Runnable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20" name="TextBox 11"/>
          <p:cNvSpPr txBox="1">
            <a:spLocks noChangeArrowheads="1"/>
          </p:cNvSpPr>
          <p:nvPr/>
        </p:nvSpPr>
        <p:spPr bwMode="auto">
          <a:xfrm>
            <a:off x="4826000" y="5626100"/>
            <a:ext cx="2235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Blocked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7086600" y="4038600"/>
            <a:ext cx="2768600" cy="901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594360">
              <a:lnSpc>
                <a:spcPts val="4100"/>
              </a:lnSpc>
              <a:defRPr/>
            </a:pPr>
            <a:r>
              <a:rPr lang="en-CA" sz="1800" dirty="0">
                <a:solidFill>
                  <a:srgbClr val="000000"/>
                </a:solidFill>
                <a:latin typeface="Tahoma"/>
                <a:cs typeface="Tahoma"/>
              </a:rPr>
              <a:t>Dead Thread</a:t>
            </a:r>
            <a:r>
              <a:rPr lang="en-CA" sz="1800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00" dirty="0">
                <a:solidFill>
                  <a:srgbClr val="000000"/>
                </a:solidFill>
                <a:latin typeface="Times New Roman"/>
              </a:rPr>
            </a:br>
            <a:r>
              <a:rPr lang="en-CA" sz="1800" dirty="0">
                <a:solidFill>
                  <a:srgbClr val="000000"/>
                </a:solidFill>
                <a:latin typeface="Tahoma"/>
                <a:cs typeface="Tahoma"/>
              </a:rPr>
              <a:t>run() method returns</a:t>
            </a:r>
          </a:p>
          <a:p>
            <a:pPr>
              <a:lnSpc>
                <a:spcPts val="4125"/>
              </a:lnSpc>
              <a:defRPr/>
            </a:pPr>
            <a:endParaRPr lang="en-CA" sz="180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77200" y="228600"/>
            <a:ext cx="1778000" cy="2209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6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Thread Scheduling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574800" y="2006600"/>
            <a:ext cx="7345363" cy="12303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20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Execution of multiple threads on a single CPU in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some order is called </a:t>
            </a:r>
            <a:r>
              <a:rPr lang="en-CA" sz="2592" dirty="0">
                <a:solidFill>
                  <a:srgbClr val="000000"/>
                </a:solidFill>
                <a:latin typeface="Arial Italic"/>
                <a:cs typeface="Arial Italic"/>
              </a:rPr>
              <a:t>scheduling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ts val="32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917700" y="2870200"/>
            <a:ext cx="7170738" cy="10191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700"/>
              </a:lnSpc>
              <a:buFontTx/>
              <a:buBlip>
                <a:blip r:embed="rId3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The JRE uses </a:t>
            </a:r>
            <a:r>
              <a:rPr lang="en-CA" sz="2208" i="1" dirty="0">
                <a:solidFill>
                  <a:srgbClr val="000000"/>
                </a:solidFill>
                <a:latin typeface="Arial Italic"/>
                <a:cs typeface="Arial Italic"/>
              </a:rPr>
              <a:t>fixed-priority scheduling</a:t>
            </a:r>
            <a:r>
              <a:rPr lang="en-CA" sz="2208" i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which schedules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threads on the basis of their priority.</a:t>
            </a:r>
          </a:p>
          <a:p>
            <a:pPr>
              <a:lnSpc>
                <a:spcPts val="2700"/>
              </a:lnSpc>
              <a:buFontTx/>
              <a:buBlip>
                <a:blip r:embed="rId3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574800" y="3670300"/>
            <a:ext cx="7353300" cy="666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64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Thread priorities in the range </a:t>
            </a:r>
            <a:r>
              <a:rPr lang="en-CA" sz="1714" b="1" dirty="0" err="1">
                <a:solidFill>
                  <a:srgbClr val="000000"/>
                </a:solidFill>
                <a:latin typeface="Courier New Bold"/>
                <a:cs typeface="Courier New Bold"/>
              </a:rPr>
              <a:t>Thread.MIN_PRIORITY</a:t>
            </a:r>
            <a:r>
              <a:rPr lang="en-CA" sz="1704" dirty="0">
                <a:solidFill>
                  <a:srgbClr val="000000"/>
                </a:solidFill>
                <a:latin typeface="Arial"/>
                <a:cs typeface="Arial"/>
              </a:rPr>
              <a:t> and</a:t>
            </a:r>
          </a:p>
          <a:p>
            <a:pPr>
              <a:lnSpc>
                <a:spcPts val="2640"/>
              </a:lnSpc>
              <a:buFontTx/>
              <a:buBlip>
                <a:blip r:embed="rId2"/>
              </a:buBlip>
              <a:defRPr/>
            </a:pPr>
            <a:endParaRPr lang="en-CA" sz="2213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574800" y="4013200"/>
            <a:ext cx="2562225" cy="5127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85"/>
              </a:lnSpc>
              <a:defRPr/>
            </a:pPr>
            <a:r>
              <a:rPr lang="en-CA" sz="1714" b="1" dirty="0">
                <a:solidFill>
                  <a:srgbClr val="000000"/>
                </a:solidFill>
                <a:latin typeface="Courier New Bold"/>
                <a:cs typeface="Courier New Bold"/>
              </a:rPr>
              <a:t> </a:t>
            </a:r>
            <a:r>
              <a:rPr lang="en-CA" sz="1714" b="1" dirty="0" err="1">
                <a:solidFill>
                  <a:srgbClr val="000000"/>
                </a:solidFill>
                <a:latin typeface="Courier New Bold"/>
                <a:cs typeface="Courier New Bold"/>
              </a:rPr>
              <a:t>Thread.MAX_PRIORITY</a:t>
            </a:r>
            <a:endParaRPr lang="en-CA" sz="1714" b="1" dirty="0">
              <a:solidFill>
                <a:srgbClr val="000000"/>
              </a:solidFill>
              <a:latin typeface="Courier New Bold"/>
              <a:cs typeface="Courier New Bold"/>
            </a:endParaRPr>
          </a:p>
          <a:p>
            <a:pPr>
              <a:lnSpc>
                <a:spcPts val="1985"/>
              </a:lnSpc>
              <a:defRPr/>
            </a:pPr>
            <a:endParaRPr lang="en-CA" sz="1704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574800" y="4343400"/>
            <a:ext cx="7600950" cy="962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buFontTx/>
              <a:buBlip>
                <a:blip r:embed="rId2"/>
              </a:buBlip>
              <a:defRPr/>
            </a:pPr>
            <a:r>
              <a:rPr lang="en-CA" sz="2112">
                <a:solidFill>
                  <a:srgbClr val="000000"/>
                </a:solidFill>
                <a:latin typeface="Arial"/>
                <a:cs typeface="Arial"/>
              </a:rPr>
              <a:t>The chosen thread runs until one of the following conditions is</a:t>
            </a:r>
            <a:r>
              <a:rPr lang="en-CA" sz="2112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112">
                <a:solidFill>
                  <a:srgbClr val="000000"/>
                </a:solidFill>
                <a:latin typeface="Times New Roman"/>
              </a:rPr>
            </a:br>
            <a:r>
              <a:rPr lang="en-CA" sz="2112">
                <a:solidFill>
                  <a:srgbClr val="000000"/>
                </a:solidFill>
                <a:latin typeface="Arial"/>
                <a:cs typeface="Arial"/>
              </a:rPr>
              <a:t>true:</a:t>
            </a:r>
          </a:p>
          <a:p>
            <a:pPr>
              <a:lnSpc>
                <a:spcPts val="2500"/>
              </a:lnSpc>
              <a:buFontTx/>
              <a:buBlip>
                <a:blip r:embed="rId2"/>
              </a:buBlip>
              <a:defRPr/>
            </a:pPr>
            <a:endParaRPr lang="en-CA" sz="2112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917700" y="5054600"/>
            <a:ext cx="5308600" cy="6159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A higher-priority thread becomes </a:t>
            </a:r>
            <a:r>
              <a:rPr lang="en-CA" sz="2112" dirty="0" err="1">
                <a:solidFill>
                  <a:srgbClr val="000000"/>
                </a:solidFill>
                <a:latin typeface="Arial"/>
                <a:cs typeface="Arial"/>
              </a:rPr>
              <a:t>runnable</a:t>
            </a: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endParaRPr lang="en-CA" sz="2112" dirty="0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917700" y="5422900"/>
            <a:ext cx="5157788" cy="6159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r>
              <a:rPr lang="en-CA" sz="2112">
                <a:solidFill>
                  <a:srgbClr val="000000"/>
                </a:solidFill>
                <a:latin typeface="Arial"/>
                <a:cs typeface="Arial"/>
              </a:rPr>
              <a:t>The thread yields, or its run method exits.</a:t>
            </a:r>
          </a:p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endParaRPr lang="en-CA" sz="2112">
              <a:solidFill>
                <a:srgbClr val="000000"/>
              </a:solidFill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1917700" y="5829300"/>
            <a:ext cx="6697663" cy="923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00"/>
              </a:lnSpc>
              <a:buFontTx/>
              <a:buBlip>
                <a:blip r:embed="rId3"/>
              </a:buBlip>
              <a:defRPr/>
            </a:pP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On systems that support time-slicing, the thread's time</a:t>
            </a:r>
            <a:r>
              <a:rPr lang="en-CA" sz="211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112" dirty="0">
                <a:solidFill>
                  <a:srgbClr val="000000"/>
                </a:solidFill>
                <a:latin typeface="Times New Roman"/>
              </a:rPr>
            </a:br>
            <a:r>
              <a:rPr lang="en-CA" sz="211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allotment has expired.</a:t>
            </a:r>
          </a:p>
          <a:p>
            <a:pPr>
              <a:lnSpc>
                <a:spcPts val="2400"/>
              </a:lnSpc>
              <a:buFontTx/>
              <a:buBlip>
                <a:blip r:embed="rId3"/>
              </a:buBlip>
              <a:defRPr/>
            </a:pPr>
            <a:endParaRPr lang="en-CA" sz="2112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68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79500" y="1193800"/>
            <a:ext cx="89789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Thread Scheduling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346200" y="1778000"/>
            <a:ext cx="7624763" cy="15382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00"/>
              </a:lnSpc>
              <a:buFontTx/>
              <a:buBlip>
                <a:blip r:embed="rId2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Unlike most aspects of Java, Threading does not act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the same on different platforms. Two areas of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difference are Thread scheduling and Thread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priorities. The two approaches to scheduling are</a:t>
            </a:r>
          </a:p>
          <a:p>
            <a:pPr>
              <a:lnSpc>
                <a:spcPts val="2400"/>
              </a:lnSpc>
              <a:buFontTx/>
              <a:buBlip>
                <a:blip r:embed="rId2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689100" y="3035300"/>
            <a:ext cx="1625600" cy="590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1992" dirty="0" err="1">
                <a:solidFill>
                  <a:srgbClr val="000000"/>
                </a:solidFill>
                <a:latin typeface="Verdana"/>
                <a:cs typeface="Verdana"/>
              </a:rPr>
              <a:t>Preemptive</a:t>
            </a:r>
            <a:endParaRPr lang="en-CA" sz="1992" dirty="0">
              <a:solidFill>
                <a:srgbClr val="000000"/>
              </a:solidFill>
              <a:latin typeface="Verdana"/>
              <a:cs typeface="Verdana"/>
            </a:endParaRP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1992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689100" y="3378200"/>
            <a:ext cx="1695450" cy="590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1992">
                <a:solidFill>
                  <a:srgbClr val="000000"/>
                </a:solidFill>
                <a:latin typeface="Verdana"/>
                <a:cs typeface="Verdana"/>
              </a:rPr>
              <a:t>Time slicing</a:t>
            </a: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346200" y="3733800"/>
            <a:ext cx="7694613" cy="18462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136">
              <a:lnSpc>
                <a:spcPts val="2375"/>
              </a:lnSpc>
              <a:buFontTx/>
              <a:buBlip>
                <a:blip r:embed="rId2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If at any time a thread with a higher priority than all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other </a:t>
            </a:r>
            <a:r>
              <a:rPr lang="en-CA" sz="2208" dirty="0" err="1">
                <a:solidFill>
                  <a:srgbClr val="000000"/>
                </a:solidFill>
                <a:latin typeface="Verdana"/>
                <a:cs typeface="Verdana"/>
              </a:rPr>
              <a:t>Runnable</a:t>
            </a: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 threads becomes </a:t>
            </a:r>
            <a:r>
              <a:rPr lang="en-CA" sz="2208" dirty="0" err="1">
                <a:solidFill>
                  <a:srgbClr val="000000"/>
                </a:solidFill>
                <a:latin typeface="Verdana"/>
                <a:cs typeface="Verdana"/>
              </a:rPr>
              <a:t>Runnable</a:t>
            </a: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, the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runtime system chooses the new higher-priority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thread for execution. The new thread is said to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 err="1">
                <a:solidFill>
                  <a:srgbClr val="000000"/>
                </a:solidFill>
                <a:latin typeface="Verdana Italic"/>
                <a:cs typeface="Verdana Italic"/>
              </a:rPr>
              <a:t>preempt</a:t>
            </a: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 the other threads.</a:t>
            </a:r>
          </a:p>
          <a:p>
            <a:pPr>
              <a:lnSpc>
                <a:spcPts val="2375"/>
              </a:lnSpc>
              <a:buFontTx/>
              <a:buBlip>
                <a:blip r:embed="rId2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689100" y="5321300"/>
            <a:ext cx="5648325" cy="590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1992">
                <a:solidFill>
                  <a:srgbClr val="000000"/>
                </a:solidFill>
                <a:latin typeface="Verdana"/>
                <a:cs typeface="Verdana"/>
              </a:rPr>
              <a:t>thread-scheduling algorithm is preemptive</a:t>
            </a: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346200" y="5689600"/>
            <a:ext cx="7169150" cy="884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2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A thread created from another thread inherits its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priority from the parent thread</a:t>
            </a:r>
          </a:p>
          <a:p>
            <a:pPr>
              <a:lnSpc>
                <a:spcPts val="2300"/>
              </a:lnSpc>
              <a:buFontTx/>
              <a:buBlip>
                <a:blip r:embed="rId2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689100" y="6311900"/>
            <a:ext cx="5410200" cy="590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1992">
                <a:solidFill>
                  <a:srgbClr val="000000"/>
                </a:solidFill>
                <a:latin typeface="Courier New"/>
                <a:cs typeface="Courier New"/>
              </a:rPr>
              <a:t>Thread.setPriority( int priority )</a:t>
            </a: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1992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28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Tahoma" pitchFamily="34" charset="0"/>
              </a:rPr>
              <a:t>Example 01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-76768" y="327996"/>
            <a:ext cx="7772400" cy="6858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Try the following program out.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Try to understand what happen there.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447800" y="2895600"/>
            <a:ext cx="708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57694" y="1220787"/>
            <a:ext cx="7543800" cy="380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75000"/>
              </a:lnSpc>
            </a:pPr>
            <a:r>
              <a:rPr lang="en-US" sz="1800" dirty="0"/>
              <a:t>class Thread01 extends Thread {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threadID</a:t>
            </a:r>
            <a:r>
              <a:rPr lang="en-US" sz="1800" dirty="0"/>
              <a:t>;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public Thread01(</a:t>
            </a:r>
            <a:r>
              <a:rPr lang="en-US" sz="1800" dirty="0" err="1"/>
              <a:t>int</a:t>
            </a:r>
            <a:r>
              <a:rPr lang="en-US" sz="1800" dirty="0"/>
              <a:t> a){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	</a:t>
            </a:r>
            <a:r>
              <a:rPr lang="en-US" sz="1800" dirty="0" err="1"/>
              <a:t>threadID</a:t>
            </a:r>
            <a:r>
              <a:rPr lang="en-US" sz="1800" dirty="0"/>
              <a:t> = a;	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}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public static void main(String </a:t>
            </a:r>
            <a:r>
              <a:rPr lang="en-US" sz="1800" dirty="0" err="1"/>
              <a:t>args</a:t>
            </a:r>
            <a:r>
              <a:rPr lang="en-US" sz="1800" dirty="0"/>
              <a:t>[])	{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for (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=1; </a:t>
            </a:r>
            <a:r>
              <a:rPr lang="en-US" sz="1800" dirty="0" err="1"/>
              <a:t>i</a:t>
            </a:r>
            <a:r>
              <a:rPr lang="en-US" sz="1800" dirty="0"/>
              <a:t>&lt;6; </a:t>
            </a:r>
            <a:r>
              <a:rPr lang="en-US" sz="1800" dirty="0" err="1"/>
              <a:t>i</a:t>
            </a:r>
            <a:r>
              <a:rPr lang="en-US" sz="1800" dirty="0"/>
              <a:t>++)		{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	Thread t = new  Thread01(</a:t>
            </a:r>
            <a:r>
              <a:rPr lang="en-US" sz="1800" dirty="0" err="1"/>
              <a:t>i</a:t>
            </a:r>
            <a:r>
              <a:rPr lang="en-US" sz="1800" dirty="0"/>
              <a:t>);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	</a:t>
            </a:r>
            <a:r>
              <a:rPr lang="en-US" sz="1800" dirty="0" err="1"/>
              <a:t>System.out.println</a:t>
            </a:r>
            <a:r>
              <a:rPr lang="en-US" sz="1800" dirty="0"/>
              <a:t>("Thread "+</a:t>
            </a:r>
            <a:r>
              <a:rPr lang="en-US" sz="1800" dirty="0" err="1"/>
              <a:t>i</a:t>
            </a:r>
            <a:r>
              <a:rPr lang="en-US" sz="1800" dirty="0"/>
              <a:t>+" created");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	</a:t>
            </a:r>
            <a:r>
              <a:rPr lang="en-US" sz="1800" dirty="0" err="1"/>
              <a:t>t.start</a:t>
            </a:r>
            <a:r>
              <a:rPr lang="en-US" sz="1800" dirty="0"/>
              <a:t>();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	</a:t>
            </a:r>
            <a:r>
              <a:rPr lang="en-US" sz="1800" dirty="0" err="1"/>
              <a:t>System.out.println</a:t>
            </a:r>
            <a:r>
              <a:rPr lang="en-US" sz="1800" dirty="0"/>
              <a:t>("Thread "+</a:t>
            </a:r>
            <a:r>
              <a:rPr lang="en-US" sz="1800" dirty="0" err="1"/>
              <a:t>i</a:t>
            </a:r>
            <a:r>
              <a:rPr lang="en-US" sz="1800" dirty="0"/>
              <a:t>+" started");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}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</a:t>
            </a:r>
            <a:r>
              <a:rPr lang="en-US" sz="1800" dirty="0" err="1"/>
              <a:t>System.out.println</a:t>
            </a:r>
            <a:r>
              <a:rPr lang="en-US" sz="1800" dirty="0"/>
              <a:t>("Main Thread exit");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}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</a:t>
            </a:r>
          </a:p>
          <a:p>
            <a:pPr>
              <a:lnSpc>
                <a:spcPct val="75000"/>
              </a:lnSpc>
            </a:pPr>
            <a:endParaRPr lang="en-US" sz="18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0" y="4676231"/>
            <a:ext cx="7162800" cy="2377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75000"/>
              </a:lnSpc>
            </a:pPr>
            <a:r>
              <a:rPr lang="en-US" sz="1800" dirty="0"/>
              <a:t>	public void run() 	{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       while(true) {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        	</a:t>
            </a:r>
            <a:r>
              <a:rPr lang="en-US" sz="1800" dirty="0" err="1"/>
              <a:t>System.out.println</a:t>
            </a:r>
            <a:r>
              <a:rPr lang="en-US" sz="1800" dirty="0"/>
              <a:t>("Thread "+</a:t>
            </a:r>
            <a:r>
              <a:rPr lang="en-US" sz="1800" dirty="0" err="1"/>
              <a:t>threadID</a:t>
            </a:r>
            <a:r>
              <a:rPr lang="en-US" sz="1800" dirty="0"/>
              <a:t>+" running");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       	 try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       	{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	</a:t>
            </a:r>
            <a:r>
              <a:rPr lang="en-US" sz="1800" dirty="0" err="1"/>
              <a:t>Thread.sleep</a:t>
            </a:r>
            <a:r>
              <a:rPr lang="en-US" sz="1800" dirty="0"/>
              <a:t>((</a:t>
            </a:r>
            <a:r>
              <a:rPr lang="en-US" sz="1800" dirty="0" err="1"/>
              <a:t>int</a:t>
            </a:r>
            <a:r>
              <a:rPr lang="en-US" sz="1800" dirty="0"/>
              <a:t>)(10000*</a:t>
            </a:r>
            <a:r>
              <a:rPr lang="en-US" sz="1800" dirty="0" err="1"/>
              <a:t>Math.random</a:t>
            </a:r>
            <a:r>
              <a:rPr lang="en-US" sz="1800" dirty="0"/>
              <a:t>()));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        	}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        	catch (</a:t>
            </a:r>
            <a:r>
              <a:rPr lang="en-US" sz="1800" dirty="0" err="1"/>
              <a:t>InterruptedException</a:t>
            </a:r>
            <a:r>
              <a:rPr lang="en-US" sz="1800" dirty="0"/>
              <a:t> e){</a:t>
            </a:r>
          </a:p>
          <a:p>
            <a:pPr>
              <a:lnSpc>
                <a:spcPct val="75000"/>
              </a:lnSpc>
            </a:pPr>
            <a:r>
              <a:rPr lang="en-US" sz="1800" dirty="0"/>
              <a:t>		</a:t>
            </a:r>
            <a:r>
              <a:rPr lang="en-US" sz="1800" dirty="0" smtClean="0"/>
              <a:t>} </a:t>
            </a:r>
            <a:r>
              <a:rPr lang="en-US" sz="1800" dirty="0"/>
              <a:t>	        </a:t>
            </a:r>
            <a:r>
              <a:rPr lang="en-US" sz="1800" dirty="0" smtClean="0"/>
              <a:t>} </a:t>
            </a:r>
            <a:r>
              <a:rPr lang="en-US" sz="1800" dirty="0"/>
              <a:t>	}	</a:t>
            </a:r>
            <a:r>
              <a:rPr lang="en-US" sz="1800" dirty="0" smtClean="0"/>
              <a:t>}</a:t>
            </a:r>
            <a:endParaRPr lang="en-US" sz="1800" dirty="0"/>
          </a:p>
          <a:p>
            <a:pPr>
              <a:spcBef>
                <a:spcPct val="50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2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01 ….</a:t>
            </a:r>
            <a:endParaRPr lang="en-US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173163" y="1447800"/>
            <a:ext cx="7772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The above program create 6 threads. Main Thread and 5 child threads.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When we run the program Main Thread will be created and Main Thread execute the main() method.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Main thread go through a for loop with 5 iterations.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In each iteration Main Thread create a child thread and start it. (create 5 child threads)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Then Main Thread terminate.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Each child Thread executes run() method.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Each child Thread sleep for a random time between 0 and 10 seconds and print that they are running and go to sleep again</a:t>
            </a:r>
          </a:p>
        </p:txBody>
      </p:sp>
    </p:spTree>
    <p:extLst>
      <p:ext uri="{BB962C8B-B14F-4D97-AF65-F5344CB8AC3E}">
        <p14:creationId xmlns:p14="http://schemas.microsoft.com/office/powerpoint/2010/main" val="252881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02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173163" y="1600200"/>
            <a:ext cx="7772400" cy="76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/>
              <a:t>Try the following program out.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Try to understand what happen there.</a:t>
            </a:r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371600" y="2514600"/>
            <a:ext cx="7086600" cy="392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public class Thread02 implements Runnable 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public static void main(String[] args) 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Thread t = new Thread(new Thread02());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t.start();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while(true) {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    System.out.println(“Main Thread");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    try    	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							         Thread.sleep((int)(10000*Math.random()));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    	    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    catch (InterruptedException e){}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87053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02 ….</a:t>
            </a:r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762000" y="2006600"/>
            <a:ext cx="8382000" cy="429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endParaRPr lang="en-US" sz="1800"/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public void run() 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while( true ) {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	System.out.println( “Child Thread" );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	try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    		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		Thread.sleep((int)(10000*Math.random()));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    		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    		catch (InterruptedException e){}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}</a:t>
            </a:r>
          </a:p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9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3163" y="457200"/>
            <a:ext cx="7772400" cy="762000"/>
          </a:xfrm>
        </p:spPr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02 ….</a:t>
            </a:r>
            <a:endParaRPr lang="en-US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295400"/>
            <a:ext cx="7772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The above program create 2 threads (Main Thread and a child Thread).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Main Thread execute the main() method.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Main Thread create a child Thread and start it.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Then Main thread goes to a never ending loop.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Within the loop Main thread display a message and goes to sleep for a time duration between 0 and 10 seconds.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Child thread executes run() method.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Child thread also goes to a never ending loop.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Within the loop child thread display a message and goes to sleep for a time duration between 0 and 10 seconds.</a:t>
            </a:r>
          </a:p>
        </p:txBody>
      </p:sp>
    </p:spTree>
    <p:extLst>
      <p:ext uri="{BB962C8B-B14F-4D97-AF65-F5344CB8AC3E}">
        <p14:creationId xmlns:p14="http://schemas.microsoft.com/office/powerpoint/2010/main" val="213024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01 &amp; 02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01 and 02 create thread using 2 ways.</a:t>
            </a:r>
          </a:p>
          <a:p>
            <a:pPr eaLnBrk="1" hangingPunct="1"/>
            <a:r>
              <a:rPr lang="en-US" smtClean="0"/>
              <a:t>Example 01 extends Thread class and override run() method to create threads.</a:t>
            </a:r>
          </a:p>
          <a:p>
            <a:pPr eaLnBrk="1" hangingPunct="1"/>
            <a:r>
              <a:rPr lang="en-US" smtClean="0"/>
              <a:t>Example 02 implements Runnable Interface and implements the run() method to create threads.</a:t>
            </a:r>
          </a:p>
        </p:txBody>
      </p:sp>
    </p:spTree>
    <p:extLst>
      <p:ext uri="{BB962C8B-B14F-4D97-AF65-F5344CB8AC3E}">
        <p14:creationId xmlns:p14="http://schemas.microsoft.com/office/powerpoint/2010/main" val="95232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–threaded applications</a:t>
            </a:r>
            <a:endParaRPr lang="en-US" dirty="0"/>
          </a:p>
        </p:txBody>
      </p:sp>
      <p:pic>
        <p:nvPicPr>
          <p:cNvPr id="4" name="Picture 1" descr="ch26imageslidesonly_Page_005.png"/>
          <p:cNvPicPr>
            <a:picLocks noGrp="1" noChangeAspect="1"/>
          </p:cNvPicPr>
          <p:nvPr isPhoto="1">
            <p:ph idx="1"/>
          </p:nvPr>
        </p:nvPicPr>
        <p:blipFill>
          <a:blip r:embed="rId2" cstate="print"/>
          <a:srcRect l="5000" t="10209" r="23333" b="25279"/>
          <a:stretch>
            <a:fillRect/>
          </a:stretch>
        </p:blipFill>
        <p:spPr bwMode="auto">
          <a:xfrm>
            <a:off x="457200" y="1447800"/>
            <a:ext cx="8229600" cy="4498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5649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80E6"/>
                </a:solidFill>
                <a:latin typeface="Arial"/>
              </a:rPr>
              <a:t>Thread 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When multiple threads share an object and it is modified by one or more of them, indeterminate results may occur unless access to the shared object is managed properly.</a:t>
            </a:r>
          </a:p>
          <a:p>
            <a:pPr>
              <a:lnSpc>
                <a:spcPct val="90000"/>
              </a:lnSpc>
            </a:pP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The problem can be solved by giving only one thread at a time </a:t>
            </a:r>
            <a:r>
              <a:rPr lang="en-US" sz="2300" i="1" dirty="0" smtClean="0">
                <a:solidFill>
                  <a:srgbClr val="000000"/>
                </a:solidFill>
                <a:latin typeface="Times New Roman" pitchFamily="18" charset="0"/>
              </a:rPr>
              <a:t>exclusive </a:t>
            </a: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access to code that manipulates the shared object.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</a:rPr>
              <a:t>During that time, other threads desiring to manipulate the object are kept waiting.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</a:rPr>
              <a:t>When the thread with exclusive access to the object finishes manipulating it, one of the threads that was waiting is allowed to proceed.</a:t>
            </a:r>
          </a:p>
          <a:p>
            <a:pPr>
              <a:lnSpc>
                <a:spcPct val="90000"/>
              </a:lnSpc>
            </a:pP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This process, called </a:t>
            </a:r>
            <a:r>
              <a:rPr lang="en-US" sz="2300" dirty="0" smtClean="0">
                <a:solidFill>
                  <a:srgbClr val="0000FF"/>
                </a:solidFill>
                <a:latin typeface="Times New Roman" pitchFamily="18" charset="0"/>
              </a:rPr>
              <a:t>thread synchronization</a:t>
            </a: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, coordinates access to shared data by multiple concurrent threads.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</a:rPr>
              <a:t>Ensures that each thread accessing a shared object excludes all other threads from doing so simultaneously—this is called 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</a:rPr>
              <a:t>mutual exclusion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02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80E6"/>
                </a:solidFill>
                <a:latin typeface="Arial"/>
              </a:rPr>
              <a:t>Thread Synchronization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A common way to perform synchronization is to use Java’s built-in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monitors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Every object has a monitor and a </a:t>
            </a:r>
            <a:r>
              <a:rPr lang="en-US" sz="2100" dirty="0" smtClean="0">
                <a:solidFill>
                  <a:srgbClr val="0000FF"/>
                </a:solidFill>
                <a:latin typeface="Times New Roman" pitchFamily="18" charset="0"/>
              </a:rPr>
              <a:t>monitor lock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 (or </a:t>
            </a:r>
            <a:r>
              <a:rPr lang="en-US" sz="2100" dirty="0" smtClean="0">
                <a:solidFill>
                  <a:srgbClr val="0000FF"/>
                </a:solidFill>
                <a:latin typeface="Times New Roman" pitchFamily="18" charset="0"/>
              </a:rPr>
              <a:t>intrinsic lock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).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Can be held by a maximum of only one thread at any time.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A thread must acquire the lock before proceeding with the operation.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Other threads attempting to perform an operation that requires the same lock will be </a:t>
            </a:r>
            <a:r>
              <a:rPr lang="en-US" sz="2100" i="1" dirty="0" smtClean="0">
                <a:solidFill>
                  <a:srgbClr val="000000"/>
                </a:solidFill>
                <a:latin typeface="Times New Roman" pitchFamily="18" charset="0"/>
              </a:rPr>
              <a:t>blocked.</a:t>
            </a:r>
          </a:p>
          <a:p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To specify that a thread must hold a monitor lock to execute a block of code, the code should be placed in a </a:t>
            </a:r>
            <a:r>
              <a:rPr lang="en-US" sz="2500" dirty="0" smtClean="0">
                <a:solidFill>
                  <a:srgbClr val="0000FF"/>
                </a:solidFill>
                <a:latin typeface="LucidaSansTypewriter" pitchFamily="49" charset="0"/>
              </a:rPr>
              <a:t>synchronized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 statement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Said to be </a:t>
            </a:r>
            <a:r>
              <a:rPr lang="en-US" sz="2100" dirty="0" smtClean="0">
                <a:solidFill>
                  <a:srgbClr val="0000FF"/>
                </a:solidFill>
                <a:latin typeface="Times New Roman" pitchFamily="18" charset="0"/>
              </a:rPr>
              <a:t>guarded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 by the monitor 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3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80E6"/>
                </a:solidFill>
                <a:latin typeface="Arial"/>
              </a:rPr>
              <a:t>Thread Synchronization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The </a:t>
            </a:r>
            <a:r>
              <a:rPr lang="en-US" sz="2500" dirty="0" smtClean="0">
                <a:solidFill>
                  <a:srgbClr val="000000"/>
                </a:solidFill>
                <a:latin typeface="Lucida Console" pitchFamily="49" charset="0"/>
              </a:rPr>
              <a:t>synchronized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 statements are declared using the </a:t>
            </a:r>
            <a:r>
              <a:rPr lang="en-US" sz="2500" dirty="0" smtClean="0">
                <a:solidFill>
                  <a:srgbClr val="0000FF"/>
                </a:solidFill>
                <a:latin typeface="LucidaSansTypewriter" pitchFamily="49" charset="0"/>
              </a:rPr>
              <a:t>synchronized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 keyword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sz="1900" dirty="0" smtClean="0">
                <a:solidFill>
                  <a:srgbClr val="0000FF"/>
                </a:solidFill>
                <a:latin typeface="Lucida Console" pitchFamily="49" charset="0"/>
              </a:rPr>
              <a:t>synchronized</a:t>
            </a: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 ( </a:t>
            </a:r>
            <a:r>
              <a:rPr lang="en-US" sz="1900" i="1" dirty="0" smtClean="0">
                <a:solidFill>
                  <a:srgbClr val="000000"/>
                </a:solidFill>
                <a:latin typeface="AGaramond" pitchFamily="50" charset="0"/>
              </a:rPr>
              <a:t>object</a:t>
            </a:r>
            <a:r>
              <a:rPr lang="en-US" sz="1900" i="1" dirty="0" smtClean="0">
                <a:solidFill>
                  <a:srgbClr val="000000"/>
                </a:solidFill>
                <a:latin typeface="Lucida Console" pitchFamily="49" charset="0"/>
              </a:rPr>
              <a:t> </a:t>
            </a: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)</a:t>
            </a:r>
            <a:b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{</a:t>
            </a:r>
            <a:b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   </a:t>
            </a:r>
            <a:r>
              <a:rPr lang="en-US" sz="1900" dirty="0" smtClean="0">
                <a:solidFill>
                  <a:srgbClr val="000000"/>
                </a:solidFill>
                <a:latin typeface="AGaramond" pitchFamily="50" charset="0"/>
              </a:rPr>
              <a:t>statements</a:t>
            </a:r>
            <a:br>
              <a:rPr lang="en-US" sz="1900" dirty="0" smtClean="0">
                <a:solidFill>
                  <a:srgbClr val="000000"/>
                </a:solidFill>
                <a:latin typeface="AGaramond" pitchFamily="50" charset="0"/>
              </a:rPr>
            </a:b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} </a:t>
            </a:r>
            <a:r>
              <a:rPr lang="en-US" sz="1900" dirty="0" smtClean="0">
                <a:solidFill>
                  <a:srgbClr val="00BF00"/>
                </a:solidFill>
                <a:latin typeface="Lucida Console" pitchFamily="49" charset="0"/>
              </a:rPr>
              <a:t>// end synchronized statement</a:t>
            </a:r>
          </a:p>
          <a:p>
            <a:pPr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where </a:t>
            </a:r>
            <a:r>
              <a:rPr lang="en-US" sz="2500" i="1" dirty="0" smtClean="0">
                <a:solidFill>
                  <a:srgbClr val="000000"/>
                </a:solidFill>
                <a:latin typeface="Times New Roman" pitchFamily="18" charset="0"/>
              </a:rPr>
              <a:t>object 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is the object whose monitor lock will be acquired</a:t>
            </a:r>
          </a:p>
          <a:p>
            <a:pPr lvl="1">
              <a:lnSpc>
                <a:spcPct val="90000"/>
              </a:lnSpc>
            </a:pPr>
            <a:r>
              <a:rPr lang="en-US" sz="2100" i="1" dirty="0" smtClean="0">
                <a:solidFill>
                  <a:srgbClr val="000000"/>
                </a:solidFill>
                <a:latin typeface="Times New Roman" pitchFamily="18" charset="0"/>
              </a:rPr>
              <a:t>object 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is normally </a:t>
            </a:r>
            <a:r>
              <a:rPr lang="en-US" sz="2100" dirty="0" smtClean="0">
                <a:solidFill>
                  <a:srgbClr val="000000"/>
                </a:solidFill>
                <a:latin typeface="Lucida Console" pitchFamily="49" charset="0"/>
              </a:rPr>
              <a:t>this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 if it’s the object in which the </a:t>
            </a:r>
            <a:r>
              <a:rPr lang="en-US" sz="2100" dirty="0" smtClean="0">
                <a:solidFill>
                  <a:srgbClr val="000000"/>
                </a:solidFill>
                <a:latin typeface="Lucida Console" pitchFamily="49" charset="0"/>
              </a:rPr>
              <a:t>synchronized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 statement appears.</a:t>
            </a:r>
          </a:p>
          <a:p>
            <a:pPr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When a </a:t>
            </a:r>
            <a:r>
              <a:rPr lang="en-US" sz="2500" dirty="0" smtClean="0">
                <a:solidFill>
                  <a:srgbClr val="000000"/>
                </a:solidFill>
                <a:latin typeface="Lucida Console" pitchFamily="49" charset="0"/>
              </a:rPr>
              <a:t>synchronized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 statement finishes executing, the object’s monitor lock is released.</a:t>
            </a:r>
          </a:p>
          <a:p>
            <a:pPr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Java also allows </a:t>
            </a:r>
            <a:r>
              <a:rPr lang="en-US" sz="2500" dirty="0" smtClean="0">
                <a:solidFill>
                  <a:srgbClr val="0000FF"/>
                </a:solidFill>
                <a:latin typeface="LucidaSansTypewriter" pitchFamily="49" charset="0"/>
              </a:rPr>
              <a:t>synchronized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 methods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82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560</TotalTime>
  <Words>896</Words>
  <Application>Microsoft Office PowerPoint</Application>
  <PresentationFormat>On-screen Show (4:3)</PresentationFormat>
  <Paragraphs>167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7" baseType="lpstr">
      <vt:lpstr>AGaramond</vt:lpstr>
      <vt:lpstr>Arial</vt:lpstr>
      <vt:lpstr>Arial Bold</vt:lpstr>
      <vt:lpstr>Arial Italic</vt:lpstr>
      <vt:lpstr>Calibri</vt:lpstr>
      <vt:lpstr>Calibri Light</vt:lpstr>
      <vt:lpstr>Courier New</vt:lpstr>
      <vt:lpstr>Courier New Bold</vt:lpstr>
      <vt:lpstr>Iskoola Pota</vt:lpstr>
      <vt:lpstr>Latha</vt:lpstr>
      <vt:lpstr>Lucida Console</vt:lpstr>
      <vt:lpstr>LucidaSansTypewriter</vt:lpstr>
      <vt:lpstr>Tahoma</vt:lpstr>
      <vt:lpstr>Times New Roman</vt:lpstr>
      <vt:lpstr>Verdana</vt:lpstr>
      <vt:lpstr>Verdana Italic</vt:lpstr>
      <vt:lpstr>HNDIT</vt:lpstr>
      <vt:lpstr> Programming with Concurrency and Multithreading (in Java)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01</vt:lpstr>
      <vt:lpstr>Example 01 ….</vt:lpstr>
      <vt:lpstr>Example 02</vt:lpstr>
      <vt:lpstr>Example 02 ….</vt:lpstr>
      <vt:lpstr>Example 02 ….</vt:lpstr>
      <vt:lpstr>Example 01 &amp; 02</vt:lpstr>
      <vt:lpstr>Single –threaded applications</vt:lpstr>
      <vt:lpstr>Thread Synchronization</vt:lpstr>
      <vt:lpstr>Thread Synchronization (cont.)</vt:lpstr>
      <vt:lpstr>Thread Synchronization (cont.)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IT4101 Multi-tiered application development</dc:title>
  <dc:creator>User</dc:creator>
  <cp:lastModifiedBy>Admin</cp:lastModifiedBy>
  <cp:revision>48</cp:revision>
  <dcterms:created xsi:type="dcterms:W3CDTF">2012-08-01T05:29:21Z</dcterms:created>
  <dcterms:modified xsi:type="dcterms:W3CDTF">2018-12-01T09:27:48Z</dcterms:modified>
</cp:coreProperties>
</file>