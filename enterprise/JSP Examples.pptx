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8" r:id="rId9"/>
    <p:sldId id="258" r:id="rId10"/>
    <p:sldId id="257" r:id="rId11"/>
    <p:sldId id="259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62" d="100"/>
          <a:sy n="62" d="100"/>
        </p:scale>
        <p:origin x="-1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6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9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2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5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9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1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9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0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13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6E5F-DF07-4F71-83B2-BCD02FF797CA}" type="datetimeFigureOut">
              <a:rPr lang="en-US" smtClean="0"/>
              <a:t>16/2/2019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947D0-943E-4039-841C-2DE0FA734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2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JSP Examples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0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Date Formatting using </a:t>
            </a:r>
            <a:r>
              <a:rPr lang="en-US" dirty="0" err="1" smtClean="0"/>
              <a:t>SimpleDateFormat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8613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 err="1" smtClean="0"/>
              <a:t>SimpleDateFormat</a:t>
            </a:r>
            <a:r>
              <a:rPr lang="en-US" sz="2000" dirty="0" smtClean="0"/>
              <a:t> can format and parse dates in a locale-sensitive manner.</a:t>
            </a:r>
          </a:p>
          <a:p>
            <a:r>
              <a:rPr lang="en-US" sz="2000" dirty="0" smtClean="0"/>
              <a:t>The following code shows how to output current time.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&lt;%@ page import="java.io.*,</a:t>
            </a:r>
            <a:r>
              <a:rPr lang="en-US" sz="2000" b="1" dirty="0" err="1" smtClean="0">
                <a:solidFill>
                  <a:srgbClr val="00B0F0"/>
                </a:solidFill>
              </a:rPr>
              <a:t>java.util</a:t>
            </a:r>
            <a:r>
              <a:rPr lang="en-US" sz="2000" b="1" dirty="0" smtClean="0">
                <a:solidFill>
                  <a:srgbClr val="00B0F0"/>
                </a:solidFill>
              </a:rPr>
              <a:t>.*" %&gt;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&lt;%@ page import="</a:t>
            </a:r>
            <a:r>
              <a:rPr lang="en-US" sz="2000" b="1" dirty="0" err="1" smtClean="0">
                <a:solidFill>
                  <a:srgbClr val="00B0F0"/>
                </a:solidFill>
              </a:rPr>
              <a:t>javax.servlet</a:t>
            </a:r>
            <a:r>
              <a:rPr lang="en-US" sz="2000" b="1" dirty="0" smtClean="0">
                <a:solidFill>
                  <a:srgbClr val="00B0F0"/>
                </a:solidFill>
              </a:rPr>
              <a:t>.*,</a:t>
            </a:r>
            <a:r>
              <a:rPr lang="en-US" sz="2000" b="1" dirty="0" err="1" smtClean="0">
                <a:solidFill>
                  <a:srgbClr val="00B0F0"/>
                </a:solidFill>
              </a:rPr>
              <a:t>java.text</a:t>
            </a:r>
            <a:r>
              <a:rPr lang="en-US" sz="2000" b="1" dirty="0" smtClean="0">
                <a:solidFill>
                  <a:srgbClr val="00B0F0"/>
                </a:solidFill>
              </a:rPr>
              <a:t>.*" %&gt;</a:t>
            </a:r>
          </a:p>
          <a:p>
            <a:pPr marL="457200" lvl="1" indent="0">
              <a:buNone/>
            </a:pPr>
            <a:r>
              <a:rPr lang="en-US" sz="2000" b="1" dirty="0" smtClean="0"/>
              <a:t>&lt;html&gt;</a:t>
            </a:r>
          </a:p>
          <a:p>
            <a:pPr marL="457200" lvl="1" indent="0">
              <a:buNone/>
            </a:pPr>
            <a:r>
              <a:rPr lang="en-US" sz="2000" b="1" dirty="0" smtClean="0"/>
              <a:t>&lt;body&gt;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&lt;%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   Date </a:t>
            </a:r>
            <a:r>
              <a:rPr lang="en-US" sz="2000" b="1" dirty="0" err="1" smtClean="0">
                <a:solidFill>
                  <a:srgbClr val="00B0F0"/>
                </a:solidFill>
              </a:rPr>
              <a:t>dNow</a:t>
            </a:r>
            <a:r>
              <a:rPr lang="en-US" sz="2000" b="1" dirty="0" smtClean="0">
                <a:solidFill>
                  <a:srgbClr val="00B0F0"/>
                </a:solidFill>
              </a:rPr>
              <a:t> = new Date();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   </a:t>
            </a:r>
            <a:r>
              <a:rPr lang="en-US" sz="2000" b="1" dirty="0" err="1" smtClean="0">
                <a:solidFill>
                  <a:srgbClr val="00B0F0"/>
                </a:solidFill>
              </a:rPr>
              <a:t>SimpleDateFormat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ft</a:t>
            </a:r>
            <a:r>
              <a:rPr lang="en-US" sz="2000" b="1" dirty="0" smtClean="0">
                <a:solidFill>
                  <a:srgbClr val="00B0F0"/>
                </a:solidFill>
              </a:rPr>
              <a:t> = new </a:t>
            </a:r>
            <a:r>
              <a:rPr lang="en-US" sz="2000" b="1" dirty="0" err="1" smtClean="0">
                <a:solidFill>
                  <a:srgbClr val="00B0F0"/>
                </a:solidFill>
              </a:rPr>
              <a:t>SimpleDateFormat</a:t>
            </a:r>
            <a:r>
              <a:rPr lang="en-US" sz="2000" b="1" dirty="0" smtClean="0">
                <a:solidFill>
                  <a:srgbClr val="00B0F0"/>
                </a:solidFill>
              </a:rPr>
              <a:t> ("E yyyy.MM.dd 'at' </a:t>
            </a:r>
            <a:r>
              <a:rPr lang="en-US" sz="2000" b="1" dirty="0" err="1" smtClean="0">
                <a:solidFill>
                  <a:srgbClr val="00B0F0"/>
                </a:solidFill>
              </a:rPr>
              <a:t>hh:mm:ss</a:t>
            </a:r>
            <a:r>
              <a:rPr lang="en-US" sz="2000" b="1" dirty="0" smtClean="0">
                <a:solidFill>
                  <a:srgbClr val="00B0F0"/>
                </a:solidFill>
              </a:rPr>
              <a:t> a </a:t>
            </a:r>
            <a:r>
              <a:rPr lang="en-US" sz="2000" b="1" dirty="0" err="1" smtClean="0">
                <a:solidFill>
                  <a:srgbClr val="00B0F0"/>
                </a:solidFill>
              </a:rPr>
              <a:t>zzz</a:t>
            </a:r>
            <a:r>
              <a:rPr lang="en-US" sz="2000" b="1" dirty="0" smtClean="0">
                <a:solidFill>
                  <a:srgbClr val="00B0F0"/>
                </a:solidFill>
              </a:rPr>
              <a:t>");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   </a:t>
            </a:r>
            <a:r>
              <a:rPr lang="en-US" sz="2000" b="1" dirty="0" err="1" smtClean="0">
                <a:solidFill>
                  <a:srgbClr val="00B0F0"/>
                </a:solidFill>
              </a:rPr>
              <a:t>out.print</a:t>
            </a:r>
            <a:r>
              <a:rPr lang="en-US" sz="2000" b="1" dirty="0" smtClean="0">
                <a:solidFill>
                  <a:srgbClr val="00B0F0"/>
                </a:solidFill>
              </a:rPr>
              <a:t>( "&lt;h2 align=\"center\"&gt;" + </a:t>
            </a:r>
            <a:r>
              <a:rPr lang="en-US" sz="2000" b="1" dirty="0" err="1" smtClean="0">
                <a:solidFill>
                  <a:srgbClr val="00B0F0"/>
                </a:solidFill>
              </a:rPr>
              <a:t>ft.format</a:t>
            </a:r>
            <a:r>
              <a:rPr lang="en-US" sz="2000" b="1" dirty="0" smtClean="0">
                <a:solidFill>
                  <a:srgbClr val="00B0F0"/>
                </a:solidFill>
              </a:rPr>
              <a:t>(</a:t>
            </a:r>
            <a:r>
              <a:rPr lang="en-US" sz="2000" b="1" dirty="0" err="1" smtClean="0">
                <a:solidFill>
                  <a:srgbClr val="00B0F0"/>
                </a:solidFill>
              </a:rPr>
              <a:t>dNow</a:t>
            </a:r>
            <a:r>
              <a:rPr lang="en-US" sz="2000" b="1" dirty="0" smtClean="0">
                <a:solidFill>
                  <a:srgbClr val="00B0F0"/>
                </a:solidFill>
              </a:rPr>
              <a:t>) + "&lt;/h2&gt;");</a:t>
            </a:r>
          </a:p>
          <a:p>
            <a:pPr marL="457200" lvl="1" indent="0">
              <a:buNone/>
            </a:pPr>
            <a:r>
              <a:rPr lang="en-US" sz="2000" b="1" dirty="0" smtClean="0">
                <a:solidFill>
                  <a:srgbClr val="00B0F0"/>
                </a:solidFill>
              </a:rPr>
              <a:t>%&gt;</a:t>
            </a:r>
          </a:p>
          <a:p>
            <a:pPr marL="457200" lvl="1" indent="0">
              <a:buNone/>
            </a:pPr>
            <a:r>
              <a:rPr lang="en-US" sz="2000" b="1" dirty="0" smtClean="0"/>
              <a:t>&lt;/body&gt;</a:t>
            </a:r>
          </a:p>
          <a:p>
            <a:pPr marL="457200" lvl="1" indent="0">
              <a:buNone/>
            </a:pPr>
            <a:r>
              <a:rPr lang="en-US" sz="2000" b="1" dirty="0" smtClean="0"/>
              <a:t>&lt;/html&gt;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06" t="39354" r="83898" b="47510"/>
          <a:stretch/>
        </p:blipFill>
        <p:spPr>
          <a:xfrm>
            <a:off x="9723041" y="2979817"/>
            <a:ext cx="2423319" cy="1472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11887" y="1690688"/>
            <a:ext cx="420207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To run </a:t>
            </a:r>
            <a:r>
              <a:rPr lang="en-US" dirty="0" err="1" smtClean="0"/>
              <a:t>jsp</a:t>
            </a:r>
            <a:r>
              <a:rPr lang="en-US" dirty="0" smtClean="0"/>
              <a:t> page when this execute, need to name as </a:t>
            </a:r>
            <a:r>
              <a:rPr lang="en-US" dirty="0" err="1" smtClean="0"/>
              <a:t>index.jsp</a:t>
            </a:r>
            <a:r>
              <a:rPr lang="en-US" dirty="0" smtClean="0"/>
              <a:t> and</a:t>
            </a:r>
          </a:p>
          <a:p>
            <a:r>
              <a:rPr lang="en-US" dirty="0" smtClean="0"/>
              <a:t>Need to rename the index.html to any other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7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JSP </a:t>
            </a:r>
            <a:r>
              <a:rPr lang="en-US" dirty="0" smtClean="0"/>
              <a:t>Declarations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 the following example of JSP </a:t>
            </a:r>
            <a:r>
              <a:rPr lang="en-US" dirty="0" smtClean="0">
                <a:solidFill>
                  <a:srgbClr val="00B0F0"/>
                </a:solidFill>
              </a:rPr>
              <a:t>declaration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F0"/>
                </a:solidFill>
              </a:rPr>
              <a:t>tag</a:t>
            </a:r>
            <a:r>
              <a:rPr lang="en-US" dirty="0" smtClean="0"/>
              <a:t>, we are declaring the field and printing the value of the declared field using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the </a:t>
            </a:r>
            <a:r>
              <a:rPr lang="en-US" dirty="0" err="1" smtClean="0">
                <a:solidFill>
                  <a:schemeClr val="accent4">
                    <a:lumMod val="75000"/>
                  </a:schemeClr>
                </a:solidFill>
              </a:rPr>
              <a:t>jsp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 expression tag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914400" lvl="2" indent="0">
              <a:buNone/>
            </a:pPr>
            <a:r>
              <a:rPr lang="en-US" sz="3000" dirty="0" smtClean="0"/>
              <a:t>&lt;html&gt;</a:t>
            </a:r>
          </a:p>
          <a:p>
            <a:pPr marL="914400" lvl="2" indent="0">
              <a:buNone/>
            </a:pPr>
            <a:r>
              <a:rPr lang="en-US" sz="3000" dirty="0" smtClean="0"/>
              <a:t>&lt;body&gt;</a:t>
            </a:r>
          </a:p>
          <a:p>
            <a:pPr marL="914400" lvl="2" indent="0">
              <a:buNone/>
            </a:pPr>
            <a:endParaRPr lang="en-US" sz="3000" dirty="0" smtClean="0"/>
          </a:p>
          <a:p>
            <a:pPr marL="914400" lvl="2" indent="0">
              <a:buNone/>
            </a:pPr>
            <a:r>
              <a:rPr lang="en-US" sz="3000" dirty="0" smtClean="0">
                <a:solidFill>
                  <a:srgbClr val="00B0F0"/>
                </a:solidFill>
              </a:rPr>
              <a:t>&lt;%! </a:t>
            </a:r>
            <a:r>
              <a:rPr lang="en-US" sz="3000" dirty="0" err="1" smtClean="0">
                <a:solidFill>
                  <a:srgbClr val="00B0F0"/>
                </a:solidFill>
              </a:rPr>
              <a:t>int</a:t>
            </a:r>
            <a:r>
              <a:rPr lang="en-US" sz="3000" dirty="0" smtClean="0">
                <a:solidFill>
                  <a:srgbClr val="00B0F0"/>
                </a:solidFill>
              </a:rPr>
              <a:t> data=50; %&gt;</a:t>
            </a:r>
          </a:p>
          <a:p>
            <a:pPr marL="914400" lvl="2" indent="0">
              <a:buNone/>
            </a:pPr>
            <a:r>
              <a:rPr lang="en-US" sz="3000" dirty="0" smtClean="0">
                <a:solidFill>
                  <a:schemeClr val="accent4">
                    <a:lumMod val="75000"/>
                  </a:schemeClr>
                </a:solidFill>
              </a:rPr>
              <a:t>&lt;%= "Value of the variable is:"+data %&gt;</a:t>
            </a:r>
          </a:p>
          <a:p>
            <a:pPr marL="914400" lvl="2" indent="0">
              <a:buNone/>
            </a:pPr>
            <a:endParaRPr lang="en-US" sz="3000" dirty="0" smtClean="0"/>
          </a:p>
          <a:p>
            <a:pPr marL="914400" lvl="2" indent="0">
              <a:buNone/>
            </a:pPr>
            <a:r>
              <a:rPr lang="en-US" sz="3000" dirty="0" smtClean="0"/>
              <a:t>&lt;/body&gt;</a:t>
            </a:r>
          </a:p>
          <a:p>
            <a:pPr marL="914400" lvl="2" indent="0">
              <a:buNone/>
            </a:pPr>
            <a:r>
              <a:rPr lang="en-US" sz="3000" dirty="0" smtClean="0"/>
              <a:t>&lt;/html&gt;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21129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701" y="0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following example of JSP declaration tag defines the method which returns the cube of given number and calls this method from the </a:t>
            </a:r>
            <a:r>
              <a:rPr lang="en-US" sz="2400" dirty="0" err="1" smtClean="0"/>
              <a:t>jsp</a:t>
            </a:r>
            <a:r>
              <a:rPr lang="en-US" sz="2400" dirty="0" smtClean="0"/>
              <a:t> expression tag.</a:t>
            </a:r>
          </a:p>
          <a:p>
            <a:endParaRPr lang="en-US" sz="2400" dirty="0" smtClean="0"/>
          </a:p>
          <a:p>
            <a:pPr marL="457200" lvl="1" indent="0">
              <a:buNone/>
            </a:pPr>
            <a:r>
              <a:rPr lang="en-US" sz="2800" dirty="0" smtClean="0"/>
              <a:t>&lt;html&gt;</a:t>
            </a:r>
          </a:p>
          <a:p>
            <a:pPr marL="457200" lvl="1" indent="0">
              <a:buNone/>
            </a:pPr>
            <a:r>
              <a:rPr lang="en-US" sz="2800" dirty="0" smtClean="0"/>
              <a:t>&lt;body&gt;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&lt;%! </a:t>
            </a:r>
          </a:p>
          <a:p>
            <a:pPr marL="914400" lvl="2" indent="0">
              <a:buNone/>
            </a:pPr>
            <a:r>
              <a:rPr lang="en-US" sz="2800" dirty="0" err="1" smtClean="0">
                <a:solidFill>
                  <a:srgbClr val="00B0F0"/>
                </a:solidFill>
              </a:rPr>
              <a:t>int</a:t>
            </a:r>
            <a:r>
              <a:rPr lang="en-US" sz="2800" dirty="0" smtClean="0">
                <a:solidFill>
                  <a:srgbClr val="00B0F0"/>
                </a:solidFill>
              </a:rPr>
              <a:t> cube(</a:t>
            </a:r>
            <a:r>
              <a:rPr lang="en-US" sz="2800" dirty="0" err="1" smtClean="0">
                <a:solidFill>
                  <a:srgbClr val="00B0F0"/>
                </a:solidFill>
              </a:rPr>
              <a:t>int</a:t>
            </a:r>
            <a:r>
              <a:rPr lang="en-US" sz="2800" dirty="0" smtClean="0">
                <a:solidFill>
                  <a:srgbClr val="00B0F0"/>
                </a:solidFill>
              </a:rPr>
              <a:t> n){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return n*n*n*;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}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%&gt;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&lt;%= "Cube of 3 is:"+cube(3) %&gt;</a:t>
            </a:r>
          </a:p>
          <a:p>
            <a:pPr marL="457200" lvl="1" indent="0">
              <a:buNone/>
            </a:pPr>
            <a:endParaRPr lang="en-US" sz="2800" dirty="0" smtClean="0"/>
          </a:p>
          <a:p>
            <a:pPr marL="457200" lvl="1" indent="0">
              <a:buNone/>
            </a:pPr>
            <a:r>
              <a:rPr lang="en-US" sz="2800" dirty="0" smtClean="0"/>
              <a:t>&lt;/body&gt;</a:t>
            </a:r>
          </a:p>
          <a:p>
            <a:pPr marL="457200" lvl="1" indent="0">
              <a:buNone/>
            </a:pPr>
            <a:r>
              <a:rPr lang="en-US" sz="2800" dirty="0" smtClean="0"/>
              <a:t>&lt;/html&gt;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8443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JSP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following example of </a:t>
            </a:r>
            <a:r>
              <a:rPr lang="en-US" dirty="0" err="1" smtClean="0"/>
              <a:t>jsp</a:t>
            </a:r>
            <a:r>
              <a:rPr lang="en-US" dirty="0" smtClean="0"/>
              <a:t> expression tag, we display a welcome message.</a:t>
            </a:r>
          </a:p>
          <a:p>
            <a:endParaRPr lang="en-US" dirty="0" smtClean="0"/>
          </a:p>
          <a:p>
            <a:pPr marL="914400" lvl="2" indent="0">
              <a:buNone/>
            </a:pPr>
            <a:r>
              <a:rPr lang="en-US" sz="2800" dirty="0" smtClean="0"/>
              <a:t>&lt;html&gt;</a:t>
            </a:r>
          </a:p>
          <a:p>
            <a:pPr marL="914400" lvl="2" indent="0">
              <a:buNone/>
            </a:pPr>
            <a:r>
              <a:rPr lang="en-US" sz="2800" dirty="0" smtClean="0"/>
              <a:t>&lt;body&gt;</a:t>
            </a:r>
          </a:p>
          <a:p>
            <a:pPr marL="1371600" lvl="3" indent="0">
              <a:buNone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&lt;%= 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"Welcome 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to </a:t>
            </a:r>
            <a:r>
              <a:rPr lang="en-US" sz="2800" dirty="0" err="1" smtClean="0">
                <a:solidFill>
                  <a:schemeClr val="accent4">
                    <a:lumMod val="75000"/>
                  </a:schemeClr>
                </a:solidFill>
              </a:rPr>
              <a:t>jsp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" 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%&gt;</a:t>
            </a:r>
          </a:p>
          <a:p>
            <a:pPr marL="914400" lvl="2" indent="0">
              <a:buNone/>
            </a:pPr>
            <a:r>
              <a:rPr lang="en-US" sz="2800" dirty="0" smtClean="0"/>
              <a:t>&lt;/body&gt;</a:t>
            </a:r>
          </a:p>
          <a:p>
            <a:pPr marL="914400" lvl="2" indent="0">
              <a:buNone/>
            </a:pPr>
            <a:r>
              <a:rPr lang="en-US" sz="2800" dirty="0" smtClean="0"/>
              <a:t>&lt;/html&gt;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230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 smtClean="0"/>
              <a:t>&lt;html&gt; </a:t>
            </a:r>
          </a:p>
          <a:p>
            <a:pPr marL="457200" lvl="1" indent="0">
              <a:buNone/>
            </a:pPr>
            <a:r>
              <a:rPr lang="en-US" dirty="0" smtClean="0"/>
              <a:t>&lt;body&gt;</a:t>
            </a:r>
          </a:p>
          <a:p>
            <a:pPr marL="457200" lvl="1" indent="0">
              <a:buNone/>
            </a:pPr>
            <a:r>
              <a:rPr lang="en-US" dirty="0" smtClean="0"/>
              <a:t>&lt;p&gt;</a:t>
            </a:r>
          </a:p>
          <a:p>
            <a:pPr marL="457200" lvl="1" indent="0">
              <a:buNone/>
            </a:pPr>
            <a:r>
              <a:rPr lang="en-US" dirty="0" smtClean="0"/>
              <a:t>   Today's date: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&lt;%= (new </a:t>
            </a:r>
            <a:r>
              <a:rPr lang="en-US" dirty="0" err="1" smtClean="0">
                <a:solidFill>
                  <a:schemeClr val="accent4">
                    <a:lumMod val="75000"/>
                  </a:schemeClr>
                </a:solidFill>
              </a:rPr>
              <a:t>java.util.Date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()).</a:t>
            </a:r>
            <a:r>
              <a:rPr lang="en-US" dirty="0" err="1" smtClean="0">
                <a:solidFill>
                  <a:schemeClr val="accent4">
                    <a:lumMod val="75000"/>
                  </a:schemeClr>
                </a:solidFill>
              </a:rPr>
              <a:t>toLocaleString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()%&gt;</a:t>
            </a:r>
          </a:p>
          <a:p>
            <a:pPr marL="457200" lvl="1" indent="0">
              <a:buNone/>
            </a:pPr>
            <a:r>
              <a:rPr lang="en-US" dirty="0" smtClean="0"/>
              <a:t>&lt;/p&gt;</a:t>
            </a:r>
          </a:p>
          <a:p>
            <a:pPr marL="457200" lvl="1" indent="0">
              <a:buNone/>
            </a:pPr>
            <a:r>
              <a:rPr lang="en-US" dirty="0" smtClean="0"/>
              <a:t>&lt;/body&gt; </a:t>
            </a:r>
          </a:p>
          <a:p>
            <a:pPr marL="457200" lvl="1" indent="0">
              <a:buNone/>
            </a:pPr>
            <a:r>
              <a:rPr lang="en-US" dirty="0" smtClean="0"/>
              <a:t>&lt;/html&gt;</a:t>
            </a:r>
          </a:p>
          <a:p>
            <a:r>
              <a:rPr lang="en-US" dirty="0" smtClean="0"/>
              <a:t>This would generate following result:</a:t>
            </a:r>
          </a:p>
          <a:p>
            <a:endParaRPr lang="en-US" dirty="0" smtClean="0"/>
          </a:p>
          <a:p>
            <a:r>
              <a:rPr lang="en-US" dirty="0" smtClean="0"/>
              <a:t>&lt;p&gt; Today's date: 11-Jan-2015 17:02:25 &lt;/p&gt;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2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JSP Comment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following JSP has a JSP Comment.</a:t>
            </a:r>
          </a:p>
          <a:p>
            <a:endParaRPr lang="en-US" dirty="0" smtClean="0"/>
          </a:p>
          <a:p>
            <a:pPr marL="457200" lvl="1" indent="0">
              <a:buNone/>
            </a:pPr>
            <a:r>
              <a:rPr lang="en-US" sz="2800" dirty="0" smtClean="0"/>
              <a:t>&lt;html&gt; </a:t>
            </a:r>
          </a:p>
          <a:p>
            <a:pPr marL="457200" lvl="1" indent="0">
              <a:buNone/>
            </a:pPr>
            <a:r>
              <a:rPr lang="en-US" sz="2800" dirty="0" smtClean="0"/>
              <a:t>&lt;body&gt; 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&lt;%-- This is a comment in the page.--%&gt; </a:t>
            </a:r>
          </a:p>
          <a:p>
            <a:pPr marL="457200" lvl="1" indent="0">
              <a:buNone/>
            </a:pPr>
            <a:r>
              <a:rPr lang="en-US" sz="2800" dirty="0" smtClean="0"/>
              <a:t>&lt;/body&gt; </a:t>
            </a:r>
          </a:p>
          <a:p>
            <a:pPr marL="457200" lvl="1" indent="0">
              <a:buNone/>
            </a:pPr>
            <a:r>
              <a:rPr lang="en-US" sz="2800" dirty="0" smtClean="0"/>
              <a:t>&lt;/html&gt;</a:t>
            </a:r>
          </a:p>
          <a:p>
            <a:pPr marL="457200" lvl="1" indent="0">
              <a:buNone/>
            </a:pPr>
            <a:endParaRPr lang="en-US" sz="2800" dirty="0" smtClean="0"/>
          </a:p>
          <a:p>
            <a:r>
              <a:rPr lang="en-US" dirty="0" smtClean="0"/>
              <a:t>&lt;!-- comment --&gt; is an HTML comment. Ignored by the browser.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0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701" y="0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following example of JSP declaration tag defines the method which returns the cube of given number and calls this method from the </a:t>
            </a:r>
            <a:r>
              <a:rPr lang="en-US" sz="2400" dirty="0" err="1" smtClean="0"/>
              <a:t>jsp</a:t>
            </a:r>
            <a:r>
              <a:rPr lang="en-US" sz="2400" dirty="0" smtClean="0"/>
              <a:t> expression tag.</a:t>
            </a:r>
          </a:p>
          <a:p>
            <a:endParaRPr lang="en-US" sz="2400" dirty="0" smtClean="0"/>
          </a:p>
          <a:p>
            <a:pPr marL="457200" lvl="1" indent="0">
              <a:buNone/>
            </a:pPr>
            <a:r>
              <a:rPr lang="en-US" sz="2800" dirty="0" smtClean="0"/>
              <a:t>&lt;html&gt;</a:t>
            </a:r>
          </a:p>
          <a:p>
            <a:pPr marL="457200" lvl="1" indent="0">
              <a:buNone/>
            </a:pPr>
            <a:r>
              <a:rPr lang="en-US" sz="2800" dirty="0" smtClean="0"/>
              <a:t>&lt;body&gt;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&lt;%! </a:t>
            </a:r>
          </a:p>
          <a:p>
            <a:pPr marL="914400" lvl="2" indent="0">
              <a:buNone/>
            </a:pPr>
            <a:r>
              <a:rPr lang="en-US" sz="2800" dirty="0" err="1" smtClean="0">
                <a:solidFill>
                  <a:srgbClr val="00B0F0"/>
                </a:solidFill>
              </a:rPr>
              <a:t>int</a:t>
            </a:r>
            <a:r>
              <a:rPr lang="en-US" sz="2800" dirty="0" smtClean="0">
                <a:solidFill>
                  <a:srgbClr val="00B0F0"/>
                </a:solidFill>
              </a:rPr>
              <a:t> cube(</a:t>
            </a:r>
            <a:r>
              <a:rPr lang="en-US" sz="2800" dirty="0" err="1" smtClean="0">
                <a:solidFill>
                  <a:srgbClr val="00B0F0"/>
                </a:solidFill>
              </a:rPr>
              <a:t>int</a:t>
            </a:r>
            <a:r>
              <a:rPr lang="en-US" sz="2800" dirty="0" smtClean="0">
                <a:solidFill>
                  <a:srgbClr val="00B0F0"/>
                </a:solidFill>
              </a:rPr>
              <a:t> n){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return n*n*n*;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}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rgbClr val="00B0F0"/>
                </a:solidFill>
              </a:rPr>
              <a:t>%&gt;</a:t>
            </a:r>
          </a:p>
          <a:p>
            <a:pPr marL="914400" lvl="2" indent="0">
              <a:buNone/>
            </a:pP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</a:rPr>
              <a:t>&lt;%= "Cube of 3 is:"+cube(3) %&gt;</a:t>
            </a:r>
          </a:p>
          <a:p>
            <a:pPr marL="457200" lvl="1" indent="0">
              <a:buNone/>
            </a:pPr>
            <a:endParaRPr lang="en-US" sz="2800" dirty="0" smtClean="0"/>
          </a:p>
          <a:p>
            <a:pPr marL="457200" lvl="1" indent="0">
              <a:buNone/>
            </a:pPr>
            <a:r>
              <a:rPr lang="en-US" sz="2800" dirty="0" smtClean="0"/>
              <a:t>&lt;/body&gt;</a:t>
            </a:r>
          </a:p>
          <a:p>
            <a:pPr marL="457200" lvl="1" indent="0">
              <a:buNone/>
            </a:pPr>
            <a:r>
              <a:rPr lang="en-US" sz="2800" dirty="0" smtClean="0"/>
              <a:t>&lt;/html&gt;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91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parameters from 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following code shows how to get parameters using GET method.</a:t>
            </a:r>
          </a:p>
          <a:p>
            <a:r>
              <a:rPr lang="en-US" dirty="0" smtClean="0"/>
              <a:t>The following code uses the </a:t>
            </a:r>
            <a:r>
              <a:rPr lang="en-US" dirty="0" err="1" smtClean="0"/>
              <a:t>getParameter</a:t>
            </a:r>
            <a:r>
              <a:rPr lang="en-US" dirty="0" smtClean="0"/>
              <a:t>() method to read parameters.</a:t>
            </a:r>
          </a:p>
          <a:p>
            <a:pPr marL="457200" lvl="1" indent="0">
              <a:buNone/>
            </a:pPr>
            <a:r>
              <a:rPr lang="en-US" b="1" dirty="0" smtClean="0"/>
              <a:t>&lt;html&gt;</a:t>
            </a:r>
          </a:p>
          <a:p>
            <a:pPr marL="457200" lvl="1" indent="0">
              <a:buNone/>
            </a:pPr>
            <a:r>
              <a:rPr lang="en-US" b="1" dirty="0" smtClean="0"/>
              <a:t>&lt;body&gt;</a:t>
            </a:r>
          </a:p>
          <a:p>
            <a:pPr marL="914400" lvl="2" indent="0">
              <a:buNone/>
            </a:pPr>
            <a:r>
              <a:rPr lang="en-US" sz="2400" b="1" dirty="0" smtClean="0"/>
              <a:t>&lt;b&gt;First Name:&lt;/b&gt;&lt;%= </a:t>
            </a:r>
            <a:r>
              <a:rPr lang="en-US" sz="2400" b="1" dirty="0" err="1" smtClean="0"/>
              <a:t>request.getParameter</a:t>
            </a:r>
            <a:r>
              <a:rPr lang="en-US" sz="2400" b="1" dirty="0" smtClean="0"/>
              <a:t>("</a:t>
            </a:r>
            <a:r>
              <a:rPr lang="en-US" sz="2400" b="1" dirty="0" err="1" smtClean="0"/>
              <a:t>first_name</a:t>
            </a:r>
            <a:r>
              <a:rPr lang="en-US" sz="2400" b="1" dirty="0" smtClean="0"/>
              <a:t>")%&gt;&lt;</a:t>
            </a:r>
            <a:r>
              <a:rPr lang="en-US" sz="2400" b="1" dirty="0" err="1" smtClean="0"/>
              <a:t>br</a:t>
            </a:r>
            <a:r>
              <a:rPr lang="en-US" sz="2400" b="1" dirty="0" smtClean="0"/>
              <a:t>/&gt;</a:t>
            </a:r>
          </a:p>
          <a:p>
            <a:pPr marL="914400" lvl="2" indent="0">
              <a:buNone/>
            </a:pPr>
            <a:r>
              <a:rPr lang="en-US" sz="2400" b="1" dirty="0" smtClean="0"/>
              <a:t>&lt;b&gt;Last  Name:&lt;/b&gt;&lt;%= </a:t>
            </a:r>
            <a:r>
              <a:rPr lang="en-US" sz="2400" b="1" dirty="0" err="1" smtClean="0"/>
              <a:t>request.getParameter</a:t>
            </a:r>
            <a:r>
              <a:rPr lang="en-US" sz="2400" b="1" dirty="0" smtClean="0"/>
              <a:t>("</a:t>
            </a:r>
            <a:r>
              <a:rPr lang="en-US" sz="2400" b="1" dirty="0" err="1" smtClean="0"/>
              <a:t>last_name</a:t>
            </a:r>
            <a:r>
              <a:rPr lang="en-US" sz="2400" b="1" dirty="0" smtClean="0"/>
              <a:t>")%&gt;</a:t>
            </a:r>
          </a:p>
          <a:p>
            <a:pPr marL="457200" lvl="1" indent="0">
              <a:buNone/>
            </a:pPr>
            <a:r>
              <a:rPr lang="en-US" b="1" dirty="0" smtClean="0"/>
              <a:t>&lt;/body&gt;</a:t>
            </a:r>
          </a:p>
          <a:p>
            <a:pPr marL="457200" lvl="1" indent="0">
              <a:buNone/>
            </a:pPr>
            <a:r>
              <a:rPr lang="en-US" b="1" dirty="0" smtClean="0"/>
              <a:t>&lt;/html&gt;</a:t>
            </a:r>
          </a:p>
          <a:p>
            <a:r>
              <a:rPr lang="en-US" dirty="0" smtClean="0"/>
              <a:t>Save the code above as </a:t>
            </a:r>
            <a:r>
              <a:rPr lang="en-US" dirty="0" err="1" smtClean="0"/>
              <a:t>main.jsp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6899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1293"/>
            <a:ext cx="10515600" cy="4351338"/>
          </a:xfrm>
        </p:spPr>
        <p:txBody>
          <a:bodyPr>
            <a:no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We can use the following html form to pass the values to JSP </a:t>
            </a:r>
            <a:r>
              <a:rPr lang="en-US" sz="2000" dirty="0" err="1" smtClean="0"/>
              <a:t>main.jsp</a:t>
            </a:r>
            <a:r>
              <a:rPr lang="en-US" sz="2000" dirty="0" smtClean="0"/>
              <a:t> page.</a:t>
            </a:r>
          </a:p>
          <a:p>
            <a:pPr marL="914400" lvl="2" indent="0">
              <a:buNone/>
            </a:pPr>
            <a:r>
              <a:rPr lang="en-US" b="1" dirty="0" smtClean="0"/>
              <a:t>&lt;html&gt;</a:t>
            </a:r>
          </a:p>
          <a:p>
            <a:pPr marL="914400" lvl="2" indent="0">
              <a:buNone/>
            </a:pPr>
            <a:r>
              <a:rPr lang="en-US" b="1" dirty="0" smtClean="0"/>
              <a:t>    &lt;body&gt;</a:t>
            </a:r>
          </a:p>
          <a:p>
            <a:pPr marL="1371600" lvl="3" indent="0">
              <a:buNone/>
            </a:pPr>
            <a:r>
              <a:rPr lang="en-US" sz="2000" b="1" dirty="0" smtClean="0"/>
              <a:t>    &lt;form action="</a:t>
            </a:r>
            <a:r>
              <a:rPr lang="en-US" sz="2000" b="1" dirty="0" err="1" smtClean="0"/>
              <a:t>main.jsp</a:t>
            </a:r>
            <a:r>
              <a:rPr lang="en-US" sz="2000" b="1" dirty="0" smtClean="0"/>
              <a:t>" method="GET"&gt;</a:t>
            </a:r>
          </a:p>
          <a:p>
            <a:pPr marL="1371600" lvl="3" indent="0">
              <a:buNone/>
            </a:pPr>
            <a:r>
              <a:rPr lang="en-US" sz="2000" b="1" dirty="0" smtClean="0"/>
              <a:t>         First Name: &lt;input type="text" name="</a:t>
            </a:r>
            <a:r>
              <a:rPr lang="en-US" sz="2000" b="1" dirty="0" err="1" smtClean="0"/>
              <a:t>first_name</a:t>
            </a:r>
            <a:r>
              <a:rPr lang="en-US" sz="2000" b="1" dirty="0" smtClean="0"/>
              <a:t>"&gt;</a:t>
            </a:r>
          </a:p>
          <a:p>
            <a:pPr marL="1371600" lvl="3" indent="0">
              <a:buNone/>
            </a:pPr>
            <a:r>
              <a:rPr lang="en-US" sz="2000" b="1" dirty="0" smtClean="0"/>
              <a:t>    &lt;</a:t>
            </a:r>
            <a:r>
              <a:rPr lang="en-US" sz="2000" b="1" dirty="0" err="1" smtClean="0"/>
              <a:t>br</a:t>
            </a:r>
            <a:r>
              <a:rPr lang="en-US" sz="2000" b="1" dirty="0" smtClean="0"/>
              <a:t> /&gt;</a:t>
            </a:r>
          </a:p>
          <a:p>
            <a:pPr marL="1371600" lvl="3" indent="0">
              <a:buNone/>
            </a:pPr>
            <a:r>
              <a:rPr lang="en-US" sz="2000" b="1" dirty="0" smtClean="0"/>
              <a:t>         Last Name: &lt;input type="text" name="</a:t>
            </a:r>
            <a:r>
              <a:rPr lang="en-US" sz="2000" b="1" dirty="0" err="1" smtClean="0"/>
              <a:t>last_name</a:t>
            </a:r>
            <a:r>
              <a:rPr lang="en-US" sz="2000" b="1" dirty="0" smtClean="0"/>
              <a:t>" /&gt;</a:t>
            </a:r>
          </a:p>
          <a:p>
            <a:pPr marL="1371600" lvl="3" indent="0">
              <a:buNone/>
            </a:pPr>
            <a:r>
              <a:rPr lang="en-US" sz="2000" b="1" dirty="0" smtClean="0"/>
              <a:t>    &lt;input type="submit" value="Submit" /&gt;</a:t>
            </a:r>
          </a:p>
          <a:p>
            <a:pPr marL="1371600" lvl="3" indent="0">
              <a:buNone/>
            </a:pPr>
            <a:r>
              <a:rPr lang="en-US" sz="2000" b="1" dirty="0" smtClean="0"/>
              <a:t>    &lt;/form&gt;</a:t>
            </a:r>
          </a:p>
          <a:p>
            <a:pPr marL="914400" lvl="2" indent="0">
              <a:buNone/>
            </a:pPr>
            <a:r>
              <a:rPr lang="en-US" b="1" dirty="0" smtClean="0"/>
              <a:t>    &lt;/body&gt;</a:t>
            </a:r>
          </a:p>
          <a:p>
            <a:pPr marL="914400" lvl="2" indent="0">
              <a:buNone/>
            </a:pPr>
            <a:r>
              <a:rPr lang="en-US" b="1" dirty="0" smtClean="0"/>
              <a:t>&lt;/html&gt;</a:t>
            </a:r>
          </a:p>
          <a:p>
            <a:endParaRPr lang="en-US" sz="2000" dirty="0" smtClean="0"/>
          </a:p>
          <a:p>
            <a:r>
              <a:rPr lang="en-US" sz="2000" dirty="0" smtClean="0"/>
              <a:t>Save this HTML in a file called Hello.htm</a:t>
            </a:r>
          </a:p>
          <a:p>
            <a:r>
              <a:rPr lang="en-US" sz="2000" dirty="0" smtClean="0"/>
              <a:t>The following line in the HTML code calls the </a:t>
            </a:r>
            <a:r>
              <a:rPr lang="en-US" sz="2000" dirty="0" err="1" smtClean="0"/>
              <a:t>jsp</a:t>
            </a:r>
            <a:r>
              <a:rPr lang="en-US" sz="2000" dirty="0" smtClean="0"/>
              <a:t> page we created to accept parameter and indicates that we are going to use the GET method to pass the information.</a:t>
            </a:r>
          </a:p>
          <a:p>
            <a:r>
              <a:rPr lang="en-US" sz="2000" dirty="0" smtClean="0"/>
              <a:t>&lt;form action="</a:t>
            </a:r>
            <a:r>
              <a:rPr lang="en-US" sz="2000" dirty="0" err="1" smtClean="0"/>
              <a:t>main.jsp</a:t>
            </a:r>
            <a:r>
              <a:rPr lang="en-US" sz="2000" dirty="0" smtClean="0"/>
              <a:t>" method="GET"&gt;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7844983" y="2284082"/>
            <a:ext cx="4347017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&lt;b&gt;First Name:&lt;/b&gt;&lt;%= </a:t>
            </a:r>
            <a:r>
              <a:rPr lang="en-US" dirty="0" err="1"/>
              <a:t>request.getParameter</a:t>
            </a:r>
            <a:r>
              <a:rPr lang="en-US" dirty="0"/>
              <a:t>("</a:t>
            </a:r>
            <a:r>
              <a:rPr lang="en-US" dirty="0" err="1"/>
              <a:t>first_name</a:t>
            </a:r>
            <a:r>
              <a:rPr lang="en-US" dirty="0"/>
              <a:t>")%&gt;&lt;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&lt;b&gt;Last  Name:&lt;/b&gt;&lt;%= </a:t>
            </a:r>
            <a:r>
              <a:rPr lang="en-US" dirty="0" err="1"/>
              <a:t>request.getParameter</a:t>
            </a:r>
            <a:r>
              <a:rPr lang="en-US" dirty="0"/>
              <a:t>("</a:t>
            </a:r>
            <a:r>
              <a:rPr lang="en-US" dirty="0" err="1"/>
              <a:t>last_name</a:t>
            </a:r>
            <a:r>
              <a:rPr lang="en-US" dirty="0"/>
              <a:t>")%&gt;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r>
              <a:rPr lang="en-US" dirty="0"/>
              <a:t>Save the code above as </a:t>
            </a:r>
            <a:r>
              <a:rPr lang="en-US" dirty="0" err="1"/>
              <a:t>main.jsp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9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Method Example with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78" y="1380722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 smtClean="0"/>
              <a:t>Create a html page as follows and use POST methods for the form. Save it as Hello.htm.</a:t>
            </a:r>
          </a:p>
          <a:p>
            <a:pPr marL="914400" lvl="2" indent="0">
              <a:buNone/>
            </a:pPr>
            <a:r>
              <a:rPr lang="en-US" b="1" dirty="0" smtClean="0"/>
              <a:t>&lt;html&gt;</a:t>
            </a:r>
          </a:p>
          <a:p>
            <a:pPr marL="914400" lvl="2" indent="0">
              <a:buNone/>
            </a:pPr>
            <a:r>
              <a:rPr lang="en-US" b="1" dirty="0" smtClean="0"/>
              <a:t>&lt;body&gt;</a:t>
            </a:r>
          </a:p>
          <a:p>
            <a:pPr marL="914400" lvl="2" indent="0">
              <a:buNone/>
            </a:pPr>
            <a:r>
              <a:rPr lang="en-US" b="1" dirty="0" smtClean="0"/>
              <a:t>&lt;form action="</a:t>
            </a:r>
            <a:r>
              <a:rPr lang="en-US" b="1" dirty="0" err="1" smtClean="0"/>
              <a:t>main.jsp</a:t>
            </a:r>
            <a:r>
              <a:rPr lang="en-US" b="1" dirty="0" smtClean="0"/>
              <a:t>" method="POST"&gt;</a:t>
            </a:r>
          </a:p>
          <a:p>
            <a:pPr marL="914400" lvl="2" indent="0">
              <a:buNone/>
            </a:pPr>
            <a:r>
              <a:rPr lang="en-US" b="1" dirty="0" smtClean="0"/>
              <a:t>First Name: &lt;input type="text" name="</a:t>
            </a:r>
            <a:r>
              <a:rPr lang="en-US" b="1" dirty="0" err="1" smtClean="0"/>
              <a:t>first_name</a:t>
            </a:r>
            <a:r>
              <a:rPr lang="en-US" b="1" dirty="0" smtClean="0"/>
              <a:t>"&gt;</a:t>
            </a:r>
          </a:p>
          <a:p>
            <a:pPr marL="914400" lvl="2" indent="0">
              <a:buNone/>
            </a:pPr>
            <a:r>
              <a:rPr lang="en-US" b="1" dirty="0" smtClean="0"/>
              <a:t>&lt;</a:t>
            </a:r>
            <a:r>
              <a:rPr lang="en-US" b="1" dirty="0" err="1" smtClean="0"/>
              <a:t>br</a:t>
            </a:r>
            <a:r>
              <a:rPr lang="en-US" b="1" dirty="0" smtClean="0"/>
              <a:t> /&gt;</a:t>
            </a:r>
          </a:p>
          <a:p>
            <a:pPr marL="914400" lvl="2" indent="0">
              <a:buNone/>
            </a:pPr>
            <a:r>
              <a:rPr lang="en-US" b="1" dirty="0" smtClean="0"/>
              <a:t>Last Name: &lt;input type="text" name="</a:t>
            </a:r>
            <a:r>
              <a:rPr lang="en-US" b="1" dirty="0" err="1" smtClean="0"/>
              <a:t>last_name</a:t>
            </a:r>
            <a:r>
              <a:rPr lang="en-US" b="1" dirty="0" smtClean="0"/>
              <a:t>" /&gt;</a:t>
            </a:r>
          </a:p>
          <a:p>
            <a:pPr marL="914400" lvl="2" indent="0">
              <a:buNone/>
            </a:pPr>
            <a:r>
              <a:rPr lang="en-US" b="1" dirty="0" smtClean="0"/>
              <a:t>&lt;input type="submit" value="Submit" /&gt;</a:t>
            </a:r>
          </a:p>
          <a:p>
            <a:pPr marL="914400" lvl="2" indent="0">
              <a:buNone/>
            </a:pPr>
            <a:r>
              <a:rPr lang="en-US" b="1" dirty="0" smtClean="0"/>
              <a:t>&lt;/form&gt;</a:t>
            </a:r>
          </a:p>
          <a:p>
            <a:pPr marL="914400" lvl="2" indent="0">
              <a:buNone/>
            </a:pPr>
            <a:r>
              <a:rPr lang="en-US" b="1" dirty="0" smtClean="0"/>
              <a:t>&lt;/body&gt;</a:t>
            </a:r>
          </a:p>
          <a:p>
            <a:pPr marL="914400" lvl="2" indent="0">
              <a:buNone/>
            </a:pPr>
            <a:r>
              <a:rPr lang="en-US" b="1" dirty="0" smtClean="0"/>
              <a:t>&lt;/html&gt;</a:t>
            </a:r>
          </a:p>
          <a:p>
            <a:r>
              <a:rPr lang="en-US" sz="2000" dirty="0" smtClean="0"/>
              <a:t>Below is </a:t>
            </a:r>
            <a:r>
              <a:rPr lang="en-US" sz="2000" dirty="0" err="1" smtClean="0"/>
              <a:t>main.jsp</a:t>
            </a:r>
            <a:r>
              <a:rPr lang="en-US" sz="2000" dirty="0" smtClean="0"/>
              <a:t> JSP program to handle input from by web browser using GET or POST methods.</a:t>
            </a:r>
          </a:p>
          <a:p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6989735" y="2104356"/>
            <a:ext cx="660227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&lt;html&gt;</a:t>
            </a:r>
          </a:p>
          <a:p>
            <a:r>
              <a:rPr lang="en-US" sz="2000" dirty="0" smtClean="0"/>
              <a:t>&lt;body&gt;</a:t>
            </a:r>
          </a:p>
          <a:p>
            <a:r>
              <a:rPr lang="en-US" sz="2000" dirty="0" smtClean="0"/>
              <a:t>&lt;b&gt;First Name:&lt;/b&gt;</a:t>
            </a:r>
          </a:p>
          <a:p>
            <a:r>
              <a:rPr lang="en-US" sz="2000" dirty="0" smtClean="0"/>
              <a:t>&lt;%= </a:t>
            </a:r>
            <a:r>
              <a:rPr lang="en-US" sz="2000" dirty="0" err="1" smtClean="0"/>
              <a:t>request.getParameter</a:t>
            </a:r>
            <a:r>
              <a:rPr lang="en-US" sz="2000" dirty="0" smtClean="0"/>
              <a:t>("</a:t>
            </a:r>
            <a:r>
              <a:rPr lang="en-US" sz="2000" dirty="0" err="1" smtClean="0"/>
              <a:t>first_name</a:t>
            </a:r>
            <a:r>
              <a:rPr lang="en-US" sz="2000" dirty="0" smtClean="0"/>
              <a:t>")%&gt;&lt;</a:t>
            </a:r>
            <a:r>
              <a:rPr lang="en-US" sz="2000" dirty="0" err="1" smtClean="0"/>
              <a:t>br</a:t>
            </a:r>
            <a:r>
              <a:rPr lang="en-US" sz="2000" dirty="0" smtClean="0"/>
              <a:t>/&gt;</a:t>
            </a:r>
          </a:p>
          <a:p>
            <a:r>
              <a:rPr lang="en-US" sz="2000" dirty="0" smtClean="0"/>
              <a:t>&lt;b&gt;Last  Name:&lt;/b&gt;</a:t>
            </a:r>
          </a:p>
          <a:p>
            <a:r>
              <a:rPr lang="en-US" sz="2000" dirty="0" smtClean="0"/>
              <a:t>&lt;%= </a:t>
            </a:r>
            <a:r>
              <a:rPr lang="en-US" sz="2000" dirty="0" err="1" smtClean="0"/>
              <a:t>request.getParameter</a:t>
            </a:r>
            <a:r>
              <a:rPr lang="en-US" sz="2000" dirty="0" smtClean="0"/>
              <a:t>("</a:t>
            </a:r>
            <a:r>
              <a:rPr lang="en-US" sz="2000" dirty="0" err="1" smtClean="0"/>
              <a:t>last_name</a:t>
            </a:r>
            <a:r>
              <a:rPr lang="en-US" sz="2000" dirty="0" smtClean="0"/>
              <a:t>")%&gt;</a:t>
            </a:r>
          </a:p>
          <a:p>
            <a:r>
              <a:rPr lang="en-US" sz="2000" dirty="0" smtClean="0"/>
              <a:t>&lt;/body&gt;</a:t>
            </a:r>
          </a:p>
          <a:p>
            <a:r>
              <a:rPr lang="en-US" sz="2000" dirty="0" smtClean="0"/>
              <a:t>&lt;/html&gt;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817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75" y="0"/>
            <a:ext cx="10515600" cy="1325563"/>
          </a:xfrm>
        </p:spPr>
        <p:txBody>
          <a:bodyPr/>
          <a:lstStyle/>
          <a:p>
            <a:r>
              <a:rPr lang="en-US" dirty="0" smtClean="0"/>
              <a:t>Passing Checkbox Data to JSP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75" y="1376175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 following code shows how to use the JSP page to get the checkbox data from a form.</a:t>
            </a:r>
          </a:p>
          <a:p>
            <a:r>
              <a:rPr lang="en-US" sz="2000" dirty="0" smtClean="0"/>
              <a:t>Here is the html form code. It uses the POST method and calls the </a:t>
            </a:r>
            <a:r>
              <a:rPr lang="en-US" sz="2000" dirty="0" err="1" smtClean="0"/>
              <a:t>main.jsp</a:t>
            </a:r>
            <a:r>
              <a:rPr lang="en-US" sz="2000" dirty="0" smtClean="0"/>
              <a:t> page.</a:t>
            </a:r>
          </a:p>
          <a:p>
            <a:pPr marL="457200" lvl="1" indent="0">
              <a:buNone/>
            </a:pPr>
            <a:r>
              <a:rPr lang="en-US" sz="2000" b="1" dirty="0" smtClean="0"/>
              <a:t>&lt;html&gt;</a:t>
            </a:r>
          </a:p>
          <a:p>
            <a:pPr marL="457200" lvl="1" indent="0">
              <a:buNone/>
            </a:pPr>
            <a:r>
              <a:rPr lang="en-US" sz="2000" b="1" dirty="0" smtClean="0"/>
              <a:t>&lt;body&gt;</a:t>
            </a:r>
          </a:p>
          <a:p>
            <a:pPr marL="457200" lvl="1" indent="0">
              <a:buNone/>
            </a:pPr>
            <a:r>
              <a:rPr lang="en-US" sz="2000" b="1" dirty="0" smtClean="0"/>
              <a:t>&lt;form action="</a:t>
            </a:r>
            <a:r>
              <a:rPr lang="en-US" sz="2000" b="1" dirty="0" err="1" smtClean="0"/>
              <a:t>main.jsp</a:t>
            </a:r>
            <a:r>
              <a:rPr lang="en-US" sz="2000" b="1" dirty="0" smtClean="0"/>
              <a:t>" method="POST" target="_blank"&gt;</a:t>
            </a:r>
          </a:p>
          <a:p>
            <a:pPr marL="457200" lvl="1" indent="0">
              <a:buNone/>
            </a:pPr>
            <a:r>
              <a:rPr lang="en-US" sz="2000" b="1" dirty="0" smtClean="0"/>
              <a:t>    &lt;input type="checkbox" name="a" checked="checked" /&gt; A</a:t>
            </a:r>
          </a:p>
          <a:p>
            <a:pPr marL="457200" lvl="1" indent="0">
              <a:buNone/>
            </a:pPr>
            <a:r>
              <a:rPr lang="en-US" sz="2000" b="1" dirty="0" smtClean="0"/>
              <a:t>    &lt;input type="checkbox" name="b"  /&gt; B</a:t>
            </a:r>
          </a:p>
          <a:p>
            <a:pPr marL="457200" lvl="1" indent="0">
              <a:buNone/>
            </a:pPr>
            <a:r>
              <a:rPr lang="en-US" sz="2000" b="1" dirty="0" smtClean="0"/>
              <a:t>    &lt;input type="checkbox" name="c" checked="checked" /&gt; C</a:t>
            </a:r>
          </a:p>
          <a:p>
            <a:pPr marL="457200" lvl="1" indent="0">
              <a:buNone/>
            </a:pPr>
            <a:r>
              <a:rPr lang="en-US" sz="2000" b="1" dirty="0" smtClean="0"/>
              <a:t>&lt;input type="submit" value="Select Subject" /&gt;</a:t>
            </a:r>
          </a:p>
          <a:p>
            <a:pPr marL="457200" lvl="1" indent="0">
              <a:buNone/>
            </a:pPr>
            <a:r>
              <a:rPr lang="en-US" sz="2000" b="1" dirty="0" smtClean="0"/>
              <a:t>&lt;/form&gt;</a:t>
            </a:r>
          </a:p>
          <a:p>
            <a:pPr marL="457200" lvl="1" indent="0">
              <a:buNone/>
            </a:pPr>
            <a:r>
              <a:rPr lang="en-US" sz="2000" b="1" dirty="0" smtClean="0"/>
              <a:t>&lt;/body&gt;</a:t>
            </a:r>
          </a:p>
          <a:p>
            <a:pPr marL="457200" lvl="1" indent="0">
              <a:buNone/>
            </a:pPr>
            <a:r>
              <a:rPr lang="en-US" sz="2000" b="1" dirty="0" smtClean="0"/>
              <a:t>&lt;/html&gt;</a:t>
            </a:r>
          </a:p>
          <a:p>
            <a:r>
              <a:rPr lang="en-US" sz="2000" dirty="0" smtClean="0"/>
              <a:t>The following is the </a:t>
            </a:r>
            <a:r>
              <a:rPr lang="en-US" sz="2000" dirty="0" err="1" smtClean="0"/>
              <a:t>main.jsp</a:t>
            </a:r>
            <a:r>
              <a:rPr lang="en-US" sz="2000" dirty="0" smtClean="0"/>
              <a:t> code to handle input for </a:t>
            </a:r>
          </a:p>
          <a:p>
            <a:pPr marL="0" indent="0">
              <a:buNone/>
            </a:pPr>
            <a:r>
              <a:rPr lang="en-US" sz="2000" dirty="0" smtClean="0"/>
              <a:t>checkbox button.</a:t>
            </a:r>
          </a:p>
          <a:p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5859651" y="4180344"/>
            <a:ext cx="667976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B0F0"/>
                </a:solidFill>
              </a:rPr>
              <a:t>&lt;html&gt;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&lt;body&gt;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&lt;b&gt;A Flag:&lt;/b&gt;&lt;%= </a:t>
            </a:r>
            <a:r>
              <a:rPr lang="en-US" sz="2400" dirty="0" err="1" smtClean="0">
                <a:solidFill>
                  <a:srgbClr val="00B0F0"/>
                </a:solidFill>
              </a:rPr>
              <a:t>request.getParameter</a:t>
            </a:r>
            <a:r>
              <a:rPr lang="en-US" sz="2400" dirty="0" smtClean="0">
                <a:solidFill>
                  <a:srgbClr val="00B0F0"/>
                </a:solidFill>
              </a:rPr>
              <a:t>("a")%&gt;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&lt;b&gt;B Flag:&lt;/b&gt;&lt;%= </a:t>
            </a:r>
            <a:r>
              <a:rPr lang="en-US" sz="2400" dirty="0" err="1" smtClean="0">
                <a:solidFill>
                  <a:srgbClr val="00B0F0"/>
                </a:solidFill>
              </a:rPr>
              <a:t>request.getParameter</a:t>
            </a:r>
            <a:r>
              <a:rPr lang="en-US" sz="2400" dirty="0" smtClean="0">
                <a:solidFill>
                  <a:srgbClr val="00B0F0"/>
                </a:solidFill>
              </a:rPr>
              <a:t>("b")%&gt;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&lt;b&gt;C Flag:&lt;/b&gt;&lt;%= </a:t>
            </a:r>
            <a:r>
              <a:rPr lang="en-US" sz="2400" dirty="0" err="1" smtClean="0">
                <a:solidFill>
                  <a:srgbClr val="00B0F0"/>
                </a:solidFill>
              </a:rPr>
              <a:t>request.getParameter</a:t>
            </a:r>
            <a:r>
              <a:rPr lang="en-US" sz="2400" dirty="0" smtClean="0">
                <a:solidFill>
                  <a:srgbClr val="00B0F0"/>
                </a:solidFill>
              </a:rPr>
              <a:t>("c")%&gt;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&lt;/body&gt;</a:t>
            </a:r>
          </a:p>
          <a:p>
            <a:r>
              <a:rPr lang="en-US" sz="2400" dirty="0" smtClean="0">
                <a:solidFill>
                  <a:srgbClr val="00B0F0"/>
                </a:solidFill>
              </a:rPr>
              <a:t>&lt;/html&gt;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53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1000</Words>
  <Application>Microsoft Office PowerPoint</Application>
  <PresentationFormat>Widescreen</PresentationFormat>
  <Paragraphs>158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JSP Examples</vt:lpstr>
      <vt:lpstr>Date Formatting using SimpleDateFormat</vt:lpstr>
      <vt:lpstr>example for JSP Declarations</vt:lpstr>
      <vt:lpstr>PowerPoint Presentation</vt:lpstr>
      <vt:lpstr>JSP Expression</vt:lpstr>
      <vt:lpstr>PowerPoint Presentation</vt:lpstr>
      <vt:lpstr>JSP Comment</vt:lpstr>
      <vt:lpstr>PowerPoint Presentation</vt:lpstr>
      <vt:lpstr>GET parameters from URL</vt:lpstr>
      <vt:lpstr>PowerPoint Presentation</vt:lpstr>
      <vt:lpstr>POST Method Example with Form</vt:lpstr>
      <vt:lpstr>Passing Checkbox Data to JSP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JSP Examples</dc:title>
  <dc:creator>Admin</dc:creator>
  <cp:lastModifiedBy>Admin</cp:lastModifiedBy>
  <cp:revision>12</cp:revision>
  <dcterms:created xsi:type="dcterms:W3CDTF">2019-02-16T06:47:45Z</dcterms:created>
  <dcterms:modified xsi:type="dcterms:W3CDTF">2019-02-16T09:28:30Z</dcterms:modified>
</cp:coreProperties>
</file>