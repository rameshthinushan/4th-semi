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9" autoAdjust="0"/>
    <p:restoredTop sz="94660"/>
  </p:normalViewPr>
  <p:slideViewPr>
    <p:cSldViewPr snapToGrid="0">
      <p:cViewPr varScale="1">
        <p:scale>
          <a:sx n="61" d="100"/>
          <a:sy n="61" d="100"/>
        </p:scale>
        <p:origin x="42" y="600"/>
      </p:cViewPr>
      <p:guideLst/>
    </p:cSldViewPr>
  </p:slideViewPr>
  <p:notesTextViewPr>
    <p:cViewPr>
      <p:scale>
        <a:sx n="1" d="1"/>
        <a:sy n="1" d="1"/>
      </p:scale>
      <p:origin x="0" y="0"/>
    </p:cViewPr>
  </p:notesTextViewPr>
  <p:notesViewPr>
    <p:cSldViewPr snapToGrid="0">
      <p:cViewPr varScale="1">
        <p:scale>
          <a:sx n="57" d="100"/>
          <a:sy n="57" d="100"/>
        </p:scale>
        <p:origin x="1782"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0857FE-12DE-4C06-82E2-2C49E112DAF9}" type="datetimeFigureOut">
              <a:rPr lang="en-US" smtClean="0"/>
              <a:t>2/2/2018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6B0133-4742-46ED-96A0-C8ACFB456A0F}" type="slidenum">
              <a:rPr lang="en-US" smtClean="0"/>
              <a:t>‹#›</a:t>
            </a:fld>
            <a:endParaRPr lang="en-US"/>
          </a:p>
        </p:txBody>
      </p:sp>
    </p:spTree>
    <p:extLst>
      <p:ext uri="{BB962C8B-B14F-4D97-AF65-F5344CB8AC3E}">
        <p14:creationId xmlns:p14="http://schemas.microsoft.com/office/powerpoint/2010/main" val="134722787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143834E-B529-4405-B388-D9566A3CCD55}" type="datetimeFigureOut">
              <a:rPr lang="en-US" smtClean="0"/>
              <a:t>2/2/2018</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EEACC0D-8F7E-4512-ADB6-E8C5A848253F}" type="slidenum">
              <a:rPr lang="en-US" smtClean="0"/>
              <a:t>‹#›</a:t>
            </a:fld>
            <a:endParaRPr lang="en-US"/>
          </a:p>
        </p:txBody>
      </p:sp>
    </p:spTree>
    <p:extLst>
      <p:ext uri="{BB962C8B-B14F-4D97-AF65-F5344CB8AC3E}">
        <p14:creationId xmlns:p14="http://schemas.microsoft.com/office/powerpoint/2010/main" val="1760618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normAutofit/>
          </a:bodyPr>
          <a:lstStyle>
            <a:lvl1pPr>
              <a:defRPr sz="3600"/>
            </a:lvl1pPr>
          </a:lstStyle>
          <a:p>
            <a:r>
              <a:rPr lang="en-US" dirty="0"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normAutofit/>
          </a:bodyPr>
          <a:lstStyle>
            <a:lvl1pPr>
              <a:defRPr sz="3200"/>
            </a:lvl1pPr>
            <a:lvl2pPr>
              <a:defRPr sz="3200"/>
            </a:lvl2pPr>
            <a:lvl3pPr>
              <a:defRPr sz="3200"/>
            </a:lvl3pPr>
            <a:lvl4pPr>
              <a:defRPr sz="3200"/>
            </a:lvl4pPr>
            <a:lvl5pPr>
              <a:defRPr sz="32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143834E-B529-4405-B388-D9566A3CCD55}" type="datetimeFigureOut">
              <a:rPr lang="en-US" smtClean="0"/>
              <a:t>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3767637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143834E-B529-4405-B388-D9566A3CCD55}" type="datetimeFigureOut">
              <a:rPr lang="en-US" smtClean="0"/>
              <a:t>2/2/2018</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EEACC0D-8F7E-4512-ADB6-E8C5A848253F}" type="slidenum">
              <a:rPr lang="en-US" smtClean="0"/>
              <a:t>‹#›</a:t>
            </a:fld>
            <a:endParaRPr lang="en-US"/>
          </a:p>
        </p:txBody>
      </p:sp>
    </p:spTree>
    <p:extLst>
      <p:ext uri="{BB962C8B-B14F-4D97-AF65-F5344CB8AC3E}">
        <p14:creationId xmlns:p14="http://schemas.microsoft.com/office/powerpoint/2010/main" val="4068845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143834E-B529-4405-B388-D9566A3CCD55}" type="datetimeFigureOut">
              <a:rPr lang="en-US" smtClean="0"/>
              <a:t>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1582048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143834E-B529-4405-B388-D9566A3CCD55}" type="datetimeFigureOut">
              <a:rPr lang="en-US" smtClean="0"/>
              <a:t>2/2/2018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1266812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143834E-B529-4405-B388-D9566A3CCD55}" type="datetimeFigureOut">
              <a:rPr lang="en-US" smtClean="0"/>
              <a:t>2/2/2018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244751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43834E-B529-4405-B388-D9566A3CCD55}" type="datetimeFigureOut">
              <a:rPr lang="en-US" smtClean="0"/>
              <a:t>2/2/2018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82669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143834E-B529-4405-B388-D9566A3CCD55}" type="datetimeFigureOut">
              <a:rPr lang="en-US" smtClean="0"/>
              <a:t>2/2/2018</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EEACC0D-8F7E-4512-ADB6-E8C5A848253F}" type="slidenum">
              <a:rPr lang="en-US" smtClean="0"/>
              <a:t>‹#›</a:t>
            </a:fld>
            <a:endParaRPr lang="en-US"/>
          </a:p>
        </p:txBody>
      </p:sp>
    </p:spTree>
    <p:extLst>
      <p:ext uri="{BB962C8B-B14F-4D97-AF65-F5344CB8AC3E}">
        <p14:creationId xmlns:p14="http://schemas.microsoft.com/office/powerpoint/2010/main" val="1669927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43834E-B529-4405-B388-D9566A3CCD55}" type="datetimeFigureOut">
              <a:rPr lang="en-US" smtClean="0"/>
              <a:t>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15956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43834E-B529-4405-B388-D9566A3CCD55}" type="datetimeFigureOut">
              <a:rPr lang="en-US" smtClean="0"/>
              <a:t>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ACC0D-8F7E-4512-ADB6-E8C5A848253F}" type="slidenum">
              <a:rPr lang="en-US" smtClean="0"/>
              <a:t>‹#›</a:t>
            </a:fld>
            <a:endParaRPr lang="en-US"/>
          </a:p>
        </p:txBody>
      </p:sp>
    </p:spTree>
    <p:extLst>
      <p:ext uri="{BB962C8B-B14F-4D97-AF65-F5344CB8AC3E}">
        <p14:creationId xmlns:p14="http://schemas.microsoft.com/office/powerpoint/2010/main" val="3275241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143834E-B529-4405-B388-D9566A3CCD55}" type="datetimeFigureOut">
              <a:rPr lang="en-US" smtClean="0"/>
              <a:t>2/2/2018</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EEACC0D-8F7E-4512-ADB6-E8C5A848253F}" type="slidenum">
              <a:rPr lang="en-US" smtClean="0"/>
              <a:t>‹#›</a:t>
            </a:fld>
            <a:endParaRPr lang="en-US"/>
          </a:p>
        </p:txBody>
      </p:sp>
    </p:spTree>
    <p:extLst>
      <p:ext uri="{BB962C8B-B14F-4D97-AF65-F5344CB8AC3E}">
        <p14:creationId xmlns:p14="http://schemas.microsoft.com/office/powerpoint/2010/main" val="137628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143834E-B529-4405-B388-D9566A3CCD55}" type="datetimeFigureOut">
              <a:rPr lang="en-US" smtClean="0"/>
              <a:t>2/2/2018</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EEACC0D-8F7E-4512-ADB6-E8C5A848253F}"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72326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Enterprise Java Bean</a:t>
            </a:r>
            <a:br>
              <a:rPr lang="en-US" dirty="0" smtClean="0"/>
            </a:br>
            <a:r>
              <a:rPr lang="en-US" dirty="0" err="1" smtClean="0"/>
              <a:t>ejb</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8558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an Enterprise Bean?</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Written in the Java programming language, an enterprise bean is a server-side component that encapsulates the business logic of an application. The business logic is the code that fulfills the purpose of the application. In an inventory control application, for example, the enterprise beans might implement the business logic in methods called </a:t>
            </a:r>
            <a:r>
              <a:rPr lang="en-US" dirty="0" err="1" smtClean="0"/>
              <a:t>checkInventoryLevel</a:t>
            </a:r>
            <a:r>
              <a:rPr lang="en-US" dirty="0" smtClean="0"/>
              <a:t> and </a:t>
            </a:r>
            <a:r>
              <a:rPr lang="en-US" dirty="0" err="1" smtClean="0"/>
              <a:t>orderProduct</a:t>
            </a:r>
            <a:r>
              <a:rPr lang="en-US" dirty="0" smtClean="0"/>
              <a:t>. By invoking these methods, clients can access the inventory services provided by the application.</a:t>
            </a:r>
            <a:endParaRPr lang="en-US" dirty="0"/>
          </a:p>
        </p:txBody>
      </p:sp>
    </p:spTree>
    <p:extLst>
      <p:ext uri="{BB962C8B-B14F-4D97-AF65-F5344CB8AC3E}">
        <p14:creationId xmlns:p14="http://schemas.microsoft.com/office/powerpoint/2010/main" val="24083761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Enterprise Beans</a:t>
            </a:r>
            <a:br>
              <a:rPr lang="en-US" dirty="0" smtClean="0"/>
            </a:br>
            <a:endParaRPr lang="en-US" dirty="0"/>
          </a:p>
        </p:txBody>
      </p:sp>
      <p:sp>
        <p:nvSpPr>
          <p:cNvPr id="3" name="Content Placeholder 2"/>
          <p:cNvSpPr>
            <a:spLocks noGrp="1"/>
          </p:cNvSpPr>
          <p:nvPr>
            <p:ph idx="1"/>
          </p:nvPr>
        </p:nvSpPr>
        <p:spPr/>
        <p:txBody>
          <a:bodyPr/>
          <a:lstStyle/>
          <a:p>
            <a:r>
              <a:rPr lang="en-US" dirty="0" smtClean="0"/>
              <a:t>For several reasons, enterprise beans simplify the development of large, distributed applications. First, because the EJB container provides system-level services to enterprise beans, the bean developer can concentrate on solving business problems. The EJB container, rather than the bean developer, is responsible for system-level services such as transaction management and security authorization.</a:t>
            </a:r>
            <a:endParaRPr lang="en-US" dirty="0"/>
          </a:p>
        </p:txBody>
      </p:sp>
    </p:spTree>
    <p:extLst>
      <p:ext uri="{BB962C8B-B14F-4D97-AF65-F5344CB8AC3E}">
        <p14:creationId xmlns:p14="http://schemas.microsoft.com/office/powerpoint/2010/main" val="16853948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Second, because the beans rather than the clients contain the application’s business logic, the client developer can focus on the presentation of the client. The client developer does not have to code the routines that implement business rules or access databases. As a result, the clients are thinner, a benefit that is particularly important for clients that run on small devices.</a:t>
            </a:r>
          </a:p>
        </p:txBody>
      </p:sp>
    </p:spTree>
    <p:extLst>
      <p:ext uri="{BB962C8B-B14F-4D97-AF65-F5344CB8AC3E}">
        <p14:creationId xmlns:p14="http://schemas.microsoft.com/office/powerpoint/2010/main" val="2369482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Third, because enterprise beans are portable components, the application assembler can build new applications from existing beans. These applications can run on any compliant Java EE server provided that they use the standard APIs.</a:t>
            </a:r>
          </a:p>
        </p:txBody>
      </p:sp>
    </p:spTree>
    <p:extLst>
      <p:ext uri="{BB962C8B-B14F-4D97-AF65-F5344CB8AC3E}">
        <p14:creationId xmlns:p14="http://schemas.microsoft.com/office/powerpoint/2010/main" val="407663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to Use Enterprise Beans</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You should consider using enterprise beans if your application has any of the following requirements:</a:t>
            </a:r>
          </a:p>
          <a:p>
            <a:endParaRPr lang="en-US" dirty="0" smtClean="0"/>
          </a:p>
          <a:p>
            <a:r>
              <a:rPr lang="en-US" dirty="0" smtClean="0"/>
              <a:t>The application must be scalable. To accommodate a growing number of users, you may need to distribute an application’s components across multiple machines. Not only can the enterprise beans of an application run on different machines, but also their location will remain transparent to the clients.</a:t>
            </a:r>
            <a:endParaRPr lang="en-US" dirty="0"/>
          </a:p>
        </p:txBody>
      </p:sp>
    </p:spTree>
    <p:extLst>
      <p:ext uri="{BB962C8B-B14F-4D97-AF65-F5344CB8AC3E}">
        <p14:creationId xmlns:p14="http://schemas.microsoft.com/office/powerpoint/2010/main" val="53104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Transactions must ensure data integrity. Enterprise beans support transactions, the mechanisms that manage the concurrent access of shared objects.</a:t>
            </a:r>
          </a:p>
          <a:p>
            <a:endParaRPr lang="en-US" dirty="0"/>
          </a:p>
          <a:p>
            <a:r>
              <a:rPr lang="en-US" dirty="0"/>
              <a:t>The application will have a variety of clients. With only a few lines of code, remote clients can easily locate enterprise beans. These clients can be thin, various, and numerous.</a:t>
            </a:r>
          </a:p>
        </p:txBody>
      </p:sp>
    </p:spTree>
    <p:extLst>
      <p:ext uri="{BB962C8B-B14F-4D97-AF65-F5344CB8AC3E}">
        <p14:creationId xmlns:p14="http://schemas.microsoft.com/office/powerpoint/2010/main" val="1161981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Enterprise Beans</a:t>
            </a:r>
            <a:br>
              <a:rPr lang="en-US" dirty="0"/>
            </a:br>
            <a:endParaRPr lang="en-US" dirty="0"/>
          </a:p>
        </p:txBody>
      </p:sp>
      <p:sp>
        <p:nvSpPr>
          <p:cNvPr id="3" name="Content Placeholder 2"/>
          <p:cNvSpPr>
            <a:spLocks noGrp="1"/>
          </p:cNvSpPr>
          <p:nvPr>
            <p:ph idx="1"/>
          </p:nvPr>
        </p:nvSpPr>
        <p:spPr>
          <a:xfrm>
            <a:off x="581193" y="1209056"/>
            <a:ext cx="11029615" cy="3678303"/>
          </a:xfrm>
        </p:spPr>
        <p:txBody>
          <a:bodyPr/>
          <a:lstStyle/>
          <a:p>
            <a:r>
              <a:rPr lang="en-US" dirty="0" smtClean="0"/>
              <a:t>Table </a:t>
            </a:r>
            <a:r>
              <a:rPr lang="en-US" dirty="0"/>
              <a:t>20-1 summarizes the two types of enterprise beans. The following sections discuss each type in more detail.</a:t>
            </a:r>
          </a:p>
          <a:p>
            <a:r>
              <a:rPr lang="en-US" dirty="0" smtClean="0"/>
              <a:t>Table </a:t>
            </a:r>
            <a:r>
              <a:rPr lang="en-US" dirty="0"/>
              <a:t>20-1 Enterprise Bean Types</a:t>
            </a:r>
          </a:p>
        </p:txBody>
      </p:sp>
      <p:graphicFrame>
        <p:nvGraphicFramePr>
          <p:cNvPr id="5" name="Table 4"/>
          <p:cNvGraphicFramePr>
            <a:graphicFrameLocks noGrp="1"/>
          </p:cNvGraphicFramePr>
          <p:nvPr>
            <p:extLst>
              <p:ext uri="{D42A27DB-BD31-4B8C-83A1-F6EECF244321}">
                <p14:modId xmlns:p14="http://schemas.microsoft.com/office/powerpoint/2010/main" val="3407074860"/>
              </p:ext>
            </p:extLst>
          </p:nvPr>
        </p:nvGraphicFramePr>
        <p:xfrm>
          <a:off x="1567052" y="3881519"/>
          <a:ext cx="8128000" cy="2011680"/>
        </p:xfrm>
        <a:graphic>
          <a:graphicData uri="http://schemas.openxmlformats.org/drawingml/2006/table">
            <a:tbl>
              <a:tblPr firstRow="1" bandRow="1">
                <a:tableStyleId>{5C22544A-7EE6-4342-B048-85BDC9FD1C3A}</a:tableStyleId>
              </a:tblPr>
              <a:tblGrid>
                <a:gridCol w="8128000"/>
              </a:tblGrid>
              <a:tr h="370840">
                <a:tc>
                  <a:txBody>
                    <a:bodyPr/>
                    <a:lstStyle/>
                    <a:p>
                      <a:r>
                        <a:rPr lang="en-US" dirty="0" smtClean="0"/>
                        <a:t>Enterprise Bean Type</a:t>
                      </a:r>
                    </a:p>
                    <a:p>
                      <a:endParaRPr lang="en-US" dirty="0" smtClean="0"/>
                    </a:p>
                    <a:p>
                      <a:r>
                        <a:rPr lang="en-US" dirty="0" smtClean="0"/>
                        <a:t>Session:  Performs a task for a client; optionally may implement a web service</a:t>
                      </a:r>
                    </a:p>
                    <a:p>
                      <a:endParaRPr lang="en-US" dirty="0" smtClean="0"/>
                    </a:p>
                    <a:p>
                      <a:r>
                        <a:rPr lang="en-US" dirty="0" smtClean="0"/>
                        <a:t>Message-Driven: Acts as a listener for a particular messaging type, such as the Java Message Service API</a:t>
                      </a:r>
                      <a:endParaRPr lang="en-US" dirty="0"/>
                    </a:p>
                  </a:txBody>
                  <a:tcPr/>
                </a:tc>
              </a:tr>
            </a:tbl>
          </a:graphicData>
        </a:graphic>
      </p:graphicFrame>
      <p:sp>
        <p:nvSpPr>
          <p:cNvPr id="6" name="Rectangle 5"/>
          <p:cNvSpPr/>
          <p:nvPr/>
        </p:nvSpPr>
        <p:spPr>
          <a:xfrm>
            <a:off x="219559" y="5903673"/>
            <a:ext cx="11752881" cy="830997"/>
          </a:xfrm>
          <a:prstGeom prst="rect">
            <a:avLst/>
          </a:prstGeom>
        </p:spPr>
        <p:txBody>
          <a:bodyPr wrap="square">
            <a:spAutoFit/>
          </a:bodyPr>
          <a:lstStyle/>
          <a:p>
            <a:r>
              <a:rPr lang="en-US" sz="2400" dirty="0" smtClean="0"/>
              <a:t> Entity beans have been replaced by Java Persistence API entities. For information about entities, see Chapter 24, Introduction to the Java Per</a:t>
            </a:r>
            <a:endParaRPr lang="en-US" sz="2400" dirty="0"/>
          </a:p>
        </p:txBody>
      </p:sp>
    </p:spTree>
    <p:extLst>
      <p:ext uri="{BB962C8B-B14F-4D97-AF65-F5344CB8AC3E}">
        <p14:creationId xmlns:p14="http://schemas.microsoft.com/office/powerpoint/2010/main" val="2680478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a Session Bean?</a:t>
            </a:r>
            <a:br>
              <a:rPr lang="en-US" dirty="0"/>
            </a:br>
            <a:endParaRPr lang="en-US" dirty="0"/>
          </a:p>
        </p:txBody>
      </p:sp>
      <p:sp>
        <p:nvSpPr>
          <p:cNvPr id="3" name="Content Placeholder 2"/>
          <p:cNvSpPr>
            <a:spLocks noGrp="1"/>
          </p:cNvSpPr>
          <p:nvPr>
            <p:ph idx="1"/>
          </p:nvPr>
        </p:nvSpPr>
        <p:spPr>
          <a:xfrm>
            <a:off x="581192" y="2397473"/>
            <a:ext cx="11029615" cy="3678303"/>
          </a:xfrm>
        </p:spPr>
        <p:txBody>
          <a:bodyPr>
            <a:noAutofit/>
          </a:bodyPr>
          <a:lstStyle/>
          <a:p>
            <a:r>
              <a:rPr lang="en-US" sz="2800" dirty="0" smtClean="0"/>
              <a:t>A </a:t>
            </a:r>
            <a:r>
              <a:rPr lang="en-US" sz="2800" dirty="0"/>
              <a:t>session bean represents a single client inside the Application Server. To access an application that is deployed on the server, the client invokes the session bean’s methods. The session bean performs work for its client, shielding the client from complexity by executing business tasks inside the server.</a:t>
            </a:r>
          </a:p>
          <a:p>
            <a:r>
              <a:rPr lang="en-US" sz="2800" dirty="0" smtClean="0"/>
              <a:t>As </a:t>
            </a:r>
            <a:r>
              <a:rPr lang="en-US" sz="2800" dirty="0"/>
              <a:t>its name suggests, a session bean is similar to an interactive session. A session bean is not shared; it can have only one client, in the same way that an interactive session can have only one user. Like an interactive session, a session bean is not persistent. (That is, its data is not saved to a database.) When the client terminates, its session bean appears to terminate and is no longer associated with the client.</a:t>
            </a:r>
          </a:p>
        </p:txBody>
      </p:sp>
    </p:spTree>
    <p:extLst>
      <p:ext uri="{BB962C8B-B14F-4D97-AF65-F5344CB8AC3E}">
        <p14:creationId xmlns:p14="http://schemas.microsoft.com/office/powerpoint/2010/main" val="252167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state </a:t>
            </a:r>
            <a:r>
              <a:rPr lang="en-US" dirty="0"/>
              <a:t>Management Modes</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There </a:t>
            </a:r>
            <a:r>
              <a:rPr lang="en-US" dirty="0"/>
              <a:t>are two types of session beans: </a:t>
            </a:r>
            <a:r>
              <a:rPr lang="en-US" dirty="0" err="1"/>
              <a:t>stateful</a:t>
            </a:r>
            <a:r>
              <a:rPr lang="en-US" dirty="0"/>
              <a:t> and stateless</a:t>
            </a:r>
            <a:r>
              <a:rPr lang="en-US" dirty="0" smtClean="0"/>
              <a:t>.</a:t>
            </a:r>
            <a:endParaRPr lang="en-US" dirty="0"/>
          </a:p>
        </p:txBody>
      </p:sp>
    </p:spTree>
    <p:extLst>
      <p:ext uri="{BB962C8B-B14F-4D97-AF65-F5344CB8AC3E}">
        <p14:creationId xmlns:p14="http://schemas.microsoft.com/office/powerpoint/2010/main" val="2922183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Stateful</a:t>
            </a:r>
            <a:r>
              <a:rPr lang="en-US" b="1" dirty="0"/>
              <a:t> Session Beans</a:t>
            </a:r>
            <a:br>
              <a:rPr lang="en-US" b="1" dirty="0"/>
            </a:br>
            <a:endParaRPr lang="en-US" dirty="0"/>
          </a:p>
        </p:txBody>
      </p:sp>
      <p:sp>
        <p:nvSpPr>
          <p:cNvPr id="3" name="Content Placeholder 2"/>
          <p:cNvSpPr>
            <a:spLocks noGrp="1"/>
          </p:cNvSpPr>
          <p:nvPr>
            <p:ph idx="1"/>
          </p:nvPr>
        </p:nvSpPr>
        <p:spPr>
          <a:xfrm>
            <a:off x="581193" y="2738435"/>
            <a:ext cx="11029615" cy="3678303"/>
          </a:xfrm>
        </p:spPr>
        <p:txBody>
          <a:bodyPr>
            <a:normAutofit fontScale="92500" lnSpcReduction="20000"/>
          </a:bodyPr>
          <a:lstStyle/>
          <a:p>
            <a:r>
              <a:rPr lang="en-US" dirty="0" smtClean="0"/>
              <a:t>The </a:t>
            </a:r>
            <a:r>
              <a:rPr lang="en-US" dirty="0"/>
              <a:t>state of an object consists of the values of its instance variables. In a </a:t>
            </a:r>
            <a:r>
              <a:rPr lang="en-US" dirty="0" err="1"/>
              <a:t>stateful</a:t>
            </a:r>
            <a:r>
              <a:rPr lang="en-US" dirty="0"/>
              <a:t> session bean, the instance variables represent the state of a unique client-bean session. Because the client interacts (“talks”) with its bean, this state is often called the conversational state.</a:t>
            </a:r>
          </a:p>
          <a:p>
            <a:r>
              <a:rPr lang="en-US" dirty="0"/>
              <a:t>The state is retained for the duration of the client-bean session. If the client removes the bean or terminates, the session ends and the state disappears. This transient nature of the state is not a problem, however, because when the conversation between the client and the bean ends there is no need to retain the state.</a:t>
            </a:r>
          </a:p>
          <a:p>
            <a:endParaRPr lang="en-US" dirty="0"/>
          </a:p>
        </p:txBody>
      </p:sp>
    </p:spTree>
    <p:extLst>
      <p:ext uri="{BB962C8B-B14F-4D97-AF65-F5344CB8AC3E}">
        <p14:creationId xmlns:p14="http://schemas.microsoft.com/office/powerpoint/2010/main" val="634292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Stateless Session Beans</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A</a:t>
            </a:r>
            <a:r>
              <a:rPr lang="en-US" dirty="0"/>
              <a:t> </a:t>
            </a:r>
            <a:r>
              <a:rPr lang="en-US" b="1" dirty="0"/>
              <a:t>stateless</a:t>
            </a:r>
            <a:r>
              <a:rPr lang="en-US" dirty="0"/>
              <a:t> session bean does not maintain a conversational state with the client. When a client invokes the methods of a stateless bean, the bean’s instance variables may contain a state specific to that client, but only for the duration of the invocation. When the method is finished, the client-specific state should not be retained. Clients may, however, change the state of instance variables in pooled stateless beans, and this state is held over to the next invocation of the pooled stateless bean. Except during method invocation, all instances of a stateless bean are equivalent, allowing the EJB container to assign an instance to any client. That is, the state of a stateless session bean should apply </a:t>
            </a:r>
            <a:r>
              <a:rPr lang="en-US" dirty="0" err="1"/>
              <a:t>accross</a:t>
            </a:r>
            <a:r>
              <a:rPr lang="en-US" dirty="0"/>
              <a:t> all clients.</a:t>
            </a:r>
          </a:p>
          <a:p>
            <a:r>
              <a:rPr lang="en-US" dirty="0"/>
              <a:t>Because stateless session beans can support multiple clients, they can offer better scalability for applications that require large numbers of clients. Typically, an application requires fewer stateless session beans than </a:t>
            </a:r>
            <a:r>
              <a:rPr lang="en-US" dirty="0" err="1"/>
              <a:t>stateful</a:t>
            </a:r>
            <a:r>
              <a:rPr lang="en-US" dirty="0"/>
              <a:t> session beans to support the same number of clients.</a:t>
            </a:r>
          </a:p>
          <a:p>
            <a:r>
              <a:rPr lang="en-US" dirty="0"/>
              <a:t>A stateless session bean can implement a web service, but other types of enterprise beans cannot.</a:t>
            </a:r>
          </a:p>
          <a:p>
            <a:endParaRPr lang="en-US" dirty="0"/>
          </a:p>
        </p:txBody>
      </p:sp>
    </p:spTree>
    <p:extLst>
      <p:ext uri="{BB962C8B-B14F-4D97-AF65-F5344CB8AC3E}">
        <p14:creationId xmlns:p14="http://schemas.microsoft.com/office/powerpoint/2010/main" val="2294535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When to Use Session Beans</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smtClean="0"/>
              <a:t>In </a:t>
            </a:r>
            <a:r>
              <a:rPr lang="en-US" dirty="0"/>
              <a:t>general, you should use a session bean if the following circumstances hold:</a:t>
            </a:r>
          </a:p>
          <a:p>
            <a:r>
              <a:rPr lang="en-US" dirty="0"/>
              <a:t>At any given time, only one client has access to the bean instance.</a:t>
            </a:r>
          </a:p>
          <a:p>
            <a:r>
              <a:rPr lang="en-US" dirty="0"/>
              <a:t>The state of the bean is not persistent, existing only for a short period (perhaps a few hours).</a:t>
            </a:r>
          </a:p>
          <a:p>
            <a:r>
              <a:rPr lang="en-US" dirty="0"/>
              <a:t>The bean implements a web service.</a:t>
            </a:r>
          </a:p>
          <a:p>
            <a:endParaRPr lang="en-US" dirty="0"/>
          </a:p>
        </p:txBody>
      </p:sp>
    </p:spTree>
    <p:extLst>
      <p:ext uri="{BB962C8B-B14F-4D97-AF65-F5344CB8AC3E}">
        <p14:creationId xmlns:p14="http://schemas.microsoft.com/office/powerpoint/2010/main" val="2055741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981125"/>
            <a:ext cx="11029616" cy="1013800"/>
          </a:xfrm>
        </p:spPr>
        <p:txBody>
          <a:bodyPr/>
          <a:lstStyle/>
          <a:p>
            <a:endParaRPr lang="en-US"/>
          </a:p>
        </p:txBody>
      </p:sp>
      <p:sp>
        <p:nvSpPr>
          <p:cNvPr id="3" name="Content Placeholder 2"/>
          <p:cNvSpPr>
            <a:spLocks noGrp="1"/>
          </p:cNvSpPr>
          <p:nvPr>
            <p:ph idx="1"/>
          </p:nvPr>
        </p:nvSpPr>
        <p:spPr>
          <a:xfrm>
            <a:off x="581192" y="1488025"/>
            <a:ext cx="11029615" cy="5680129"/>
          </a:xfrm>
        </p:spPr>
        <p:txBody>
          <a:bodyPr>
            <a:noAutofit/>
          </a:bodyPr>
          <a:lstStyle/>
          <a:p>
            <a:r>
              <a:rPr lang="en-US" sz="2000" dirty="0" err="1"/>
              <a:t>Stateful</a:t>
            </a:r>
            <a:r>
              <a:rPr lang="en-US" sz="2000" dirty="0"/>
              <a:t> session beans are appropriate if any of the following conditions are true:</a:t>
            </a:r>
          </a:p>
          <a:p>
            <a:r>
              <a:rPr lang="en-US" sz="2000" dirty="0" smtClean="0"/>
              <a:t>The </a:t>
            </a:r>
            <a:r>
              <a:rPr lang="en-US" sz="2000" dirty="0"/>
              <a:t>bean’s state represents the interaction between the bean and a specific client.</a:t>
            </a:r>
          </a:p>
          <a:p>
            <a:r>
              <a:rPr lang="en-US" sz="2000" dirty="0" smtClean="0"/>
              <a:t>The bean </a:t>
            </a:r>
            <a:r>
              <a:rPr lang="en-US" sz="2000" dirty="0"/>
              <a:t>needs to hold information about the client across method invocations.</a:t>
            </a:r>
          </a:p>
          <a:p>
            <a:r>
              <a:rPr lang="en-US" sz="2000" dirty="0" smtClean="0"/>
              <a:t>The </a:t>
            </a:r>
            <a:r>
              <a:rPr lang="en-US" sz="2000" dirty="0"/>
              <a:t>bean mediates between the client and the other components of the application, presenting a simplified view to the client.</a:t>
            </a:r>
          </a:p>
          <a:p>
            <a:r>
              <a:rPr lang="en-US" sz="2000" dirty="0" smtClean="0"/>
              <a:t>Behind </a:t>
            </a:r>
            <a:r>
              <a:rPr lang="en-US" sz="2000" dirty="0"/>
              <a:t>the scenes, the bean manages the work flow of several enterprise beans. For an example, see the </a:t>
            </a:r>
            <a:r>
              <a:rPr lang="en-US" sz="2000" dirty="0" err="1"/>
              <a:t>AccountControllerBean</a:t>
            </a:r>
            <a:r>
              <a:rPr lang="en-US" sz="2000" dirty="0"/>
              <a:t> session bean in Chapter 37, </a:t>
            </a:r>
            <a:r>
              <a:rPr lang="en-US" sz="2000" dirty="0" smtClean="0"/>
              <a:t>The </a:t>
            </a:r>
            <a:r>
              <a:rPr lang="en-US" sz="2000" dirty="0"/>
              <a:t>Duke's Bank Application.</a:t>
            </a:r>
          </a:p>
          <a:p>
            <a:r>
              <a:rPr lang="en-US" sz="2000" dirty="0" smtClean="0"/>
              <a:t>To </a:t>
            </a:r>
            <a:r>
              <a:rPr lang="en-US" sz="2000" dirty="0"/>
              <a:t>improve performance, you might choose a stateless session bean if it has any of these traits:</a:t>
            </a:r>
          </a:p>
          <a:p>
            <a:r>
              <a:rPr lang="en-US" sz="2000" dirty="0" smtClean="0"/>
              <a:t>The </a:t>
            </a:r>
            <a:r>
              <a:rPr lang="en-US" sz="2000" dirty="0"/>
              <a:t>bean’s state has no data for a specific client.</a:t>
            </a:r>
          </a:p>
          <a:p>
            <a:r>
              <a:rPr lang="en-US" sz="2000" dirty="0" smtClean="0"/>
              <a:t>In </a:t>
            </a:r>
            <a:r>
              <a:rPr lang="en-US" sz="2000" dirty="0"/>
              <a:t>a single method invocation, the bean performs a generic task for all clients. For example, you might use a stateless session bean to send an email that confirms an online order.</a:t>
            </a:r>
          </a:p>
        </p:txBody>
      </p:sp>
    </p:spTree>
    <p:extLst>
      <p:ext uri="{BB962C8B-B14F-4D97-AF65-F5344CB8AC3E}">
        <p14:creationId xmlns:p14="http://schemas.microsoft.com/office/powerpoint/2010/main" val="918762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a Message-Driven Bean?</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a:t>
            </a:r>
            <a:r>
              <a:rPr lang="en-US" dirty="0"/>
              <a:t>message-driven bean is an enterprise bean that allows Java EE applications to process messages asynchronously. It normally acts as a JMS message listener, which is similar to an event listener except that it receives JMS messages instead of events. The messages can be sent by any Java EE component (an application client, another enterprise bean, or a web component) or by a JMS application or system that does not use Java EE technology. Message-driven beans can process JMS messages or other kinds of messages.</a:t>
            </a:r>
          </a:p>
        </p:txBody>
      </p:sp>
    </p:spTree>
    <p:extLst>
      <p:ext uri="{BB962C8B-B14F-4D97-AF65-F5344CB8AC3E}">
        <p14:creationId xmlns:p14="http://schemas.microsoft.com/office/powerpoint/2010/main" val="2890627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Makes Message-Driven Beans Different from Session Beans</a:t>
            </a:r>
            <a:r>
              <a:rPr lang="en-US" dirty="0" smtClean="0"/>
              <a:t>?</a:t>
            </a: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The </a:t>
            </a:r>
            <a:r>
              <a:rPr lang="en-US" dirty="0"/>
              <a:t>most visible difference between message-driven beans and session beans is that clients do not access message-driven beans through interfaces. Interfaces are described in the section Defining Client Access with Interfaces. Unlike a session bean, a message-driven bean has only a bean class.</a:t>
            </a:r>
          </a:p>
          <a:p>
            <a:endParaRPr lang="en-US" dirty="0"/>
          </a:p>
          <a:p>
            <a:r>
              <a:rPr lang="en-US" dirty="0"/>
              <a:t>In several respects, a message-driven bean resembles a stateless session bean.</a:t>
            </a:r>
          </a:p>
          <a:p>
            <a:endParaRPr lang="en-US" dirty="0"/>
          </a:p>
          <a:p>
            <a:r>
              <a:rPr lang="en-US" dirty="0"/>
              <a:t>A message-driven bean’s instances retain no data or conversational state for a specific client.</a:t>
            </a:r>
          </a:p>
          <a:p>
            <a:endParaRPr lang="en-US" dirty="0"/>
          </a:p>
          <a:p>
            <a:r>
              <a:rPr lang="en-US" dirty="0"/>
              <a:t>All instances of a message-driven bean are equivalent, allowing the EJB container to assign a message to any message-driven bean instance. The container can pool these instances to allow streams of messages to be processed concurrently.</a:t>
            </a:r>
          </a:p>
          <a:p>
            <a:endParaRPr lang="en-US" dirty="0"/>
          </a:p>
          <a:p>
            <a:r>
              <a:rPr lang="en-US" dirty="0"/>
              <a:t>A single message-driven bean can process messages from multiple clients.</a:t>
            </a:r>
          </a:p>
        </p:txBody>
      </p:sp>
    </p:spTree>
    <p:extLst>
      <p:ext uri="{BB962C8B-B14F-4D97-AF65-F5344CB8AC3E}">
        <p14:creationId xmlns:p14="http://schemas.microsoft.com/office/powerpoint/2010/main" val="117865061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10</TotalTime>
  <Words>1221</Words>
  <Application>Microsoft Office PowerPoint</Application>
  <PresentationFormat>Widescreen</PresentationFormat>
  <Paragraphs>60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Gill Sans MT</vt:lpstr>
      <vt:lpstr>Wingdings 2</vt:lpstr>
      <vt:lpstr>Dividend</vt:lpstr>
      <vt:lpstr>Enterprise Java Bean ejb</vt:lpstr>
      <vt:lpstr>What Is an Enterprise Bean? </vt:lpstr>
      <vt:lpstr>Benefits of Enterprise Beans </vt:lpstr>
      <vt:lpstr>PowerPoint Presentation</vt:lpstr>
      <vt:lpstr>PowerPoint Presentation</vt:lpstr>
      <vt:lpstr>When to Use Enterprise Beans </vt:lpstr>
      <vt:lpstr>PowerPoint Presentation</vt:lpstr>
      <vt:lpstr>Types of Enterprise Beans </vt:lpstr>
      <vt:lpstr>What Is a Session Bean? </vt:lpstr>
      <vt:lpstr>state Management Modes </vt:lpstr>
      <vt:lpstr>Stateful Session Beans </vt:lpstr>
      <vt:lpstr>Stateless Session Beans </vt:lpstr>
      <vt:lpstr>When to Use Session Beans </vt:lpstr>
      <vt:lpstr>PowerPoint Presentation</vt:lpstr>
      <vt:lpstr>What Is a Message-Driven Bean? </vt:lpstr>
      <vt:lpstr>What Makes Message-Driven Beans Different from Session Beans?</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Java Bean ejb</dc:title>
  <dc:creator>Admin</dc:creator>
  <cp:lastModifiedBy>Admin</cp:lastModifiedBy>
  <cp:revision>2</cp:revision>
  <dcterms:created xsi:type="dcterms:W3CDTF">2018-02-02T05:46:39Z</dcterms:created>
  <dcterms:modified xsi:type="dcterms:W3CDTF">2018-02-02T05:57:31Z</dcterms:modified>
</cp:coreProperties>
</file>