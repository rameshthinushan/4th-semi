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5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61" d="100"/>
          <a:sy n="61" d="100"/>
        </p:scale>
        <p:origin x="3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E5368E-22F5-4555-8F69-B38CBC06D5BD}" type="datetimeFigureOut">
              <a:rPr lang="en-US" smtClean="0"/>
              <a:t>2/23/2019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F77FF-426A-46F9-9A8E-FA7526107412}" type="slidenum">
              <a:rPr lang="en-US" smtClean="0"/>
              <a:t>‹#›</a:t>
            </a:fld>
            <a:endParaRPr lang="en-US"/>
          </a:p>
        </p:txBody>
      </p:sp>
    </p:spTree>
    <p:extLst>
      <p:ext uri="{BB962C8B-B14F-4D97-AF65-F5344CB8AC3E}">
        <p14:creationId xmlns:p14="http://schemas.microsoft.com/office/powerpoint/2010/main" val="3481539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Narrow" panose="020B0606020202030204" pitchFamily="34" charset="0"/>
                <a:ea typeface="MS PGothic" panose="020B0600070205080204" pitchFamily="34" charset="-128"/>
              </a:defRPr>
            </a:lvl1pPr>
            <a:lvl2pPr marL="742950" indent="-285750">
              <a:spcBef>
                <a:spcPct val="30000"/>
              </a:spcBef>
              <a:defRPr kumimoji="1" sz="1200">
                <a:solidFill>
                  <a:schemeClr val="tx1"/>
                </a:solidFill>
                <a:latin typeface="Arial Narrow" panose="020B0606020202030204" pitchFamily="34" charset="0"/>
                <a:ea typeface="MS PGothic" panose="020B0600070205080204" pitchFamily="34" charset="-128"/>
              </a:defRPr>
            </a:lvl2pPr>
            <a:lvl3pPr marL="1143000" indent="-228600">
              <a:spcBef>
                <a:spcPct val="30000"/>
              </a:spcBef>
              <a:defRPr kumimoji="1" sz="1200">
                <a:solidFill>
                  <a:schemeClr val="tx1"/>
                </a:solidFill>
                <a:latin typeface="Arial Narrow" panose="020B0606020202030204" pitchFamily="34" charset="0"/>
                <a:ea typeface="MS PGothic" panose="020B0600070205080204" pitchFamily="34" charset="-128"/>
              </a:defRPr>
            </a:lvl3pPr>
            <a:lvl4pPr marL="1600200" indent="-228600">
              <a:spcBef>
                <a:spcPct val="30000"/>
              </a:spcBef>
              <a:defRPr kumimoji="1" sz="1200">
                <a:solidFill>
                  <a:schemeClr val="tx1"/>
                </a:solidFill>
                <a:latin typeface="Arial Narrow" panose="020B0606020202030204" pitchFamily="34" charset="0"/>
                <a:ea typeface="MS PGothic" panose="020B0600070205080204" pitchFamily="34" charset="-128"/>
              </a:defRPr>
            </a:lvl4pPr>
            <a:lvl5pPr marL="2057400" indent="-228600">
              <a:spcBef>
                <a:spcPct val="30000"/>
              </a:spcBef>
              <a:defRPr kumimoji="1" sz="12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30000"/>
              </a:spcBef>
              <a:spcAft>
                <a:spcPct val="0"/>
              </a:spcAft>
              <a:defRPr kumimoji="1" sz="12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30000"/>
              </a:spcBef>
              <a:spcAft>
                <a:spcPct val="0"/>
              </a:spcAft>
              <a:defRPr kumimoji="1" sz="12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30000"/>
              </a:spcBef>
              <a:spcAft>
                <a:spcPct val="0"/>
              </a:spcAft>
              <a:defRPr kumimoji="1" sz="12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30000"/>
              </a:spcBef>
              <a:spcAft>
                <a:spcPct val="0"/>
              </a:spcAft>
              <a:defRPr kumimoji="1" sz="1200">
                <a:solidFill>
                  <a:schemeClr val="tx1"/>
                </a:solidFill>
                <a:latin typeface="Arial Narrow" panose="020B0606020202030204" pitchFamily="34" charset="0"/>
                <a:ea typeface="MS PGothic" panose="020B0600070205080204" pitchFamily="34" charset="-128"/>
              </a:defRPr>
            </a:lvl9pPr>
          </a:lstStyle>
          <a:p>
            <a:pPr>
              <a:spcBef>
                <a:spcPct val="0"/>
              </a:spcBef>
            </a:pPr>
            <a:fld id="{145FC645-5031-4EF4-B189-5159FE9F44C0}" type="slidenum">
              <a:rPr kumimoji="0" lang="eu-ES" altLang="en-US" smtClean="0"/>
              <a:pPr>
                <a:spcBef>
                  <a:spcPct val="0"/>
                </a:spcBef>
              </a:pPr>
              <a:t>6</a:t>
            </a:fld>
            <a:endParaRPr kumimoji="0" lang="eu-ES" altLang="en-US" smtClean="0"/>
          </a:p>
        </p:txBody>
      </p:sp>
      <p:sp>
        <p:nvSpPr>
          <p:cNvPr id="27651" name="Rectangle 2"/>
          <p:cNvSpPr>
            <a:spLocks noRo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u-ES" altLang="en-US" smtClean="0"/>
          </a:p>
        </p:txBody>
      </p:sp>
    </p:spTree>
    <p:extLst>
      <p:ext uri="{BB962C8B-B14F-4D97-AF65-F5344CB8AC3E}">
        <p14:creationId xmlns:p14="http://schemas.microsoft.com/office/powerpoint/2010/main" val="3593315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E95C32-F010-4E10-A090-6035A73BB496}" type="datetimeFigureOut">
              <a:rPr lang="en-US" smtClean="0"/>
              <a:t>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987836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E95C32-F010-4E10-A090-6035A73BB496}" type="datetimeFigureOut">
              <a:rPr lang="en-US" smtClean="0"/>
              <a:t>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1928951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E95C32-F010-4E10-A090-6035A73BB496}" type="datetimeFigureOut">
              <a:rPr lang="en-US" smtClean="0"/>
              <a:t>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2506945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5E95C32-F010-4E10-A090-6035A73BB496}" type="datetimeFigureOut">
              <a:rPr lang="en-US" smtClean="0"/>
              <a:t>2/23/2019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1528911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5E95C32-F010-4E10-A090-6035A73BB496}" type="datetimeFigureOut">
              <a:rPr lang="en-US" smtClean="0"/>
              <a:t>2/23/2019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2552751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5E95C32-F010-4E10-A090-6035A73BB496}" type="datetimeFigureOut">
              <a:rPr lang="en-US" smtClean="0"/>
              <a:t>2/23/2019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2111482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E95C32-F010-4E10-A090-6035A73BB496}" type="datetimeFigureOut">
              <a:rPr lang="en-US" smtClean="0"/>
              <a:t>2/23/2019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1653101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E95C32-F010-4E10-A090-6035A73BB496}" type="datetimeFigureOut">
              <a:rPr lang="en-US" smtClean="0"/>
              <a:t>2/23/2019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328199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E95C32-F010-4E10-A090-6035A73BB496}" type="datetimeFigureOut">
              <a:rPr lang="en-US" smtClean="0"/>
              <a:t>2/23/2019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2124888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E95C32-F010-4E10-A090-6035A73BB496}" type="datetimeFigureOut">
              <a:rPr lang="en-US" smtClean="0"/>
              <a:t>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3980737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E95C32-F010-4E10-A090-6035A73BB496}" type="datetimeFigureOut">
              <a:rPr lang="en-US" smtClean="0"/>
              <a:t>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580E3A-77CE-4367-86E5-34D62C05BC0C}" type="slidenum">
              <a:rPr lang="en-US" smtClean="0"/>
              <a:t>‹#›</a:t>
            </a:fld>
            <a:endParaRPr lang="en-US"/>
          </a:p>
        </p:txBody>
      </p:sp>
    </p:spTree>
    <p:extLst>
      <p:ext uri="{BB962C8B-B14F-4D97-AF65-F5344CB8AC3E}">
        <p14:creationId xmlns:p14="http://schemas.microsoft.com/office/powerpoint/2010/main" val="422120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E95C32-F010-4E10-A090-6035A73BB496}" type="datetimeFigureOut">
              <a:rPr lang="en-US" smtClean="0"/>
              <a:t>2/23/2019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580E3A-77CE-4367-86E5-34D62C05BC0C}" type="slidenum">
              <a:rPr lang="en-US" smtClean="0"/>
              <a:t>‹#›</a:t>
            </a:fld>
            <a:endParaRPr lang="en-US"/>
          </a:p>
        </p:txBody>
      </p:sp>
    </p:spTree>
    <p:extLst>
      <p:ext uri="{BB962C8B-B14F-4D97-AF65-F5344CB8AC3E}">
        <p14:creationId xmlns:p14="http://schemas.microsoft.com/office/powerpoint/2010/main" val="2112992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MVC </a:t>
            </a:r>
            <a:br>
              <a:rPr lang="en-US" dirty="0" smtClean="0"/>
            </a:br>
            <a:r>
              <a:rPr lang="en-US" dirty="0" smtClean="0"/>
              <a:t>and </a:t>
            </a:r>
            <a:br>
              <a:rPr lang="en-US" dirty="0" smtClean="0"/>
            </a:br>
            <a:r>
              <a:rPr lang="en-US" dirty="0" smtClean="0"/>
              <a:t>other </a:t>
            </a:r>
            <a:r>
              <a:rPr lang="en-US" dirty="0" err="1" smtClean="0"/>
              <a:t>framworks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25989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smtClean="0"/>
              <a:t>Model View Controller (MVC)</a:t>
            </a:r>
          </a:p>
        </p:txBody>
      </p:sp>
      <p:sp>
        <p:nvSpPr>
          <p:cNvPr id="14339" name="Rectangle 3"/>
          <p:cNvSpPr>
            <a:spLocks noGrp="1" noChangeArrowheads="1"/>
          </p:cNvSpPr>
          <p:nvPr>
            <p:ph type="body" idx="1"/>
          </p:nvPr>
        </p:nvSpPr>
        <p:spPr/>
        <p:txBody>
          <a:bodyPr/>
          <a:lstStyle/>
          <a:p>
            <a:r>
              <a:rPr lang="en-US" altLang="en-US"/>
              <a:t>The intent of MVC is to keep neatly separate objects into one of tree categories</a:t>
            </a:r>
          </a:p>
          <a:p>
            <a:pPr lvl="1"/>
            <a:r>
              <a:rPr lang="en-US" altLang="en-US"/>
              <a:t>Model</a:t>
            </a:r>
          </a:p>
          <a:p>
            <a:pPr lvl="2"/>
            <a:r>
              <a:rPr lang="en-US" altLang="en-US"/>
              <a:t>The data, the business logic, rules, strategies, and so on</a:t>
            </a:r>
          </a:p>
          <a:p>
            <a:pPr lvl="1"/>
            <a:r>
              <a:rPr lang="en-US" altLang="en-US"/>
              <a:t>View</a:t>
            </a:r>
          </a:p>
          <a:p>
            <a:pPr lvl="2"/>
            <a:r>
              <a:rPr lang="en-US" altLang="en-US"/>
              <a:t>Displays the model and usually has components that allows user to edit change the model</a:t>
            </a:r>
          </a:p>
          <a:p>
            <a:pPr lvl="1"/>
            <a:r>
              <a:rPr lang="en-US" altLang="en-US"/>
              <a:t>Controller</a:t>
            </a:r>
          </a:p>
          <a:p>
            <a:pPr lvl="2"/>
            <a:r>
              <a:rPr lang="en-US" altLang="en-US"/>
              <a:t>Allows data to flow between the view and the model </a:t>
            </a:r>
          </a:p>
          <a:p>
            <a:pPr lvl="2"/>
            <a:r>
              <a:rPr lang="en-US" altLang="en-US"/>
              <a:t>The controller mediates between the view and model</a:t>
            </a:r>
            <a:endParaRPr lang="en-US" altLang="en-US" b="1"/>
          </a:p>
        </p:txBody>
      </p:sp>
    </p:spTree>
    <p:extLst>
      <p:ext uri="{BB962C8B-B14F-4D97-AF65-F5344CB8AC3E}">
        <p14:creationId xmlns:p14="http://schemas.microsoft.com/office/powerpoint/2010/main" val="2961417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678113" y="723900"/>
            <a:ext cx="7772400" cy="609600"/>
          </a:xfrm>
        </p:spPr>
        <p:txBody>
          <a:bodyPr>
            <a:normAutofit fontScale="90000"/>
          </a:bodyPr>
          <a:lstStyle/>
          <a:p>
            <a:r>
              <a:rPr lang="en-US" altLang="en-US" smtClean="0"/>
              <a:t>Model</a:t>
            </a:r>
          </a:p>
        </p:txBody>
      </p:sp>
      <p:sp>
        <p:nvSpPr>
          <p:cNvPr id="15363" name="Rectangle 3"/>
          <p:cNvSpPr>
            <a:spLocks noGrp="1" noChangeArrowheads="1"/>
          </p:cNvSpPr>
          <p:nvPr>
            <p:ph type="body" idx="1"/>
          </p:nvPr>
        </p:nvSpPr>
        <p:spPr/>
        <p:txBody>
          <a:bodyPr/>
          <a:lstStyle/>
          <a:p>
            <a:r>
              <a:rPr lang="en-US" altLang="en-US" smtClean="0"/>
              <a:t>The Model's responsibilities</a:t>
            </a:r>
          </a:p>
          <a:p>
            <a:pPr lvl="1"/>
            <a:r>
              <a:rPr lang="en-US" altLang="en-US" smtClean="0"/>
              <a:t>Provide access to the state of the system</a:t>
            </a:r>
          </a:p>
          <a:p>
            <a:pPr lvl="1"/>
            <a:r>
              <a:rPr lang="en-US" altLang="en-US" smtClean="0"/>
              <a:t>Provide access to the system's functionality</a:t>
            </a:r>
          </a:p>
          <a:p>
            <a:pPr lvl="1"/>
            <a:r>
              <a:rPr lang="en-US" altLang="en-US" smtClean="0"/>
              <a:t>Can notify the view(s) that its state has changed</a:t>
            </a:r>
          </a:p>
        </p:txBody>
      </p:sp>
    </p:spTree>
    <p:extLst>
      <p:ext uri="{BB962C8B-B14F-4D97-AF65-F5344CB8AC3E}">
        <p14:creationId xmlns:p14="http://schemas.microsoft.com/office/powerpoint/2010/main" val="1272880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678113" y="723900"/>
            <a:ext cx="7772400" cy="609600"/>
          </a:xfrm>
        </p:spPr>
        <p:txBody>
          <a:bodyPr>
            <a:normAutofit fontScale="90000"/>
          </a:bodyPr>
          <a:lstStyle/>
          <a:p>
            <a:r>
              <a:rPr lang="en-US" altLang="en-US" smtClean="0"/>
              <a:t>View</a:t>
            </a:r>
          </a:p>
        </p:txBody>
      </p:sp>
      <p:sp>
        <p:nvSpPr>
          <p:cNvPr id="16387" name="Rectangle 3"/>
          <p:cNvSpPr>
            <a:spLocks noGrp="1" noChangeArrowheads="1"/>
          </p:cNvSpPr>
          <p:nvPr>
            <p:ph type="body" idx="1"/>
          </p:nvPr>
        </p:nvSpPr>
        <p:spPr/>
        <p:txBody>
          <a:bodyPr/>
          <a:lstStyle/>
          <a:p>
            <a:r>
              <a:rPr lang="en-US" altLang="en-US" smtClean="0"/>
              <a:t>The view's responsibilities</a:t>
            </a:r>
          </a:p>
          <a:p>
            <a:pPr lvl="1"/>
            <a:r>
              <a:rPr lang="en-US" altLang="en-US" smtClean="0"/>
              <a:t>Display the state of the model to the user</a:t>
            </a:r>
          </a:p>
          <a:p>
            <a:r>
              <a:rPr lang="en-US" altLang="en-US" smtClean="0"/>
              <a:t>At some point, the model (a.k.a. the observable) must registers the views (a.k.a. observers) so the model can notify the observers that its state has changed</a:t>
            </a:r>
          </a:p>
          <a:p>
            <a:pPr lvl="2"/>
            <a:endParaRPr lang="en-US" altLang="en-US" smtClean="0"/>
          </a:p>
          <a:p>
            <a:endParaRPr lang="en-US" altLang="en-US" smtClean="0"/>
          </a:p>
        </p:txBody>
      </p:sp>
    </p:spTree>
    <p:extLst>
      <p:ext uri="{BB962C8B-B14F-4D97-AF65-F5344CB8AC3E}">
        <p14:creationId xmlns:p14="http://schemas.microsoft.com/office/powerpoint/2010/main" val="2128934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678113" y="723900"/>
            <a:ext cx="7772400" cy="609600"/>
          </a:xfrm>
        </p:spPr>
        <p:txBody>
          <a:bodyPr>
            <a:normAutofit fontScale="90000"/>
          </a:bodyPr>
          <a:lstStyle/>
          <a:p>
            <a:r>
              <a:rPr lang="en-US" altLang="en-US" smtClean="0"/>
              <a:t>Controller</a:t>
            </a:r>
          </a:p>
        </p:txBody>
      </p:sp>
      <p:sp>
        <p:nvSpPr>
          <p:cNvPr id="17411" name="Rectangle 3"/>
          <p:cNvSpPr>
            <a:spLocks noGrp="1" noChangeArrowheads="1"/>
          </p:cNvSpPr>
          <p:nvPr>
            <p:ph type="body" idx="1"/>
          </p:nvPr>
        </p:nvSpPr>
        <p:spPr/>
        <p:txBody>
          <a:bodyPr/>
          <a:lstStyle/>
          <a:p>
            <a:r>
              <a:rPr lang="en-US" altLang="en-US" smtClean="0"/>
              <a:t>The controller's responsibilities</a:t>
            </a:r>
          </a:p>
          <a:p>
            <a:pPr lvl="1"/>
            <a:r>
              <a:rPr lang="en-US" altLang="en-US" smtClean="0"/>
              <a:t>Accept user input</a:t>
            </a:r>
          </a:p>
          <a:p>
            <a:pPr lvl="2"/>
            <a:r>
              <a:rPr lang="en-US" altLang="en-US" smtClean="0"/>
              <a:t>Button clicks, key presses, mouse movements, slider bar changes</a:t>
            </a:r>
          </a:p>
          <a:p>
            <a:pPr lvl="1"/>
            <a:r>
              <a:rPr lang="en-US" altLang="en-US" smtClean="0"/>
              <a:t>Send messages to the model, which may in turn notify it observers</a:t>
            </a:r>
          </a:p>
          <a:p>
            <a:pPr lvl="1"/>
            <a:r>
              <a:rPr lang="en-US" altLang="en-US" smtClean="0"/>
              <a:t>Send appropriate messages to the view </a:t>
            </a:r>
          </a:p>
          <a:p>
            <a:r>
              <a:rPr lang="en-US" altLang="en-US" smtClean="0"/>
              <a:t>In Java, listeners are controllers</a:t>
            </a:r>
          </a:p>
        </p:txBody>
      </p:sp>
    </p:spTree>
    <p:extLst>
      <p:ext uri="{BB962C8B-B14F-4D97-AF65-F5344CB8AC3E}">
        <p14:creationId xmlns:p14="http://schemas.microsoft.com/office/powerpoint/2010/main" val="823901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mtClean="0"/>
              <a:t>MVC Benefits</a:t>
            </a:r>
            <a:endParaRPr lang="eu-ES" altLang="en-US" smtClean="0"/>
          </a:p>
        </p:txBody>
      </p:sp>
      <p:sp>
        <p:nvSpPr>
          <p:cNvPr id="26627" name="Rectangle 3"/>
          <p:cNvSpPr>
            <a:spLocks noGrp="1" noChangeArrowheads="1"/>
          </p:cNvSpPr>
          <p:nvPr>
            <p:ph type="body" idx="1"/>
          </p:nvPr>
        </p:nvSpPr>
        <p:spPr/>
        <p:txBody>
          <a:bodyPr/>
          <a:lstStyle/>
          <a:p>
            <a:pPr eaLnBrk="1" hangingPunct="1">
              <a:lnSpc>
                <a:spcPct val="90000"/>
              </a:lnSpc>
            </a:pPr>
            <a:r>
              <a:rPr lang="en-US" altLang="en-US" smtClean="0"/>
              <a:t>Clarity of design</a:t>
            </a:r>
          </a:p>
          <a:p>
            <a:pPr lvl="1" eaLnBrk="1" hangingPunct="1">
              <a:lnSpc>
                <a:spcPct val="90000"/>
              </a:lnSpc>
            </a:pPr>
            <a:r>
              <a:rPr lang="en-US" altLang="en-US" smtClean="0"/>
              <a:t>easier to implement and maintain</a:t>
            </a:r>
          </a:p>
          <a:p>
            <a:pPr eaLnBrk="1" hangingPunct="1">
              <a:lnSpc>
                <a:spcPct val="90000"/>
              </a:lnSpc>
            </a:pPr>
            <a:r>
              <a:rPr lang="en-US" altLang="en-US" smtClean="0"/>
              <a:t>Modularity</a:t>
            </a:r>
          </a:p>
          <a:p>
            <a:pPr lvl="1" eaLnBrk="1" hangingPunct="1">
              <a:lnSpc>
                <a:spcPct val="90000"/>
              </a:lnSpc>
            </a:pPr>
            <a:r>
              <a:rPr lang="en-US" altLang="en-US" smtClean="0"/>
              <a:t>changes to one doesn't affect other modules</a:t>
            </a:r>
          </a:p>
          <a:p>
            <a:pPr lvl="1" eaLnBrk="1" hangingPunct="1">
              <a:lnSpc>
                <a:spcPct val="90000"/>
              </a:lnSpc>
            </a:pPr>
            <a:r>
              <a:rPr lang="en-US" altLang="en-US" smtClean="0"/>
              <a:t>can develop in parallel once you have the interfaces</a:t>
            </a:r>
          </a:p>
          <a:p>
            <a:pPr eaLnBrk="1" hangingPunct="1">
              <a:lnSpc>
                <a:spcPct val="90000"/>
              </a:lnSpc>
            </a:pPr>
            <a:r>
              <a:rPr lang="en-US" altLang="en-US" smtClean="0"/>
              <a:t>Multiple views</a:t>
            </a:r>
          </a:p>
          <a:p>
            <a:pPr lvl="1" eaLnBrk="1" hangingPunct="1">
              <a:lnSpc>
                <a:spcPct val="90000"/>
              </a:lnSpc>
            </a:pPr>
            <a:r>
              <a:rPr lang="en-US" altLang="en-US" smtClean="0"/>
              <a:t>spreadsheets, powerpoint, file browsers, games, Eclipse, UML reverse engineering, ….</a:t>
            </a:r>
            <a:endParaRPr lang="eu-ES" altLang="en-US" smtClean="0"/>
          </a:p>
        </p:txBody>
      </p:sp>
      <p:sp>
        <p:nvSpPr>
          <p:cNvPr id="2662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3"/>
              </a:buBlip>
              <a:defRPr sz="3200">
                <a:solidFill>
                  <a:schemeClr val="tx1"/>
                </a:solidFill>
                <a:latin typeface="Arial Narrow" panose="020B0606020202030204" pitchFamily="34" charset="0"/>
                <a:ea typeface="MS PGothic" panose="020B0600070205080204" pitchFamily="34" charset="-128"/>
              </a:defRPr>
            </a:lvl1pPr>
            <a:lvl2pPr marL="742950" indent="-285750">
              <a:spcBef>
                <a:spcPct val="20000"/>
              </a:spcBef>
              <a:buChar char="–"/>
              <a:defRPr sz="2800">
                <a:solidFill>
                  <a:schemeClr val="tx1"/>
                </a:solidFill>
                <a:latin typeface="Arial Narrow" panose="020B0606020202030204" pitchFamily="34" charset="0"/>
                <a:ea typeface="MS PGothic" panose="020B0600070205080204" pitchFamily="34" charset="-128"/>
              </a:defRPr>
            </a:lvl2pPr>
            <a:lvl3pPr marL="1143000" indent="-228600">
              <a:spcBef>
                <a:spcPct val="20000"/>
              </a:spcBef>
              <a:buChar char="•"/>
              <a:defRPr sz="2400">
                <a:solidFill>
                  <a:schemeClr val="tx1"/>
                </a:solidFill>
                <a:latin typeface="Arial Narrow" panose="020B0606020202030204" pitchFamily="34" charset="0"/>
                <a:ea typeface="MS PGothic" panose="020B0600070205080204" pitchFamily="34" charset="-128"/>
              </a:defRPr>
            </a:lvl3pPr>
            <a:lvl4pPr marL="1600200" indent="-228600">
              <a:spcBef>
                <a:spcPct val="20000"/>
              </a:spcBef>
              <a:buChar char="–"/>
              <a:defRPr sz="2000">
                <a:solidFill>
                  <a:schemeClr val="tx1"/>
                </a:solidFill>
                <a:latin typeface="Arial Narrow" panose="020B0606020202030204" pitchFamily="34" charset="0"/>
                <a:ea typeface="MS PGothic" panose="020B0600070205080204" pitchFamily="34" charset="-128"/>
              </a:defRPr>
            </a:lvl4pPr>
            <a:lvl5pPr marL="2057400" indent="-228600">
              <a:spcBef>
                <a:spcPct val="20000"/>
              </a:spcBef>
              <a:buChar char="»"/>
              <a:defRPr sz="2000">
                <a:solidFill>
                  <a:schemeClr val="tx1"/>
                </a:solidFill>
                <a:latin typeface="Arial Narrow" panose="020B060602020203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Narrow" panose="020B060602020203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Narrow" panose="020B060602020203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Narrow" panose="020B060602020203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Narrow" panose="020B0606020202030204" pitchFamily="34" charset="0"/>
                <a:ea typeface="MS PGothic" panose="020B0600070205080204" pitchFamily="34" charset="-128"/>
              </a:defRPr>
            </a:lvl9pPr>
          </a:lstStyle>
          <a:p>
            <a:pPr>
              <a:spcBef>
                <a:spcPct val="0"/>
              </a:spcBef>
              <a:buFontTx/>
              <a:buNone/>
            </a:pPr>
            <a:fld id="{DAE12951-ADF5-4D8E-9F0E-FD1E39432669}" type="slidenum">
              <a:rPr lang="en-US" altLang="en-US" sz="1400"/>
              <a:pPr>
                <a:spcBef>
                  <a:spcPct val="0"/>
                </a:spcBef>
                <a:buFontTx/>
                <a:buNone/>
              </a:pPr>
              <a:t>6</a:t>
            </a:fld>
            <a:endParaRPr lang="en-US" altLang="en-US" sz="1400"/>
          </a:p>
        </p:txBody>
      </p:sp>
    </p:spTree>
    <p:extLst>
      <p:ext uri="{BB962C8B-B14F-4D97-AF65-F5344CB8AC3E}">
        <p14:creationId xmlns:p14="http://schemas.microsoft.com/office/powerpoint/2010/main" val="40705321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Hibernate </a:t>
            </a:r>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rotWithShape="1">
          <a:blip r:embed="rId2"/>
          <a:srcRect l="24726" t="10167" r="53102" b="78917"/>
          <a:stretch/>
        </p:blipFill>
        <p:spPr>
          <a:xfrm>
            <a:off x="8796269" y="323872"/>
            <a:ext cx="2884869" cy="798491"/>
          </a:xfrm>
          <a:prstGeom prst="rect">
            <a:avLst/>
          </a:prstGeom>
        </p:spPr>
      </p:pic>
    </p:spTree>
    <p:extLst>
      <p:ext uri="{BB962C8B-B14F-4D97-AF65-F5344CB8AC3E}">
        <p14:creationId xmlns:p14="http://schemas.microsoft.com/office/powerpoint/2010/main" val="1345369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Hibernate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Hibernate is an </a:t>
            </a:r>
            <a:r>
              <a:rPr lang="en-US" dirty="0" smtClean="0">
                <a:solidFill>
                  <a:schemeClr val="accent4">
                    <a:lumMod val="75000"/>
                  </a:schemeClr>
                </a:solidFill>
              </a:rPr>
              <a:t>Object-Relational Mapping (ORM) </a:t>
            </a:r>
            <a:r>
              <a:rPr lang="en-US" dirty="0" smtClean="0"/>
              <a:t>solution for JAVA. It is an open source persistent framework created by Gavin King in 2001. It is a powerful, high performance Object-Relational Persistence and Query service for any Java Application.</a:t>
            </a:r>
          </a:p>
          <a:p>
            <a:endParaRPr lang="en-US" dirty="0" smtClean="0"/>
          </a:p>
          <a:p>
            <a:r>
              <a:rPr lang="en-US" dirty="0" smtClean="0"/>
              <a:t>Hibernate maps Java classes to database tables and from Java data types to SQL data types and relieves the developer from 95% of common data persistence related programming tasks.</a:t>
            </a:r>
          </a:p>
          <a:p>
            <a:endParaRPr lang="en-US" dirty="0" smtClean="0"/>
          </a:p>
          <a:p>
            <a:r>
              <a:rPr lang="en-US" dirty="0" smtClean="0"/>
              <a:t>Hibernate sits between traditional Java objects and database server to handle all the works in persisting those objects based on the appropriate O/R mechanisms and patterns.</a:t>
            </a:r>
            <a:endParaRPr lang="en-US" dirty="0"/>
          </a:p>
        </p:txBody>
      </p:sp>
      <p:pic>
        <p:nvPicPr>
          <p:cNvPr id="4" name="Picture 3"/>
          <p:cNvPicPr>
            <a:picLocks noChangeAspect="1"/>
          </p:cNvPicPr>
          <p:nvPr/>
        </p:nvPicPr>
        <p:blipFill>
          <a:blip r:embed="rId2"/>
          <a:stretch>
            <a:fillRect/>
          </a:stretch>
        </p:blipFill>
        <p:spPr>
          <a:xfrm>
            <a:off x="5121163" y="230188"/>
            <a:ext cx="4448175" cy="1314450"/>
          </a:xfrm>
          <a:prstGeom prst="rect">
            <a:avLst/>
          </a:prstGeom>
        </p:spPr>
      </p:pic>
    </p:spTree>
    <p:extLst>
      <p:ext uri="{BB962C8B-B14F-4D97-AF65-F5344CB8AC3E}">
        <p14:creationId xmlns:p14="http://schemas.microsoft.com/office/powerpoint/2010/main" val="4033058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Hibernate Advantages</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Hibernate takes care of mapping Java classes to database tables using XML files and without writing any line of code.</a:t>
            </a:r>
          </a:p>
          <a:p>
            <a:r>
              <a:rPr lang="en-US" dirty="0" smtClean="0"/>
              <a:t>Provides simple APIs for storing and retrieving Java objects directly to and from the database.</a:t>
            </a:r>
          </a:p>
          <a:p>
            <a:r>
              <a:rPr lang="en-US" dirty="0" smtClean="0"/>
              <a:t>If there is change in the database or in any table, then you need to change the XML file properties only.</a:t>
            </a:r>
          </a:p>
          <a:p>
            <a:r>
              <a:rPr lang="en-US" dirty="0" smtClean="0"/>
              <a:t>Abstracts away the unfamiliar SQL types and provides a way to work around familiar Java Objects.</a:t>
            </a:r>
          </a:p>
          <a:p>
            <a:r>
              <a:rPr lang="en-US" dirty="0" smtClean="0"/>
              <a:t>Hibernate does not require an application server to operate.</a:t>
            </a:r>
          </a:p>
          <a:p>
            <a:r>
              <a:rPr lang="en-US" dirty="0" smtClean="0"/>
              <a:t>Manipulates Complex associations of objects of your database.</a:t>
            </a:r>
          </a:p>
          <a:p>
            <a:r>
              <a:rPr lang="en-US" dirty="0" smtClean="0"/>
              <a:t>Minimizes database access with smart fetching strategies.</a:t>
            </a:r>
          </a:p>
          <a:p>
            <a:r>
              <a:rPr lang="en-US" dirty="0" smtClean="0"/>
              <a:t>Provides simple querying of data.</a:t>
            </a:r>
            <a:endParaRPr lang="en-US" dirty="0"/>
          </a:p>
        </p:txBody>
      </p:sp>
    </p:spTree>
    <p:extLst>
      <p:ext uri="{BB962C8B-B14F-4D97-AF65-F5344CB8AC3E}">
        <p14:creationId xmlns:p14="http://schemas.microsoft.com/office/powerpoint/2010/main" val="646429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Supported Databases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Hibernate supports almost all the major RDBMS. Following is a list of few of the database engines supported by Hibernate −</a:t>
            </a:r>
          </a:p>
          <a:p>
            <a:endParaRPr lang="en-US" dirty="0" smtClean="0"/>
          </a:p>
          <a:p>
            <a:r>
              <a:rPr lang="en-US" dirty="0" smtClean="0"/>
              <a:t>HSQL Database Engine</a:t>
            </a:r>
          </a:p>
          <a:p>
            <a:r>
              <a:rPr lang="en-US" dirty="0" smtClean="0"/>
              <a:t>DB2/NT</a:t>
            </a:r>
          </a:p>
          <a:p>
            <a:r>
              <a:rPr lang="en-US" dirty="0" smtClean="0"/>
              <a:t>MySQL</a:t>
            </a:r>
          </a:p>
          <a:p>
            <a:r>
              <a:rPr lang="en-US" dirty="0" err="1" smtClean="0"/>
              <a:t>PostgreSQL</a:t>
            </a:r>
            <a:endParaRPr lang="en-US" dirty="0" smtClean="0"/>
          </a:p>
          <a:p>
            <a:r>
              <a:rPr lang="en-US" dirty="0" err="1" smtClean="0"/>
              <a:t>FrontBase</a:t>
            </a:r>
            <a:endParaRPr lang="en-US" dirty="0" smtClean="0"/>
          </a:p>
          <a:p>
            <a:r>
              <a:rPr lang="en-US" dirty="0" smtClean="0"/>
              <a:t>Oracle</a:t>
            </a:r>
          </a:p>
          <a:p>
            <a:r>
              <a:rPr lang="en-US" dirty="0" smtClean="0"/>
              <a:t>Microsoft SQL Server Database</a:t>
            </a:r>
          </a:p>
          <a:p>
            <a:r>
              <a:rPr lang="en-US" dirty="0" smtClean="0"/>
              <a:t>Sybase SQL Server</a:t>
            </a:r>
          </a:p>
          <a:p>
            <a:r>
              <a:rPr lang="en-US" dirty="0" smtClean="0"/>
              <a:t>Informix Dynamic Server</a:t>
            </a:r>
            <a:endParaRPr lang="en-US" dirty="0"/>
          </a:p>
        </p:txBody>
      </p:sp>
    </p:spTree>
    <p:extLst>
      <p:ext uri="{BB962C8B-B14F-4D97-AF65-F5344CB8AC3E}">
        <p14:creationId xmlns:p14="http://schemas.microsoft.com/office/powerpoint/2010/main" val="589925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Supported Technologies</a:t>
            </a:r>
            <a:endParaRPr lang="en-US" dirty="0"/>
          </a:p>
        </p:txBody>
      </p:sp>
      <p:sp>
        <p:nvSpPr>
          <p:cNvPr id="3" name="Content Placeholder 2"/>
          <p:cNvSpPr>
            <a:spLocks noGrp="1"/>
          </p:cNvSpPr>
          <p:nvPr>
            <p:ph idx="1"/>
          </p:nvPr>
        </p:nvSpPr>
        <p:spPr/>
        <p:txBody>
          <a:bodyPr/>
          <a:lstStyle/>
          <a:p>
            <a:r>
              <a:rPr lang="en-US" dirty="0" smtClean="0"/>
              <a:t>Hibernate supports a variety of other technologies, including −</a:t>
            </a:r>
          </a:p>
          <a:p>
            <a:endParaRPr lang="en-US" dirty="0" smtClean="0"/>
          </a:p>
          <a:p>
            <a:r>
              <a:rPr lang="en-US" dirty="0" err="1" smtClean="0"/>
              <a:t>XDoclet</a:t>
            </a:r>
            <a:r>
              <a:rPr lang="en-US" dirty="0" smtClean="0"/>
              <a:t> Spring</a:t>
            </a:r>
          </a:p>
          <a:p>
            <a:r>
              <a:rPr lang="en-US" dirty="0" smtClean="0"/>
              <a:t>J2EE</a:t>
            </a:r>
          </a:p>
          <a:p>
            <a:r>
              <a:rPr lang="en-US" dirty="0" smtClean="0"/>
              <a:t>Eclipse plug-ins</a:t>
            </a:r>
          </a:p>
          <a:p>
            <a:r>
              <a:rPr lang="en-US" dirty="0" smtClean="0"/>
              <a:t>Maven</a:t>
            </a:r>
            <a:endParaRPr lang="en-US" dirty="0"/>
          </a:p>
        </p:txBody>
      </p:sp>
    </p:spTree>
    <p:extLst>
      <p:ext uri="{BB962C8B-B14F-4D97-AF65-F5344CB8AC3E}">
        <p14:creationId xmlns:p14="http://schemas.microsoft.com/office/powerpoint/2010/main" val="445362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https://www.tutorialspoint.com/hibernate/hibernate_overview.htm</a:t>
            </a:r>
            <a:endParaRPr lang="en-US" dirty="0"/>
          </a:p>
        </p:txBody>
      </p:sp>
    </p:spTree>
    <p:extLst>
      <p:ext uri="{BB962C8B-B14F-4D97-AF65-F5344CB8AC3E}">
        <p14:creationId xmlns:p14="http://schemas.microsoft.com/office/powerpoint/2010/main" val="889759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Spring framework </a:t>
            </a:r>
            <a:endParaRPr lang="en-US" dirty="0"/>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995759" y="231775"/>
            <a:ext cx="2571750" cy="1781175"/>
          </a:xfrm>
          <a:prstGeom prst="rect">
            <a:avLst/>
          </a:prstGeom>
        </p:spPr>
      </p:pic>
    </p:spTree>
    <p:extLst>
      <p:ext uri="{BB962C8B-B14F-4D97-AF65-F5344CB8AC3E}">
        <p14:creationId xmlns:p14="http://schemas.microsoft.com/office/powerpoint/2010/main" val="2829431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Spring</a:t>
            </a:r>
            <a:endParaRPr lang="en-US" dirty="0"/>
          </a:p>
        </p:txBody>
      </p:sp>
      <p:sp>
        <p:nvSpPr>
          <p:cNvPr id="3" name="Content Placeholder 2"/>
          <p:cNvSpPr>
            <a:spLocks noGrp="1"/>
          </p:cNvSpPr>
          <p:nvPr>
            <p:ph idx="1"/>
          </p:nvPr>
        </p:nvSpPr>
        <p:spPr/>
        <p:txBody>
          <a:bodyPr>
            <a:normAutofit fontScale="85000" lnSpcReduction="20000"/>
          </a:bodyPr>
          <a:lstStyle/>
          <a:p>
            <a:r>
              <a:rPr lang="en-US" dirty="0"/>
              <a:t>Spring is the most popular application development framework for enterprise Java. Millions of developers around the world use </a:t>
            </a:r>
            <a:r>
              <a:rPr lang="en-US" b="1" dirty="0">
                <a:solidFill>
                  <a:schemeClr val="accent4">
                    <a:lumMod val="75000"/>
                  </a:schemeClr>
                </a:solidFill>
              </a:rPr>
              <a:t>Spring Framework to create high performing, easily testable, and reusable code</a:t>
            </a:r>
            <a:r>
              <a:rPr lang="en-US" dirty="0"/>
              <a:t>.</a:t>
            </a:r>
          </a:p>
          <a:p>
            <a:r>
              <a:rPr lang="en-US" dirty="0"/>
              <a:t>Spring framework is an open source Java platform. It was initially written by Rod Johnson and was first released under the Apache 2.0 license in June 2003.</a:t>
            </a:r>
          </a:p>
          <a:p>
            <a:r>
              <a:rPr lang="en-US" dirty="0"/>
              <a:t>Spring is lightweight when it comes to size and transparency. The basic version of Spring framework is around 2MB.</a:t>
            </a:r>
          </a:p>
          <a:p>
            <a:r>
              <a:rPr lang="en-US" dirty="0"/>
              <a:t>The core features of the Spring Framework can be used in developing any Java application, but there are extensions for building web applications on top of the Java EE platform. Spring framework targets to make J2EE development easier to use and promotes good programming practices by enabling a </a:t>
            </a:r>
            <a:r>
              <a:rPr lang="en-US" dirty="0">
                <a:solidFill>
                  <a:schemeClr val="accent4">
                    <a:lumMod val="75000"/>
                  </a:schemeClr>
                </a:solidFill>
              </a:rPr>
              <a:t>POJO-based programming model</a:t>
            </a:r>
            <a:r>
              <a:rPr lang="en-US" dirty="0"/>
              <a:t>. </a:t>
            </a:r>
            <a:endParaRPr lang="en-US" dirty="0" smtClean="0"/>
          </a:p>
          <a:p>
            <a:r>
              <a:rPr lang="en-US" dirty="0" smtClean="0"/>
              <a:t>(</a:t>
            </a:r>
            <a:r>
              <a:rPr lang="en-US" dirty="0"/>
              <a:t>POJO means Plain Old Java Object. It refers to a Java object (instance of definition) that isn't bogged down by framework extensions</a:t>
            </a:r>
            <a:r>
              <a:rPr lang="en-US" dirty="0" smtClean="0"/>
              <a:t>. </a:t>
            </a:r>
            <a:r>
              <a:rPr lang="en-US" smtClean="0"/>
              <a:t>)</a:t>
            </a:r>
            <a:endParaRPr lang="en-US" dirty="0"/>
          </a:p>
        </p:txBody>
      </p:sp>
    </p:spTree>
    <p:extLst>
      <p:ext uri="{BB962C8B-B14F-4D97-AF65-F5344CB8AC3E}">
        <p14:creationId xmlns:p14="http://schemas.microsoft.com/office/powerpoint/2010/main" val="2533353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Benefits of Using the Spring Framework</a:t>
            </a:r>
            <a:endParaRPr lang="en-US" dirty="0"/>
          </a:p>
        </p:txBody>
      </p:sp>
      <p:sp>
        <p:nvSpPr>
          <p:cNvPr id="3" name="Content Placeholder 2"/>
          <p:cNvSpPr>
            <a:spLocks noGrp="1"/>
          </p:cNvSpPr>
          <p:nvPr>
            <p:ph idx="1"/>
          </p:nvPr>
        </p:nvSpPr>
        <p:spPr>
          <a:xfrm>
            <a:off x="580622" y="2112136"/>
            <a:ext cx="10515600" cy="5159532"/>
          </a:xfrm>
        </p:spPr>
        <p:txBody>
          <a:bodyPr>
            <a:normAutofit/>
          </a:bodyPr>
          <a:lstStyle/>
          <a:p>
            <a:r>
              <a:rPr lang="en-US" sz="2400" b="1" dirty="0" smtClean="0">
                <a:solidFill>
                  <a:schemeClr val="accent4">
                    <a:lumMod val="75000"/>
                  </a:schemeClr>
                </a:solidFill>
              </a:rPr>
              <a:t>Spring </a:t>
            </a:r>
            <a:r>
              <a:rPr lang="en-US" sz="2400" b="1" dirty="0">
                <a:solidFill>
                  <a:schemeClr val="accent4">
                    <a:lumMod val="75000"/>
                  </a:schemeClr>
                </a:solidFill>
              </a:rPr>
              <a:t>enables developers to develop enterprise-class applications using POJOs</a:t>
            </a:r>
            <a:r>
              <a:rPr lang="en-US" sz="2400" dirty="0"/>
              <a:t>. </a:t>
            </a:r>
            <a:endParaRPr lang="en-US" sz="2400" dirty="0" smtClean="0"/>
          </a:p>
          <a:p>
            <a:pPr lvl="1"/>
            <a:r>
              <a:rPr lang="en-US" sz="2000" dirty="0" smtClean="0"/>
              <a:t>The </a:t>
            </a:r>
            <a:r>
              <a:rPr lang="en-US" sz="2000" dirty="0"/>
              <a:t>benefit of using only POJOs is that you do not need an EJB container product such as an application server but you have the option of using only a robust servlet container such as Tomcat or some commercial product.</a:t>
            </a:r>
          </a:p>
          <a:p>
            <a:r>
              <a:rPr lang="en-US" sz="2400" b="1" dirty="0">
                <a:solidFill>
                  <a:schemeClr val="accent4">
                    <a:lumMod val="75000"/>
                  </a:schemeClr>
                </a:solidFill>
              </a:rPr>
              <a:t>Spring is organized in a modular fashion</a:t>
            </a:r>
            <a:r>
              <a:rPr lang="en-US" sz="2400" dirty="0"/>
              <a:t>. </a:t>
            </a:r>
            <a:endParaRPr lang="en-US" sz="2400" dirty="0" smtClean="0"/>
          </a:p>
          <a:p>
            <a:pPr lvl="1"/>
            <a:r>
              <a:rPr lang="en-US" sz="2000" dirty="0" smtClean="0"/>
              <a:t>Even </a:t>
            </a:r>
            <a:r>
              <a:rPr lang="en-US" sz="2000" dirty="0"/>
              <a:t>though the number of packages and classes are substantial, you have to worry only about the ones you need and ignore the rest</a:t>
            </a:r>
            <a:r>
              <a:rPr lang="en-US" sz="2000" dirty="0" smtClean="0"/>
              <a:t>.</a:t>
            </a:r>
            <a:endParaRPr lang="en-US" sz="2000" dirty="0"/>
          </a:p>
          <a:p>
            <a:r>
              <a:rPr lang="en-US" sz="2400" b="1" dirty="0" smtClean="0">
                <a:solidFill>
                  <a:schemeClr val="accent4">
                    <a:lumMod val="75000"/>
                  </a:schemeClr>
                </a:solidFill>
              </a:rPr>
              <a:t>Testing an application written with Spring is simple </a:t>
            </a:r>
          </a:p>
          <a:p>
            <a:pPr lvl="1"/>
            <a:r>
              <a:rPr lang="en-US" sz="2000" dirty="0" smtClean="0"/>
              <a:t>because environment-dependent code is moved into this framework. Furthermore, by using </a:t>
            </a:r>
            <a:r>
              <a:rPr lang="en-US" sz="2000" dirty="0" err="1" smtClean="0"/>
              <a:t>JavaBeanstyle</a:t>
            </a:r>
            <a:r>
              <a:rPr lang="en-US" sz="2000" dirty="0" smtClean="0"/>
              <a:t> POJOs, it becomes easier to use dependency injection for injecting test data.</a:t>
            </a:r>
          </a:p>
          <a:p>
            <a:endParaRPr lang="en-US" dirty="0"/>
          </a:p>
        </p:txBody>
      </p:sp>
    </p:spTree>
    <p:extLst>
      <p:ext uri="{BB962C8B-B14F-4D97-AF65-F5344CB8AC3E}">
        <p14:creationId xmlns:p14="http://schemas.microsoft.com/office/powerpoint/2010/main" val="2767930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048" y="1698468"/>
            <a:ext cx="10515600" cy="5159532"/>
          </a:xfrm>
        </p:spPr>
        <p:txBody>
          <a:bodyPr>
            <a:normAutofit lnSpcReduction="10000"/>
          </a:bodyPr>
          <a:lstStyle/>
          <a:p>
            <a:r>
              <a:rPr lang="en-US" dirty="0" smtClean="0"/>
              <a:t>Spring's </a:t>
            </a:r>
            <a:r>
              <a:rPr lang="en-US" dirty="0"/>
              <a:t>web framework is a well-designed web MVC framework, which provides a great alternative to web frameworks such as Struts or other over-engineered or less popular web frameworks.</a:t>
            </a:r>
          </a:p>
          <a:p>
            <a:r>
              <a:rPr lang="en-US" dirty="0"/>
              <a:t>Spring provides a convenient API to translate technology-specific exceptions (thrown by JDBC, Hibernate, or JDO, for example) into consistent, unchecked exceptions.</a:t>
            </a:r>
          </a:p>
          <a:p>
            <a:r>
              <a:rPr lang="en-US" dirty="0"/>
              <a:t>Lightweight </a:t>
            </a:r>
            <a:r>
              <a:rPr lang="en-US" dirty="0" err="1"/>
              <a:t>IoC</a:t>
            </a:r>
            <a:r>
              <a:rPr lang="en-US" dirty="0"/>
              <a:t> containers tend to be lightweight, especially when compared to EJB containers, for example. This is beneficial for developing and deploying applications on computers with limited memory and CPU resources.</a:t>
            </a:r>
          </a:p>
          <a:p>
            <a:r>
              <a:rPr lang="en-US" dirty="0"/>
              <a:t>Spring provides a consistent transaction management interface that can scale down to a local transaction (using a single database, for example) and scale up to global transactions (using JTA, for example)</a:t>
            </a:r>
          </a:p>
          <a:p>
            <a:endParaRPr lang="en-US" dirty="0"/>
          </a:p>
        </p:txBody>
      </p:sp>
    </p:spTree>
    <p:extLst>
      <p:ext uri="{BB962C8B-B14F-4D97-AF65-F5344CB8AC3E}">
        <p14:creationId xmlns:p14="http://schemas.microsoft.com/office/powerpoint/2010/main" val="2517970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Dependency Injection (DI)</a:t>
            </a:r>
            <a:br>
              <a:rPr lang="en-US" dirty="0" smtClean="0"/>
            </a:br>
            <a:endParaRPr lang="en-US" dirty="0"/>
          </a:p>
        </p:txBody>
      </p:sp>
      <p:sp>
        <p:nvSpPr>
          <p:cNvPr id="3" name="Content Placeholder 2"/>
          <p:cNvSpPr>
            <a:spLocks noGrp="1"/>
          </p:cNvSpPr>
          <p:nvPr>
            <p:ph idx="1"/>
          </p:nvPr>
        </p:nvSpPr>
        <p:spPr>
          <a:xfrm>
            <a:off x="207136" y="1786988"/>
            <a:ext cx="10515600" cy="4351338"/>
          </a:xfrm>
        </p:spPr>
        <p:txBody>
          <a:bodyPr>
            <a:noAutofit/>
          </a:bodyPr>
          <a:lstStyle/>
          <a:p>
            <a:r>
              <a:rPr lang="en-US" sz="2000" dirty="0" smtClean="0"/>
              <a:t>The technology that Spring is most identified with is the Dependency Injection (DI) flavor of Inversion of Control. The Inversion of Control (</a:t>
            </a:r>
            <a:r>
              <a:rPr lang="en-US" sz="2000" dirty="0" err="1" smtClean="0"/>
              <a:t>IoC</a:t>
            </a:r>
            <a:r>
              <a:rPr lang="en-US" sz="2000" dirty="0" smtClean="0"/>
              <a:t>) is a general concept, and it can be expressed in many different ways. Dependency Injection is merely one concrete example of Inversion of Control.</a:t>
            </a:r>
          </a:p>
          <a:p>
            <a:r>
              <a:rPr lang="en-US" sz="2000" dirty="0" smtClean="0"/>
              <a:t>When writing a complex Java application, application classes should be as independent as possible of other Java classes to increase the possibility to reuse these classes and to test them independently of other classes while unit testing. Dependency Injection helps in gluing these classes together and at the same time keeping them independent.</a:t>
            </a:r>
          </a:p>
          <a:p>
            <a:r>
              <a:rPr lang="en-US" sz="2000" dirty="0" smtClean="0"/>
              <a:t>What is dependency injection exactly? Let's look at these two words separately. Here the dependency part translates into an association between two classes. For example, class A is dependent of class B. Now, let's look at the second part, injection. All this means is, class B will get injected into class A by the </a:t>
            </a:r>
            <a:r>
              <a:rPr lang="en-US" sz="2000" dirty="0" err="1" smtClean="0"/>
              <a:t>IoC</a:t>
            </a:r>
            <a:r>
              <a:rPr lang="en-US" sz="2000" dirty="0" smtClean="0"/>
              <a:t>.</a:t>
            </a:r>
          </a:p>
          <a:p>
            <a:r>
              <a:rPr lang="en-US" sz="2000" dirty="0" smtClean="0"/>
              <a:t>Dependency injection can happen in the way of passing parameters to the constructor or by post-construction using setter methods. As Dependency Injection is the heart of Spring Framework, we will explain this concept in a separate chapter with relevant example.</a:t>
            </a:r>
            <a:endParaRPr lang="en-US" sz="2000" dirty="0"/>
          </a:p>
        </p:txBody>
      </p:sp>
    </p:spTree>
    <p:extLst>
      <p:ext uri="{BB962C8B-B14F-4D97-AF65-F5344CB8AC3E}">
        <p14:creationId xmlns:p14="http://schemas.microsoft.com/office/powerpoint/2010/main" val="273958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Aspect Oriented Programming (AOP)</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One of the key components of Spring is the Aspect Oriented Programming (AOP) framework. The functions that span multiple points of an application are called cross-cutting concerns and these cross-cutting concerns are conceptually separate from the application's business logic. There are various common good examples of aspects including logging, declarative transactions, security, caching, etc.</a:t>
            </a:r>
          </a:p>
          <a:p>
            <a:endParaRPr lang="en-US" dirty="0" smtClean="0"/>
          </a:p>
          <a:p>
            <a:r>
              <a:rPr lang="en-US" dirty="0" smtClean="0"/>
              <a:t>The key unit of modularity in OOP is the class, whereas in AOP the unit of modularity is the aspect. DI helps you decouple your application objects from each other, while AOP helps you decouple cross-cutting concerns from the objects that they affect.</a:t>
            </a:r>
          </a:p>
          <a:p>
            <a:endParaRPr lang="en-US" dirty="0" smtClean="0"/>
          </a:p>
          <a:p>
            <a:r>
              <a:rPr lang="en-US" dirty="0" smtClean="0"/>
              <a:t>The AOP module of Spring Framework provides an aspect-oriented programming implementation allowing you to define method-interceptors and </a:t>
            </a:r>
            <a:r>
              <a:rPr lang="en-US" dirty="0" err="1" smtClean="0"/>
              <a:t>pointcuts</a:t>
            </a:r>
            <a:r>
              <a:rPr lang="en-US" dirty="0" smtClean="0"/>
              <a:t> to cleanly decouple code that implements functionality that should be separated.</a:t>
            </a:r>
            <a:endParaRPr lang="en-US" dirty="0"/>
          </a:p>
        </p:txBody>
      </p:sp>
    </p:spTree>
    <p:extLst>
      <p:ext uri="{BB962C8B-B14F-4D97-AF65-F5344CB8AC3E}">
        <p14:creationId xmlns:p14="http://schemas.microsoft.com/office/powerpoint/2010/main" val="1874239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https://www.tutorialspoint.com/spring/spring_overview.htm</a:t>
            </a:r>
            <a:endParaRPr lang="en-US" dirty="0"/>
          </a:p>
        </p:txBody>
      </p:sp>
    </p:spTree>
    <p:extLst>
      <p:ext uri="{BB962C8B-B14F-4D97-AF65-F5344CB8AC3E}">
        <p14:creationId xmlns:p14="http://schemas.microsoft.com/office/powerpoint/2010/main" val="2659513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Struts</a:t>
            </a:r>
            <a:endParaRPr lang="en-US" dirty="0"/>
          </a:p>
        </p:txBody>
      </p:sp>
      <p:sp>
        <p:nvSpPr>
          <p:cNvPr id="3" name="Subtitle 2"/>
          <p:cNvSpPr>
            <a:spLocks noGrp="1"/>
          </p:cNvSpPr>
          <p:nvPr>
            <p:ph type="subTitle" idx="1"/>
          </p:nvPr>
        </p:nvSpPr>
        <p:spPr/>
        <p:txBody>
          <a:bodyPr/>
          <a:lstStyle/>
          <a:p>
            <a:r>
              <a:rPr lang="en-US" b="1" dirty="0"/>
              <a:t>Apache Struts</a:t>
            </a:r>
            <a:r>
              <a:rPr lang="en-US" dirty="0"/>
              <a:t> is an open source framework for developing Java Enterprise web applications. It uses Java Servlet API to implement the web applications based on Model-View-Controller (MVC) design pattern.</a:t>
            </a:r>
          </a:p>
        </p:txBody>
      </p:sp>
      <p:pic>
        <p:nvPicPr>
          <p:cNvPr id="4" name="Picture 3"/>
          <p:cNvPicPr>
            <a:picLocks noChangeAspect="1"/>
          </p:cNvPicPr>
          <p:nvPr/>
        </p:nvPicPr>
        <p:blipFill>
          <a:blip r:embed="rId2"/>
          <a:stretch>
            <a:fillRect/>
          </a:stretch>
        </p:blipFill>
        <p:spPr>
          <a:xfrm>
            <a:off x="8968794" y="271486"/>
            <a:ext cx="2857500" cy="819150"/>
          </a:xfrm>
          <a:prstGeom prst="rect">
            <a:avLst/>
          </a:prstGeom>
        </p:spPr>
      </p:pic>
    </p:spTree>
    <p:extLst>
      <p:ext uri="{BB962C8B-B14F-4D97-AF65-F5344CB8AC3E}">
        <p14:creationId xmlns:p14="http://schemas.microsoft.com/office/powerpoint/2010/main" val="767176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Apache Struts</a:t>
            </a:r>
            <a:r>
              <a:rPr lang="en-US" dirty="0" smtClean="0"/>
              <a:t> is an open source framework for developing Java Enterprise web applications. It uses Java Servlet API to implement the web applications based on Model-View-Controller (MVC) design pattern.</a:t>
            </a:r>
          </a:p>
          <a:p>
            <a:endParaRPr lang="en-US" dirty="0"/>
          </a:p>
        </p:txBody>
      </p:sp>
    </p:spTree>
    <p:extLst>
      <p:ext uri="{BB962C8B-B14F-4D97-AF65-F5344CB8AC3E}">
        <p14:creationId xmlns:p14="http://schemas.microsoft.com/office/powerpoint/2010/main" val="1546770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the Struts Web Framework</a:t>
            </a:r>
            <a:br>
              <a:rPr lang="en-US" dirty="0"/>
            </a:br>
            <a:endParaRPr lang="en-US" dirty="0"/>
          </a:p>
        </p:txBody>
      </p:sp>
      <p:sp>
        <p:nvSpPr>
          <p:cNvPr id="3" name="Content Placeholder 2"/>
          <p:cNvSpPr>
            <a:spLocks noGrp="1"/>
          </p:cNvSpPr>
          <p:nvPr>
            <p:ph idx="1"/>
          </p:nvPr>
        </p:nvSpPr>
        <p:spPr/>
        <p:txBody>
          <a:bodyPr/>
          <a:lstStyle/>
          <a:p>
            <a:r>
              <a:rPr lang="en-US" dirty="0" smtClean="0"/>
              <a:t>https://netbeans.org/kb/docs/web/quickstart-webapps-struts.html</a:t>
            </a:r>
            <a:endParaRPr lang="en-US" dirty="0"/>
          </a:p>
        </p:txBody>
      </p:sp>
    </p:spTree>
    <p:extLst>
      <p:ext uri="{BB962C8B-B14F-4D97-AF65-F5344CB8AC3E}">
        <p14:creationId xmlns:p14="http://schemas.microsoft.com/office/powerpoint/2010/main" val="2957131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1327</Words>
  <Application>Microsoft Office PowerPoint</Application>
  <PresentationFormat>Widescreen</PresentationFormat>
  <Paragraphs>107</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MS PGothic</vt:lpstr>
      <vt:lpstr>Arial</vt:lpstr>
      <vt:lpstr>Arial Narrow</vt:lpstr>
      <vt:lpstr>Calibri</vt:lpstr>
      <vt:lpstr>Calibri Light</vt:lpstr>
      <vt:lpstr>Office Theme</vt:lpstr>
      <vt:lpstr>MVC  and  other framworks</vt:lpstr>
      <vt:lpstr>Model View Controller (MVC)</vt:lpstr>
      <vt:lpstr>Model</vt:lpstr>
      <vt:lpstr>View</vt:lpstr>
      <vt:lpstr>Controller</vt:lpstr>
      <vt:lpstr>MVC Benefits</vt:lpstr>
      <vt:lpstr>Hibernate </vt:lpstr>
      <vt:lpstr>Hibernate</vt:lpstr>
      <vt:lpstr>Hibernate Advantages </vt:lpstr>
      <vt:lpstr>Supported Databases </vt:lpstr>
      <vt:lpstr>Supported Technologies</vt:lpstr>
      <vt:lpstr>PowerPoint Presentation</vt:lpstr>
      <vt:lpstr>Spring framework </vt:lpstr>
      <vt:lpstr>Spring</vt:lpstr>
      <vt:lpstr>Benefits of Using the Spring Framework</vt:lpstr>
      <vt:lpstr>PowerPoint Presentation</vt:lpstr>
      <vt:lpstr>Dependency Injection (DI) </vt:lpstr>
      <vt:lpstr>Aspect Oriented Programming (AOP)</vt:lpstr>
      <vt:lpstr>PowerPoint Presentation</vt:lpstr>
      <vt:lpstr>Struts</vt:lpstr>
      <vt:lpstr>PowerPoint Presentation</vt:lpstr>
      <vt:lpstr>Introduction to the Struts Web Framework </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MVC  and  other framworks</dc:title>
  <dc:creator>Admin</dc:creator>
  <cp:lastModifiedBy>Admin</cp:lastModifiedBy>
  <cp:revision>6</cp:revision>
  <dcterms:created xsi:type="dcterms:W3CDTF">2019-02-23T06:34:06Z</dcterms:created>
  <dcterms:modified xsi:type="dcterms:W3CDTF">2019-02-23T06:40:07Z</dcterms:modified>
</cp:coreProperties>
</file>