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0"/>
  </p:notesMasterIdLst>
  <p:sldIdLst>
    <p:sldId id="256" r:id="rId2"/>
    <p:sldId id="375" r:id="rId3"/>
    <p:sldId id="376" r:id="rId4"/>
    <p:sldId id="377" r:id="rId5"/>
    <p:sldId id="378" r:id="rId6"/>
    <p:sldId id="379" r:id="rId7"/>
    <p:sldId id="380" r:id="rId8"/>
    <p:sldId id="381" r:id="rId9"/>
    <p:sldId id="344" r:id="rId10"/>
    <p:sldId id="345" r:id="rId11"/>
    <p:sldId id="346" r:id="rId12"/>
    <p:sldId id="347" r:id="rId13"/>
    <p:sldId id="370" r:id="rId14"/>
    <p:sldId id="348" r:id="rId15"/>
    <p:sldId id="349" r:id="rId16"/>
    <p:sldId id="350" r:id="rId17"/>
    <p:sldId id="371" r:id="rId18"/>
    <p:sldId id="372" r:id="rId19"/>
    <p:sldId id="373" r:id="rId20"/>
    <p:sldId id="351" r:id="rId21"/>
    <p:sldId id="352" r:id="rId22"/>
    <p:sldId id="353" r:id="rId23"/>
    <p:sldId id="354" r:id="rId24"/>
    <p:sldId id="355" r:id="rId25"/>
    <p:sldId id="356" r:id="rId26"/>
    <p:sldId id="357" r:id="rId27"/>
    <p:sldId id="358" r:id="rId28"/>
    <p:sldId id="374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4" autoAdjust="0"/>
    <p:restoredTop sz="94660"/>
  </p:normalViewPr>
  <p:slideViewPr>
    <p:cSldViewPr>
      <p:cViewPr varScale="1">
        <p:scale>
          <a:sx n="70" d="100"/>
          <a:sy n="70" d="100"/>
        </p:scale>
        <p:origin x="13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AF1BF-01CA-4961-8652-E6477156C05F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FD58E-DEE8-4398-ADC3-3A3441DE8C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3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rrzn.uni-hannover.de/jug/servlets/apidoc/javax.servlet.http.HttpServlet.html#top" TargetMode="External"/><Relationship Id="rId2" Type="http://schemas.openxmlformats.org/officeDocument/2006/relationships/hyperlink" Target="http://java.rrzn.uni-hannover.de/jug/servlets/apidoc/javax.servlet.Servlet.html#top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localhost:8080/myApp/MyServlet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4495800"/>
            <a:ext cx="7162800" cy="1752600"/>
          </a:xfrm>
        </p:spPr>
        <p:txBody>
          <a:bodyPr>
            <a:noAutofit/>
          </a:bodyPr>
          <a:lstStyle/>
          <a:p>
            <a:pPr algn="r"/>
            <a:r>
              <a:rPr lang="en-US" sz="3600" b="1" dirty="0">
                <a:solidFill>
                  <a:schemeClr val="tx1"/>
                </a:solidFill>
              </a:rPr>
              <a:t>Web-based application development and state management</a:t>
            </a:r>
          </a:p>
          <a:p>
            <a:pPr algn="r"/>
            <a:endParaRPr lang="en-US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7200"/>
            <a:ext cx="8153400" cy="1472184"/>
          </a:xfrm>
        </p:spPr>
        <p:txBody>
          <a:bodyPr>
            <a:normAutofit/>
          </a:bodyPr>
          <a:lstStyle/>
          <a:p>
            <a:r>
              <a:rPr lang="en-US" b="1"/>
              <a:t>HNDIT2411: Enterprise Architecture</a:t>
            </a: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00"/>
            <a:ext cx="3657600" cy="3785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Web Applications	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534400" cy="46021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web application (sometimes shortened to web app) is a collection of.</a:t>
            </a:r>
          </a:p>
          <a:p>
            <a:pPr lvl="1"/>
            <a:r>
              <a:rPr lang="en-US" dirty="0"/>
              <a:t>Servlets</a:t>
            </a:r>
          </a:p>
          <a:p>
            <a:pPr lvl="1"/>
            <a:r>
              <a:rPr lang="en-US" dirty="0"/>
              <a:t>Java server pages (JSPS)</a:t>
            </a:r>
          </a:p>
          <a:p>
            <a:pPr lvl="1"/>
            <a:r>
              <a:rPr lang="en-US" dirty="0"/>
              <a:t>HTML documents</a:t>
            </a:r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Templates, and other web resources</a:t>
            </a:r>
          </a:p>
          <a:p>
            <a:pPr marL="0" indent="0">
              <a:buNone/>
            </a:pPr>
            <a:r>
              <a:rPr lang="en-US" dirty="0"/>
              <a:t>that are set up in such a way as to be portable deployed across any servlet-enabled web server.</a:t>
            </a:r>
          </a:p>
          <a:p>
            <a:r>
              <a:rPr lang="en-US" dirty="0"/>
              <a:t>i.e. All the files under</a:t>
            </a:r>
          </a:p>
          <a:p>
            <a:r>
              <a:rPr lang="en-US" dirty="0" err="1"/>
              <a:t>server_root</a:t>
            </a:r>
            <a:r>
              <a:rPr lang="en-US" dirty="0"/>
              <a:t>/</a:t>
            </a:r>
            <a:r>
              <a:rPr lang="en-US" dirty="0" err="1"/>
              <a:t>webapps</a:t>
            </a:r>
            <a:r>
              <a:rPr lang="en-US" dirty="0"/>
              <a:t>/ROOT belong to a single web application (the root one)</a:t>
            </a:r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1201"/>
            <a:ext cx="41910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327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Web Modules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In the J2EE architecture, web components and static web content files such as images are called web resources. 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web module is specification. In addition to web components and web resources, a web module can contain other files: the smallest deployable and usable unit of web resources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A J2EE web module corresponds to a web application as defined in the Java Servlet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930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Web Modules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0" y="1752600"/>
            <a:ext cx="4876800" cy="5105400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dirty="0"/>
              <a:t>A web module has a specific structure. The top-level directory of a web module is the document root of the application. The document root is where JSP pages, client-side classes and archives, and static web resources, such as images, are stored.</a:t>
            </a:r>
          </a:p>
          <a:p>
            <a:pPr algn="just"/>
            <a:r>
              <a:rPr lang="en-US" dirty="0"/>
              <a:t>The document root contains a subdirectory named /WEB-INF/, which contains the following files and directories:</a:t>
            </a:r>
          </a:p>
          <a:p>
            <a:pPr algn="just"/>
            <a:r>
              <a:rPr lang="en-US" dirty="0"/>
              <a:t>• web.xml: The web application deployment descriptor</a:t>
            </a:r>
          </a:p>
          <a:p>
            <a:pPr algn="just"/>
            <a:r>
              <a:rPr lang="en-US" dirty="0"/>
              <a:t>• Tag library descriptor files </a:t>
            </a:r>
          </a:p>
          <a:p>
            <a:pPr algn="just"/>
            <a:r>
              <a:rPr lang="en-US" dirty="0"/>
              <a:t>• classes: A directory that contains </a:t>
            </a:r>
            <a:r>
              <a:rPr lang="en-US" i="1" dirty="0"/>
              <a:t>server-side classes</a:t>
            </a:r>
            <a:r>
              <a:rPr lang="en-US" dirty="0"/>
              <a:t>: servlets, utility classes, and JavaBeans components</a:t>
            </a:r>
          </a:p>
          <a:p>
            <a:pPr algn="just"/>
            <a:r>
              <a:rPr lang="en-US" dirty="0"/>
              <a:t>• tags: A directory that contains tag files, which are implementations of tag libraries </a:t>
            </a:r>
          </a:p>
          <a:p>
            <a:pPr algn="just"/>
            <a:r>
              <a:rPr lang="en-US" dirty="0"/>
              <a:t>• lib: A directory that contains JAR archives of libraries called by </a:t>
            </a:r>
            <a:r>
              <a:rPr lang="en-US" dirty="0" smtClean="0"/>
              <a:t>server side </a:t>
            </a:r>
            <a:r>
              <a:rPr lang="en-US" dirty="0"/>
              <a:t>classes</a:t>
            </a:r>
          </a:p>
          <a:p>
            <a:pPr algn="just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441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3195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WEB-INF Directory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algn="just"/>
            <a:r>
              <a:rPr lang="en-US" dirty="0"/>
              <a:t>The WEB-INF directory is special. The files inside WEB-INF are not served directly to the client, instead, they contain java classes and configuration information for the web app</a:t>
            </a:r>
          </a:p>
          <a:p>
            <a:pPr lvl="0" algn="just"/>
            <a:r>
              <a:rPr lang="en-US" dirty="0"/>
              <a:t>The WEB-INF/classes directory contains the class files for this web app’s servlets and support classes.</a:t>
            </a:r>
          </a:p>
          <a:p>
            <a:pPr lvl="0" algn="just"/>
            <a:r>
              <a:rPr lang="en-US" dirty="0"/>
              <a:t>WEB-INF/lib contains classes stored in JAR files.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540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Development Descriptor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The web.xml file in the WEB –INF directory is known as a deployment descriptor.</a:t>
            </a:r>
          </a:p>
          <a:p>
            <a:pPr lvl="0"/>
            <a:r>
              <a:rPr lang="en-US" dirty="0"/>
              <a:t>This file contains configuration information about the web app in which it resides. It’s an XML file with a standardized DTD.</a:t>
            </a:r>
          </a:p>
          <a:p>
            <a:pPr lvl="0"/>
            <a:r>
              <a:rPr lang="en-US" dirty="0"/>
              <a:t>Everything between &lt;web-app&gt;and &lt;/web-app&gt;, provide information to the server about this web application. </a:t>
            </a:r>
          </a:p>
          <a:p>
            <a:pPr lvl="0"/>
            <a:r>
              <a:rPr lang="en-US" dirty="0"/>
              <a:t>Tags in a web.xml are order dependent. For example, the &lt;servlet-class&gt; to ensure everything work.</a:t>
            </a:r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88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Web App Deployment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algn="just"/>
            <a:r>
              <a:rPr lang="en-US" dirty="0"/>
              <a:t>Packaged web apps are archived into one file (.war file) and deployed on servlet containers.</a:t>
            </a:r>
          </a:p>
          <a:p>
            <a:pPr lvl="0" algn="just"/>
            <a:r>
              <a:rPr lang="en-US" dirty="0"/>
              <a:t>Since the file structure is pre-agreed among the vendors, the effort required to port web app running on the servlet container of one vender to another is minimal.</a:t>
            </a:r>
          </a:p>
          <a:p>
            <a:pPr lvl="0" algn="just"/>
            <a:r>
              <a:rPr lang="en-US" dirty="0"/>
              <a:t>However, if you use vendor specific extensions in the web app development, porting would not be so easy.</a:t>
            </a:r>
          </a:p>
          <a:p>
            <a:pPr marL="0" indent="0" algn="just">
              <a:buNone/>
            </a:pPr>
            <a:r>
              <a:rPr lang="en-US" dirty="0"/>
              <a:t> 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123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Web Archives (wars)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/>
            <a:r>
              <a:rPr lang="en-US" dirty="0"/>
              <a:t>To simplify deployment, web app files can be bundled in to a single archive file and developed to another server merely by placing the archive file in to a specific directory.</a:t>
            </a:r>
          </a:p>
          <a:p>
            <a:pPr lvl="0" algn="just"/>
            <a:r>
              <a:rPr lang="en-US" dirty="0"/>
              <a:t>These archive files </a:t>
            </a:r>
            <a:r>
              <a:rPr lang="en-US" dirty="0" err="1"/>
              <a:t>files</a:t>
            </a:r>
            <a:r>
              <a:rPr lang="en-US" dirty="0"/>
              <a:t> have the extension, war. Which stands for web application archive.</a:t>
            </a:r>
          </a:p>
          <a:p>
            <a:pPr lvl="0" algn="just"/>
            <a:r>
              <a:rPr lang="en-US" dirty="0"/>
              <a:t>WAR files are actually JAR files (</a:t>
            </a:r>
            <a:r>
              <a:rPr lang="en-US" dirty="0" err="1"/>
              <a:t>creted</a:t>
            </a:r>
            <a:r>
              <a:rPr lang="en-US" dirty="0"/>
              <a:t> using the jar utility) saved with an alternate extension.</a:t>
            </a:r>
          </a:p>
          <a:p>
            <a:pPr marL="0" indent="0" algn="just">
              <a:buNone/>
            </a:pPr>
            <a:r>
              <a:rPr lang="en-US" dirty="0"/>
              <a:t> 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00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Servlet - Definition</a:t>
            </a:r>
            <a:endParaRPr lang="en-US" b="1" dirty="0">
              <a:effectLst>
                <a:outerShdw blurRad="63500" algn="ctr" rotWithShape="0">
                  <a:prstClr val="black">
                    <a:alpha val="14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221163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A </a:t>
            </a:r>
            <a:r>
              <a:rPr lang="en-US" sz="2000" b="1" i="1" dirty="0"/>
              <a:t>servlet</a:t>
            </a:r>
            <a:r>
              <a:rPr lang="en-US" sz="2000" b="1" dirty="0"/>
              <a:t> is a Java programming language class used to extend the capabilities of servers that host applications accessed via a request-response programming model</a:t>
            </a:r>
            <a:r>
              <a:rPr lang="en-US" sz="2000" dirty="0"/>
              <a:t>.</a:t>
            </a:r>
            <a:endParaRPr lang="en-US" sz="2000" dirty="0" smtClean="0"/>
          </a:p>
          <a:p>
            <a:pPr algn="just"/>
            <a:r>
              <a:rPr lang="en-US" sz="2000" dirty="0" smtClean="0"/>
              <a:t>They  </a:t>
            </a:r>
            <a:r>
              <a:rPr lang="en-US" sz="2000" dirty="0"/>
              <a:t>can be loaded dynamically into and run by a </a:t>
            </a:r>
            <a:r>
              <a:rPr lang="en-US" sz="2000" dirty="0">
                <a:solidFill>
                  <a:srgbClr val="1D04DA"/>
                </a:solidFill>
              </a:rPr>
              <a:t>special web </a:t>
            </a:r>
            <a:r>
              <a:rPr lang="en-US" sz="2000" dirty="0" smtClean="0">
                <a:solidFill>
                  <a:srgbClr val="1D04DA"/>
                </a:solidFill>
              </a:rPr>
              <a:t>server</a:t>
            </a:r>
            <a:r>
              <a:rPr lang="en-US" sz="2000" dirty="0" smtClean="0"/>
              <a:t> </a:t>
            </a:r>
          </a:p>
          <a:p>
            <a:pPr algn="just"/>
            <a:r>
              <a:rPr lang="en-US" sz="2000" dirty="0" smtClean="0"/>
              <a:t>This </a:t>
            </a:r>
            <a:r>
              <a:rPr lang="en-US" sz="2000" dirty="0"/>
              <a:t>servlet-aware web server, is known as  </a:t>
            </a:r>
            <a:r>
              <a:rPr lang="en-US" sz="2000" dirty="0">
                <a:solidFill>
                  <a:srgbClr val="1D04DA"/>
                </a:solidFill>
              </a:rPr>
              <a:t>servlet </a:t>
            </a:r>
            <a:r>
              <a:rPr lang="en-US" sz="2000" dirty="0" smtClean="0">
                <a:solidFill>
                  <a:srgbClr val="1D04DA"/>
                </a:solidFill>
              </a:rPr>
              <a:t>container</a:t>
            </a:r>
          </a:p>
          <a:p>
            <a:pPr algn="just"/>
            <a:r>
              <a:rPr lang="en-US" sz="2000" dirty="0" smtClean="0"/>
              <a:t>Servlets </a:t>
            </a:r>
            <a:r>
              <a:rPr lang="en-US" sz="2000" dirty="0"/>
              <a:t>interact with clients via a </a:t>
            </a:r>
            <a:r>
              <a:rPr lang="en-US" sz="2000" dirty="0" smtClean="0"/>
              <a:t>request-response </a:t>
            </a:r>
            <a:r>
              <a:rPr lang="en-US" sz="2000" dirty="0"/>
              <a:t>model based on </a:t>
            </a:r>
            <a:r>
              <a:rPr lang="en-US" sz="2000" dirty="0" smtClean="0"/>
              <a:t>HTTP </a:t>
            </a:r>
          </a:p>
          <a:p>
            <a:pPr algn="just"/>
            <a:r>
              <a:rPr lang="en-US" sz="2000" dirty="0" smtClean="0"/>
              <a:t>Therefore</a:t>
            </a:r>
            <a:r>
              <a:rPr lang="en-US" sz="2000" dirty="0"/>
              <a:t>, a servlet container must support HTTP as the protocol for client requests and server </a:t>
            </a:r>
            <a:r>
              <a:rPr lang="en-US" sz="2000" dirty="0" smtClean="0"/>
              <a:t>responses</a:t>
            </a:r>
          </a:p>
          <a:p>
            <a:pPr lvl="0" algn="just"/>
            <a:r>
              <a:rPr lang="en-US" sz="2000" dirty="0"/>
              <a:t>The </a:t>
            </a:r>
            <a:r>
              <a:rPr lang="en-US" sz="2000" i="1" dirty="0" err="1"/>
              <a:t>javax.servlet</a:t>
            </a:r>
            <a:r>
              <a:rPr lang="en-US" sz="2000" dirty="0"/>
              <a:t> and </a:t>
            </a:r>
            <a:r>
              <a:rPr lang="en-US" sz="2000" i="1" dirty="0" err="1"/>
              <a:t>javax.servlet.http</a:t>
            </a:r>
            <a:r>
              <a:rPr lang="en-US" sz="2000" dirty="0"/>
              <a:t> packages provide interfaces and classes for writing servlets</a:t>
            </a:r>
            <a:r>
              <a:rPr lang="en-US" sz="2000" dirty="0" smtClean="0"/>
              <a:t>.</a:t>
            </a:r>
          </a:p>
          <a:p>
            <a:pPr lvl="0" algn="just"/>
            <a:r>
              <a:rPr lang="en-US" sz="2000" dirty="0" smtClean="0"/>
              <a:t> </a:t>
            </a:r>
            <a:r>
              <a:rPr lang="en-US" sz="2000" dirty="0"/>
              <a:t>All servlets must implement the </a:t>
            </a:r>
            <a:r>
              <a:rPr lang="en-US" sz="2000" dirty="0" smtClean="0"/>
              <a:t>Servlet </a:t>
            </a:r>
            <a:r>
              <a:rPr lang="en-US" sz="2000" dirty="0"/>
              <a:t>interface, which defines life-cycle methods. </a:t>
            </a:r>
          </a:p>
          <a:p>
            <a:pPr algn="just"/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00931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Servlet</a:t>
            </a:r>
            <a:r>
              <a:rPr lang="en-US" dirty="0" smtClean="0"/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Container Architecture</a:t>
            </a:r>
          </a:p>
        </p:txBody>
      </p:sp>
      <p:sp>
        <p:nvSpPr>
          <p:cNvPr id="4" name="Rectangle 18"/>
          <p:cNvSpPr>
            <a:spLocks noChangeArrowheads="1"/>
          </p:cNvSpPr>
          <p:nvPr/>
        </p:nvSpPr>
        <p:spPr bwMode="auto">
          <a:xfrm>
            <a:off x="381000" y="3124200"/>
            <a:ext cx="1219200" cy="5334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>
                <a:solidFill>
                  <a:schemeClr val="bg1"/>
                </a:solidFill>
              </a:rPr>
              <a:t>Browser</a:t>
            </a:r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3657600" y="3124200"/>
            <a:ext cx="14478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HTTP </a:t>
            </a:r>
          </a:p>
          <a:p>
            <a:pPr algn="ctr"/>
            <a:r>
              <a:rPr lang="en-US" altLang="en-US" dirty="0"/>
              <a:t>Server</a:t>
            </a: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6019800" y="3657600"/>
            <a:ext cx="1447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Static </a:t>
            </a:r>
          </a:p>
          <a:p>
            <a:pPr algn="ctr"/>
            <a:r>
              <a:rPr lang="en-US" altLang="en-US"/>
              <a:t>Content</a:t>
            </a:r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6019800" y="2819400"/>
            <a:ext cx="1219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Servlet</a:t>
            </a:r>
          </a:p>
          <a:p>
            <a:pPr algn="ctr"/>
            <a:r>
              <a:rPr lang="en-US" altLang="en-US"/>
              <a:t>Container</a:t>
            </a:r>
          </a:p>
        </p:txBody>
      </p:sp>
      <p:sp>
        <p:nvSpPr>
          <p:cNvPr id="8" name="Line 22"/>
          <p:cNvSpPr>
            <a:spLocks noChangeShapeType="1"/>
          </p:cNvSpPr>
          <p:nvPr/>
        </p:nvSpPr>
        <p:spPr bwMode="auto">
          <a:xfrm>
            <a:off x="1600200" y="3200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/>
        </p:nvSpPr>
        <p:spPr bwMode="auto">
          <a:xfrm flipH="1">
            <a:off x="1600200" y="3581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24"/>
          <p:cNvSpPr txBox="1">
            <a:spLocks noChangeArrowheads="1"/>
          </p:cNvSpPr>
          <p:nvPr/>
        </p:nvSpPr>
        <p:spPr bwMode="auto">
          <a:xfrm>
            <a:off x="1733550" y="2909888"/>
            <a:ext cx="169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HTTP Request</a:t>
            </a:r>
          </a:p>
        </p:txBody>
      </p:sp>
      <p:sp>
        <p:nvSpPr>
          <p:cNvPr id="11" name="Text Box 25"/>
          <p:cNvSpPr txBox="1">
            <a:spLocks noChangeArrowheads="1"/>
          </p:cNvSpPr>
          <p:nvPr/>
        </p:nvSpPr>
        <p:spPr bwMode="auto">
          <a:xfrm>
            <a:off x="1676400" y="3276600"/>
            <a:ext cx="1873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HTTP Response</a:t>
            </a:r>
          </a:p>
        </p:txBody>
      </p:sp>
      <p:sp>
        <p:nvSpPr>
          <p:cNvPr id="12" name="Line 26"/>
          <p:cNvSpPr>
            <a:spLocks noChangeShapeType="1"/>
          </p:cNvSpPr>
          <p:nvPr/>
        </p:nvSpPr>
        <p:spPr bwMode="auto">
          <a:xfrm flipV="1">
            <a:off x="5105400" y="2971800"/>
            <a:ext cx="914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27"/>
          <p:cNvSpPr>
            <a:spLocks noChangeShapeType="1"/>
          </p:cNvSpPr>
          <p:nvPr/>
        </p:nvSpPr>
        <p:spPr bwMode="auto">
          <a:xfrm flipH="1">
            <a:off x="5105400" y="3124200"/>
            <a:ext cx="914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8"/>
          <p:cNvSpPr>
            <a:spLocks noChangeShapeType="1"/>
          </p:cNvSpPr>
          <p:nvPr/>
        </p:nvSpPr>
        <p:spPr bwMode="auto">
          <a:xfrm>
            <a:off x="5105400" y="3505200"/>
            <a:ext cx="914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9"/>
          <p:cNvSpPr>
            <a:spLocks noChangeShapeType="1"/>
          </p:cNvSpPr>
          <p:nvPr/>
        </p:nvSpPr>
        <p:spPr bwMode="auto">
          <a:xfrm flipH="1" flipV="1">
            <a:off x="5105400" y="36576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30"/>
          <p:cNvSpPr>
            <a:spLocks noChangeArrowheads="1"/>
          </p:cNvSpPr>
          <p:nvPr/>
        </p:nvSpPr>
        <p:spPr bwMode="auto">
          <a:xfrm>
            <a:off x="7696200" y="2971800"/>
            <a:ext cx="1219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Servlet</a:t>
            </a:r>
          </a:p>
        </p:txBody>
      </p:sp>
      <p:sp>
        <p:nvSpPr>
          <p:cNvPr id="17" name="Line 31"/>
          <p:cNvSpPr>
            <a:spLocks noChangeShapeType="1"/>
          </p:cNvSpPr>
          <p:nvPr/>
        </p:nvSpPr>
        <p:spPr bwMode="auto">
          <a:xfrm>
            <a:off x="7239000" y="3048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32"/>
          <p:cNvSpPr>
            <a:spLocks noChangeShapeType="1"/>
          </p:cNvSpPr>
          <p:nvPr/>
        </p:nvSpPr>
        <p:spPr bwMode="auto">
          <a:xfrm flipH="1">
            <a:off x="7239000" y="3200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How Servlet Works</a:t>
            </a:r>
            <a:endParaRPr 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1447800" y="1981200"/>
            <a:ext cx="1371600" cy="838200"/>
          </a:xfrm>
          <a:prstGeom prst="parallelogram">
            <a:avLst>
              <a:gd name="adj" fmla="val 4090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Receive</a:t>
            </a:r>
          </a:p>
          <a:p>
            <a:pPr algn="ctr"/>
            <a:r>
              <a:rPr lang="en-US" altLang="en-US"/>
              <a:t>Request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4419600" y="1828800"/>
            <a:ext cx="1447800" cy="1066800"/>
          </a:xfrm>
          <a:prstGeom prst="diamond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is servlet</a:t>
            </a:r>
          </a:p>
          <a:p>
            <a:pPr algn="ctr"/>
            <a:r>
              <a:rPr lang="en-US" altLang="en-US"/>
              <a:t>loaded?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4419600" y="3429000"/>
            <a:ext cx="1447800" cy="1066800"/>
          </a:xfrm>
          <a:prstGeom prst="diamond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is servlet</a:t>
            </a:r>
          </a:p>
          <a:p>
            <a:pPr algn="ctr"/>
            <a:r>
              <a:rPr lang="en-US" altLang="en-US"/>
              <a:t>current?</a:t>
            </a:r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914400" y="5410200"/>
            <a:ext cx="1676400" cy="838200"/>
          </a:xfrm>
          <a:prstGeom prst="parallelogram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Send </a:t>
            </a:r>
          </a:p>
          <a:p>
            <a:pPr algn="ctr"/>
            <a:r>
              <a:rPr lang="en-US" altLang="en-US"/>
              <a:t>Response</a:t>
            </a: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5146344" y="2907555"/>
            <a:ext cx="0" cy="5038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5867400" y="23622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7010400" y="23622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4114800" y="5486400"/>
            <a:ext cx="2057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Process Request</a:t>
            </a: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5867400" y="3962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6096000" y="4191000"/>
            <a:ext cx="1676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Load Servlet</a:t>
            </a: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 flipH="1">
            <a:off x="5146344" y="4499883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 flipH="1">
            <a:off x="70104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 flipH="1">
            <a:off x="5173640" y="51054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5165725" y="2932113"/>
            <a:ext cx="59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Yes</a:t>
            </a:r>
          </a:p>
        </p:txBody>
      </p: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5089525" y="4608513"/>
            <a:ext cx="59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Yes</a:t>
            </a:r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5775325" y="1981200"/>
            <a:ext cx="488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No</a:t>
            </a:r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5851525" y="3595688"/>
            <a:ext cx="488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No</a:t>
            </a:r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>
            <a:off x="2667000" y="23622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 flipH="1">
            <a:off x="2469160" y="5791200"/>
            <a:ext cx="159327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0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Servlet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Every servlet must implement </a:t>
            </a:r>
            <a:r>
              <a:rPr lang="en-US" sz="2000" dirty="0" err="1">
                <a:solidFill>
                  <a:srgbClr val="1D04DA"/>
                </a:solidFill>
              </a:rPr>
              <a:t>javax.servlet.Servlet</a:t>
            </a:r>
            <a:r>
              <a:rPr lang="en-US" sz="2000" dirty="0"/>
              <a:t> </a:t>
            </a:r>
            <a:r>
              <a:rPr lang="en-US" sz="2000" dirty="0" smtClean="0"/>
              <a:t>interface</a:t>
            </a:r>
          </a:p>
          <a:p>
            <a:r>
              <a:rPr lang="en-US" sz="2000" dirty="0" smtClean="0"/>
              <a:t>Most </a:t>
            </a:r>
            <a:r>
              <a:rPr lang="en-US" sz="2000" dirty="0"/>
              <a:t>servlets implement the interface by extending one of these classes</a:t>
            </a:r>
          </a:p>
          <a:p>
            <a:pPr lvl="1"/>
            <a:r>
              <a:rPr lang="en-US" sz="2000" dirty="0" err="1">
                <a:solidFill>
                  <a:srgbClr val="1D04DA"/>
                </a:solidFill>
              </a:rPr>
              <a:t>javax.servlet.GenericServlet</a:t>
            </a:r>
            <a:endParaRPr lang="en-US" sz="2000" dirty="0">
              <a:solidFill>
                <a:srgbClr val="1D04DA"/>
              </a:solidFill>
            </a:endParaRPr>
          </a:p>
          <a:p>
            <a:pPr lvl="1"/>
            <a:r>
              <a:rPr lang="en-US" sz="2000" dirty="0" err="1" smtClean="0">
                <a:solidFill>
                  <a:srgbClr val="1D04DA"/>
                </a:solidFill>
              </a:rPr>
              <a:t>javax.servlet.http.HttpServlet</a:t>
            </a:r>
            <a:endParaRPr lang="en-US" sz="2000" dirty="0">
              <a:solidFill>
                <a:srgbClr val="1D04DA"/>
              </a:solidFill>
            </a:endParaRPr>
          </a:p>
          <a:p>
            <a:pPr lvl="0"/>
            <a:r>
              <a:rPr lang="en-US" dirty="0"/>
              <a:t>The API provides support in four categories :</a:t>
            </a:r>
            <a:endParaRPr lang="en-US" sz="2400" dirty="0"/>
          </a:p>
          <a:p>
            <a:pPr lvl="1"/>
            <a:r>
              <a:rPr lang="en-US" dirty="0"/>
              <a:t>Servlet lifecycle management.</a:t>
            </a:r>
            <a:endParaRPr lang="en-US" sz="2000" dirty="0"/>
          </a:p>
          <a:p>
            <a:pPr lvl="1"/>
            <a:r>
              <a:rPr lang="en-US" dirty="0"/>
              <a:t>Access to the servlet context.</a:t>
            </a:r>
            <a:endParaRPr lang="en-US" sz="2000" dirty="0"/>
          </a:p>
          <a:p>
            <a:pPr lvl="1"/>
            <a:r>
              <a:rPr lang="en-US" dirty="0"/>
              <a:t>Utility classes.</a:t>
            </a:r>
            <a:endParaRPr lang="en-US" sz="2000" dirty="0"/>
          </a:p>
          <a:p>
            <a:pPr lvl="1"/>
            <a:r>
              <a:rPr lang="en-US" dirty="0"/>
              <a:t>HTTP – specific support classes.</a:t>
            </a:r>
            <a:endParaRPr lang="en-US" sz="2000" dirty="0"/>
          </a:p>
          <a:p>
            <a:pPr marL="0" indent="0">
              <a:buNone/>
            </a:pPr>
            <a:endParaRPr lang="en-US" sz="6000" dirty="0">
              <a:solidFill>
                <a:srgbClr val="1D04D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26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Servlet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221163"/>
          </a:xfrm>
        </p:spPr>
        <p:txBody>
          <a:bodyPr>
            <a:noAutofit/>
          </a:bodyPr>
          <a:lstStyle/>
          <a:p>
            <a:pPr lvl="1" algn="just"/>
            <a:r>
              <a:rPr lang="en-US" sz="2400" b="1" i="1" dirty="0" err="1" smtClean="0"/>
              <a:t>javax.servlet</a:t>
            </a:r>
            <a:r>
              <a:rPr lang="en-US" sz="2400" b="1" i="1" dirty="0" smtClean="0"/>
              <a:t>. </a:t>
            </a:r>
            <a:r>
              <a:rPr lang="en-US" sz="2400" b="1" i="1" dirty="0" err="1" smtClean="0"/>
              <a:t>GenericServlet</a:t>
            </a:r>
            <a:endParaRPr lang="en-US" sz="1600" dirty="0"/>
          </a:p>
          <a:p>
            <a:pPr lvl="2" algn="just"/>
            <a:r>
              <a:rPr lang="en-US" sz="1800" dirty="0"/>
              <a:t>A  generic Servlet should override its service() method to handle requests as appropriate for the Servlet.</a:t>
            </a:r>
            <a:endParaRPr lang="en-US" sz="1400" dirty="0"/>
          </a:p>
          <a:p>
            <a:pPr lvl="2" algn="just"/>
            <a:r>
              <a:rPr lang="en-US" sz="1800" dirty="0"/>
              <a:t>The service() method accepts two </a:t>
            </a:r>
            <a:r>
              <a:rPr lang="en-US" sz="1800" dirty="0" err="1"/>
              <a:t>parametes</a:t>
            </a:r>
            <a:r>
              <a:rPr lang="en-US" sz="1800" dirty="0"/>
              <a:t> :</a:t>
            </a:r>
            <a:endParaRPr lang="en-US" sz="1400" dirty="0"/>
          </a:p>
          <a:p>
            <a:pPr lvl="3" algn="just"/>
            <a:r>
              <a:rPr lang="en-US" sz="1600" dirty="0"/>
              <a:t>A request object and</a:t>
            </a:r>
            <a:endParaRPr lang="en-US" sz="1200" dirty="0"/>
          </a:p>
          <a:p>
            <a:pPr lvl="3" algn="just"/>
            <a:r>
              <a:rPr lang="en-US" sz="1600" dirty="0"/>
              <a:t>A response object</a:t>
            </a:r>
            <a:endParaRPr lang="en-US" sz="1200" dirty="0"/>
          </a:p>
          <a:p>
            <a:pPr lvl="1" algn="just"/>
            <a:r>
              <a:rPr lang="en-US" sz="2400" b="1" dirty="0"/>
              <a:t> </a:t>
            </a:r>
            <a:r>
              <a:rPr lang="en-US" sz="2400" b="1" i="1" dirty="0" err="1" smtClean="0"/>
              <a:t>javax.servlet</a:t>
            </a:r>
            <a:r>
              <a:rPr lang="en-US" sz="2400" b="1" i="1" dirty="0" smtClean="0"/>
              <a:t>. </a:t>
            </a:r>
            <a:r>
              <a:rPr lang="en-US" sz="2400" b="1" i="1" dirty="0" err="1" smtClean="0"/>
              <a:t>http.HttpServlet</a:t>
            </a:r>
            <a:endParaRPr lang="en-US" sz="1600" dirty="0"/>
          </a:p>
          <a:p>
            <a:pPr lvl="2" algn="just"/>
            <a:r>
              <a:rPr lang="en-US" sz="1800" dirty="0"/>
              <a:t>An HTTP Servlet does not override the service() method. Instead , it overrides </a:t>
            </a:r>
            <a:r>
              <a:rPr lang="en-US" sz="1800" dirty="0" err="1"/>
              <a:t>doGet</a:t>
            </a:r>
            <a:r>
              <a:rPr lang="en-US" sz="1800" dirty="0"/>
              <a:t>() to handle GET requests and </a:t>
            </a:r>
            <a:r>
              <a:rPr lang="en-US" sz="1800" dirty="0" err="1"/>
              <a:t>doPost</a:t>
            </a:r>
            <a:r>
              <a:rPr lang="en-US" sz="1800" dirty="0"/>
              <a:t>() to handle POST request.</a:t>
            </a:r>
            <a:endParaRPr lang="en-US" sz="1400" dirty="0"/>
          </a:p>
          <a:p>
            <a:pPr lvl="2" algn="just"/>
            <a:r>
              <a:rPr lang="en-US" sz="1800" dirty="0"/>
              <a:t> The service method of </a:t>
            </a:r>
            <a:r>
              <a:rPr lang="en-US" sz="1800" dirty="0" err="1"/>
              <a:t>HttpServlet</a:t>
            </a:r>
            <a:r>
              <a:rPr lang="en-US" sz="1800" dirty="0"/>
              <a:t> handles the setup and dispatching to all the </a:t>
            </a:r>
            <a:r>
              <a:rPr lang="en-US" sz="1800" dirty="0" err="1"/>
              <a:t>doXxx</a:t>
            </a:r>
            <a:r>
              <a:rPr lang="en-US" sz="1800" dirty="0"/>
              <a:t>() methods, which is why it usually should not be overridden.</a:t>
            </a:r>
            <a:endParaRPr lang="en-US" sz="1400" dirty="0"/>
          </a:p>
          <a:p>
            <a:pPr lvl="2" algn="just"/>
            <a:r>
              <a:rPr lang="en-US" sz="1800" dirty="0"/>
              <a:t>An HTTP servlet can also override </a:t>
            </a:r>
            <a:r>
              <a:rPr lang="en-US" sz="1800" dirty="0" err="1"/>
              <a:t>doPut</a:t>
            </a:r>
            <a:r>
              <a:rPr lang="en-US" sz="1800" dirty="0"/>
              <a:t>() , </a:t>
            </a:r>
            <a:r>
              <a:rPr lang="en-US" sz="1800" dirty="0" err="1"/>
              <a:t>doDelete</a:t>
            </a:r>
            <a:r>
              <a:rPr lang="en-US" sz="1800" dirty="0"/>
              <a:t>() </a:t>
            </a:r>
            <a:r>
              <a:rPr lang="en-US" sz="1800" dirty="0" err="1"/>
              <a:t>requests.However</a:t>
            </a:r>
            <a:r>
              <a:rPr lang="en-US" sz="1800" dirty="0"/>
              <a:t> , HTTP servlet usually don’t override </a:t>
            </a:r>
            <a:r>
              <a:rPr lang="en-US" sz="1800" dirty="0" err="1"/>
              <a:t>doTrace</a:t>
            </a:r>
            <a:r>
              <a:rPr lang="en-US" sz="1800" dirty="0"/>
              <a:t>() or </a:t>
            </a:r>
            <a:r>
              <a:rPr lang="en-US" sz="1800" dirty="0" err="1"/>
              <a:t>doOptions</a:t>
            </a:r>
            <a:r>
              <a:rPr lang="en-US" sz="1800" dirty="0"/>
              <a:t>() methods as the default implementations are almost sufficient.</a:t>
            </a:r>
            <a:endParaRPr lang="en-US" sz="1400" dirty="0"/>
          </a:p>
          <a:p>
            <a:pPr algn="just"/>
            <a:endParaRPr lang="en-US" sz="1800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18251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utoShape 5"/>
          <p:cNvSpPr>
            <a:spLocks noChangeArrowheads="1"/>
          </p:cNvSpPr>
          <p:nvPr/>
        </p:nvSpPr>
        <p:spPr bwMode="auto">
          <a:xfrm>
            <a:off x="3124200" y="3849854"/>
            <a:ext cx="4714875" cy="1941346"/>
          </a:xfrm>
          <a:prstGeom prst="flowChartAlternateProcess">
            <a:avLst/>
          </a:prstGeom>
          <a:solidFill>
            <a:srgbClr val="F7F7ED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/>
            <a:endParaRPr lang="en-US" altLang="en-US" dirty="0"/>
          </a:p>
          <a:p>
            <a:pPr algn="ctr"/>
            <a:endParaRPr lang="en-US" altLang="en-US" dirty="0" smtClean="0"/>
          </a:p>
          <a:p>
            <a:pPr algn="ctr"/>
            <a:endParaRPr lang="en-US" altLang="en-US" dirty="0" smtClean="0"/>
          </a:p>
          <a:p>
            <a:pPr algn="ctr"/>
            <a:endParaRPr lang="en-US" altLang="en-US" dirty="0"/>
          </a:p>
          <a:p>
            <a:pPr algn="ctr"/>
            <a:endParaRPr lang="en-US" altLang="en-US" dirty="0" smtClean="0"/>
          </a:p>
          <a:p>
            <a:pPr algn="ctr"/>
            <a:endParaRPr lang="en-US" altLang="en-US" dirty="0"/>
          </a:p>
          <a:p>
            <a:pPr algn="ctr"/>
            <a:endParaRPr lang="en-US" altLang="en-US" dirty="0" smtClean="0"/>
          </a:p>
          <a:p>
            <a:pPr algn="ctr"/>
            <a:endParaRPr lang="en-US" altLang="en-US" dirty="0"/>
          </a:p>
          <a:p>
            <a:pPr algn="ctr"/>
            <a:endParaRPr lang="en-US" altLang="en-US" dirty="0" smtClean="0"/>
          </a:p>
          <a:p>
            <a:pPr algn="ctr"/>
            <a:endParaRPr lang="en-US" altLang="en-US" sz="1600" b="0" dirty="0">
              <a:latin typeface="+mn-lt"/>
            </a:endParaRPr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</p:txBody>
      </p:sp>
      <p:sp>
        <p:nvSpPr>
          <p:cNvPr id="60" name="AutoShape 5"/>
          <p:cNvSpPr>
            <a:spLocks noChangeArrowheads="1"/>
          </p:cNvSpPr>
          <p:nvPr/>
        </p:nvSpPr>
        <p:spPr bwMode="auto">
          <a:xfrm>
            <a:off x="3124200" y="1676400"/>
            <a:ext cx="4714875" cy="1941346"/>
          </a:xfrm>
          <a:prstGeom prst="flowChartAlternateProcess">
            <a:avLst/>
          </a:prstGeom>
          <a:solidFill>
            <a:srgbClr val="F7F7ED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Generic Servlet Vs. HTTP Servlet</a:t>
            </a:r>
          </a:p>
        </p:txBody>
      </p:sp>
      <p:sp>
        <p:nvSpPr>
          <p:cNvPr id="4" name="AutoShape 3"/>
          <p:cNvSpPr>
            <a:spLocks noChangeAspect="1" noChangeArrowheads="1" noTextEdit="1"/>
          </p:cNvSpPr>
          <p:nvPr/>
        </p:nvSpPr>
        <p:spPr bwMode="auto">
          <a:xfrm>
            <a:off x="-2758506" y="1600199"/>
            <a:ext cx="6678613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81113" y="1755775"/>
            <a:ext cx="962025" cy="1817688"/>
          </a:xfrm>
          <a:prstGeom prst="rect">
            <a:avLst/>
          </a:prstGeom>
          <a:solidFill>
            <a:srgbClr val="E0E0E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204546" y="2223448"/>
            <a:ext cx="661987" cy="930275"/>
          </a:xfrm>
          <a:prstGeom prst="rect">
            <a:avLst/>
          </a:prstGeom>
          <a:solidFill>
            <a:srgbClr val="FFFFE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65650" y="2044700"/>
            <a:ext cx="2876550" cy="1239838"/>
          </a:xfrm>
          <a:prstGeom prst="rect">
            <a:avLst/>
          </a:prstGeom>
          <a:solidFill>
            <a:srgbClr val="FFFFFF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040313" y="2530475"/>
            <a:ext cx="1146175" cy="279400"/>
          </a:xfrm>
          <a:prstGeom prst="rect">
            <a:avLst/>
          </a:prstGeom>
          <a:solidFill>
            <a:srgbClr val="FFE0E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737100" y="1797050"/>
            <a:ext cx="123983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737100" y="1752600"/>
            <a:ext cx="12557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600" dirty="0">
                <a:solidFill>
                  <a:srgbClr val="000000"/>
                </a:solidFill>
                <a:latin typeface="+mn-lt"/>
              </a:rPr>
              <a:t>GenericServlet</a:t>
            </a:r>
            <a:endParaRPr lang="en-US" altLang="en-US" sz="1600" dirty="0">
              <a:solidFill>
                <a:srgbClr val="808080"/>
              </a:solidFill>
              <a:latin typeface="+mn-lt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113338" y="2560638"/>
            <a:ext cx="903287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113338" y="2568575"/>
            <a:ext cx="6604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300" dirty="0">
                <a:solidFill>
                  <a:srgbClr val="000000"/>
                </a:solidFill>
                <a:latin typeface="+mn-lt"/>
              </a:rPr>
              <a:t>service ( )</a:t>
            </a:r>
            <a:endParaRPr lang="en-US" altLang="en-US" b="1" dirty="0">
              <a:solidFill>
                <a:srgbClr val="808080"/>
              </a:solidFill>
              <a:latin typeface="+mn-lt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3286125" y="1982788"/>
            <a:ext cx="622300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3317544" y="2590800"/>
            <a:ext cx="4318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300" dirty="0">
                <a:solidFill>
                  <a:srgbClr val="000000"/>
                </a:solidFill>
                <a:latin typeface="+mn-lt"/>
              </a:rPr>
              <a:t>Server</a:t>
            </a:r>
            <a:endParaRPr lang="en-US" altLang="en-US" b="1" dirty="0">
              <a:solidFill>
                <a:srgbClr val="808080"/>
              </a:solidFill>
              <a:latin typeface="+mn-lt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477963" y="2143125"/>
            <a:ext cx="569912" cy="950913"/>
          </a:xfrm>
          <a:prstGeom prst="rect">
            <a:avLst/>
          </a:prstGeom>
          <a:solidFill>
            <a:srgbClr val="E0FFE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487488" y="1889125"/>
            <a:ext cx="56515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14784" y="1897063"/>
            <a:ext cx="5429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300" dirty="0">
                <a:solidFill>
                  <a:srgbClr val="000000"/>
                </a:solidFill>
                <a:latin typeface="+mn-lt"/>
              </a:rPr>
              <a:t>Client</a:t>
            </a:r>
            <a:endParaRPr lang="en-US" altLang="en-US" dirty="0">
              <a:solidFill>
                <a:srgbClr val="808080"/>
              </a:solidFill>
              <a:latin typeface="+mn-lt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341563" y="2085975"/>
            <a:ext cx="668337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341563" y="2468563"/>
            <a:ext cx="773112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281113" y="3976688"/>
            <a:ext cx="962025" cy="1819275"/>
          </a:xfrm>
          <a:prstGeom prst="rect">
            <a:avLst/>
          </a:prstGeom>
          <a:solidFill>
            <a:srgbClr val="E0E0E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3259138" y="4419600"/>
            <a:ext cx="661987" cy="941388"/>
          </a:xfrm>
          <a:prstGeom prst="rect">
            <a:avLst/>
          </a:prstGeom>
          <a:solidFill>
            <a:srgbClr val="FFFFE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525963" y="4311650"/>
            <a:ext cx="2916237" cy="1241425"/>
          </a:xfrm>
          <a:prstGeom prst="rect">
            <a:avLst/>
          </a:prstGeom>
          <a:solidFill>
            <a:srgbClr val="FFFFFF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4757738" y="4792663"/>
            <a:ext cx="1146175" cy="279400"/>
          </a:xfrm>
          <a:prstGeom prst="rect">
            <a:avLst/>
          </a:prstGeom>
          <a:solidFill>
            <a:srgbClr val="FFE0E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4879975" y="4781550"/>
            <a:ext cx="9032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4879975" y="4830763"/>
            <a:ext cx="6604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300" dirty="0">
                <a:solidFill>
                  <a:srgbClr val="000000"/>
                </a:solidFill>
                <a:latin typeface="+mn-lt"/>
              </a:rPr>
              <a:t>service ( )</a:t>
            </a:r>
            <a:endParaRPr lang="en-US" altLang="en-US" b="1" dirty="0">
              <a:solidFill>
                <a:srgbClr val="808080"/>
              </a:solidFill>
              <a:latin typeface="+mn-lt"/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3260725" y="4203700"/>
            <a:ext cx="1065213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3402013" y="4724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300" dirty="0">
                <a:solidFill>
                  <a:srgbClr val="000000"/>
                </a:solidFill>
              </a:rPr>
              <a:t>HTTP</a:t>
            </a:r>
            <a:r>
              <a:rPr lang="en-US" altLang="en-US" sz="13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en-US" sz="1300" dirty="0">
                <a:solidFill>
                  <a:srgbClr val="000000"/>
                </a:solidFill>
              </a:rPr>
              <a:t>Server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1497013" y="4419600"/>
            <a:ext cx="569912" cy="950913"/>
          </a:xfrm>
          <a:prstGeom prst="rect">
            <a:avLst/>
          </a:prstGeom>
          <a:solidFill>
            <a:srgbClr val="E0FFE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1497013" y="4111625"/>
            <a:ext cx="73025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1447800" y="4117975"/>
            <a:ext cx="6858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300" dirty="0">
                <a:solidFill>
                  <a:srgbClr val="000000"/>
                </a:solidFill>
                <a:latin typeface="+mn-lt"/>
              </a:rPr>
              <a:t>Browser</a:t>
            </a:r>
            <a:endParaRPr lang="en-US" altLang="en-US" dirty="0">
              <a:solidFill>
                <a:srgbClr val="808080"/>
              </a:solidFill>
              <a:latin typeface="+mn-lt"/>
            </a:endParaRP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2341563" y="4306888"/>
            <a:ext cx="668337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2341563" y="4525963"/>
            <a:ext cx="6032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300" dirty="0">
                <a:latin typeface="+mn-lt"/>
              </a:rPr>
              <a:t>request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2341563" y="4689475"/>
            <a:ext cx="773112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2335213" y="5135563"/>
            <a:ext cx="6127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300" dirty="0">
                <a:latin typeface="+mn-lt"/>
              </a:rPr>
              <a:t>response</a:t>
            </a: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6445250" y="4419600"/>
            <a:ext cx="811213" cy="363538"/>
          </a:xfrm>
          <a:prstGeom prst="rect">
            <a:avLst/>
          </a:prstGeom>
          <a:solidFill>
            <a:srgbClr val="E0FFFF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6462713" y="5065713"/>
            <a:ext cx="811212" cy="344487"/>
          </a:xfrm>
          <a:prstGeom prst="rect">
            <a:avLst/>
          </a:prstGeom>
          <a:solidFill>
            <a:srgbClr val="E0FFFF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6580188" y="4495800"/>
            <a:ext cx="67627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300" dirty="0" err="1" smtClean="0">
                <a:solidFill>
                  <a:srgbClr val="000000"/>
                </a:solidFill>
                <a:latin typeface="+mn-lt"/>
              </a:rPr>
              <a:t>doGet</a:t>
            </a:r>
            <a:r>
              <a:rPr lang="en-US" altLang="en-US" sz="1300" dirty="0" smtClean="0">
                <a:solidFill>
                  <a:srgbClr val="000000"/>
                </a:solidFill>
                <a:latin typeface="+mn-lt"/>
              </a:rPr>
              <a:t>()</a:t>
            </a:r>
            <a:endParaRPr lang="en-US" altLang="en-US" b="1" dirty="0">
              <a:solidFill>
                <a:srgbClr val="808080"/>
              </a:solidFill>
              <a:latin typeface="+mn-lt"/>
            </a:endParaRP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465888" y="5146675"/>
            <a:ext cx="808037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AutoShape 45"/>
          <p:cNvSpPr>
            <a:spLocks noChangeArrowheads="1"/>
          </p:cNvSpPr>
          <p:nvPr/>
        </p:nvSpPr>
        <p:spPr bwMode="auto">
          <a:xfrm>
            <a:off x="2315672" y="4724400"/>
            <a:ext cx="757028" cy="152400"/>
          </a:xfrm>
          <a:prstGeom prst="rightArrow">
            <a:avLst>
              <a:gd name="adj1" fmla="val 50000"/>
              <a:gd name="adj2" fmla="val 200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47" name="AutoShape 46"/>
          <p:cNvSpPr>
            <a:spLocks noChangeArrowheads="1"/>
          </p:cNvSpPr>
          <p:nvPr/>
        </p:nvSpPr>
        <p:spPr bwMode="auto">
          <a:xfrm rot="10800000">
            <a:off x="2210000" y="4953000"/>
            <a:ext cx="832731" cy="152400"/>
          </a:xfrm>
          <a:prstGeom prst="rightArrow">
            <a:avLst>
              <a:gd name="adj1" fmla="val 50000"/>
              <a:gd name="adj2" fmla="val 200000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2341563" y="1981200"/>
            <a:ext cx="668337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2341563" y="2200275"/>
            <a:ext cx="6032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300" dirty="0">
                <a:latin typeface="+mn-lt"/>
              </a:rPr>
              <a:t>request</a:t>
            </a:r>
            <a:endParaRPr lang="en-US" altLang="en-US" dirty="0">
              <a:latin typeface="+mn-lt"/>
            </a:endParaRP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2341563" y="2363788"/>
            <a:ext cx="773112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2335213" y="2809875"/>
            <a:ext cx="62491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300" dirty="0">
                <a:latin typeface="+mn-lt"/>
              </a:rPr>
              <a:t>response</a:t>
            </a:r>
            <a:endParaRPr lang="en-US" altLang="en-US" dirty="0">
              <a:latin typeface="+mn-lt"/>
            </a:endParaRPr>
          </a:p>
        </p:txBody>
      </p:sp>
      <p:sp>
        <p:nvSpPr>
          <p:cNvPr id="52" name="AutoShape 51"/>
          <p:cNvSpPr>
            <a:spLocks noChangeArrowheads="1"/>
          </p:cNvSpPr>
          <p:nvPr/>
        </p:nvSpPr>
        <p:spPr bwMode="auto">
          <a:xfrm>
            <a:off x="2291469" y="2398713"/>
            <a:ext cx="832731" cy="152400"/>
          </a:xfrm>
          <a:prstGeom prst="rightArrow">
            <a:avLst>
              <a:gd name="adj1" fmla="val 50000"/>
              <a:gd name="adj2" fmla="val 20000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3" name="AutoShape 52"/>
          <p:cNvSpPr>
            <a:spLocks noChangeArrowheads="1"/>
          </p:cNvSpPr>
          <p:nvPr/>
        </p:nvSpPr>
        <p:spPr bwMode="auto">
          <a:xfrm rot="10800000">
            <a:off x="2275147" y="2667000"/>
            <a:ext cx="757028" cy="152400"/>
          </a:xfrm>
          <a:prstGeom prst="rightArrow">
            <a:avLst>
              <a:gd name="adj1" fmla="val 50000"/>
              <a:gd name="adj2" fmla="val 200000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54" name="AutoShape 53"/>
          <p:cNvSpPr>
            <a:spLocks noChangeArrowheads="1"/>
          </p:cNvSpPr>
          <p:nvPr/>
        </p:nvSpPr>
        <p:spPr bwMode="auto">
          <a:xfrm rot="20069168">
            <a:off x="5916613" y="46482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6600">
              <a:alpha val="50000"/>
            </a:srgbClr>
          </a:solidFill>
          <a:ln w="9525" algn="ctr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AutoShape 54"/>
          <p:cNvSpPr>
            <a:spLocks noChangeArrowheads="1"/>
          </p:cNvSpPr>
          <p:nvPr/>
        </p:nvSpPr>
        <p:spPr bwMode="auto">
          <a:xfrm rot="1628207">
            <a:off x="5916613" y="502920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FF6600">
              <a:alpha val="50000"/>
            </a:srgbClr>
          </a:solidFill>
          <a:ln w="9525" algn="ctr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Line 55"/>
          <p:cNvSpPr>
            <a:spLocks noChangeShapeType="1"/>
          </p:cNvSpPr>
          <p:nvPr/>
        </p:nvSpPr>
        <p:spPr bwMode="auto">
          <a:xfrm>
            <a:off x="3886200" y="2514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56"/>
          <p:cNvSpPr>
            <a:spLocks noChangeShapeType="1"/>
          </p:cNvSpPr>
          <p:nvPr/>
        </p:nvSpPr>
        <p:spPr bwMode="auto">
          <a:xfrm flipH="1">
            <a:off x="3872552" y="2819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57"/>
          <p:cNvSpPr>
            <a:spLocks noChangeShapeType="1"/>
          </p:cNvSpPr>
          <p:nvPr/>
        </p:nvSpPr>
        <p:spPr bwMode="auto">
          <a:xfrm>
            <a:off x="3964279" y="4724400"/>
            <a:ext cx="56677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Line 58"/>
          <p:cNvSpPr>
            <a:spLocks noChangeShapeType="1"/>
          </p:cNvSpPr>
          <p:nvPr/>
        </p:nvSpPr>
        <p:spPr bwMode="auto">
          <a:xfrm flipH="1">
            <a:off x="3927557" y="5105400"/>
            <a:ext cx="55418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6531768" y="5137928"/>
            <a:ext cx="67627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300" dirty="0" err="1" smtClean="0">
                <a:solidFill>
                  <a:srgbClr val="000000"/>
                </a:solidFill>
                <a:latin typeface="+mn-lt"/>
              </a:rPr>
              <a:t>doPost</a:t>
            </a:r>
            <a:r>
              <a:rPr lang="en-US" altLang="en-US" sz="1300" dirty="0" smtClean="0">
                <a:solidFill>
                  <a:srgbClr val="000000"/>
                </a:solidFill>
                <a:latin typeface="+mn-lt"/>
              </a:rPr>
              <a:t>()</a:t>
            </a:r>
            <a:endParaRPr lang="en-US" altLang="en-US" b="1" dirty="0">
              <a:solidFill>
                <a:srgbClr val="808080"/>
              </a:solidFill>
              <a:latin typeface="+mn-lt"/>
            </a:endParaRP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4736566" y="3957478"/>
            <a:ext cx="12557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96875" indent="-396875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en-US" sz="1600" dirty="0" smtClean="0">
                <a:solidFill>
                  <a:srgbClr val="000000"/>
                </a:solidFill>
                <a:latin typeface="+mn-lt"/>
              </a:rPr>
              <a:t>HTTPServlet</a:t>
            </a:r>
            <a:endParaRPr lang="en-US" altLang="en-US" sz="1600" dirty="0">
              <a:solidFill>
                <a:srgbClr val="80808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51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Interface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javax.servlet.Servlet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63500" algn="ctr" rotWithShape="0">
                  <a:prstClr val="black">
                    <a:alpha val="14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</a:t>
            </a:r>
            <a:r>
              <a:rPr lang="en-US" sz="2000" dirty="0"/>
              <a:t>Servlet interface defines </a:t>
            </a:r>
            <a:r>
              <a:rPr lang="en-US" sz="2000" dirty="0" smtClean="0"/>
              <a:t>methods</a:t>
            </a:r>
          </a:p>
          <a:p>
            <a:pPr lvl="1"/>
            <a:r>
              <a:rPr lang="en-US" sz="1800" dirty="0"/>
              <a:t>to initialize a </a:t>
            </a:r>
            <a:r>
              <a:rPr lang="en-US" sz="1800" dirty="0" smtClean="0"/>
              <a:t>servlet</a:t>
            </a:r>
          </a:p>
          <a:p>
            <a:pPr lvl="1"/>
            <a:r>
              <a:rPr lang="en-US" sz="1800" dirty="0"/>
              <a:t>to receive and respond to client requests </a:t>
            </a:r>
            <a:endParaRPr lang="en-US" sz="1800" dirty="0" smtClean="0"/>
          </a:p>
          <a:p>
            <a:pPr lvl="1"/>
            <a:r>
              <a:rPr lang="en-US" sz="1800" dirty="0"/>
              <a:t>to destroy a servlet and its </a:t>
            </a:r>
            <a:r>
              <a:rPr lang="en-US" sz="1800" dirty="0" smtClean="0"/>
              <a:t>resources</a:t>
            </a:r>
          </a:p>
          <a:p>
            <a:pPr lvl="1"/>
            <a:r>
              <a:rPr lang="en-US" sz="1800" dirty="0"/>
              <a:t>to destroy a servlet and its </a:t>
            </a:r>
            <a:r>
              <a:rPr lang="en-US" sz="1800" dirty="0" smtClean="0"/>
              <a:t>resources</a:t>
            </a:r>
          </a:p>
          <a:p>
            <a:pPr lvl="1"/>
            <a:r>
              <a:rPr lang="en-US" sz="1800" dirty="0"/>
              <a:t> to return basic information about itself, such as its author, version </a:t>
            </a:r>
            <a:r>
              <a:rPr lang="en-US" sz="1800" dirty="0" smtClean="0"/>
              <a:t>and </a:t>
            </a:r>
            <a:r>
              <a:rPr lang="en-US" sz="1800" dirty="0"/>
              <a:t>copyright </a:t>
            </a:r>
            <a:endParaRPr lang="en-US" sz="1800" dirty="0" smtClean="0"/>
          </a:p>
          <a:p>
            <a:pPr lvl="1"/>
            <a:endParaRPr lang="en-US" sz="2000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Developers need to directly implement this interface only if their servlets cannot (or choose not to) inherit from GenericServlet or </a:t>
            </a:r>
            <a:r>
              <a:rPr lang="en-US" sz="2000" dirty="0" err="1">
                <a:solidFill>
                  <a:prstClr val="black"/>
                </a:solidFill>
              </a:rPr>
              <a:t>HttpServlet</a:t>
            </a:r>
            <a:r>
              <a:rPr lang="en-US" sz="2000" dirty="0">
                <a:solidFill>
                  <a:prstClr val="black"/>
                </a:solidFill>
              </a:rPr>
              <a:t>.</a:t>
            </a:r>
          </a:p>
          <a:p>
            <a:pPr marL="457200" lvl="1" indent="0"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0764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Generic Servlet - Methods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72390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557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Servlet Functions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/>
              <a:t>Act as a middle-tier process</a:t>
            </a:r>
          </a:p>
          <a:p>
            <a:pPr algn="just"/>
            <a:r>
              <a:rPr lang="en-US" dirty="0"/>
              <a:t>Act as proxies to client process such as Applets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 Protocol Support- Any protocol that follows a request/response computing model can be implemented by a servlet. This could include : HTTP , SMTP, POP, FTP , etc.</a:t>
            </a:r>
          </a:p>
        </p:txBody>
      </p:sp>
    </p:spTree>
    <p:extLst>
      <p:ext uri="{BB962C8B-B14F-4D97-AF65-F5344CB8AC3E}">
        <p14:creationId xmlns:p14="http://schemas.microsoft.com/office/powerpoint/2010/main" val="579475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Characteristics of Servlets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Servlets are efficient</a:t>
            </a:r>
          </a:p>
          <a:p>
            <a:pPr lvl="0"/>
            <a:r>
              <a:rPr lang="en-US" dirty="0"/>
              <a:t>Servlets are portable</a:t>
            </a:r>
          </a:p>
          <a:p>
            <a:pPr lvl="0"/>
            <a:r>
              <a:rPr lang="en-US" dirty="0"/>
              <a:t>Servlets are robust</a:t>
            </a:r>
          </a:p>
          <a:p>
            <a:pPr lvl="0"/>
            <a:r>
              <a:rPr lang="en-US" dirty="0"/>
              <a:t>Servlets are persistence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2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 Container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2211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Servlets run inside a special container called the servlet container as part of the same process as the web server itself.</a:t>
            </a:r>
            <a:endParaRPr lang="en-US" sz="2400" dirty="0"/>
          </a:p>
          <a:p>
            <a:pPr lvl="0"/>
            <a:r>
              <a:rPr lang="en-US" dirty="0"/>
              <a:t>The servlet container is responsible for initializing , invoking, and destroying each servlet instance.</a:t>
            </a:r>
            <a:endParaRPr lang="en-US" sz="2400" dirty="0"/>
          </a:p>
          <a:p>
            <a:pPr lvl="0"/>
            <a:r>
              <a:rPr lang="en-US" dirty="0"/>
              <a:t>Three primary tasks of the servlet container :</a:t>
            </a:r>
            <a:endParaRPr lang="en-US" sz="2400" dirty="0"/>
          </a:p>
          <a:p>
            <a:pPr lvl="1"/>
            <a:r>
              <a:rPr lang="en-US" dirty="0"/>
              <a:t>Creating the Request Object</a:t>
            </a:r>
            <a:r>
              <a:rPr lang="en-US" dirty="0" smtClean="0"/>
              <a:t>.</a:t>
            </a:r>
          </a:p>
          <a:p>
            <a:pPr lvl="1"/>
            <a:r>
              <a:rPr lang="en-US" sz="2000" dirty="0"/>
              <a:t>Creating the Response  Object.</a:t>
            </a:r>
          </a:p>
          <a:p>
            <a:pPr lvl="1"/>
            <a:r>
              <a:rPr lang="en-US" sz="2000" dirty="0"/>
              <a:t>Invoking the service method of the servlet, passing the request and response objects.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343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Servlet Life Cycle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200400" y="1600200"/>
            <a:ext cx="2286000" cy="46482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429000" y="1981200"/>
            <a:ext cx="18288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b="1" dirty="0"/>
              <a:t>Initialization</a:t>
            </a:r>
          </a:p>
          <a:p>
            <a:pPr algn="ctr" eaLnBrk="0" hangingPunct="0"/>
            <a:r>
              <a:rPr lang="en-US" altLang="en-US" sz="1400" b="1" dirty="0" err="1"/>
              <a:t>init</a:t>
            </a:r>
            <a:r>
              <a:rPr lang="en-US" altLang="en-US" sz="1400" b="1" dirty="0"/>
              <a:t>()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429000" y="3048000"/>
            <a:ext cx="18288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b="1" dirty="0"/>
              <a:t>Service</a:t>
            </a:r>
          </a:p>
          <a:p>
            <a:pPr algn="ctr" eaLnBrk="0" hangingPunct="0"/>
            <a:r>
              <a:rPr lang="en-US" altLang="en-US" sz="1400" b="1" dirty="0"/>
              <a:t>service()</a:t>
            </a:r>
          </a:p>
          <a:p>
            <a:pPr algn="ctr" eaLnBrk="0" hangingPunct="0"/>
            <a:endParaRPr lang="en-US" altLang="en-US" sz="1400" b="1" dirty="0"/>
          </a:p>
          <a:p>
            <a:pPr algn="ctr" eaLnBrk="0" hangingPunct="0"/>
            <a:r>
              <a:rPr lang="en-US" altLang="en-US" sz="1400" b="1" dirty="0" err="1"/>
              <a:t>doGet</a:t>
            </a:r>
            <a:r>
              <a:rPr lang="en-US" altLang="en-US" sz="1400" b="1" dirty="0"/>
              <a:t>()</a:t>
            </a:r>
          </a:p>
          <a:p>
            <a:pPr algn="ctr" eaLnBrk="0" hangingPunct="0"/>
            <a:r>
              <a:rPr lang="en-US" altLang="en-US" sz="1400" b="1" dirty="0" err="1" smtClean="0"/>
              <a:t>doPost</a:t>
            </a:r>
            <a:r>
              <a:rPr lang="en-US" altLang="en-US" sz="1400" b="1" dirty="0"/>
              <a:t>()</a:t>
            </a:r>
          </a:p>
          <a:p>
            <a:pPr algn="ctr" eaLnBrk="0" hangingPunct="0"/>
            <a:r>
              <a:rPr lang="en-US" altLang="en-US" sz="1400" b="1" dirty="0" err="1" smtClean="0"/>
              <a:t>doDelete</a:t>
            </a:r>
            <a:r>
              <a:rPr lang="en-US" altLang="en-US" sz="1400" b="1" dirty="0"/>
              <a:t>()</a:t>
            </a:r>
          </a:p>
          <a:p>
            <a:pPr algn="ctr" eaLnBrk="0" hangingPunct="0"/>
            <a:r>
              <a:rPr lang="en-US" altLang="en-US" sz="1400" b="1" dirty="0" err="1" smtClean="0"/>
              <a:t>doHead</a:t>
            </a:r>
            <a:r>
              <a:rPr lang="en-US" altLang="en-US" sz="1400" b="1" dirty="0"/>
              <a:t>()</a:t>
            </a:r>
          </a:p>
          <a:p>
            <a:pPr algn="ctr" eaLnBrk="0" hangingPunct="0"/>
            <a:r>
              <a:rPr lang="en-US" altLang="en-US" sz="1400" b="1" dirty="0" err="1" smtClean="0"/>
              <a:t>doTrace</a:t>
            </a:r>
            <a:r>
              <a:rPr lang="en-US" altLang="en-US" sz="1400" b="1" dirty="0"/>
              <a:t>()</a:t>
            </a:r>
          </a:p>
          <a:p>
            <a:pPr algn="ctr" eaLnBrk="0" hangingPunct="0"/>
            <a:r>
              <a:rPr lang="en-US" altLang="en-US" sz="1400" b="1" dirty="0" err="1" smtClean="0"/>
              <a:t>doOptions</a:t>
            </a:r>
            <a:r>
              <a:rPr lang="en-US" altLang="en-US" sz="1400" b="1" dirty="0"/>
              <a:t>()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429000" y="5334000"/>
            <a:ext cx="18288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b="1" dirty="0"/>
              <a:t>Destruction</a:t>
            </a:r>
          </a:p>
          <a:p>
            <a:pPr algn="ctr" eaLnBrk="0" hangingPunct="0"/>
            <a:r>
              <a:rPr lang="en-US" altLang="en-US" sz="1400" b="1" dirty="0"/>
              <a:t>destroy()</a:t>
            </a:r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5334000" y="4000500"/>
            <a:ext cx="450850" cy="304800"/>
            <a:chOff x="3216" y="2064"/>
            <a:chExt cx="912" cy="192"/>
          </a:xfrm>
        </p:grpSpPr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3216" y="2064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3216" y="2160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3216" y="225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797550" y="3656013"/>
            <a:ext cx="134395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dirty="0">
                <a:solidFill>
                  <a:srgbClr val="1D04DA"/>
                </a:solidFill>
              </a:rPr>
              <a:t>Concurrent </a:t>
            </a:r>
          </a:p>
          <a:p>
            <a:pPr eaLnBrk="0" hangingPunct="0"/>
            <a:r>
              <a:rPr lang="en-US" altLang="en-US" dirty="0">
                <a:solidFill>
                  <a:srgbClr val="1D04DA"/>
                </a:solidFill>
              </a:rPr>
              <a:t>Threads</a:t>
            </a:r>
          </a:p>
          <a:p>
            <a:pPr eaLnBrk="0" hangingPunct="0"/>
            <a:r>
              <a:rPr lang="en-US" altLang="en-US" dirty="0">
                <a:solidFill>
                  <a:srgbClr val="1D04DA"/>
                </a:solidFill>
              </a:rPr>
              <a:t>of Execution</a:t>
            </a:r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4343400" y="2590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>
            <a:off x="4267200" y="3581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6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HTTPServlet</a:t>
            </a:r>
            <a:r>
              <a:rPr lang="en-US" dirty="0" smtClean="0"/>
              <a:t> -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Methods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726757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259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Servlet Request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200" dirty="0" smtClean="0"/>
              <a:t>Provides </a:t>
            </a:r>
            <a:r>
              <a:rPr lang="en-US" sz="2200" dirty="0"/>
              <a:t>client request information to a </a:t>
            </a:r>
            <a:r>
              <a:rPr lang="en-US" sz="2200" dirty="0" smtClean="0"/>
              <a:t>servlet</a:t>
            </a:r>
          </a:p>
          <a:p>
            <a:endParaRPr lang="en-US" sz="2200" dirty="0" smtClean="0"/>
          </a:p>
          <a:p>
            <a:r>
              <a:rPr lang="en-US" sz="2200" dirty="0" smtClean="0"/>
              <a:t>The </a:t>
            </a:r>
            <a:r>
              <a:rPr lang="en-US" sz="2200" dirty="0"/>
              <a:t>servlet container creates a servlet request object and passes it as an argument to the servlet's service </a:t>
            </a:r>
            <a:r>
              <a:rPr lang="en-US" sz="2200" dirty="0" smtClean="0"/>
              <a:t>method</a:t>
            </a:r>
          </a:p>
          <a:p>
            <a:endParaRPr lang="en-US" sz="2200" dirty="0" smtClean="0"/>
          </a:p>
          <a:p>
            <a:r>
              <a:rPr lang="en-US" sz="2200" dirty="0"/>
              <a:t>The </a:t>
            </a:r>
            <a:r>
              <a:rPr lang="en-US" sz="2200" dirty="0" err="1"/>
              <a:t>ServletRequest</a:t>
            </a:r>
            <a:r>
              <a:rPr lang="en-US" sz="2200" dirty="0"/>
              <a:t> interface define methods to retrieve data sent as client request:  </a:t>
            </a:r>
          </a:p>
          <a:p>
            <a:pPr lvl="1"/>
            <a:r>
              <a:rPr lang="en-US" sz="1700" dirty="0"/>
              <a:t>Parameter name and values</a:t>
            </a:r>
          </a:p>
          <a:p>
            <a:pPr lvl="1"/>
            <a:r>
              <a:rPr lang="en-US" sz="1700" dirty="0"/>
              <a:t>Attributes</a:t>
            </a:r>
          </a:p>
          <a:p>
            <a:pPr lvl="1"/>
            <a:r>
              <a:rPr lang="en-US" sz="1700" dirty="0"/>
              <a:t>Input stream</a:t>
            </a:r>
          </a:p>
          <a:p>
            <a:endParaRPr lang="en-US" sz="2200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en-US" sz="2200" dirty="0"/>
              <a:t>HTTPServletRequest extends the </a:t>
            </a:r>
            <a:r>
              <a:rPr lang="en-US" altLang="en-US" sz="2200" dirty="0" err="1"/>
              <a:t>ServletRequest</a:t>
            </a:r>
            <a:r>
              <a:rPr lang="en-US" altLang="en-US" sz="2200" dirty="0"/>
              <a:t> interface to provide request information for HTTP servlets </a:t>
            </a:r>
          </a:p>
          <a:p>
            <a:pPr marL="0" indent="0">
              <a:buNone/>
            </a:pPr>
            <a:endParaRPr lang="en-US" sz="2800" dirty="0" smtClean="0"/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0428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HTTPServletRequest - Methods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20199"/>
            <a:ext cx="8229600" cy="4223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264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HTTPServletRequest - Methods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7504869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964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Servlet Response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Defines an object to assist a servlet in sending a response to the </a:t>
            </a:r>
            <a:r>
              <a:rPr lang="en-US" sz="2000" dirty="0" smtClean="0"/>
              <a:t>client</a:t>
            </a:r>
          </a:p>
          <a:p>
            <a:endParaRPr lang="en-US" sz="2000" dirty="0"/>
          </a:p>
          <a:p>
            <a:r>
              <a:rPr lang="en-US" sz="2000" dirty="0"/>
              <a:t>The servlet container creates a </a:t>
            </a:r>
            <a:r>
              <a:rPr lang="en-US" sz="2000" dirty="0" err="1"/>
              <a:t>ServletResponse</a:t>
            </a:r>
            <a:r>
              <a:rPr lang="en-US" sz="2000" dirty="0"/>
              <a:t> object and passes it as an argument to the servlet's service </a:t>
            </a:r>
            <a:r>
              <a:rPr lang="en-US" sz="2000" dirty="0" smtClean="0"/>
              <a:t>method </a:t>
            </a:r>
            <a:endParaRPr lang="en-US" sz="2000" dirty="0"/>
          </a:p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709" y="3657600"/>
            <a:ext cx="2948891" cy="2362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777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HttpServletResponse - Methods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5" y="1724025"/>
            <a:ext cx="8272463" cy="437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624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Write the Servlet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US" altLang="en-US" sz="2000" dirty="0"/>
              <a:t>Servlets implement the </a:t>
            </a:r>
            <a:r>
              <a:rPr lang="en-US" altLang="en-US" sz="2000" dirty="0" err="1">
                <a:hlinkClick r:id="rId2"/>
              </a:rPr>
              <a:t>javax.servlet.Servlet</a:t>
            </a:r>
            <a:r>
              <a:rPr lang="en-US" altLang="en-US" sz="2000" dirty="0"/>
              <a:t> </a:t>
            </a:r>
            <a:r>
              <a:rPr lang="en-US" altLang="en-US" sz="2000" dirty="0" smtClean="0"/>
              <a:t>interface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altLang="en-US" sz="2000" dirty="0" smtClean="0"/>
          </a:p>
          <a:p>
            <a:pPr algn="just">
              <a:lnSpc>
                <a:spcPct val="80000"/>
              </a:lnSpc>
            </a:pPr>
            <a:r>
              <a:rPr lang="en-US" altLang="en-US" sz="2000" dirty="0" smtClean="0"/>
              <a:t>Because most servlets extend web servers that use the HTTP protocol to interact with clients, the most common way to develop servlets is by specializing the </a:t>
            </a:r>
            <a:r>
              <a:rPr lang="en-US" altLang="en-US" sz="2000" dirty="0" err="1" smtClean="0">
                <a:hlinkClick r:id="rId3"/>
              </a:rPr>
              <a:t>javax.servlet.http.HttpServlet</a:t>
            </a:r>
            <a:r>
              <a:rPr lang="en-US" altLang="en-US" sz="2000" dirty="0" smtClean="0"/>
              <a:t> class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dirty="0" smtClean="0"/>
              <a:t> </a:t>
            </a:r>
          </a:p>
          <a:p>
            <a:pPr algn="just">
              <a:lnSpc>
                <a:spcPct val="80000"/>
              </a:lnSpc>
            </a:pPr>
            <a:r>
              <a:rPr lang="en-US" altLang="en-US" sz="2000" dirty="0" smtClean="0"/>
              <a:t>The </a:t>
            </a:r>
            <a:r>
              <a:rPr lang="en-US" altLang="en-US" sz="2000" dirty="0" err="1"/>
              <a:t>HttpServlet</a:t>
            </a:r>
            <a:r>
              <a:rPr lang="en-US" altLang="en-US" sz="2000" dirty="0"/>
              <a:t> class implements the Servlet interface by extending the GenericServlet base class, and provides a framework for handling the HTTP protocol. </a:t>
            </a:r>
            <a:endParaRPr lang="en-US" altLang="en-US" sz="2000" dirty="0" smtClean="0"/>
          </a:p>
          <a:p>
            <a:pPr algn="just">
              <a:lnSpc>
                <a:spcPct val="80000"/>
              </a:lnSpc>
            </a:pPr>
            <a:endParaRPr lang="en-US" altLang="en-US" sz="2000" dirty="0"/>
          </a:p>
          <a:p>
            <a:pPr algn="just">
              <a:lnSpc>
                <a:spcPct val="80000"/>
              </a:lnSpc>
            </a:pPr>
            <a:r>
              <a:rPr lang="en-US" altLang="en-US" sz="2000" dirty="0"/>
              <a:t>Its service() method supports standard HTTP requests by dispatching each request to a method designed to handle it. </a:t>
            </a:r>
          </a:p>
          <a:p>
            <a:pPr>
              <a:lnSpc>
                <a:spcPct val="80000"/>
              </a:lnSpc>
            </a:pPr>
            <a:endParaRPr lang="en-US" alt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99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by step servlet Designing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686800" cy="5059363"/>
          </a:xfrm>
        </p:spPr>
        <p:txBody>
          <a:bodyPr>
            <a:noAutofit/>
          </a:bodyPr>
          <a:lstStyle/>
          <a:p>
            <a:pPr lvl="0" algn="just"/>
            <a:r>
              <a:rPr lang="en-US" sz="2000" dirty="0"/>
              <a:t>Import packages which contain classes that are use by servlet</a:t>
            </a:r>
          </a:p>
          <a:p>
            <a:pPr lvl="0" algn="just"/>
            <a:r>
              <a:rPr lang="en-US" sz="2000" dirty="0"/>
              <a:t>Declare the servlet class which extends </a:t>
            </a:r>
            <a:r>
              <a:rPr lang="en-US" sz="2000" dirty="0" err="1"/>
              <a:t>javax.servlet.http.HTTPServlet</a:t>
            </a:r>
            <a:r>
              <a:rPr lang="en-US" sz="2000" dirty="0"/>
              <a:t>.</a:t>
            </a:r>
          </a:p>
          <a:p>
            <a:pPr lvl="0" algn="just"/>
            <a:r>
              <a:rPr lang="en-US" sz="2000" dirty="0"/>
              <a:t>Over ride </a:t>
            </a:r>
            <a:r>
              <a:rPr lang="en-US" sz="2000" dirty="0" err="1"/>
              <a:t>HTTPServlet</a:t>
            </a:r>
            <a:r>
              <a:rPr lang="en-US" sz="2000" dirty="0"/>
              <a:t> </a:t>
            </a:r>
            <a:r>
              <a:rPr lang="en-US" sz="2000" dirty="0" err="1"/>
              <a:t>doGet</a:t>
            </a:r>
            <a:r>
              <a:rPr lang="en-US" sz="2000" dirty="0"/>
              <a:t> (), </a:t>
            </a:r>
            <a:r>
              <a:rPr lang="en-US" sz="2000" dirty="0" err="1"/>
              <a:t>doPost</a:t>
            </a:r>
            <a:r>
              <a:rPr lang="en-US" sz="2000" dirty="0"/>
              <a:t>()</a:t>
            </a:r>
          </a:p>
          <a:p>
            <a:pPr lvl="0" algn="just"/>
            <a:r>
              <a:rPr lang="en-US" sz="2000" dirty="0"/>
              <a:t>In </a:t>
            </a:r>
            <a:r>
              <a:rPr lang="en-US" sz="2000" dirty="0" err="1"/>
              <a:t>doGet</a:t>
            </a:r>
            <a:r>
              <a:rPr lang="en-US" sz="2000" dirty="0"/>
              <a:t>() or </a:t>
            </a:r>
            <a:r>
              <a:rPr lang="en-US" sz="2000" dirty="0" err="1"/>
              <a:t>doPost</a:t>
            </a:r>
            <a:r>
              <a:rPr lang="en-US" sz="2000" dirty="0"/>
              <a:t>() use set </a:t>
            </a:r>
            <a:r>
              <a:rPr lang="en-US" sz="2000" dirty="0" err="1"/>
              <a:t>contentType</a:t>
            </a:r>
            <a:r>
              <a:rPr lang="en-US" sz="2000" dirty="0"/>
              <a:t> () of the </a:t>
            </a:r>
            <a:r>
              <a:rPr lang="en-US" sz="2000" dirty="0" err="1"/>
              <a:t>HTTPServlet</a:t>
            </a:r>
            <a:r>
              <a:rPr lang="en-US" sz="2000" dirty="0"/>
              <a:t> response object to set the contain type of the response that we are going to send. All response headers must be set before a </a:t>
            </a:r>
            <a:r>
              <a:rPr lang="en-US" sz="2000" dirty="0" err="1"/>
              <a:t>PrintWriter</a:t>
            </a:r>
            <a:r>
              <a:rPr lang="en-US" sz="2000" dirty="0"/>
              <a:t> is requested to write body data to the response.</a:t>
            </a:r>
          </a:p>
          <a:p>
            <a:pPr lvl="0" algn="just"/>
            <a:r>
              <a:rPr lang="en-US" sz="2000" dirty="0"/>
              <a:t>Now obtain a </a:t>
            </a:r>
            <a:r>
              <a:rPr lang="en-US" sz="2000" dirty="0" err="1" smtClean="0"/>
              <a:t>PrintWriter</a:t>
            </a:r>
            <a:r>
              <a:rPr lang="en-US" sz="2000" dirty="0" smtClean="0"/>
              <a:t> </a:t>
            </a:r>
            <a:r>
              <a:rPr lang="en-US" sz="2000" dirty="0"/>
              <a:t>object from </a:t>
            </a:r>
            <a:r>
              <a:rPr lang="en-US" sz="2000" dirty="0" err="1"/>
              <a:t>ServletResponse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	</a:t>
            </a:r>
            <a:r>
              <a:rPr lang="en-US" sz="2000" dirty="0" smtClean="0"/>
              <a:t>	 </a:t>
            </a:r>
            <a:r>
              <a:rPr lang="en-US" sz="2000" dirty="0" err="1" smtClean="0"/>
              <a:t>PrintWriter</a:t>
            </a:r>
            <a:r>
              <a:rPr lang="en-US" sz="2000" dirty="0" smtClean="0"/>
              <a:t> </a:t>
            </a:r>
            <a:r>
              <a:rPr lang="en-US" sz="2000" dirty="0"/>
              <a:t>out=</a:t>
            </a:r>
            <a:r>
              <a:rPr lang="en-US" sz="2000" dirty="0" err="1"/>
              <a:t>res.getWriter</a:t>
            </a:r>
            <a:r>
              <a:rPr lang="en-US" sz="2000" dirty="0"/>
              <a:t> ();</a:t>
            </a:r>
          </a:p>
          <a:p>
            <a:pPr lvl="0" algn="just"/>
            <a:r>
              <a:rPr lang="en-US" sz="2000" dirty="0"/>
              <a:t>Use the </a:t>
            </a:r>
            <a:r>
              <a:rPr lang="en-US" sz="2000" dirty="0" err="1"/>
              <a:t>PrintWriter</a:t>
            </a:r>
            <a:r>
              <a:rPr lang="en-US" sz="2000" dirty="0"/>
              <a:t> to write a text or </a:t>
            </a:r>
            <a:r>
              <a:rPr lang="en-US" sz="2000" dirty="0" smtClean="0"/>
              <a:t>text/html</a:t>
            </a:r>
            <a:r>
              <a:rPr lang="en-US" sz="2000" dirty="0" smtClean="0">
                <a:sym typeface="Wingdings" panose="05000000000000000000" pitchFamily="2" charset="2"/>
              </a:rPr>
              <a:t>       </a:t>
            </a:r>
            <a:r>
              <a:rPr lang="en-US" sz="2000" dirty="0" err="1" smtClean="0">
                <a:sym typeface="Wingdings" panose="05000000000000000000" pitchFamily="2" charset="2"/>
              </a:rPr>
              <a:t>eg</a:t>
            </a:r>
            <a:r>
              <a:rPr lang="en-US" sz="2000" dirty="0" smtClean="0">
                <a:sym typeface="Wingdings" panose="05000000000000000000" pitchFamily="2" charset="2"/>
              </a:rPr>
              <a:t>: </a:t>
            </a:r>
            <a:r>
              <a:rPr lang="en-US" sz="2000" dirty="0" err="1" smtClean="0"/>
              <a:t>out.printIn</a:t>
            </a:r>
            <a:r>
              <a:rPr lang="en-US" sz="2000" dirty="0"/>
              <a:t>(“Hello”);</a:t>
            </a:r>
          </a:p>
          <a:p>
            <a:pPr lvl="0" algn="just"/>
            <a:r>
              <a:rPr lang="en-US" sz="2000" dirty="0"/>
              <a:t>Close the </a:t>
            </a:r>
            <a:r>
              <a:rPr lang="en-US" sz="2000" dirty="0" err="1"/>
              <a:t>PrintWriter</a:t>
            </a:r>
            <a:r>
              <a:rPr lang="en-US" sz="2000" dirty="0"/>
              <a:t> after finishing writing to it. The web server closes the </a:t>
            </a:r>
            <a:r>
              <a:rPr lang="en-US" sz="2000" dirty="0" err="1" smtClean="0"/>
              <a:t>PrintWriter</a:t>
            </a:r>
            <a:r>
              <a:rPr lang="en-US" sz="2000" dirty="0" smtClean="0"/>
              <a:t> </a:t>
            </a:r>
            <a:r>
              <a:rPr lang="en-US" sz="2000" dirty="0"/>
              <a:t>automatically when the service called return. An explicit call is done when you want to do some post processing after the response to the client has been fully written. </a:t>
            </a:r>
            <a:r>
              <a:rPr lang="en-US" sz="2000" dirty="0" smtClean="0">
                <a:sym typeface="Wingdings" panose="05000000000000000000" pitchFamily="2" charset="2"/>
              </a:rPr>
              <a:t> </a:t>
            </a:r>
            <a:r>
              <a:rPr lang="en-US" sz="2000" dirty="0"/>
              <a:t>		</a:t>
            </a:r>
            <a:r>
              <a:rPr lang="en-US" sz="2000" dirty="0" err="1" smtClean="0"/>
              <a:t>out.close</a:t>
            </a:r>
            <a:r>
              <a:rPr lang="en-US" sz="2000" dirty="0" smtClean="0"/>
              <a:t> </a:t>
            </a:r>
            <a:r>
              <a:rPr lang="en-US" sz="2000" dirty="0"/>
              <a:t>();</a:t>
            </a:r>
          </a:p>
          <a:p>
            <a:pPr lvl="0" algn="just"/>
            <a:r>
              <a:rPr lang="en-US" sz="2000" dirty="0"/>
              <a:t>If you wish to give some information like the servlet name, version, author, &amp; copyright notice </a:t>
            </a:r>
            <a:r>
              <a:rPr lang="en-US" sz="2000" dirty="0" err="1"/>
              <a:t>etc</a:t>
            </a:r>
            <a:r>
              <a:rPr lang="en-US" sz="2000" dirty="0"/>
              <a:t>, over ride the </a:t>
            </a:r>
            <a:r>
              <a:rPr lang="en-US" sz="2000" dirty="0" err="1"/>
              <a:t>getServletInfo</a:t>
            </a:r>
            <a:r>
              <a:rPr lang="en-US" sz="2000" dirty="0"/>
              <a:t>() which is suppose to return information about the servlet.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0729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Servlet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77672" y="1600200"/>
            <a:ext cx="8295564" cy="4648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1: 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import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java.io.*;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2: 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import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javax.servlet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.*;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3: 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import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javax.servlet.http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.*;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4: 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public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class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MyServlet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extends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 smtClean="0">
                <a:solidFill>
                  <a:schemeClr val="tx1"/>
                </a:solidFill>
                <a:latin typeface="Courier" pitchFamily="49" charset="0"/>
              </a:rPr>
              <a:t>HttpServlet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{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5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:   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protected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void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doGet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(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HttpServletRequest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 smtClean="0">
                <a:solidFill>
                  <a:schemeClr val="tx1"/>
                </a:solidFill>
                <a:latin typeface="Courier" pitchFamily="49" charset="0"/>
              </a:rPr>
              <a:t>req,HttpServletResponse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res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){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6:     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res.setContentType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(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"text/html</a:t>
            </a:r>
            <a:r>
              <a:rPr lang="en-US" altLang="en-US" sz="1400" dirty="0" smtClean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"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);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7:      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PrintWriter out =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res.getWriter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();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8:     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out.println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( 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"&lt;HTML&gt;&lt;HEAD&gt;&lt;TITLE&gt; Hello You!” +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9:</a:t>
            </a:r>
            <a:r>
              <a:rPr lang="en-US" altLang="en-US" sz="1400" dirty="0" smtClean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                   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“&lt;/Title&gt;&lt;/HEAD&gt;” +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10:</a:t>
            </a:r>
            <a:r>
              <a:rPr lang="en-US" altLang="en-US" sz="1400" dirty="0" smtClean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                   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“&lt;Body&gt; </a:t>
            </a:r>
            <a:r>
              <a:rPr lang="en-US" altLang="en-US" sz="1400" dirty="0" smtClean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Hello You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!!!&lt;/BODY&gt;&lt;/HTML&gt;“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);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11:     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out.close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();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12:    }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	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13: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	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   </a:t>
            </a:r>
            <a:r>
              <a:rPr lang="en-US" altLang="en-US" sz="1400" dirty="0" smtClean="0">
                <a:solidFill>
                  <a:srgbClr val="1D04DA"/>
                </a:solidFill>
                <a:latin typeface="Courier" pitchFamily="49" charset="0"/>
              </a:rPr>
              <a:t>public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String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getServletInfo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(){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14:       return 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"</a:t>
            </a:r>
            <a:r>
              <a:rPr lang="en-US" altLang="en-US" sz="1400" dirty="0" err="1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MyServlet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 version </a:t>
            </a:r>
            <a:r>
              <a:rPr lang="en-US" altLang="en-US" sz="1400" dirty="0" smtClean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1“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;</a:t>
            </a:r>
            <a:endParaRPr lang="en-US" altLang="en-US" sz="1400" dirty="0">
              <a:solidFill>
                <a:schemeClr val="accent6">
                  <a:lumMod val="75000"/>
                </a:schemeClr>
              </a:solidFill>
              <a:latin typeface="Courier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15:    }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16:  }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32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Example Servlet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09600" y="1600200"/>
            <a:ext cx="3886200" cy="1066801"/>
            <a:chOff x="228600" y="1600199"/>
            <a:chExt cx="3886200" cy="1066801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28600" y="1600199"/>
              <a:ext cx="3886200" cy="1066801"/>
            </a:xfrm>
            <a:prstGeom prst="flowChartAlternateProcess">
              <a:avLst/>
            </a:prstGeom>
            <a:solidFill>
              <a:schemeClr val="accent1">
                <a:alpha val="50000"/>
              </a:schemeClr>
            </a:solidFill>
            <a:ln w="12700" algn="ctr">
              <a:noFill/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269544" y="1636693"/>
              <a:ext cx="3810000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11111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461963">
                <a:defRPr>
                  <a:solidFill>
                    <a:schemeClr val="tx1"/>
                  </a:solidFill>
                  <a:latin typeface="Arial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just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en-US" sz="1500" dirty="0">
                  <a:latin typeface="+mn-lt"/>
                </a:rPr>
                <a:t>Lines 1 to 3 import some packages which contain many classes which are used by the Servlet (almost every Servlet needs classes from these packages</a:t>
              </a:r>
              <a:r>
                <a:rPr lang="en-US" altLang="en-US" sz="1500" dirty="0" smtClean="0">
                  <a:latin typeface="+mn-lt"/>
                </a:rPr>
                <a:t>)</a:t>
              </a:r>
              <a:endParaRPr lang="en-US" altLang="en-US" sz="1500" dirty="0">
                <a:solidFill>
                  <a:srgbClr val="808080"/>
                </a:solidFill>
                <a:latin typeface="+mn-lt"/>
              </a:endParaRPr>
            </a:p>
          </p:txBody>
        </p:sp>
      </p:grp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638175" y="3048002"/>
            <a:ext cx="3933825" cy="990601"/>
            <a:chOff x="144" y="1584"/>
            <a:chExt cx="2478" cy="624"/>
          </a:xfrm>
        </p:grpSpPr>
        <p:sp>
          <p:nvSpPr>
            <p:cNvPr id="12" name="AutoShape 11"/>
            <p:cNvSpPr>
              <a:spLocks noChangeArrowheads="1"/>
            </p:cNvSpPr>
            <p:nvPr/>
          </p:nvSpPr>
          <p:spPr bwMode="auto">
            <a:xfrm>
              <a:off x="144" y="1584"/>
              <a:ext cx="2448" cy="624"/>
            </a:xfrm>
            <a:prstGeom prst="flowChartAlternateProcess">
              <a:avLst/>
            </a:prstGeom>
            <a:solidFill>
              <a:schemeClr val="accent1">
                <a:alpha val="50000"/>
              </a:schemeClr>
            </a:solidFill>
            <a:ln w="12700" algn="ctr">
              <a:noFill/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222" y="1640"/>
              <a:ext cx="2400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11111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461963">
                <a:defRPr>
                  <a:solidFill>
                    <a:schemeClr val="tx1"/>
                  </a:solidFill>
                  <a:latin typeface="Arial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en-US" sz="1500" dirty="0">
                  <a:latin typeface="+mn-lt"/>
                </a:rPr>
                <a:t>The Servlet class is declared in line </a:t>
              </a:r>
              <a:r>
                <a:rPr lang="en-US" altLang="en-US" sz="1500" dirty="0" smtClean="0">
                  <a:latin typeface="+mn-lt"/>
                </a:rPr>
                <a:t>4. </a:t>
              </a:r>
              <a:r>
                <a:rPr lang="en-US" altLang="en-US" sz="1500" dirty="0">
                  <a:latin typeface="+mn-lt"/>
                </a:rPr>
                <a:t>Our Servlet extends </a:t>
              </a:r>
              <a:r>
                <a:rPr lang="en-US" altLang="en-US" sz="1500" dirty="0" err="1">
                  <a:latin typeface="+mn-lt"/>
                </a:rPr>
                <a:t>javax.servlet.http.HttpServlet</a:t>
              </a:r>
              <a:r>
                <a:rPr lang="en-US" altLang="en-US" sz="1500" dirty="0">
                  <a:latin typeface="+mn-lt"/>
                </a:rPr>
                <a:t>, the standard base class for HTTP </a:t>
              </a:r>
              <a:r>
                <a:rPr lang="en-US" altLang="en-US" sz="1500" dirty="0" smtClean="0">
                  <a:latin typeface="+mn-lt"/>
                </a:rPr>
                <a:t>Servlets</a:t>
              </a:r>
              <a:r>
                <a:rPr lang="en-US" altLang="en-US" sz="1500" dirty="0" smtClean="0">
                  <a:solidFill>
                    <a:srgbClr val="808080"/>
                  </a:solidFill>
                  <a:latin typeface="+mn-lt"/>
                </a:rPr>
                <a:t> </a:t>
              </a:r>
              <a:endParaRPr lang="en-US" altLang="en-US" sz="1500" dirty="0">
                <a:solidFill>
                  <a:srgbClr val="808080"/>
                </a:solidFill>
                <a:latin typeface="+mn-lt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667000" y="5744855"/>
            <a:ext cx="3962400" cy="569873"/>
            <a:chOff x="228600" y="5029200"/>
            <a:chExt cx="3962400" cy="569873"/>
          </a:xfrm>
        </p:grpSpPr>
        <p:sp>
          <p:nvSpPr>
            <p:cNvPr id="4" name="AutoShape 2"/>
            <p:cNvSpPr>
              <a:spLocks noChangeArrowheads="1"/>
            </p:cNvSpPr>
            <p:nvPr/>
          </p:nvSpPr>
          <p:spPr bwMode="auto">
            <a:xfrm>
              <a:off x="228600" y="5029200"/>
              <a:ext cx="3886200" cy="533400"/>
            </a:xfrm>
            <a:prstGeom prst="flowChartAlternateProcess">
              <a:avLst/>
            </a:prstGeom>
            <a:solidFill>
              <a:schemeClr val="accent1">
                <a:alpha val="50000"/>
              </a:schemeClr>
            </a:solidFill>
            <a:ln w="12700" algn="ctr">
              <a:noFill/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381000" y="5045075"/>
              <a:ext cx="3810000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11111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461963">
                <a:defRPr>
                  <a:solidFill>
                    <a:schemeClr val="tx1"/>
                  </a:solidFill>
                  <a:latin typeface="Arial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en-US" sz="1500" dirty="0">
                  <a:latin typeface="+mn-lt"/>
                </a:rPr>
                <a:t>In lines </a:t>
              </a:r>
              <a:r>
                <a:rPr lang="en-US" altLang="en-US" sz="1500" dirty="0" smtClean="0">
                  <a:latin typeface="+mn-lt"/>
                </a:rPr>
                <a:t>5 </a:t>
              </a:r>
              <a:r>
                <a:rPr lang="en-US" altLang="en-US" sz="1500" dirty="0">
                  <a:latin typeface="+mn-lt"/>
                </a:rPr>
                <a:t>through </a:t>
              </a:r>
              <a:r>
                <a:rPr lang="en-US" altLang="en-US" sz="1500" dirty="0" smtClean="0">
                  <a:latin typeface="+mn-lt"/>
                </a:rPr>
                <a:t>12 </a:t>
              </a:r>
              <a:r>
                <a:rPr lang="en-US" altLang="en-US" sz="1500" dirty="0" err="1">
                  <a:latin typeface="+mn-lt"/>
                </a:rPr>
                <a:t>HttpServlet's</a:t>
              </a:r>
              <a:r>
                <a:rPr lang="en-US" altLang="en-US" sz="1500" dirty="0">
                  <a:latin typeface="+mn-lt"/>
                </a:rPr>
                <a:t> </a:t>
              </a:r>
              <a:r>
                <a:rPr lang="en-US" altLang="en-US" sz="1500" dirty="0" err="1">
                  <a:latin typeface="+mn-lt"/>
                </a:rPr>
                <a:t>doGet</a:t>
              </a:r>
              <a:r>
                <a:rPr lang="en-US" altLang="en-US" sz="1500" dirty="0">
                  <a:latin typeface="+mn-lt"/>
                </a:rPr>
                <a:t> method is getting overridden 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4724400" y="1676400"/>
            <a:ext cx="3810000" cy="8239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1: 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import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java.io.*;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2: 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import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javax.servlet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.*;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3: 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import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javax.servlet.http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.*;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724400" y="3048000"/>
            <a:ext cx="3802039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4: 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public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class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 smtClean="0">
                <a:solidFill>
                  <a:schemeClr val="tx1"/>
                </a:solidFill>
                <a:latin typeface="Courier" pitchFamily="49" charset="0"/>
              </a:rPr>
              <a:t>MyServlet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  	</a:t>
            </a:r>
            <a:r>
              <a:rPr lang="en-US" altLang="en-US" sz="1400" dirty="0" smtClean="0">
                <a:solidFill>
                  <a:srgbClr val="1D04DA"/>
                </a:solidFill>
                <a:latin typeface="Courier" pitchFamily="49" charset="0"/>
              </a:rPr>
              <a:t>extends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 smtClean="0">
                <a:solidFill>
                  <a:schemeClr val="tx1"/>
                </a:solidFill>
                <a:latin typeface="Courier" pitchFamily="49" charset="0"/>
              </a:rPr>
              <a:t>HttpServlet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{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41461" y="4275398"/>
            <a:ext cx="6019800" cy="12872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5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:   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protected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void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doGet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(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HttpServletRequest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 smtClean="0">
                <a:solidFill>
                  <a:schemeClr val="tx1"/>
                </a:solidFill>
                <a:latin typeface="Courier" pitchFamily="49" charset="0"/>
              </a:rPr>
              <a:t>req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,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	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			  HttpServletResponse 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res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)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..		...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12:    }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35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Example Servlet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4801738" y="3152001"/>
            <a:ext cx="3886200" cy="762000"/>
            <a:chOff x="228600" y="3886200"/>
            <a:chExt cx="3886200" cy="762000"/>
          </a:xfrm>
        </p:grpSpPr>
        <p:sp>
          <p:nvSpPr>
            <p:cNvPr id="8" name="AutoShape 7"/>
            <p:cNvSpPr>
              <a:spLocks noChangeArrowheads="1"/>
            </p:cNvSpPr>
            <p:nvPr/>
          </p:nvSpPr>
          <p:spPr bwMode="auto">
            <a:xfrm>
              <a:off x="228600" y="3886200"/>
              <a:ext cx="3886200" cy="762000"/>
            </a:xfrm>
            <a:prstGeom prst="flowChartAlternateProcess">
              <a:avLst/>
            </a:prstGeom>
            <a:solidFill>
              <a:schemeClr val="accent1">
                <a:alpha val="50000"/>
              </a:schemeClr>
            </a:solidFill>
            <a:ln w="12700" algn="ctr">
              <a:noFill/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304800" y="3990201"/>
              <a:ext cx="3657600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11111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461963">
                <a:defRPr>
                  <a:solidFill>
                    <a:schemeClr val="tx1"/>
                  </a:solidFill>
                  <a:latin typeface="Arial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en-US" sz="1500" dirty="0">
                  <a:latin typeface="+mn-lt"/>
                </a:rPr>
                <a:t>In line 7</a:t>
              </a:r>
              <a:r>
                <a:rPr lang="en-US" altLang="en-US" sz="1500" dirty="0" smtClean="0">
                  <a:latin typeface="+mn-lt"/>
                </a:rPr>
                <a:t> </a:t>
              </a:r>
              <a:r>
                <a:rPr lang="en-US" altLang="en-US" sz="1500" dirty="0">
                  <a:latin typeface="+mn-lt"/>
                </a:rPr>
                <a:t>we request a PrintWriter object to write text to the response message. 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33400" y="1615069"/>
            <a:ext cx="3971499" cy="1813931"/>
            <a:chOff x="2743200" y="1615068"/>
            <a:chExt cx="3971499" cy="1813931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743200" y="1615068"/>
              <a:ext cx="3962400" cy="1813931"/>
            </a:xfrm>
            <a:prstGeom prst="flowChartAlternateProcess">
              <a:avLst/>
            </a:prstGeom>
            <a:solidFill>
              <a:schemeClr val="accent1">
                <a:alpha val="50000"/>
              </a:schemeClr>
            </a:solidFill>
            <a:ln w="12700" algn="ctr">
              <a:noFill/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2752299" y="1725661"/>
              <a:ext cx="3962400" cy="15927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11111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461963">
                <a:defRPr>
                  <a:solidFill>
                    <a:schemeClr val="tx1"/>
                  </a:solidFill>
                  <a:latin typeface="Arial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just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en-US" sz="1500" dirty="0">
                  <a:latin typeface="+mn-lt"/>
                </a:rPr>
                <a:t>In line 6</a:t>
              </a:r>
              <a:r>
                <a:rPr lang="en-US" altLang="en-US" sz="1500" dirty="0" smtClean="0">
                  <a:latin typeface="+mn-lt"/>
                </a:rPr>
                <a:t> </a:t>
              </a:r>
              <a:r>
                <a:rPr lang="en-US" altLang="en-US" sz="1500" dirty="0">
                  <a:latin typeface="+mn-lt"/>
                </a:rPr>
                <a:t>we use a method of the HttpServletResponse object to set the content type of the response that we are going to send</a:t>
              </a:r>
              <a:r>
                <a:rPr lang="en-US" altLang="en-US" sz="1500" dirty="0" smtClean="0">
                  <a:latin typeface="+mn-lt"/>
                </a:rPr>
                <a:t>.</a:t>
              </a:r>
            </a:p>
            <a:p>
              <a:pPr algn="just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en-US" sz="1500" dirty="0" smtClean="0">
                  <a:latin typeface="+mn-lt"/>
                </a:rPr>
                <a:t> </a:t>
              </a:r>
              <a:r>
                <a:rPr lang="en-US" altLang="en-US" sz="1500" dirty="0">
                  <a:latin typeface="+mn-lt"/>
                </a:rPr>
                <a:t>All response headers must be set </a:t>
              </a:r>
              <a:r>
                <a:rPr lang="en-US" altLang="en-US" sz="1500" i="1" dirty="0">
                  <a:latin typeface="+mn-lt"/>
                </a:rPr>
                <a:t>before</a:t>
              </a:r>
              <a:r>
                <a:rPr lang="en-US" altLang="en-US" sz="1500" dirty="0">
                  <a:latin typeface="+mn-lt"/>
                </a:rPr>
                <a:t> a</a:t>
              </a:r>
              <a:r>
                <a:rPr lang="en-US" altLang="en-US" sz="1500" i="1" dirty="0">
                  <a:latin typeface="+mn-lt"/>
                </a:rPr>
                <a:t> </a:t>
              </a:r>
              <a:r>
                <a:rPr lang="en-US" altLang="en-US" sz="1500" dirty="0">
                  <a:latin typeface="+mn-lt"/>
                </a:rPr>
                <a:t>PrintWriter or ServletOutputStream is requested to write body data to the response. 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80031" y="4343400"/>
            <a:ext cx="3886200" cy="914400"/>
            <a:chOff x="228600" y="5181600"/>
            <a:chExt cx="3886200" cy="914400"/>
          </a:xfrm>
        </p:grpSpPr>
        <p:sp>
          <p:nvSpPr>
            <p:cNvPr id="4" name="AutoShape 2"/>
            <p:cNvSpPr>
              <a:spLocks noChangeArrowheads="1"/>
            </p:cNvSpPr>
            <p:nvPr/>
          </p:nvSpPr>
          <p:spPr bwMode="auto">
            <a:xfrm>
              <a:off x="228600" y="5181600"/>
              <a:ext cx="3886200" cy="914400"/>
            </a:xfrm>
            <a:prstGeom prst="flowChartAlternateProcess">
              <a:avLst/>
            </a:prstGeom>
            <a:solidFill>
              <a:schemeClr val="accent1">
                <a:alpha val="50000"/>
              </a:schemeClr>
            </a:solidFill>
            <a:ln w="12700" algn="ctr">
              <a:noFill/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83192" y="5256578"/>
              <a:ext cx="3831608" cy="784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11111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461963">
                <a:defRPr>
                  <a:solidFill>
                    <a:schemeClr val="tx1"/>
                  </a:solidFill>
                  <a:latin typeface="Arial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en-US" sz="1500" dirty="0">
                  <a:latin typeface="+mn-lt"/>
                </a:rPr>
                <a:t>In lines </a:t>
              </a:r>
              <a:r>
                <a:rPr lang="en-US" altLang="en-US" sz="1500" dirty="0" smtClean="0">
                  <a:latin typeface="+mn-lt"/>
                </a:rPr>
                <a:t>8, 9 </a:t>
              </a:r>
              <a:r>
                <a:rPr lang="en-US" altLang="en-US" sz="1500" dirty="0">
                  <a:latin typeface="+mn-lt"/>
                </a:rPr>
                <a:t>and </a:t>
              </a:r>
              <a:r>
                <a:rPr lang="en-US" altLang="en-US" sz="1500" dirty="0" smtClean="0">
                  <a:latin typeface="+mn-lt"/>
                </a:rPr>
                <a:t>10 </a:t>
              </a:r>
              <a:r>
                <a:rPr lang="en-US" altLang="en-US" sz="1500" dirty="0">
                  <a:latin typeface="+mn-lt"/>
                </a:rPr>
                <a:t>we use the PrintWriter to write the text of type text/html (as specified through the content type). 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4540156" y="2209800"/>
            <a:ext cx="4375244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6: </a:t>
            </a:r>
            <a:r>
              <a:rPr lang="en-US" altLang="en-US" sz="1400" dirty="0" err="1" smtClean="0">
                <a:solidFill>
                  <a:schemeClr val="tx1"/>
                </a:solidFill>
                <a:latin typeface="Courier" pitchFamily="49" charset="0"/>
              </a:rPr>
              <a:t>res.setContentType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(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"text/html</a:t>
            </a:r>
            <a:r>
              <a:rPr lang="en-US" altLang="en-US" sz="1400" dirty="0" smtClean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"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);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2499" y="3628599"/>
            <a:ext cx="4147782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7: PrintWriter 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out =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res.getWriter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();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92674" y="5331725"/>
            <a:ext cx="6122726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8: </a:t>
            </a:r>
            <a:r>
              <a:rPr lang="en-US" altLang="en-US" sz="1400" dirty="0" err="1" smtClean="0">
                <a:solidFill>
                  <a:schemeClr val="tx1"/>
                </a:solidFill>
                <a:latin typeface="Courier" pitchFamily="49" charset="0"/>
              </a:rPr>
              <a:t>out.println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( 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"&lt;HTML&gt;&lt;HEAD&gt;&lt;TITLE&gt; Hello You!” +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9:</a:t>
            </a:r>
            <a:r>
              <a:rPr lang="en-US" altLang="en-US" sz="1400" dirty="0" smtClean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              “&lt;/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Title&gt;&lt;/HEAD&gt;” +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10:</a:t>
            </a:r>
            <a:r>
              <a:rPr lang="en-US" altLang="en-US" sz="1400" dirty="0" smtClean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              “&lt;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Body&gt; </a:t>
            </a:r>
            <a:r>
              <a:rPr lang="en-US" altLang="en-US" sz="1400" dirty="0" err="1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HelloYou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!!!&lt;/BODY&gt;&lt;/HTML</a:t>
            </a:r>
            <a:r>
              <a:rPr lang="en-US" altLang="en-US" sz="1400" dirty="0" smtClean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&gt;“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);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65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Example Servlet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33400" y="1570061"/>
            <a:ext cx="3915770" cy="685800"/>
            <a:chOff x="228600" y="1981200"/>
            <a:chExt cx="3915770" cy="685800"/>
          </a:xfrm>
        </p:grpSpPr>
        <p:sp>
          <p:nvSpPr>
            <p:cNvPr id="4" name="AutoShape 2"/>
            <p:cNvSpPr>
              <a:spLocks noChangeArrowheads="1"/>
            </p:cNvSpPr>
            <p:nvPr/>
          </p:nvSpPr>
          <p:spPr bwMode="auto">
            <a:xfrm>
              <a:off x="228600" y="1981200"/>
              <a:ext cx="3886200" cy="685800"/>
            </a:xfrm>
            <a:prstGeom prst="flowChartAlternateProcess">
              <a:avLst/>
            </a:prstGeom>
            <a:solidFill>
              <a:schemeClr val="accent1">
                <a:alpha val="50000"/>
              </a:schemeClr>
            </a:solidFill>
            <a:ln w="12700" algn="ctr">
              <a:noFill/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258170" y="2047101"/>
              <a:ext cx="3886200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11111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461963">
                <a:defRPr>
                  <a:solidFill>
                    <a:schemeClr val="tx1"/>
                  </a:solidFill>
                  <a:latin typeface="Arial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en-US" sz="1500" dirty="0">
                  <a:latin typeface="+mn-lt"/>
                </a:rPr>
                <a:t>The PrintWriter gets closed in line 15 when we are finished writing to it. 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33400" y="2819400"/>
            <a:ext cx="4114800" cy="2819400"/>
            <a:chOff x="3810000" y="3603784"/>
            <a:chExt cx="4114800" cy="2819400"/>
          </a:xfrm>
        </p:grpSpPr>
        <p:sp>
          <p:nvSpPr>
            <p:cNvPr id="9" name="AutoShape 8"/>
            <p:cNvSpPr>
              <a:spLocks noChangeArrowheads="1"/>
            </p:cNvSpPr>
            <p:nvPr/>
          </p:nvSpPr>
          <p:spPr bwMode="auto">
            <a:xfrm>
              <a:off x="3810000" y="3603784"/>
              <a:ext cx="4114800" cy="2819400"/>
            </a:xfrm>
            <a:prstGeom prst="flowChartAlternateProcess">
              <a:avLst/>
            </a:prstGeom>
            <a:solidFill>
              <a:schemeClr val="accent1">
                <a:alpha val="50000"/>
              </a:schemeClr>
            </a:solidFill>
            <a:ln w="12700" algn="ctr">
              <a:noFill/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3924300" y="3730350"/>
              <a:ext cx="3886200" cy="25161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11111">
                      <a:alpha val="5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461963">
                <a:defRPr>
                  <a:solidFill>
                    <a:schemeClr val="tx1"/>
                  </a:solidFill>
                  <a:latin typeface="Arial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just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en-US" sz="1500" dirty="0">
                  <a:latin typeface="+mn-lt"/>
                </a:rPr>
                <a:t>In lines 18 through 21 we override the </a:t>
              </a:r>
              <a:r>
                <a:rPr lang="en-US" altLang="en-US" sz="1500" dirty="0" err="1">
                  <a:latin typeface="+mn-lt"/>
                </a:rPr>
                <a:t>getServletInfo</a:t>
              </a:r>
              <a:r>
                <a:rPr lang="en-US" altLang="en-US" sz="1500" dirty="0">
                  <a:latin typeface="+mn-lt"/>
                </a:rPr>
                <a:t>() method which is supposed to return information about the Servlet, e.g. the Servlet name, version, author and copyright notice. </a:t>
              </a:r>
              <a:endParaRPr lang="en-US" altLang="en-US" sz="1500" dirty="0" smtClean="0">
                <a:latin typeface="+mn-lt"/>
              </a:endParaRPr>
            </a:p>
            <a:p>
              <a:pPr algn="just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en-US" sz="1500" dirty="0" smtClean="0">
                  <a:latin typeface="+mn-lt"/>
                </a:rPr>
                <a:t>This </a:t>
              </a:r>
              <a:r>
                <a:rPr lang="en-US" altLang="en-US" sz="1500" dirty="0">
                  <a:latin typeface="+mn-lt"/>
                </a:rPr>
                <a:t>is not required for the function of the </a:t>
              </a:r>
              <a:r>
                <a:rPr lang="en-US" altLang="en-US" sz="1500" dirty="0" err="1">
                  <a:latin typeface="+mn-lt"/>
                </a:rPr>
                <a:t>HelloClientServlet</a:t>
              </a:r>
              <a:r>
                <a:rPr lang="en-US" altLang="en-US" sz="1500" dirty="0">
                  <a:latin typeface="+mn-lt"/>
                </a:rPr>
                <a:t> but can provide valuable information to the user of a Servlet who sees the returned text in the administration tool of the Web Server. 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4724400" y="1635962"/>
            <a:ext cx="19812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11: </a:t>
            </a:r>
            <a:r>
              <a:rPr lang="en-US" altLang="en-US" sz="1400" dirty="0" err="1" smtClean="0">
                <a:solidFill>
                  <a:schemeClr val="tx1"/>
                </a:solidFill>
                <a:latin typeface="Courier" pitchFamily="49" charset="0"/>
              </a:rPr>
              <a:t>out.close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();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35773" y="2945966"/>
            <a:ext cx="4246728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	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13: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	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 </a:t>
            </a:r>
            <a:r>
              <a:rPr lang="en-US" altLang="en-US" sz="1400" dirty="0" smtClean="0">
                <a:solidFill>
                  <a:srgbClr val="1D04DA"/>
                </a:solidFill>
                <a:latin typeface="Courier" pitchFamily="49" charset="0"/>
              </a:rPr>
              <a:t>public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String</a:t>
            </a:r>
            <a:r>
              <a:rPr lang="en-US" altLang="en-US" sz="1400" dirty="0">
                <a:solidFill>
                  <a:schemeClr val="tx1"/>
                </a:solidFill>
                <a:latin typeface="Courier" pitchFamily="49" charset="0"/>
              </a:rPr>
              <a:t> </a:t>
            </a:r>
            <a:r>
              <a:rPr lang="en-US" altLang="en-US" sz="1400" dirty="0" err="1">
                <a:solidFill>
                  <a:schemeClr val="tx1"/>
                </a:solidFill>
                <a:latin typeface="Courier" pitchFamily="49" charset="0"/>
              </a:rPr>
              <a:t>getServletInfo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(){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14:     return 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"</a:t>
            </a:r>
            <a:r>
              <a:rPr lang="en-US" altLang="en-US" sz="1400" dirty="0" err="1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MyServlet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 version </a:t>
            </a:r>
            <a:r>
              <a:rPr lang="en-US" altLang="en-US" sz="1400" dirty="0" smtClean="0">
                <a:solidFill>
                  <a:schemeClr val="accent6">
                    <a:lumMod val="75000"/>
                  </a:schemeClr>
                </a:solidFill>
                <a:latin typeface="Courier" pitchFamily="49" charset="0"/>
              </a:rPr>
              <a:t>1“</a:t>
            </a: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;</a:t>
            </a:r>
            <a:endParaRPr lang="en-US" altLang="en-US" sz="1400" dirty="0">
              <a:solidFill>
                <a:schemeClr val="accent6">
                  <a:lumMod val="75000"/>
                </a:schemeClr>
              </a:solidFill>
              <a:latin typeface="Courier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chemeClr val="tx1"/>
                </a:solidFill>
                <a:latin typeface="Courier" pitchFamily="49" charset="0"/>
              </a:rPr>
              <a:t>15:  }</a:t>
            </a:r>
            <a:endParaRPr lang="en-US" altLang="en-US" sz="1400" dirty="0">
              <a:solidFill>
                <a:schemeClr val="tx1"/>
              </a:solidFill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01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Compile the Servlet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Compile the Servlet class</a:t>
            </a:r>
          </a:p>
          <a:p>
            <a:r>
              <a:rPr lang="en-US" altLang="en-US" sz="2000" dirty="0"/>
              <a:t>The resulting </a:t>
            </a:r>
            <a:r>
              <a:rPr lang="en-US" altLang="en-US" sz="2000" dirty="0" err="1" smtClean="0"/>
              <a:t>MyServlet.class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file should go under </a:t>
            </a:r>
            <a:r>
              <a:rPr lang="en-US" altLang="en-US" sz="2000" dirty="0" err="1"/>
              <a:t>myApp</a:t>
            </a:r>
            <a:r>
              <a:rPr lang="en-US" altLang="en-US" sz="2000" dirty="0"/>
              <a:t>/WEB-INF/classes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23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Deploy the Servlet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200" dirty="0"/>
              <a:t>In the Servlet container each application is represented by a </a:t>
            </a:r>
            <a:r>
              <a:rPr lang="en-US" altLang="en-US" sz="2200" dirty="0">
                <a:solidFill>
                  <a:srgbClr val="1D04DA"/>
                </a:solidFill>
              </a:rPr>
              <a:t>servlet </a:t>
            </a:r>
            <a:r>
              <a:rPr lang="en-US" altLang="en-US" sz="2200" dirty="0" smtClean="0">
                <a:solidFill>
                  <a:srgbClr val="1D04DA"/>
                </a:solidFill>
              </a:rPr>
              <a:t>context</a:t>
            </a:r>
          </a:p>
          <a:p>
            <a:endParaRPr lang="en-US" altLang="en-US" sz="2200" dirty="0">
              <a:solidFill>
                <a:srgbClr val="1D04DA"/>
              </a:solidFill>
            </a:endParaRPr>
          </a:p>
          <a:p>
            <a:r>
              <a:rPr lang="en-US" altLang="en-US" sz="2200" dirty="0"/>
              <a:t>each servlet context is identified by a unique path prefix called </a:t>
            </a:r>
            <a:r>
              <a:rPr lang="en-US" altLang="en-US" sz="2200" dirty="0">
                <a:solidFill>
                  <a:srgbClr val="1D04DA"/>
                </a:solidFill>
              </a:rPr>
              <a:t>context path</a:t>
            </a:r>
          </a:p>
          <a:p>
            <a:pPr lvl="1"/>
            <a:r>
              <a:rPr lang="en-US" altLang="en-US" sz="1800" dirty="0"/>
              <a:t>For example our application is identified by /</a:t>
            </a:r>
            <a:r>
              <a:rPr lang="en-US" altLang="en-US" sz="1800" dirty="0" err="1"/>
              <a:t>myApp</a:t>
            </a:r>
            <a:r>
              <a:rPr lang="en-US" altLang="en-US" sz="1800" dirty="0"/>
              <a:t> which is a directory under </a:t>
            </a:r>
            <a:r>
              <a:rPr lang="en-US" altLang="en-US" sz="1800" dirty="0" err="1" smtClean="0"/>
              <a:t>webapps</a:t>
            </a:r>
            <a:endParaRPr lang="en-US" altLang="en-US" sz="1800" dirty="0"/>
          </a:p>
          <a:p>
            <a:pPr marL="457200" lvl="1" indent="0">
              <a:buNone/>
            </a:pPr>
            <a:endParaRPr lang="en-US" altLang="en-US" sz="2200" dirty="0"/>
          </a:p>
          <a:p>
            <a:r>
              <a:rPr lang="en-US" altLang="en-US" sz="2200" dirty="0"/>
              <a:t>The remaining path is used in the selected context to find the specific Servlet to run, following the rules specified in the deployment </a:t>
            </a:r>
            <a:r>
              <a:rPr lang="en-US" altLang="en-US" sz="2200" dirty="0" smtClean="0"/>
              <a:t>descriptor</a:t>
            </a:r>
            <a:endParaRPr lang="en-US" alt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17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Deployment Descriptor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deployment descriptor is a XML file called web.xml that resides in the WEB-INF directory </a:t>
            </a:r>
            <a:r>
              <a:rPr lang="en-US" sz="2000" dirty="0" smtClean="0"/>
              <a:t>within </a:t>
            </a:r>
            <a:r>
              <a:rPr lang="en-US" sz="2000" dirty="0"/>
              <a:t>an application</a:t>
            </a:r>
            <a:r>
              <a:rPr lang="en-US" sz="2000" dirty="0" smtClean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43200"/>
            <a:ext cx="78486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395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Run the Servlet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To execute your Servlet, type the following URL in the Browser’s address field:</a:t>
            </a:r>
          </a:p>
          <a:p>
            <a:pPr lvl="1"/>
            <a:r>
              <a:rPr lang="en-US" altLang="en-US" sz="2000" dirty="0">
                <a:hlinkClick r:id="rId2"/>
              </a:rPr>
              <a:t>http://</a:t>
            </a:r>
            <a:r>
              <a:rPr lang="en-US" altLang="en-US" sz="2000" dirty="0" smtClean="0">
                <a:hlinkClick r:id="rId2"/>
              </a:rPr>
              <a:t>localhost:8080/myApp/MyServlet</a:t>
            </a:r>
            <a:endParaRPr lang="en-US" altLang="en-US" sz="2000" dirty="0" smtClean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00400"/>
            <a:ext cx="670560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782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Running</a:t>
            </a:r>
            <a:r>
              <a:rPr lang="en-US" dirty="0" smtClean="0"/>
              <a:t> </a:t>
            </a:r>
            <a:r>
              <a:rPr lang="en-US" sz="4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service() on a single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000" dirty="0"/>
              <a:t>By default, servlets written by specializing the </a:t>
            </a:r>
            <a:r>
              <a:rPr lang="en-US" altLang="en-US" sz="2000" dirty="0" err="1">
                <a:solidFill>
                  <a:srgbClr val="1D04DA"/>
                </a:solidFill>
              </a:rPr>
              <a:t>HttpServlet</a:t>
            </a:r>
            <a:r>
              <a:rPr lang="en-US" altLang="en-US" sz="2000" dirty="0">
                <a:solidFill>
                  <a:srgbClr val="1D04DA"/>
                </a:solidFill>
              </a:rPr>
              <a:t> </a:t>
            </a:r>
            <a:r>
              <a:rPr lang="en-US" altLang="en-US" sz="2000" dirty="0"/>
              <a:t>class can have multiple threads concurrently running its </a:t>
            </a:r>
            <a:r>
              <a:rPr lang="en-US" altLang="en-US" sz="2000" dirty="0">
                <a:solidFill>
                  <a:srgbClr val="1D04DA"/>
                </a:solidFill>
              </a:rPr>
              <a:t>service() </a:t>
            </a:r>
            <a:r>
              <a:rPr lang="en-US" altLang="en-US" sz="2000" dirty="0"/>
              <a:t>method</a:t>
            </a:r>
            <a:r>
              <a:rPr lang="en-US" altLang="en-US" sz="2000" dirty="0" smtClean="0"/>
              <a:t>.</a:t>
            </a:r>
          </a:p>
          <a:p>
            <a:endParaRPr lang="en-US" altLang="en-US" sz="2800" dirty="0" smtClean="0"/>
          </a:p>
          <a:p>
            <a:endParaRPr lang="en-US" altLang="en-US" sz="2800" dirty="0"/>
          </a:p>
          <a:p>
            <a:endParaRPr lang="en-US" altLang="en-US" sz="2800" dirty="0" smtClean="0"/>
          </a:p>
          <a:p>
            <a:endParaRPr lang="en-US" altLang="en-US" sz="2800" dirty="0"/>
          </a:p>
          <a:p>
            <a:r>
              <a:rPr lang="en-US" altLang="en-US" sz="2000" dirty="0"/>
              <a:t>If you would like to have only a single thread running a service method at a time, then your servlet should also implement the </a:t>
            </a:r>
            <a:r>
              <a:rPr lang="en-US" altLang="en-US" sz="2000" dirty="0" err="1">
                <a:solidFill>
                  <a:srgbClr val="1D04DA"/>
                </a:solidFill>
              </a:rPr>
              <a:t>SingleThreadModel</a:t>
            </a:r>
            <a:r>
              <a:rPr lang="en-US" altLang="en-US" sz="2000" dirty="0">
                <a:solidFill>
                  <a:srgbClr val="1D04DA"/>
                </a:solidFill>
              </a:rPr>
              <a:t> </a:t>
            </a:r>
            <a:r>
              <a:rPr lang="en-US" altLang="en-US" sz="2000" dirty="0"/>
              <a:t>interface.</a:t>
            </a:r>
          </a:p>
          <a:p>
            <a:pPr lvl="1"/>
            <a:r>
              <a:rPr lang="en-US" altLang="en-US" sz="1800" dirty="0"/>
              <a:t>This does not involve writing any extra methods, merely declaring that the servlet implements the interface</a:t>
            </a:r>
            <a:r>
              <a:rPr lang="en-US" altLang="en-US" sz="1800" dirty="0" smtClean="0"/>
              <a:t>.</a:t>
            </a:r>
          </a:p>
          <a:p>
            <a:pPr marL="457200" lvl="1" indent="0">
              <a:buNone/>
            </a:pPr>
            <a:endParaRPr lang="en-US" altLang="en-US" sz="2400" dirty="0" smtClean="0"/>
          </a:p>
          <a:p>
            <a:pPr marL="457200" lvl="1" indent="0">
              <a:buNone/>
            </a:pPr>
            <a:endParaRPr lang="en-US" altLang="en-US" sz="2400" dirty="0" smtClean="0"/>
          </a:p>
          <a:p>
            <a:pPr marL="457200" lvl="1" indent="0">
              <a:buNone/>
            </a:pPr>
            <a:endParaRPr lang="en-US" altLang="en-US" sz="2400" dirty="0" smtClean="0"/>
          </a:p>
          <a:p>
            <a:pPr marL="457200" lvl="1" indent="0">
              <a:buNone/>
            </a:pPr>
            <a:endParaRPr lang="en-US" altLang="en-US" sz="2400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844934"/>
            <a:ext cx="6570442" cy="119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6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95564" cy="213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public</a:t>
            </a:r>
            <a:r>
              <a:rPr lang="en-US" altLang="en-US" sz="1400" dirty="0">
                <a:solidFill>
                  <a:prstClr val="black"/>
                </a:solidFill>
                <a:latin typeface="Courier New" pitchFamily="49" charset="0"/>
              </a:rPr>
              <a:t>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class</a:t>
            </a:r>
            <a:r>
              <a:rPr lang="en-US" altLang="en-US" sz="1400" dirty="0">
                <a:solidFill>
                  <a:prstClr val="black"/>
                </a:solidFill>
                <a:latin typeface="Courier New" pitchFamily="49" charset="0"/>
              </a:rPr>
              <a:t> </a:t>
            </a:r>
            <a:r>
              <a:rPr lang="en-US" altLang="en-US" sz="1400" dirty="0" err="1">
                <a:solidFill>
                  <a:prstClr val="black"/>
                </a:solidFill>
                <a:latin typeface="Courier New" pitchFamily="49" charset="0"/>
              </a:rPr>
              <a:t>SurveyServlet</a:t>
            </a:r>
            <a:r>
              <a:rPr lang="en-US" altLang="en-US" sz="1400" dirty="0">
                <a:solidFill>
                  <a:prstClr val="black"/>
                </a:solidFill>
                <a:latin typeface="Courier New" pitchFamily="49" charset="0"/>
              </a:rPr>
              <a:t>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extends</a:t>
            </a:r>
            <a:r>
              <a:rPr lang="en-US" altLang="en-US" sz="1400" dirty="0">
                <a:solidFill>
                  <a:prstClr val="black"/>
                </a:solidFill>
                <a:latin typeface="Courier New" pitchFamily="49" charset="0"/>
              </a:rPr>
              <a:t> </a:t>
            </a:r>
            <a:r>
              <a:rPr lang="en-US" altLang="en-US" sz="1400" dirty="0" err="1">
                <a:solidFill>
                  <a:prstClr val="black"/>
                </a:solidFill>
                <a:latin typeface="Courier New" pitchFamily="49" charset="0"/>
              </a:rPr>
              <a:t>HttpServlet</a:t>
            </a:r>
            <a:r>
              <a:rPr lang="en-US" altLang="en-US" sz="1400" dirty="0">
                <a:solidFill>
                  <a:prstClr val="black"/>
                </a:solidFill>
                <a:latin typeface="Courier New" pitchFamily="49" charset="0"/>
              </a:rPr>
              <a:t> </a:t>
            </a:r>
            <a:r>
              <a:rPr lang="en-US" altLang="en-US" sz="1400" dirty="0">
                <a:solidFill>
                  <a:srgbClr val="1D04DA"/>
                </a:solidFill>
                <a:latin typeface="Courier" pitchFamily="49" charset="0"/>
              </a:rPr>
              <a:t>implements</a:t>
            </a:r>
            <a:r>
              <a:rPr lang="en-US" altLang="en-US" sz="1400" dirty="0">
                <a:solidFill>
                  <a:prstClr val="black"/>
                </a:solidFill>
                <a:latin typeface="Courier New" pitchFamily="49" charset="0"/>
              </a:rPr>
              <a:t> </a:t>
            </a:r>
            <a:r>
              <a:rPr lang="en-US" altLang="en-US" sz="1400" dirty="0" err="1">
                <a:solidFill>
                  <a:prstClr val="black"/>
                </a:solidFill>
                <a:latin typeface="Courier New" pitchFamily="49" charset="0"/>
              </a:rPr>
              <a:t>SingleThreadModel</a:t>
            </a:r>
            <a:r>
              <a:rPr lang="en-US" altLang="en-US" sz="1400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prstClr val="black"/>
                </a:solidFill>
                <a:latin typeface="Courier New" pitchFamily="49" charset="0"/>
              </a:rPr>
              <a:t>{ 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 smtClean="0">
                <a:solidFill>
                  <a:srgbClr val="00B050"/>
                </a:solidFill>
                <a:latin typeface="Courier" pitchFamily="49" charset="0"/>
              </a:rPr>
              <a:t>	/* </a:t>
            </a:r>
            <a:r>
              <a:rPr lang="en-US" altLang="en-US" sz="1400" dirty="0">
                <a:solidFill>
                  <a:srgbClr val="00B050"/>
                </a:solidFill>
                <a:latin typeface="Courier" pitchFamily="49" charset="0"/>
              </a:rPr>
              <a:t>typical servlet code, with no threading concerns 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rgbClr val="00B050"/>
                </a:solidFill>
                <a:latin typeface="Courier" pitchFamily="49" charset="0"/>
              </a:rPr>
              <a:t> </a:t>
            </a:r>
            <a:r>
              <a:rPr lang="en-US" altLang="en-US" sz="1400" dirty="0" smtClean="0">
                <a:solidFill>
                  <a:srgbClr val="00B050"/>
                </a:solidFill>
                <a:latin typeface="Courier" pitchFamily="49" charset="0"/>
              </a:rPr>
              <a:t>	 * </a:t>
            </a:r>
            <a:r>
              <a:rPr lang="en-US" altLang="en-US" sz="1400" dirty="0">
                <a:solidFill>
                  <a:srgbClr val="00B050"/>
                </a:solidFill>
                <a:latin typeface="Courier" pitchFamily="49" charset="0"/>
              </a:rPr>
              <a:t>in the service method. No extra code for the 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rgbClr val="00B050"/>
                </a:solidFill>
                <a:latin typeface="Courier" pitchFamily="49" charset="0"/>
              </a:rPr>
              <a:t> </a:t>
            </a:r>
            <a:r>
              <a:rPr lang="en-US" altLang="en-US" sz="1400" dirty="0" smtClean="0">
                <a:solidFill>
                  <a:srgbClr val="00B050"/>
                </a:solidFill>
                <a:latin typeface="Courier" pitchFamily="49" charset="0"/>
              </a:rPr>
              <a:t>	 * </a:t>
            </a:r>
            <a:r>
              <a:rPr lang="en-US" altLang="en-US" sz="1400" dirty="0" err="1">
                <a:solidFill>
                  <a:srgbClr val="00B050"/>
                </a:solidFill>
                <a:latin typeface="Courier" pitchFamily="49" charset="0"/>
              </a:rPr>
              <a:t>SingleThreadModel</a:t>
            </a:r>
            <a:r>
              <a:rPr lang="en-US" altLang="en-US" sz="1400" dirty="0">
                <a:solidFill>
                  <a:srgbClr val="00B050"/>
                </a:solidFill>
                <a:latin typeface="Courier" pitchFamily="49" charset="0"/>
              </a:rPr>
              <a:t> interface. */</a:t>
            </a: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srgbClr val="00B050"/>
                </a:solidFill>
                <a:latin typeface="Courier" pitchFamily="49" charset="0"/>
              </a:rPr>
              <a:t> </a:t>
            </a:r>
            <a:r>
              <a:rPr lang="en-US" altLang="en-US" sz="1400" dirty="0" smtClean="0">
                <a:solidFill>
                  <a:srgbClr val="00B050"/>
                </a:solidFill>
                <a:latin typeface="Courier" pitchFamily="49" charset="0"/>
              </a:rPr>
              <a:t>	 ... </a:t>
            </a:r>
            <a:endParaRPr lang="en-US" altLang="en-US" sz="1400" dirty="0">
              <a:solidFill>
                <a:srgbClr val="00B050"/>
              </a:solidFill>
              <a:latin typeface="Courier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sz="1400" dirty="0">
                <a:solidFill>
                  <a:prstClr val="black"/>
                </a:solidFill>
                <a:latin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09954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287</TotalTime>
  <Words>1973</Words>
  <Application>Microsoft Office PowerPoint</Application>
  <PresentationFormat>On-screen Show (4:3)</PresentationFormat>
  <Paragraphs>329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Courier</vt:lpstr>
      <vt:lpstr>Courier New</vt:lpstr>
      <vt:lpstr>Times New Roman</vt:lpstr>
      <vt:lpstr>Wingdings</vt:lpstr>
      <vt:lpstr>HNDIT</vt:lpstr>
      <vt:lpstr>HNDIT2411: Enterprise Architecture</vt:lpstr>
      <vt:lpstr>Web Applications  </vt:lpstr>
      <vt:lpstr>Web Modules </vt:lpstr>
      <vt:lpstr>Web Modules </vt:lpstr>
      <vt:lpstr>The WEB-INF Directory</vt:lpstr>
      <vt:lpstr>The Development Descriptor </vt:lpstr>
      <vt:lpstr>Web App Deployment </vt:lpstr>
      <vt:lpstr>Web Archives (wars) </vt:lpstr>
      <vt:lpstr>Servlet - Definition</vt:lpstr>
      <vt:lpstr>Servlet Container Architecture</vt:lpstr>
      <vt:lpstr>How Servlet Works</vt:lpstr>
      <vt:lpstr>Servlet API</vt:lpstr>
      <vt:lpstr>Servlet API</vt:lpstr>
      <vt:lpstr>Generic Servlet Vs. HTTP Servlet</vt:lpstr>
      <vt:lpstr>Interface javax.servlet.Servlet</vt:lpstr>
      <vt:lpstr>Generic Servlet - Methods</vt:lpstr>
      <vt:lpstr>Servlet Functions </vt:lpstr>
      <vt:lpstr>Characteristics of Servlets </vt:lpstr>
      <vt:lpstr>Servlet Container </vt:lpstr>
      <vt:lpstr>Servlet Life Cycle</vt:lpstr>
      <vt:lpstr>HTTPServlet - Methods</vt:lpstr>
      <vt:lpstr>Servlet Request Objects</vt:lpstr>
      <vt:lpstr>HTTPServletRequest - Methods</vt:lpstr>
      <vt:lpstr>HTTPServletRequest - Methods</vt:lpstr>
      <vt:lpstr>Servlet Response Objects</vt:lpstr>
      <vt:lpstr>HttpServletResponse - Methods</vt:lpstr>
      <vt:lpstr>Write the Servlet Code</vt:lpstr>
      <vt:lpstr>Step by step servlet Designing </vt:lpstr>
      <vt:lpstr>Servlet Example</vt:lpstr>
      <vt:lpstr>An Example Servlet</vt:lpstr>
      <vt:lpstr>An Example Servlet</vt:lpstr>
      <vt:lpstr>An Example Servlet </vt:lpstr>
      <vt:lpstr>Compile the Servlet</vt:lpstr>
      <vt:lpstr>Deploy the Servlet</vt:lpstr>
      <vt:lpstr>Deployment Descriptor</vt:lpstr>
      <vt:lpstr>Run the Servlet</vt:lpstr>
      <vt:lpstr>Running service() on a single thread</vt:lpstr>
      <vt:lpstr>Example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IT4101 Multi-tiered application development</dc:title>
  <dc:creator>User</dc:creator>
  <cp:lastModifiedBy>Acer</cp:lastModifiedBy>
  <cp:revision>29</cp:revision>
  <dcterms:created xsi:type="dcterms:W3CDTF">2012-08-01T05:29:21Z</dcterms:created>
  <dcterms:modified xsi:type="dcterms:W3CDTF">2015-12-07T23:40:44Z</dcterms:modified>
</cp:coreProperties>
</file>