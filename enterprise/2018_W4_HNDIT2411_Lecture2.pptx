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4"/>
  </p:notesMasterIdLst>
  <p:sldIdLst>
    <p:sldId id="256" r:id="rId2"/>
    <p:sldId id="320" r:id="rId3"/>
    <p:sldId id="321" r:id="rId4"/>
    <p:sldId id="322" r:id="rId5"/>
    <p:sldId id="323" r:id="rId6"/>
    <p:sldId id="324" r:id="rId7"/>
    <p:sldId id="325" r:id="rId8"/>
    <p:sldId id="326" r:id="rId9"/>
    <p:sldId id="327" r:id="rId10"/>
    <p:sldId id="328" r:id="rId11"/>
    <p:sldId id="329" r:id="rId12"/>
    <p:sldId id="330" r:id="rId13"/>
    <p:sldId id="331" r:id="rId14"/>
    <p:sldId id="332" r:id="rId15"/>
    <p:sldId id="333" r:id="rId16"/>
    <p:sldId id="334" r:id="rId17"/>
    <p:sldId id="335" r:id="rId18"/>
    <p:sldId id="336" r:id="rId19"/>
    <p:sldId id="337" r:id="rId20"/>
    <p:sldId id="338" r:id="rId21"/>
    <p:sldId id="339" r:id="rId22"/>
    <p:sldId id="340"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5934" autoAdjust="0"/>
    <p:restoredTop sz="94660"/>
  </p:normalViewPr>
  <p:slideViewPr>
    <p:cSldViewPr>
      <p:cViewPr varScale="1">
        <p:scale>
          <a:sx n="70" d="100"/>
          <a:sy n="70" d="100"/>
        </p:scale>
        <p:origin x="510" y="72"/>
      </p:cViewPr>
      <p:guideLst>
        <p:guide orient="horz" pos="2160"/>
        <p:guide pos="2880"/>
      </p:guideLst>
    </p:cSldViewPr>
  </p:slideViewPr>
  <p:notesTextViewPr>
    <p:cViewPr>
      <p:scale>
        <a:sx n="100" d="100"/>
        <a:sy n="100" d="100"/>
      </p:scale>
      <p:origin x="0" y="0"/>
    </p:cViewPr>
  </p:notesTextViewPr>
  <p:sorterViewPr>
    <p:cViewPr>
      <p:scale>
        <a:sx n="42" d="100"/>
        <a:sy n="42"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8BCF51B-97EB-454F-8969-F0D815A20D5B}" type="doc">
      <dgm:prSet loTypeId="urn:microsoft.com/office/officeart/2005/8/layout/hierarchy2" loCatId="hierarchy" qsTypeId="urn:microsoft.com/office/officeart/2005/8/quickstyle/simple1" qsCatId="simple" csTypeId="urn:microsoft.com/office/officeart/2005/8/colors/accent1_2" csCatId="accent1" phldr="1"/>
      <dgm:spPr/>
      <dgm:t>
        <a:bodyPr/>
        <a:lstStyle/>
        <a:p>
          <a:endParaRPr lang="en-US"/>
        </a:p>
      </dgm:t>
    </dgm:pt>
    <dgm:pt modelId="{06E2C123-C1BC-42E6-AD4A-A240F1FCC77A}">
      <dgm:prSet phldrT="[Text]" custT="1"/>
      <dgm:spPr>
        <a:noFill/>
        <a:ln>
          <a:solidFill>
            <a:schemeClr val="accent1"/>
          </a:solidFill>
        </a:ln>
      </dgm:spPr>
      <dgm:t>
        <a:bodyPr/>
        <a:lstStyle/>
        <a:p>
          <a:r>
            <a:rPr lang="en-US" sz="3200" b="1" dirty="0" smtClean="0">
              <a:solidFill>
                <a:srgbClr val="00B050"/>
              </a:solidFill>
            </a:rPr>
            <a:t>Java EE Clients</a:t>
          </a:r>
          <a:endParaRPr lang="en-US" sz="3200" b="1" dirty="0">
            <a:solidFill>
              <a:srgbClr val="00B050"/>
            </a:solidFill>
          </a:endParaRPr>
        </a:p>
      </dgm:t>
    </dgm:pt>
    <dgm:pt modelId="{A8F2E882-C15E-4167-A52A-59B01C5F12F8}" type="parTrans" cxnId="{427E6E82-D15F-4C5A-ACD0-D9A088B82B9A}">
      <dgm:prSet/>
      <dgm:spPr/>
      <dgm:t>
        <a:bodyPr/>
        <a:lstStyle/>
        <a:p>
          <a:endParaRPr lang="en-US" sz="1600">
            <a:solidFill>
              <a:schemeClr val="tx1"/>
            </a:solidFill>
          </a:endParaRPr>
        </a:p>
      </dgm:t>
    </dgm:pt>
    <dgm:pt modelId="{7BF19C30-5719-47A6-B857-9B82B6E7E29E}" type="sibTrans" cxnId="{427E6E82-D15F-4C5A-ACD0-D9A088B82B9A}">
      <dgm:prSet/>
      <dgm:spPr/>
      <dgm:t>
        <a:bodyPr/>
        <a:lstStyle/>
        <a:p>
          <a:endParaRPr lang="en-US" sz="1600">
            <a:solidFill>
              <a:schemeClr val="tx1"/>
            </a:solidFill>
          </a:endParaRPr>
        </a:p>
      </dgm:t>
    </dgm:pt>
    <dgm:pt modelId="{75ACB0CF-4654-45C5-B46F-C69EBAD99522}">
      <dgm:prSet phldrT="[Text]" custT="1"/>
      <dgm:spPr>
        <a:noFill/>
        <a:ln>
          <a:solidFill>
            <a:schemeClr val="accent1"/>
          </a:solidFill>
        </a:ln>
      </dgm:spPr>
      <dgm:t>
        <a:bodyPr/>
        <a:lstStyle/>
        <a:p>
          <a:r>
            <a:rPr lang="en-US" sz="3200" dirty="0" smtClean="0">
              <a:solidFill>
                <a:srgbClr val="7030A0"/>
              </a:solidFill>
            </a:rPr>
            <a:t>Web clients</a:t>
          </a:r>
          <a:endParaRPr lang="en-US" sz="3200" dirty="0">
            <a:solidFill>
              <a:srgbClr val="7030A0"/>
            </a:solidFill>
          </a:endParaRPr>
        </a:p>
      </dgm:t>
    </dgm:pt>
    <dgm:pt modelId="{D145E835-4430-4BBE-9E14-E2F5FF47D1BA}" type="parTrans" cxnId="{DE108D60-8F04-4502-BEAC-CA1F8201D000}">
      <dgm:prSet custT="1"/>
      <dgm:spPr/>
      <dgm:t>
        <a:bodyPr/>
        <a:lstStyle/>
        <a:p>
          <a:endParaRPr lang="en-US" sz="400">
            <a:solidFill>
              <a:schemeClr val="tx1"/>
            </a:solidFill>
          </a:endParaRPr>
        </a:p>
      </dgm:t>
    </dgm:pt>
    <dgm:pt modelId="{1820C35F-2E79-4AFB-B800-755179773216}" type="sibTrans" cxnId="{DE108D60-8F04-4502-BEAC-CA1F8201D000}">
      <dgm:prSet/>
      <dgm:spPr/>
      <dgm:t>
        <a:bodyPr/>
        <a:lstStyle/>
        <a:p>
          <a:endParaRPr lang="en-US" sz="1600">
            <a:solidFill>
              <a:schemeClr val="tx1"/>
            </a:solidFill>
          </a:endParaRPr>
        </a:p>
      </dgm:t>
    </dgm:pt>
    <dgm:pt modelId="{1CE44901-3B05-4EE3-8AAE-D6465DECD94B}">
      <dgm:prSet phldrT="[Text]" custT="1"/>
      <dgm:spPr>
        <a:noFill/>
        <a:ln>
          <a:solidFill>
            <a:schemeClr val="accent1"/>
          </a:solidFill>
        </a:ln>
      </dgm:spPr>
      <dgm:t>
        <a:bodyPr/>
        <a:lstStyle/>
        <a:p>
          <a:r>
            <a:rPr lang="en-US" sz="3200" dirty="0" smtClean="0">
              <a:solidFill>
                <a:srgbClr val="7030A0"/>
              </a:solidFill>
            </a:rPr>
            <a:t>Dynamic web pages</a:t>
          </a:r>
          <a:endParaRPr lang="en-US" sz="3200" dirty="0">
            <a:solidFill>
              <a:srgbClr val="7030A0"/>
            </a:solidFill>
          </a:endParaRPr>
        </a:p>
      </dgm:t>
    </dgm:pt>
    <dgm:pt modelId="{AF200905-0511-45E1-90FB-10EDD3363006}" type="parTrans" cxnId="{512CF6C8-1CB4-4F33-B56E-89AEB3CAB9D9}">
      <dgm:prSet custT="1"/>
      <dgm:spPr/>
      <dgm:t>
        <a:bodyPr/>
        <a:lstStyle/>
        <a:p>
          <a:endParaRPr lang="en-US" sz="400">
            <a:solidFill>
              <a:schemeClr val="tx1"/>
            </a:solidFill>
          </a:endParaRPr>
        </a:p>
      </dgm:t>
    </dgm:pt>
    <dgm:pt modelId="{6651904C-82FE-4838-AF79-A2F342F7671E}" type="sibTrans" cxnId="{512CF6C8-1CB4-4F33-B56E-89AEB3CAB9D9}">
      <dgm:prSet/>
      <dgm:spPr/>
      <dgm:t>
        <a:bodyPr/>
        <a:lstStyle/>
        <a:p>
          <a:endParaRPr lang="en-US" sz="1600">
            <a:solidFill>
              <a:schemeClr val="tx1"/>
            </a:solidFill>
          </a:endParaRPr>
        </a:p>
      </dgm:t>
    </dgm:pt>
    <dgm:pt modelId="{38866116-9424-4B30-9BA6-0BA8D935955E}">
      <dgm:prSet phldrT="[Text]" custT="1"/>
      <dgm:spPr>
        <a:noFill/>
        <a:ln>
          <a:solidFill>
            <a:schemeClr val="accent1"/>
          </a:solidFill>
        </a:ln>
      </dgm:spPr>
      <dgm:t>
        <a:bodyPr/>
        <a:lstStyle/>
        <a:p>
          <a:r>
            <a:rPr lang="en-US" sz="3200" dirty="0" smtClean="0">
              <a:solidFill>
                <a:srgbClr val="7030A0"/>
              </a:solidFill>
            </a:rPr>
            <a:t>Web browser</a:t>
          </a:r>
          <a:endParaRPr lang="en-US" sz="3200" dirty="0">
            <a:solidFill>
              <a:srgbClr val="7030A0"/>
            </a:solidFill>
          </a:endParaRPr>
        </a:p>
      </dgm:t>
    </dgm:pt>
    <dgm:pt modelId="{41C2C1FE-DE35-4B80-B907-4C90DA3560A1}" type="parTrans" cxnId="{623EC756-E353-4955-A543-0C9F787E72D1}">
      <dgm:prSet custT="1"/>
      <dgm:spPr/>
      <dgm:t>
        <a:bodyPr/>
        <a:lstStyle/>
        <a:p>
          <a:endParaRPr lang="en-US" sz="400">
            <a:solidFill>
              <a:schemeClr val="tx1"/>
            </a:solidFill>
          </a:endParaRPr>
        </a:p>
      </dgm:t>
    </dgm:pt>
    <dgm:pt modelId="{BF4C8F72-5A33-4763-90AA-00170D7A8B9D}" type="sibTrans" cxnId="{623EC756-E353-4955-A543-0C9F787E72D1}">
      <dgm:prSet/>
      <dgm:spPr/>
      <dgm:t>
        <a:bodyPr/>
        <a:lstStyle/>
        <a:p>
          <a:endParaRPr lang="en-US" sz="1600">
            <a:solidFill>
              <a:schemeClr val="tx1"/>
            </a:solidFill>
          </a:endParaRPr>
        </a:p>
      </dgm:t>
    </dgm:pt>
    <dgm:pt modelId="{10606D14-5C8D-4A82-BB3D-72F6F3FE2E48}">
      <dgm:prSet phldrT="[Text]" custT="1"/>
      <dgm:spPr>
        <a:noFill/>
        <a:ln>
          <a:solidFill>
            <a:schemeClr val="accent1"/>
          </a:solidFill>
        </a:ln>
      </dgm:spPr>
      <dgm:t>
        <a:bodyPr/>
        <a:lstStyle/>
        <a:p>
          <a:r>
            <a:rPr lang="en-US" sz="3200" dirty="0" smtClean="0">
              <a:solidFill>
                <a:srgbClr val="002060"/>
              </a:solidFill>
            </a:rPr>
            <a:t>Application Clients</a:t>
          </a:r>
          <a:endParaRPr lang="en-US" sz="3200" dirty="0">
            <a:solidFill>
              <a:srgbClr val="002060"/>
            </a:solidFill>
          </a:endParaRPr>
        </a:p>
      </dgm:t>
    </dgm:pt>
    <dgm:pt modelId="{E1DE3277-4BA3-487F-9BE3-5DD071555F4C}" type="parTrans" cxnId="{D49686B1-1ECA-4DE5-AC68-B91584DDBF57}">
      <dgm:prSet custT="1"/>
      <dgm:spPr/>
      <dgm:t>
        <a:bodyPr/>
        <a:lstStyle/>
        <a:p>
          <a:endParaRPr lang="en-US" sz="400">
            <a:solidFill>
              <a:schemeClr val="tx1"/>
            </a:solidFill>
          </a:endParaRPr>
        </a:p>
      </dgm:t>
    </dgm:pt>
    <dgm:pt modelId="{678EC82B-6A4E-4798-B47F-598D770953FF}" type="sibTrans" cxnId="{D49686B1-1ECA-4DE5-AC68-B91584DDBF57}">
      <dgm:prSet/>
      <dgm:spPr/>
      <dgm:t>
        <a:bodyPr/>
        <a:lstStyle/>
        <a:p>
          <a:endParaRPr lang="en-US" sz="1600">
            <a:solidFill>
              <a:schemeClr val="tx1"/>
            </a:solidFill>
          </a:endParaRPr>
        </a:p>
      </dgm:t>
    </dgm:pt>
    <dgm:pt modelId="{66B2113A-E023-4E7C-AFD3-8DA4B0B961F6}">
      <dgm:prSet phldrT="[Text]" custT="1"/>
      <dgm:spPr>
        <a:noFill/>
        <a:ln>
          <a:solidFill>
            <a:schemeClr val="accent1"/>
          </a:solidFill>
        </a:ln>
      </dgm:spPr>
      <dgm:t>
        <a:bodyPr/>
        <a:lstStyle/>
        <a:p>
          <a:r>
            <a:rPr lang="en-US" sz="3200" dirty="0" smtClean="0">
              <a:solidFill>
                <a:srgbClr val="002060"/>
              </a:solidFill>
            </a:rPr>
            <a:t>GUIs</a:t>
          </a:r>
          <a:endParaRPr lang="en-US" sz="3200" dirty="0">
            <a:solidFill>
              <a:srgbClr val="002060"/>
            </a:solidFill>
          </a:endParaRPr>
        </a:p>
      </dgm:t>
    </dgm:pt>
    <dgm:pt modelId="{E94B3D92-F66F-44C5-A312-581CBA9DFDB5}" type="parTrans" cxnId="{F6FC3967-4121-4094-A3D8-CA28902360D5}">
      <dgm:prSet custT="1"/>
      <dgm:spPr/>
      <dgm:t>
        <a:bodyPr/>
        <a:lstStyle/>
        <a:p>
          <a:endParaRPr lang="en-US" sz="400">
            <a:solidFill>
              <a:schemeClr val="tx1"/>
            </a:solidFill>
          </a:endParaRPr>
        </a:p>
      </dgm:t>
    </dgm:pt>
    <dgm:pt modelId="{CE5B34C8-3042-49EB-BE55-E90FF012D482}" type="sibTrans" cxnId="{F6FC3967-4121-4094-A3D8-CA28902360D5}">
      <dgm:prSet/>
      <dgm:spPr/>
      <dgm:t>
        <a:bodyPr/>
        <a:lstStyle/>
        <a:p>
          <a:endParaRPr lang="en-US" sz="1600">
            <a:solidFill>
              <a:schemeClr val="tx1"/>
            </a:solidFill>
          </a:endParaRPr>
        </a:p>
      </dgm:t>
    </dgm:pt>
    <dgm:pt modelId="{3C3D23FF-702B-4163-97CE-215E3D1AE274}" type="pres">
      <dgm:prSet presAssocID="{08BCF51B-97EB-454F-8969-F0D815A20D5B}" presName="diagram" presStyleCnt="0">
        <dgm:presLayoutVars>
          <dgm:chPref val="1"/>
          <dgm:dir/>
          <dgm:animOne val="branch"/>
          <dgm:animLvl val="lvl"/>
          <dgm:resizeHandles val="exact"/>
        </dgm:presLayoutVars>
      </dgm:prSet>
      <dgm:spPr/>
      <dgm:t>
        <a:bodyPr/>
        <a:lstStyle/>
        <a:p>
          <a:endParaRPr lang="en-US"/>
        </a:p>
      </dgm:t>
    </dgm:pt>
    <dgm:pt modelId="{CA75958B-E6A4-4B87-9EBF-F687C25BE1C5}" type="pres">
      <dgm:prSet presAssocID="{06E2C123-C1BC-42E6-AD4A-A240F1FCC77A}" presName="root1" presStyleCnt="0"/>
      <dgm:spPr/>
    </dgm:pt>
    <dgm:pt modelId="{6F35D231-BBF4-4447-9818-61208FCD0244}" type="pres">
      <dgm:prSet presAssocID="{06E2C123-C1BC-42E6-AD4A-A240F1FCC77A}" presName="LevelOneTextNode" presStyleLbl="node0" presStyleIdx="0" presStyleCnt="1">
        <dgm:presLayoutVars>
          <dgm:chPref val="3"/>
        </dgm:presLayoutVars>
      </dgm:prSet>
      <dgm:spPr/>
      <dgm:t>
        <a:bodyPr/>
        <a:lstStyle/>
        <a:p>
          <a:endParaRPr lang="en-US"/>
        </a:p>
      </dgm:t>
    </dgm:pt>
    <dgm:pt modelId="{0C44323E-313B-4528-A410-91C84254FF83}" type="pres">
      <dgm:prSet presAssocID="{06E2C123-C1BC-42E6-AD4A-A240F1FCC77A}" presName="level2hierChild" presStyleCnt="0"/>
      <dgm:spPr/>
    </dgm:pt>
    <dgm:pt modelId="{51104F2F-9BB1-42B4-A87C-500B8FDC615A}" type="pres">
      <dgm:prSet presAssocID="{D145E835-4430-4BBE-9E14-E2F5FF47D1BA}" presName="conn2-1" presStyleLbl="parChTrans1D2" presStyleIdx="0" presStyleCnt="2"/>
      <dgm:spPr/>
      <dgm:t>
        <a:bodyPr/>
        <a:lstStyle/>
        <a:p>
          <a:endParaRPr lang="en-US"/>
        </a:p>
      </dgm:t>
    </dgm:pt>
    <dgm:pt modelId="{2C3BE36B-3627-4CB8-8713-0129855826D4}" type="pres">
      <dgm:prSet presAssocID="{D145E835-4430-4BBE-9E14-E2F5FF47D1BA}" presName="connTx" presStyleLbl="parChTrans1D2" presStyleIdx="0" presStyleCnt="2"/>
      <dgm:spPr/>
      <dgm:t>
        <a:bodyPr/>
        <a:lstStyle/>
        <a:p>
          <a:endParaRPr lang="en-US"/>
        </a:p>
      </dgm:t>
    </dgm:pt>
    <dgm:pt modelId="{55583562-A140-43AD-A1B4-0A13B56CAD64}" type="pres">
      <dgm:prSet presAssocID="{75ACB0CF-4654-45C5-B46F-C69EBAD99522}" presName="root2" presStyleCnt="0"/>
      <dgm:spPr/>
    </dgm:pt>
    <dgm:pt modelId="{1BD730F3-72E6-4B19-A4DC-F088523A10E0}" type="pres">
      <dgm:prSet presAssocID="{75ACB0CF-4654-45C5-B46F-C69EBAD99522}" presName="LevelTwoTextNode" presStyleLbl="node2" presStyleIdx="0" presStyleCnt="2">
        <dgm:presLayoutVars>
          <dgm:chPref val="3"/>
        </dgm:presLayoutVars>
      </dgm:prSet>
      <dgm:spPr/>
      <dgm:t>
        <a:bodyPr/>
        <a:lstStyle/>
        <a:p>
          <a:endParaRPr lang="en-US"/>
        </a:p>
      </dgm:t>
    </dgm:pt>
    <dgm:pt modelId="{071AF3E0-E7E1-48FA-9C2B-DCF87E22B574}" type="pres">
      <dgm:prSet presAssocID="{75ACB0CF-4654-45C5-B46F-C69EBAD99522}" presName="level3hierChild" presStyleCnt="0"/>
      <dgm:spPr/>
    </dgm:pt>
    <dgm:pt modelId="{08F1CDE0-25B0-43E7-99CE-0684725018D2}" type="pres">
      <dgm:prSet presAssocID="{AF200905-0511-45E1-90FB-10EDD3363006}" presName="conn2-1" presStyleLbl="parChTrans1D3" presStyleIdx="0" presStyleCnt="3"/>
      <dgm:spPr/>
      <dgm:t>
        <a:bodyPr/>
        <a:lstStyle/>
        <a:p>
          <a:endParaRPr lang="en-US"/>
        </a:p>
      </dgm:t>
    </dgm:pt>
    <dgm:pt modelId="{B1E842EF-4808-4ED2-950C-C3F7C6BFEC3A}" type="pres">
      <dgm:prSet presAssocID="{AF200905-0511-45E1-90FB-10EDD3363006}" presName="connTx" presStyleLbl="parChTrans1D3" presStyleIdx="0" presStyleCnt="3"/>
      <dgm:spPr/>
      <dgm:t>
        <a:bodyPr/>
        <a:lstStyle/>
        <a:p>
          <a:endParaRPr lang="en-US"/>
        </a:p>
      </dgm:t>
    </dgm:pt>
    <dgm:pt modelId="{1AC87E0D-CAC1-4319-B906-E62631192FE5}" type="pres">
      <dgm:prSet presAssocID="{1CE44901-3B05-4EE3-8AAE-D6465DECD94B}" presName="root2" presStyleCnt="0"/>
      <dgm:spPr/>
    </dgm:pt>
    <dgm:pt modelId="{EDB06E7F-2CE4-462A-93E2-3C8BE0513BAE}" type="pres">
      <dgm:prSet presAssocID="{1CE44901-3B05-4EE3-8AAE-D6465DECD94B}" presName="LevelTwoTextNode" presStyleLbl="node3" presStyleIdx="0" presStyleCnt="3">
        <dgm:presLayoutVars>
          <dgm:chPref val="3"/>
        </dgm:presLayoutVars>
      </dgm:prSet>
      <dgm:spPr/>
      <dgm:t>
        <a:bodyPr/>
        <a:lstStyle/>
        <a:p>
          <a:endParaRPr lang="en-US"/>
        </a:p>
      </dgm:t>
    </dgm:pt>
    <dgm:pt modelId="{52300890-E1DE-4760-87A3-931F24B3EE28}" type="pres">
      <dgm:prSet presAssocID="{1CE44901-3B05-4EE3-8AAE-D6465DECD94B}" presName="level3hierChild" presStyleCnt="0"/>
      <dgm:spPr/>
    </dgm:pt>
    <dgm:pt modelId="{CF1DAC6A-1A32-49EA-8E89-9449D4B6D626}" type="pres">
      <dgm:prSet presAssocID="{41C2C1FE-DE35-4B80-B907-4C90DA3560A1}" presName="conn2-1" presStyleLbl="parChTrans1D3" presStyleIdx="1" presStyleCnt="3"/>
      <dgm:spPr/>
      <dgm:t>
        <a:bodyPr/>
        <a:lstStyle/>
        <a:p>
          <a:endParaRPr lang="en-US"/>
        </a:p>
      </dgm:t>
    </dgm:pt>
    <dgm:pt modelId="{8CE80F0A-155C-49E3-A03B-386073FD6FFE}" type="pres">
      <dgm:prSet presAssocID="{41C2C1FE-DE35-4B80-B907-4C90DA3560A1}" presName="connTx" presStyleLbl="parChTrans1D3" presStyleIdx="1" presStyleCnt="3"/>
      <dgm:spPr/>
      <dgm:t>
        <a:bodyPr/>
        <a:lstStyle/>
        <a:p>
          <a:endParaRPr lang="en-US"/>
        </a:p>
      </dgm:t>
    </dgm:pt>
    <dgm:pt modelId="{540EABEF-C67B-4F28-B7BC-3E763E77A827}" type="pres">
      <dgm:prSet presAssocID="{38866116-9424-4B30-9BA6-0BA8D935955E}" presName="root2" presStyleCnt="0"/>
      <dgm:spPr/>
    </dgm:pt>
    <dgm:pt modelId="{090978A7-B8FF-4F56-9E89-4997C67C5CEE}" type="pres">
      <dgm:prSet presAssocID="{38866116-9424-4B30-9BA6-0BA8D935955E}" presName="LevelTwoTextNode" presStyleLbl="node3" presStyleIdx="1" presStyleCnt="3">
        <dgm:presLayoutVars>
          <dgm:chPref val="3"/>
        </dgm:presLayoutVars>
      </dgm:prSet>
      <dgm:spPr/>
      <dgm:t>
        <a:bodyPr/>
        <a:lstStyle/>
        <a:p>
          <a:endParaRPr lang="en-US"/>
        </a:p>
      </dgm:t>
    </dgm:pt>
    <dgm:pt modelId="{64EDFF60-E13F-4E6D-92AE-312C924325C1}" type="pres">
      <dgm:prSet presAssocID="{38866116-9424-4B30-9BA6-0BA8D935955E}" presName="level3hierChild" presStyleCnt="0"/>
      <dgm:spPr/>
    </dgm:pt>
    <dgm:pt modelId="{6CA6B921-B1EE-472D-80AF-19D05933FB75}" type="pres">
      <dgm:prSet presAssocID="{E1DE3277-4BA3-487F-9BE3-5DD071555F4C}" presName="conn2-1" presStyleLbl="parChTrans1D2" presStyleIdx="1" presStyleCnt="2"/>
      <dgm:spPr/>
      <dgm:t>
        <a:bodyPr/>
        <a:lstStyle/>
        <a:p>
          <a:endParaRPr lang="en-US"/>
        </a:p>
      </dgm:t>
    </dgm:pt>
    <dgm:pt modelId="{F96D16B8-B00D-4C57-B6B0-DEC0AFF502E6}" type="pres">
      <dgm:prSet presAssocID="{E1DE3277-4BA3-487F-9BE3-5DD071555F4C}" presName="connTx" presStyleLbl="parChTrans1D2" presStyleIdx="1" presStyleCnt="2"/>
      <dgm:spPr/>
      <dgm:t>
        <a:bodyPr/>
        <a:lstStyle/>
        <a:p>
          <a:endParaRPr lang="en-US"/>
        </a:p>
      </dgm:t>
    </dgm:pt>
    <dgm:pt modelId="{82053E61-2D77-4D89-9DFC-8DFAE6B4447E}" type="pres">
      <dgm:prSet presAssocID="{10606D14-5C8D-4A82-BB3D-72F6F3FE2E48}" presName="root2" presStyleCnt="0"/>
      <dgm:spPr/>
    </dgm:pt>
    <dgm:pt modelId="{DC554EC9-DCC0-496A-A968-869C436AF577}" type="pres">
      <dgm:prSet presAssocID="{10606D14-5C8D-4A82-BB3D-72F6F3FE2E48}" presName="LevelTwoTextNode" presStyleLbl="node2" presStyleIdx="1" presStyleCnt="2">
        <dgm:presLayoutVars>
          <dgm:chPref val="3"/>
        </dgm:presLayoutVars>
      </dgm:prSet>
      <dgm:spPr/>
      <dgm:t>
        <a:bodyPr/>
        <a:lstStyle/>
        <a:p>
          <a:endParaRPr lang="en-US"/>
        </a:p>
      </dgm:t>
    </dgm:pt>
    <dgm:pt modelId="{6A43452A-D70E-4E9C-B4FA-A96C7AE82A22}" type="pres">
      <dgm:prSet presAssocID="{10606D14-5C8D-4A82-BB3D-72F6F3FE2E48}" presName="level3hierChild" presStyleCnt="0"/>
      <dgm:spPr/>
    </dgm:pt>
    <dgm:pt modelId="{FE8635B5-FD92-446A-AC16-5E15478E98A0}" type="pres">
      <dgm:prSet presAssocID="{E94B3D92-F66F-44C5-A312-581CBA9DFDB5}" presName="conn2-1" presStyleLbl="parChTrans1D3" presStyleIdx="2" presStyleCnt="3"/>
      <dgm:spPr/>
      <dgm:t>
        <a:bodyPr/>
        <a:lstStyle/>
        <a:p>
          <a:endParaRPr lang="en-US"/>
        </a:p>
      </dgm:t>
    </dgm:pt>
    <dgm:pt modelId="{984EDF43-5FC5-45B1-854E-730873F2D761}" type="pres">
      <dgm:prSet presAssocID="{E94B3D92-F66F-44C5-A312-581CBA9DFDB5}" presName="connTx" presStyleLbl="parChTrans1D3" presStyleIdx="2" presStyleCnt="3"/>
      <dgm:spPr/>
      <dgm:t>
        <a:bodyPr/>
        <a:lstStyle/>
        <a:p>
          <a:endParaRPr lang="en-US"/>
        </a:p>
      </dgm:t>
    </dgm:pt>
    <dgm:pt modelId="{FAC4ADEC-AE3A-4D08-A698-43102D558B11}" type="pres">
      <dgm:prSet presAssocID="{66B2113A-E023-4E7C-AFD3-8DA4B0B961F6}" presName="root2" presStyleCnt="0"/>
      <dgm:spPr/>
    </dgm:pt>
    <dgm:pt modelId="{8253496F-563D-43D8-B2C4-665562DC6544}" type="pres">
      <dgm:prSet presAssocID="{66B2113A-E023-4E7C-AFD3-8DA4B0B961F6}" presName="LevelTwoTextNode" presStyleLbl="node3" presStyleIdx="2" presStyleCnt="3">
        <dgm:presLayoutVars>
          <dgm:chPref val="3"/>
        </dgm:presLayoutVars>
      </dgm:prSet>
      <dgm:spPr/>
      <dgm:t>
        <a:bodyPr/>
        <a:lstStyle/>
        <a:p>
          <a:endParaRPr lang="en-US"/>
        </a:p>
      </dgm:t>
    </dgm:pt>
    <dgm:pt modelId="{C377C449-116A-456E-97D6-A16409063A27}" type="pres">
      <dgm:prSet presAssocID="{66B2113A-E023-4E7C-AFD3-8DA4B0B961F6}" presName="level3hierChild" presStyleCnt="0"/>
      <dgm:spPr/>
    </dgm:pt>
  </dgm:ptLst>
  <dgm:cxnLst>
    <dgm:cxn modelId="{F6F3A969-A33C-4DD1-862D-BFB1FD9E3851}" type="presOf" srcId="{06E2C123-C1BC-42E6-AD4A-A240F1FCC77A}" destId="{6F35D231-BBF4-4447-9818-61208FCD0244}" srcOrd="0" destOrd="0" presId="urn:microsoft.com/office/officeart/2005/8/layout/hierarchy2"/>
    <dgm:cxn modelId="{D49686B1-1ECA-4DE5-AC68-B91584DDBF57}" srcId="{06E2C123-C1BC-42E6-AD4A-A240F1FCC77A}" destId="{10606D14-5C8D-4A82-BB3D-72F6F3FE2E48}" srcOrd="1" destOrd="0" parTransId="{E1DE3277-4BA3-487F-9BE3-5DD071555F4C}" sibTransId="{678EC82B-6A4E-4798-B47F-598D770953FF}"/>
    <dgm:cxn modelId="{91616216-C824-4699-B0EA-33E99917DAC0}" type="presOf" srcId="{41C2C1FE-DE35-4B80-B907-4C90DA3560A1}" destId="{8CE80F0A-155C-49E3-A03B-386073FD6FFE}" srcOrd="1" destOrd="0" presId="urn:microsoft.com/office/officeart/2005/8/layout/hierarchy2"/>
    <dgm:cxn modelId="{DB96E137-9107-4483-B8BE-C64764F8349F}" type="presOf" srcId="{D145E835-4430-4BBE-9E14-E2F5FF47D1BA}" destId="{2C3BE36B-3627-4CB8-8713-0129855826D4}" srcOrd="1" destOrd="0" presId="urn:microsoft.com/office/officeart/2005/8/layout/hierarchy2"/>
    <dgm:cxn modelId="{D5D2EDCE-0B85-4579-9BD8-49E24EB8BE89}" type="presOf" srcId="{AF200905-0511-45E1-90FB-10EDD3363006}" destId="{B1E842EF-4808-4ED2-950C-C3F7C6BFEC3A}" srcOrd="1" destOrd="0" presId="urn:microsoft.com/office/officeart/2005/8/layout/hierarchy2"/>
    <dgm:cxn modelId="{AC089703-605D-4197-9B00-74AAE67FC077}" type="presOf" srcId="{E94B3D92-F66F-44C5-A312-581CBA9DFDB5}" destId="{FE8635B5-FD92-446A-AC16-5E15478E98A0}" srcOrd="0" destOrd="0" presId="urn:microsoft.com/office/officeart/2005/8/layout/hierarchy2"/>
    <dgm:cxn modelId="{065D5F47-6555-49E1-9D92-37EB2E6F5D02}" type="presOf" srcId="{E1DE3277-4BA3-487F-9BE3-5DD071555F4C}" destId="{F96D16B8-B00D-4C57-B6B0-DEC0AFF502E6}" srcOrd="1" destOrd="0" presId="urn:microsoft.com/office/officeart/2005/8/layout/hierarchy2"/>
    <dgm:cxn modelId="{623EC756-E353-4955-A543-0C9F787E72D1}" srcId="{75ACB0CF-4654-45C5-B46F-C69EBAD99522}" destId="{38866116-9424-4B30-9BA6-0BA8D935955E}" srcOrd="1" destOrd="0" parTransId="{41C2C1FE-DE35-4B80-B907-4C90DA3560A1}" sibTransId="{BF4C8F72-5A33-4763-90AA-00170D7A8B9D}"/>
    <dgm:cxn modelId="{C4D7515A-1E29-472A-B0D4-91DCC9F6581C}" type="presOf" srcId="{E1DE3277-4BA3-487F-9BE3-5DD071555F4C}" destId="{6CA6B921-B1EE-472D-80AF-19D05933FB75}" srcOrd="0" destOrd="0" presId="urn:microsoft.com/office/officeart/2005/8/layout/hierarchy2"/>
    <dgm:cxn modelId="{6A9B211E-EA1A-42D2-8AD1-CB0A3DADF711}" type="presOf" srcId="{08BCF51B-97EB-454F-8969-F0D815A20D5B}" destId="{3C3D23FF-702B-4163-97CE-215E3D1AE274}" srcOrd="0" destOrd="0" presId="urn:microsoft.com/office/officeart/2005/8/layout/hierarchy2"/>
    <dgm:cxn modelId="{E2C3B8E8-A4FD-4C48-A172-815F4D140F32}" type="presOf" srcId="{AF200905-0511-45E1-90FB-10EDD3363006}" destId="{08F1CDE0-25B0-43E7-99CE-0684725018D2}" srcOrd="0" destOrd="0" presId="urn:microsoft.com/office/officeart/2005/8/layout/hierarchy2"/>
    <dgm:cxn modelId="{F6FC3967-4121-4094-A3D8-CA28902360D5}" srcId="{10606D14-5C8D-4A82-BB3D-72F6F3FE2E48}" destId="{66B2113A-E023-4E7C-AFD3-8DA4B0B961F6}" srcOrd="0" destOrd="0" parTransId="{E94B3D92-F66F-44C5-A312-581CBA9DFDB5}" sibTransId="{CE5B34C8-3042-49EB-BE55-E90FF012D482}"/>
    <dgm:cxn modelId="{BF512460-6004-4E5C-BB71-41C8F9ADEB23}" type="presOf" srcId="{38866116-9424-4B30-9BA6-0BA8D935955E}" destId="{090978A7-B8FF-4F56-9E89-4997C67C5CEE}" srcOrd="0" destOrd="0" presId="urn:microsoft.com/office/officeart/2005/8/layout/hierarchy2"/>
    <dgm:cxn modelId="{34E5044C-8ACB-4D84-9995-D90979420F96}" type="presOf" srcId="{D145E835-4430-4BBE-9E14-E2F5FF47D1BA}" destId="{51104F2F-9BB1-42B4-A87C-500B8FDC615A}" srcOrd="0" destOrd="0" presId="urn:microsoft.com/office/officeart/2005/8/layout/hierarchy2"/>
    <dgm:cxn modelId="{C78CF9F2-6062-467C-A9E6-BE0A2D3604D2}" type="presOf" srcId="{1CE44901-3B05-4EE3-8AAE-D6465DECD94B}" destId="{EDB06E7F-2CE4-462A-93E2-3C8BE0513BAE}" srcOrd="0" destOrd="0" presId="urn:microsoft.com/office/officeart/2005/8/layout/hierarchy2"/>
    <dgm:cxn modelId="{427E6E82-D15F-4C5A-ACD0-D9A088B82B9A}" srcId="{08BCF51B-97EB-454F-8969-F0D815A20D5B}" destId="{06E2C123-C1BC-42E6-AD4A-A240F1FCC77A}" srcOrd="0" destOrd="0" parTransId="{A8F2E882-C15E-4167-A52A-59B01C5F12F8}" sibTransId="{7BF19C30-5719-47A6-B857-9B82B6E7E29E}"/>
    <dgm:cxn modelId="{DE108D60-8F04-4502-BEAC-CA1F8201D000}" srcId="{06E2C123-C1BC-42E6-AD4A-A240F1FCC77A}" destId="{75ACB0CF-4654-45C5-B46F-C69EBAD99522}" srcOrd="0" destOrd="0" parTransId="{D145E835-4430-4BBE-9E14-E2F5FF47D1BA}" sibTransId="{1820C35F-2E79-4AFB-B800-755179773216}"/>
    <dgm:cxn modelId="{512CF6C8-1CB4-4F33-B56E-89AEB3CAB9D9}" srcId="{75ACB0CF-4654-45C5-B46F-C69EBAD99522}" destId="{1CE44901-3B05-4EE3-8AAE-D6465DECD94B}" srcOrd="0" destOrd="0" parTransId="{AF200905-0511-45E1-90FB-10EDD3363006}" sibTransId="{6651904C-82FE-4838-AF79-A2F342F7671E}"/>
    <dgm:cxn modelId="{2CFBCC36-F60B-47F8-BC5E-DF6AF91C7AF4}" type="presOf" srcId="{75ACB0CF-4654-45C5-B46F-C69EBAD99522}" destId="{1BD730F3-72E6-4B19-A4DC-F088523A10E0}" srcOrd="0" destOrd="0" presId="urn:microsoft.com/office/officeart/2005/8/layout/hierarchy2"/>
    <dgm:cxn modelId="{F144D8EF-9BD3-4685-8039-3D1930AF3F83}" type="presOf" srcId="{E94B3D92-F66F-44C5-A312-581CBA9DFDB5}" destId="{984EDF43-5FC5-45B1-854E-730873F2D761}" srcOrd="1" destOrd="0" presId="urn:microsoft.com/office/officeart/2005/8/layout/hierarchy2"/>
    <dgm:cxn modelId="{FDEE3243-D245-425E-861B-89C002E0807B}" type="presOf" srcId="{10606D14-5C8D-4A82-BB3D-72F6F3FE2E48}" destId="{DC554EC9-DCC0-496A-A968-869C436AF577}" srcOrd="0" destOrd="0" presId="urn:microsoft.com/office/officeart/2005/8/layout/hierarchy2"/>
    <dgm:cxn modelId="{A9FC0F54-3C70-49D9-84B4-8DEB61989D10}" type="presOf" srcId="{41C2C1FE-DE35-4B80-B907-4C90DA3560A1}" destId="{CF1DAC6A-1A32-49EA-8E89-9449D4B6D626}" srcOrd="0" destOrd="0" presId="urn:microsoft.com/office/officeart/2005/8/layout/hierarchy2"/>
    <dgm:cxn modelId="{AEB0F9B9-0E0B-4BE3-A0A5-6D70EBD0BC28}" type="presOf" srcId="{66B2113A-E023-4E7C-AFD3-8DA4B0B961F6}" destId="{8253496F-563D-43D8-B2C4-665562DC6544}" srcOrd="0" destOrd="0" presId="urn:microsoft.com/office/officeart/2005/8/layout/hierarchy2"/>
    <dgm:cxn modelId="{7F153FFF-41FC-4C5C-BD49-B82E0EF95178}" type="presParOf" srcId="{3C3D23FF-702B-4163-97CE-215E3D1AE274}" destId="{CA75958B-E6A4-4B87-9EBF-F687C25BE1C5}" srcOrd="0" destOrd="0" presId="urn:microsoft.com/office/officeart/2005/8/layout/hierarchy2"/>
    <dgm:cxn modelId="{5C80B25F-250B-4346-9CA4-4ADCAF64876B}" type="presParOf" srcId="{CA75958B-E6A4-4B87-9EBF-F687C25BE1C5}" destId="{6F35D231-BBF4-4447-9818-61208FCD0244}" srcOrd="0" destOrd="0" presId="urn:microsoft.com/office/officeart/2005/8/layout/hierarchy2"/>
    <dgm:cxn modelId="{B4242B26-C204-4A23-B43A-6F5BCF9F7223}" type="presParOf" srcId="{CA75958B-E6A4-4B87-9EBF-F687C25BE1C5}" destId="{0C44323E-313B-4528-A410-91C84254FF83}" srcOrd="1" destOrd="0" presId="urn:microsoft.com/office/officeart/2005/8/layout/hierarchy2"/>
    <dgm:cxn modelId="{89067C9F-3AB0-487D-B441-5F84AF87BA75}" type="presParOf" srcId="{0C44323E-313B-4528-A410-91C84254FF83}" destId="{51104F2F-9BB1-42B4-A87C-500B8FDC615A}" srcOrd="0" destOrd="0" presId="urn:microsoft.com/office/officeart/2005/8/layout/hierarchy2"/>
    <dgm:cxn modelId="{1C3A1207-23AA-45AE-8323-E4E612C0A697}" type="presParOf" srcId="{51104F2F-9BB1-42B4-A87C-500B8FDC615A}" destId="{2C3BE36B-3627-4CB8-8713-0129855826D4}" srcOrd="0" destOrd="0" presId="urn:microsoft.com/office/officeart/2005/8/layout/hierarchy2"/>
    <dgm:cxn modelId="{05638539-3D17-46AA-B5FD-6103BF27D26B}" type="presParOf" srcId="{0C44323E-313B-4528-A410-91C84254FF83}" destId="{55583562-A140-43AD-A1B4-0A13B56CAD64}" srcOrd="1" destOrd="0" presId="urn:microsoft.com/office/officeart/2005/8/layout/hierarchy2"/>
    <dgm:cxn modelId="{1FC17A90-D5B3-4251-81D2-C9306E1F7EFA}" type="presParOf" srcId="{55583562-A140-43AD-A1B4-0A13B56CAD64}" destId="{1BD730F3-72E6-4B19-A4DC-F088523A10E0}" srcOrd="0" destOrd="0" presId="urn:microsoft.com/office/officeart/2005/8/layout/hierarchy2"/>
    <dgm:cxn modelId="{C6C27376-6E6B-4FA4-B421-C6B3AF64E21C}" type="presParOf" srcId="{55583562-A140-43AD-A1B4-0A13B56CAD64}" destId="{071AF3E0-E7E1-48FA-9C2B-DCF87E22B574}" srcOrd="1" destOrd="0" presId="urn:microsoft.com/office/officeart/2005/8/layout/hierarchy2"/>
    <dgm:cxn modelId="{7B494C0A-037F-4E83-A74E-BBC2CAFDDA88}" type="presParOf" srcId="{071AF3E0-E7E1-48FA-9C2B-DCF87E22B574}" destId="{08F1CDE0-25B0-43E7-99CE-0684725018D2}" srcOrd="0" destOrd="0" presId="urn:microsoft.com/office/officeart/2005/8/layout/hierarchy2"/>
    <dgm:cxn modelId="{3C5C0C4D-4B27-42DF-9065-0ADEA2C83261}" type="presParOf" srcId="{08F1CDE0-25B0-43E7-99CE-0684725018D2}" destId="{B1E842EF-4808-4ED2-950C-C3F7C6BFEC3A}" srcOrd="0" destOrd="0" presId="urn:microsoft.com/office/officeart/2005/8/layout/hierarchy2"/>
    <dgm:cxn modelId="{59128220-FD80-40F6-B607-08CA67F2396E}" type="presParOf" srcId="{071AF3E0-E7E1-48FA-9C2B-DCF87E22B574}" destId="{1AC87E0D-CAC1-4319-B906-E62631192FE5}" srcOrd="1" destOrd="0" presId="urn:microsoft.com/office/officeart/2005/8/layout/hierarchy2"/>
    <dgm:cxn modelId="{57EAF7F8-BFEE-4D15-8886-98C738F33237}" type="presParOf" srcId="{1AC87E0D-CAC1-4319-B906-E62631192FE5}" destId="{EDB06E7F-2CE4-462A-93E2-3C8BE0513BAE}" srcOrd="0" destOrd="0" presId="urn:microsoft.com/office/officeart/2005/8/layout/hierarchy2"/>
    <dgm:cxn modelId="{499A3DCA-90D1-45DF-B57B-E5D62EC65925}" type="presParOf" srcId="{1AC87E0D-CAC1-4319-B906-E62631192FE5}" destId="{52300890-E1DE-4760-87A3-931F24B3EE28}" srcOrd="1" destOrd="0" presId="urn:microsoft.com/office/officeart/2005/8/layout/hierarchy2"/>
    <dgm:cxn modelId="{0B5EE63E-9FC8-48CC-8412-7608F9C546F6}" type="presParOf" srcId="{071AF3E0-E7E1-48FA-9C2B-DCF87E22B574}" destId="{CF1DAC6A-1A32-49EA-8E89-9449D4B6D626}" srcOrd="2" destOrd="0" presId="urn:microsoft.com/office/officeart/2005/8/layout/hierarchy2"/>
    <dgm:cxn modelId="{1DB03D8D-DD56-41F2-881A-A4093D438137}" type="presParOf" srcId="{CF1DAC6A-1A32-49EA-8E89-9449D4B6D626}" destId="{8CE80F0A-155C-49E3-A03B-386073FD6FFE}" srcOrd="0" destOrd="0" presId="urn:microsoft.com/office/officeart/2005/8/layout/hierarchy2"/>
    <dgm:cxn modelId="{D19983E3-6429-4C61-A9C7-EF6FC6AFF3AA}" type="presParOf" srcId="{071AF3E0-E7E1-48FA-9C2B-DCF87E22B574}" destId="{540EABEF-C67B-4F28-B7BC-3E763E77A827}" srcOrd="3" destOrd="0" presId="urn:microsoft.com/office/officeart/2005/8/layout/hierarchy2"/>
    <dgm:cxn modelId="{92FF35CF-7A28-4041-9AAC-D66BBDF96D34}" type="presParOf" srcId="{540EABEF-C67B-4F28-B7BC-3E763E77A827}" destId="{090978A7-B8FF-4F56-9E89-4997C67C5CEE}" srcOrd="0" destOrd="0" presId="urn:microsoft.com/office/officeart/2005/8/layout/hierarchy2"/>
    <dgm:cxn modelId="{03E5ADE1-1A2E-451B-B16F-FD44FA4C2746}" type="presParOf" srcId="{540EABEF-C67B-4F28-B7BC-3E763E77A827}" destId="{64EDFF60-E13F-4E6D-92AE-312C924325C1}" srcOrd="1" destOrd="0" presId="urn:microsoft.com/office/officeart/2005/8/layout/hierarchy2"/>
    <dgm:cxn modelId="{D2680D90-6700-40C3-A8D2-CA8828B8E077}" type="presParOf" srcId="{0C44323E-313B-4528-A410-91C84254FF83}" destId="{6CA6B921-B1EE-472D-80AF-19D05933FB75}" srcOrd="2" destOrd="0" presId="urn:microsoft.com/office/officeart/2005/8/layout/hierarchy2"/>
    <dgm:cxn modelId="{9C77266F-0229-4237-B80F-084BFC85FE1A}" type="presParOf" srcId="{6CA6B921-B1EE-472D-80AF-19D05933FB75}" destId="{F96D16B8-B00D-4C57-B6B0-DEC0AFF502E6}" srcOrd="0" destOrd="0" presId="urn:microsoft.com/office/officeart/2005/8/layout/hierarchy2"/>
    <dgm:cxn modelId="{D58849FD-0484-412B-8A6B-7AF6F40BD247}" type="presParOf" srcId="{0C44323E-313B-4528-A410-91C84254FF83}" destId="{82053E61-2D77-4D89-9DFC-8DFAE6B4447E}" srcOrd="3" destOrd="0" presId="urn:microsoft.com/office/officeart/2005/8/layout/hierarchy2"/>
    <dgm:cxn modelId="{11E0CA91-957B-431E-A58C-C35D76B4ECAF}" type="presParOf" srcId="{82053E61-2D77-4D89-9DFC-8DFAE6B4447E}" destId="{DC554EC9-DCC0-496A-A968-869C436AF577}" srcOrd="0" destOrd="0" presId="urn:microsoft.com/office/officeart/2005/8/layout/hierarchy2"/>
    <dgm:cxn modelId="{DEE54596-79D6-49D2-ACA0-74ED21A699D9}" type="presParOf" srcId="{82053E61-2D77-4D89-9DFC-8DFAE6B4447E}" destId="{6A43452A-D70E-4E9C-B4FA-A96C7AE82A22}" srcOrd="1" destOrd="0" presId="urn:microsoft.com/office/officeart/2005/8/layout/hierarchy2"/>
    <dgm:cxn modelId="{B4012BEB-683A-4EB3-B9D1-668650110D24}" type="presParOf" srcId="{6A43452A-D70E-4E9C-B4FA-A96C7AE82A22}" destId="{FE8635B5-FD92-446A-AC16-5E15478E98A0}" srcOrd="0" destOrd="0" presId="urn:microsoft.com/office/officeart/2005/8/layout/hierarchy2"/>
    <dgm:cxn modelId="{65676194-56D3-4A39-8123-4F2240305A12}" type="presParOf" srcId="{FE8635B5-FD92-446A-AC16-5E15478E98A0}" destId="{984EDF43-5FC5-45B1-854E-730873F2D761}" srcOrd="0" destOrd="0" presId="urn:microsoft.com/office/officeart/2005/8/layout/hierarchy2"/>
    <dgm:cxn modelId="{9A2C5C68-C6EC-4982-8D5F-9E33A9B89E9C}" type="presParOf" srcId="{6A43452A-D70E-4E9C-B4FA-A96C7AE82A22}" destId="{FAC4ADEC-AE3A-4D08-A698-43102D558B11}" srcOrd="1" destOrd="0" presId="urn:microsoft.com/office/officeart/2005/8/layout/hierarchy2"/>
    <dgm:cxn modelId="{AB68ED5F-E3F3-4711-9D07-0B2665A9A8DD}" type="presParOf" srcId="{FAC4ADEC-AE3A-4D08-A698-43102D558B11}" destId="{8253496F-563D-43D8-B2C4-665562DC6544}" srcOrd="0" destOrd="0" presId="urn:microsoft.com/office/officeart/2005/8/layout/hierarchy2"/>
    <dgm:cxn modelId="{8D79B327-0807-494B-B6CF-7313CEB8E10A}" type="presParOf" srcId="{FAC4ADEC-AE3A-4D08-A698-43102D558B11}" destId="{C377C449-116A-456E-97D6-A16409063A27}" srcOrd="1" destOrd="0" presId="urn:microsoft.com/office/officeart/2005/8/layout/hierarchy2"/>
  </dgm:cxnLst>
  <dgm:bg>
    <a:noFill/>
  </dgm:bg>
  <dgm:whole>
    <a:ln>
      <a:noFill/>
    </a:ln>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35D231-BBF4-4447-9818-61208FCD0244}">
      <dsp:nvSpPr>
        <dsp:cNvPr id="0" name=""/>
        <dsp:cNvSpPr/>
      </dsp:nvSpPr>
      <dsp:spPr>
        <a:xfrm>
          <a:off x="2478" y="1975991"/>
          <a:ext cx="1983906" cy="991953"/>
        </a:xfrm>
        <a:prstGeom prst="roundRect">
          <a:avLst>
            <a:gd name="adj" fmla="val 10000"/>
          </a:avLst>
        </a:prstGeom>
        <a:noFill/>
        <a:ln w="25400" cap="flat" cmpd="sng" algn="ctr">
          <a:solidFill>
            <a:schemeClr val="accent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lvl="0" algn="ctr" defTabSz="1422400">
            <a:lnSpc>
              <a:spcPct val="90000"/>
            </a:lnSpc>
            <a:spcBef>
              <a:spcPct val="0"/>
            </a:spcBef>
            <a:spcAft>
              <a:spcPct val="35000"/>
            </a:spcAft>
          </a:pPr>
          <a:r>
            <a:rPr lang="en-US" sz="3200" b="1" kern="1200" dirty="0" smtClean="0">
              <a:solidFill>
                <a:srgbClr val="00B050"/>
              </a:solidFill>
            </a:rPr>
            <a:t>Java EE Clients</a:t>
          </a:r>
          <a:endParaRPr lang="en-US" sz="3200" b="1" kern="1200" dirty="0">
            <a:solidFill>
              <a:srgbClr val="00B050"/>
            </a:solidFill>
          </a:endParaRPr>
        </a:p>
      </dsp:txBody>
      <dsp:txXfrm>
        <a:off x="31531" y="2005044"/>
        <a:ext cx="1925800" cy="933847"/>
      </dsp:txXfrm>
    </dsp:sp>
    <dsp:sp modelId="{51104F2F-9BB1-42B4-A87C-500B8FDC615A}">
      <dsp:nvSpPr>
        <dsp:cNvPr id="0" name=""/>
        <dsp:cNvSpPr/>
      </dsp:nvSpPr>
      <dsp:spPr>
        <a:xfrm rot="18770822">
          <a:off x="1799701" y="2023775"/>
          <a:ext cx="1166929" cy="40825"/>
        </a:xfrm>
        <a:custGeom>
          <a:avLst/>
          <a:gdLst/>
          <a:ahLst/>
          <a:cxnLst/>
          <a:rect l="0" t="0" r="0" b="0"/>
          <a:pathLst>
            <a:path>
              <a:moveTo>
                <a:pt x="0" y="20412"/>
              </a:moveTo>
              <a:lnTo>
                <a:pt x="1166929" y="20412"/>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177800">
            <a:lnSpc>
              <a:spcPct val="90000"/>
            </a:lnSpc>
            <a:spcBef>
              <a:spcPct val="0"/>
            </a:spcBef>
            <a:spcAft>
              <a:spcPct val="35000"/>
            </a:spcAft>
          </a:pPr>
          <a:endParaRPr lang="en-US" sz="400" kern="1200">
            <a:solidFill>
              <a:schemeClr val="tx1"/>
            </a:solidFill>
          </a:endParaRPr>
        </a:p>
      </dsp:txBody>
      <dsp:txXfrm>
        <a:off x="2353992" y="2015015"/>
        <a:ext cx="58346" cy="58346"/>
      </dsp:txXfrm>
    </dsp:sp>
    <dsp:sp modelId="{1BD730F3-72E6-4B19-A4DC-F088523A10E0}">
      <dsp:nvSpPr>
        <dsp:cNvPr id="0" name=""/>
        <dsp:cNvSpPr/>
      </dsp:nvSpPr>
      <dsp:spPr>
        <a:xfrm>
          <a:off x="2779946" y="1120431"/>
          <a:ext cx="1983906" cy="991953"/>
        </a:xfrm>
        <a:prstGeom prst="roundRect">
          <a:avLst>
            <a:gd name="adj" fmla="val 10000"/>
          </a:avLst>
        </a:prstGeom>
        <a:noFill/>
        <a:ln w="25400" cap="flat" cmpd="sng" algn="ctr">
          <a:solidFill>
            <a:schemeClr val="accent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lvl="0" algn="ctr" defTabSz="1422400">
            <a:lnSpc>
              <a:spcPct val="90000"/>
            </a:lnSpc>
            <a:spcBef>
              <a:spcPct val="0"/>
            </a:spcBef>
            <a:spcAft>
              <a:spcPct val="35000"/>
            </a:spcAft>
          </a:pPr>
          <a:r>
            <a:rPr lang="en-US" sz="3200" kern="1200" dirty="0" smtClean="0">
              <a:solidFill>
                <a:srgbClr val="7030A0"/>
              </a:solidFill>
            </a:rPr>
            <a:t>Web clients</a:t>
          </a:r>
          <a:endParaRPr lang="en-US" sz="3200" kern="1200" dirty="0">
            <a:solidFill>
              <a:srgbClr val="7030A0"/>
            </a:solidFill>
          </a:endParaRPr>
        </a:p>
      </dsp:txBody>
      <dsp:txXfrm>
        <a:off x="2808999" y="1149484"/>
        <a:ext cx="1925800" cy="933847"/>
      </dsp:txXfrm>
    </dsp:sp>
    <dsp:sp modelId="{08F1CDE0-25B0-43E7-99CE-0684725018D2}">
      <dsp:nvSpPr>
        <dsp:cNvPr id="0" name=""/>
        <dsp:cNvSpPr/>
      </dsp:nvSpPr>
      <dsp:spPr>
        <a:xfrm rot="19457599">
          <a:off x="4671996" y="1310809"/>
          <a:ext cx="977275" cy="40825"/>
        </a:xfrm>
        <a:custGeom>
          <a:avLst/>
          <a:gdLst/>
          <a:ahLst/>
          <a:cxnLst/>
          <a:rect l="0" t="0" r="0" b="0"/>
          <a:pathLst>
            <a:path>
              <a:moveTo>
                <a:pt x="0" y="20412"/>
              </a:moveTo>
              <a:lnTo>
                <a:pt x="977275" y="20412"/>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177800">
            <a:lnSpc>
              <a:spcPct val="90000"/>
            </a:lnSpc>
            <a:spcBef>
              <a:spcPct val="0"/>
            </a:spcBef>
            <a:spcAft>
              <a:spcPct val="35000"/>
            </a:spcAft>
          </a:pPr>
          <a:endParaRPr lang="en-US" sz="400" kern="1200">
            <a:solidFill>
              <a:schemeClr val="tx1"/>
            </a:solidFill>
          </a:endParaRPr>
        </a:p>
      </dsp:txBody>
      <dsp:txXfrm>
        <a:off x="5136202" y="1306790"/>
        <a:ext cx="48863" cy="48863"/>
      </dsp:txXfrm>
    </dsp:sp>
    <dsp:sp modelId="{EDB06E7F-2CE4-462A-93E2-3C8BE0513BAE}">
      <dsp:nvSpPr>
        <dsp:cNvPr id="0" name=""/>
        <dsp:cNvSpPr/>
      </dsp:nvSpPr>
      <dsp:spPr>
        <a:xfrm>
          <a:off x="5557415" y="550058"/>
          <a:ext cx="1983906" cy="991953"/>
        </a:xfrm>
        <a:prstGeom prst="roundRect">
          <a:avLst>
            <a:gd name="adj" fmla="val 10000"/>
          </a:avLst>
        </a:prstGeom>
        <a:noFill/>
        <a:ln w="25400" cap="flat" cmpd="sng" algn="ctr">
          <a:solidFill>
            <a:schemeClr val="accent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lvl="0" algn="ctr" defTabSz="1422400">
            <a:lnSpc>
              <a:spcPct val="90000"/>
            </a:lnSpc>
            <a:spcBef>
              <a:spcPct val="0"/>
            </a:spcBef>
            <a:spcAft>
              <a:spcPct val="35000"/>
            </a:spcAft>
          </a:pPr>
          <a:r>
            <a:rPr lang="en-US" sz="3200" kern="1200" dirty="0" smtClean="0">
              <a:solidFill>
                <a:srgbClr val="7030A0"/>
              </a:solidFill>
            </a:rPr>
            <a:t>Dynamic web pages</a:t>
          </a:r>
          <a:endParaRPr lang="en-US" sz="3200" kern="1200" dirty="0">
            <a:solidFill>
              <a:srgbClr val="7030A0"/>
            </a:solidFill>
          </a:endParaRPr>
        </a:p>
      </dsp:txBody>
      <dsp:txXfrm>
        <a:off x="5586468" y="579111"/>
        <a:ext cx="1925800" cy="933847"/>
      </dsp:txXfrm>
    </dsp:sp>
    <dsp:sp modelId="{CF1DAC6A-1A32-49EA-8E89-9449D4B6D626}">
      <dsp:nvSpPr>
        <dsp:cNvPr id="0" name=""/>
        <dsp:cNvSpPr/>
      </dsp:nvSpPr>
      <dsp:spPr>
        <a:xfrm rot="2142401">
          <a:off x="4671996" y="1881182"/>
          <a:ext cx="977275" cy="40825"/>
        </a:xfrm>
        <a:custGeom>
          <a:avLst/>
          <a:gdLst/>
          <a:ahLst/>
          <a:cxnLst/>
          <a:rect l="0" t="0" r="0" b="0"/>
          <a:pathLst>
            <a:path>
              <a:moveTo>
                <a:pt x="0" y="20412"/>
              </a:moveTo>
              <a:lnTo>
                <a:pt x="977275" y="20412"/>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177800">
            <a:lnSpc>
              <a:spcPct val="90000"/>
            </a:lnSpc>
            <a:spcBef>
              <a:spcPct val="0"/>
            </a:spcBef>
            <a:spcAft>
              <a:spcPct val="35000"/>
            </a:spcAft>
          </a:pPr>
          <a:endParaRPr lang="en-US" sz="400" kern="1200">
            <a:solidFill>
              <a:schemeClr val="tx1"/>
            </a:solidFill>
          </a:endParaRPr>
        </a:p>
      </dsp:txBody>
      <dsp:txXfrm>
        <a:off x="5136202" y="1877163"/>
        <a:ext cx="48863" cy="48863"/>
      </dsp:txXfrm>
    </dsp:sp>
    <dsp:sp modelId="{090978A7-B8FF-4F56-9E89-4997C67C5CEE}">
      <dsp:nvSpPr>
        <dsp:cNvPr id="0" name=""/>
        <dsp:cNvSpPr/>
      </dsp:nvSpPr>
      <dsp:spPr>
        <a:xfrm>
          <a:off x="5557415" y="1690804"/>
          <a:ext cx="1983906" cy="991953"/>
        </a:xfrm>
        <a:prstGeom prst="roundRect">
          <a:avLst>
            <a:gd name="adj" fmla="val 10000"/>
          </a:avLst>
        </a:prstGeom>
        <a:noFill/>
        <a:ln w="25400" cap="flat" cmpd="sng" algn="ctr">
          <a:solidFill>
            <a:schemeClr val="accent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lvl="0" algn="ctr" defTabSz="1422400">
            <a:lnSpc>
              <a:spcPct val="90000"/>
            </a:lnSpc>
            <a:spcBef>
              <a:spcPct val="0"/>
            </a:spcBef>
            <a:spcAft>
              <a:spcPct val="35000"/>
            </a:spcAft>
          </a:pPr>
          <a:r>
            <a:rPr lang="en-US" sz="3200" kern="1200" dirty="0" smtClean="0">
              <a:solidFill>
                <a:srgbClr val="7030A0"/>
              </a:solidFill>
            </a:rPr>
            <a:t>Web browser</a:t>
          </a:r>
          <a:endParaRPr lang="en-US" sz="3200" kern="1200" dirty="0">
            <a:solidFill>
              <a:srgbClr val="7030A0"/>
            </a:solidFill>
          </a:endParaRPr>
        </a:p>
      </dsp:txBody>
      <dsp:txXfrm>
        <a:off x="5586468" y="1719857"/>
        <a:ext cx="1925800" cy="933847"/>
      </dsp:txXfrm>
    </dsp:sp>
    <dsp:sp modelId="{6CA6B921-B1EE-472D-80AF-19D05933FB75}">
      <dsp:nvSpPr>
        <dsp:cNvPr id="0" name=""/>
        <dsp:cNvSpPr/>
      </dsp:nvSpPr>
      <dsp:spPr>
        <a:xfrm rot="2829178">
          <a:off x="1799701" y="2879335"/>
          <a:ext cx="1166929" cy="40825"/>
        </a:xfrm>
        <a:custGeom>
          <a:avLst/>
          <a:gdLst/>
          <a:ahLst/>
          <a:cxnLst/>
          <a:rect l="0" t="0" r="0" b="0"/>
          <a:pathLst>
            <a:path>
              <a:moveTo>
                <a:pt x="0" y="20412"/>
              </a:moveTo>
              <a:lnTo>
                <a:pt x="1166929" y="20412"/>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177800">
            <a:lnSpc>
              <a:spcPct val="90000"/>
            </a:lnSpc>
            <a:spcBef>
              <a:spcPct val="0"/>
            </a:spcBef>
            <a:spcAft>
              <a:spcPct val="35000"/>
            </a:spcAft>
          </a:pPr>
          <a:endParaRPr lang="en-US" sz="400" kern="1200">
            <a:solidFill>
              <a:schemeClr val="tx1"/>
            </a:solidFill>
          </a:endParaRPr>
        </a:p>
      </dsp:txBody>
      <dsp:txXfrm>
        <a:off x="2353992" y="2870574"/>
        <a:ext cx="58346" cy="58346"/>
      </dsp:txXfrm>
    </dsp:sp>
    <dsp:sp modelId="{DC554EC9-DCC0-496A-A968-869C436AF577}">
      <dsp:nvSpPr>
        <dsp:cNvPr id="0" name=""/>
        <dsp:cNvSpPr/>
      </dsp:nvSpPr>
      <dsp:spPr>
        <a:xfrm>
          <a:off x="2779946" y="2831551"/>
          <a:ext cx="1983906" cy="991953"/>
        </a:xfrm>
        <a:prstGeom prst="roundRect">
          <a:avLst>
            <a:gd name="adj" fmla="val 10000"/>
          </a:avLst>
        </a:prstGeom>
        <a:noFill/>
        <a:ln w="25400" cap="flat" cmpd="sng" algn="ctr">
          <a:solidFill>
            <a:schemeClr val="accent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lvl="0" algn="ctr" defTabSz="1422400">
            <a:lnSpc>
              <a:spcPct val="90000"/>
            </a:lnSpc>
            <a:spcBef>
              <a:spcPct val="0"/>
            </a:spcBef>
            <a:spcAft>
              <a:spcPct val="35000"/>
            </a:spcAft>
          </a:pPr>
          <a:r>
            <a:rPr lang="en-US" sz="3200" kern="1200" dirty="0" smtClean="0">
              <a:solidFill>
                <a:srgbClr val="002060"/>
              </a:solidFill>
            </a:rPr>
            <a:t>Application Clients</a:t>
          </a:r>
          <a:endParaRPr lang="en-US" sz="3200" kern="1200" dirty="0">
            <a:solidFill>
              <a:srgbClr val="002060"/>
            </a:solidFill>
          </a:endParaRPr>
        </a:p>
      </dsp:txBody>
      <dsp:txXfrm>
        <a:off x="2808999" y="2860604"/>
        <a:ext cx="1925800" cy="933847"/>
      </dsp:txXfrm>
    </dsp:sp>
    <dsp:sp modelId="{FE8635B5-FD92-446A-AC16-5E15478E98A0}">
      <dsp:nvSpPr>
        <dsp:cNvPr id="0" name=""/>
        <dsp:cNvSpPr/>
      </dsp:nvSpPr>
      <dsp:spPr>
        <a:xfrm>
          <a:off x="4763853" y="3307115"/>
          <a:ext cx="793562" cy="40825"/>
        </a:xfrm>
        <a:custGeom>
          <a:avLst/>
          <a:gdLst/>
          <a:ahLst/>
          <a:cxnLst/>
          <a:rect l="0" t="0" r="0" b="0"/>
          <a:pathLst>
            <a:path>
              <a:moveTo>
                <a:pt x="0" y="20412"/>
              </a:moveTo>
              <a:lnTo>
                <a:pt x="793562" y="20412"/>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177800">
            <a:lnSpc>
              <a:spcPct val="90000"/>
            </a:lnSpc>
            <a:spcBef>
              <a:spcPct val="0"/>
            </a:spcBef>
            <a:spcAft>
              <a:spcPct val="35000"/>
            </a:spcAft>
          </a:pPr>
          <a:endParaRPr lang="en-US" sz="400" kern="1200">
            <a:solidFill>
              <a:schemeClr val="tx1"/>
            </a:solidFill>
          </a:endParaRPr>
        </a:p>
      </dsp:txBody>
      <dsp:txXfrm>
        <a:off x="5140795" y="3307688"/>
        <a:ext cx="39678" cy="39678"/>
      </dsp:txXfrm>
    </dsp:sp>
    <dsp:sp modelId="{8253496F-563D-43D8-B2C4-665562DC6544}">
      <dsp:nvSpPr>
        <dsp:cNvPr id="0" name=""/>
        <dsp:cNvSpPr/>
      </dsp:nvSpPr>
      <dsp:spPr>
        <a:xfrm>
          <a:off x="5557415" y="2831551"/>
          <a:ext cx="1983906" cy="991953"/>
        </a:xfrm>
        <a:prstGeom prst="roundRect">
          <a:avLst>
            <a:gd name="adj" fmla="val 10000"/>
          </a:avLst>
        </a:prstGeom>
        <a:noFill/>
        <a:ln w="25400" cap="flat" cmpd="sng" algn="ctr">
          <a:solidFill>
            <a:schemeClr val="accent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lvl="0" algn="ctr" defTabSz="1422400">
            <a:lnSpc>
              <a:spcPct val="90000"/>
            </a:lnSpc>
            <a:spcBef>
              <a:spcPct val="0"/>
            </a:spcBef>
            <a:spcAft>
              <a:spcPct val="35000"/>
            </a:spcAft>
          </a:pPr>
          <a:r>
            <a:rPr lang="en-US" sz="3200" kern="1200" dirty="0" smtClean="0">
              <a:solidFill>
                <a:srgbClr val="002060"/>
              </a:solidFill>
            </a:rPr>
            <a:t>GUIs</a:t>
          </a:r>
          <a:endParaRPr lang="en-US" sz="3200" kern="1200" dirty="0">
            <a:solidFill>
              <a:srgbClr val="002060"/>
            </a:solidFill>
          </a:endParaRPr>
        </a:p>
      </dsp:txBody>
      <dsp:txXfrm>
        <a:off x="5586468" y="2860604"/>
        <a:ext cx="1925800" cy="933847"/>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B1AF1BF-01CA-4961-8652-E6477156C05F}" type="datetimeFigureOut">
              <a:rPr lang="en-US" smtClean="0"/>
              <a:pPr/>
              <a:t>5/1/2019</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51FD58E-DEE8-4398-ADC3-3A3441DE8C86}" type="slidenum">
              <a:rPr lang="en-US" smtClean="0"/>
              <a:pPr/>
              <a:t>‹#›</a:t>
            </a:fld>
            <a:endParaRPr lang="en-US"/>
          </a:p>
        </p:txBody>
      </p:sp>
    </p:spTree>
    <p:extLst>
      <p:ext uri="{BB962C8B-B14F-4D97-AF65-F5344CB8AC3E}">
        <p14:creationId xmlns:p14="http://schemas.microsoft.com/office/powerpoint/2010/main" val="14202315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smtClean="0">
                <a:latin typeface="Arial" charset="0"/>
              </a:rPr>
              <a:t>When you create a WSDL binding that maps a </a:t>
            </a:r>
            <a:r>
              <a:rPr lang="en-US" altLang="en-US" dirty="0" err="1" smtClean="0">
                <a:latin typeface="Arial" charset="0"/>
              </a:rPr>
              <a:t>portType's</a:t>
            </a:r>
            <a:r>
              <a:rPr lang="en-US" altLang="en-US" dirty="0" smtClean="0">
                <a:latin typeface="Arial" charset="0"/>
              </a:rPr>
              <a:t> operations to SOAP messages sent over HTTP, you have to specify whether the SOAP messages contain literal or encoded instances of the schema constructs the operations use. If you choose "literal," you are saying that the XML Schema constructs your WSDL definitions refer to are concrete specifications of what will appear in your SOAP message bodies. If you choose "encoded," you are saying that the XML Schema constructs your WSDL definitions refer to are abstract specifications of what will appear in your SOAP message bodies; these can be made concrete by applying the rules defined by SOAP encoding. (The WSDL specification allows other encoding schemes as well, but alternatives are rarely if ever used.) </a:t>
            </a:r>
          </a:p>
          <a:p>
            <a:endParaRPr lang="en-US" dirty="0"/>
          </a:p>
        </p:txBody>
      </p:sp>
      <p:sp>
        <p:nvSpPr>
          <p:cNvPr id="4" name="Slide Number Placeholder 3"/>
          <p:cNvSpPr>
            <a:spLocks noGrp="1"/>
          </p:cNvSpPr>
          <p:nvPr>
            <p:ph type="sldNum" sz="quarter" idx="10"/>
          </p:nvPr>
        </p:nvSpPr>
        <p:spPr/>
        <p:txBody>
          <a:bodyPr/>
          <a:lstStyle/>
          <a:p>
            <a:fld id="{AEC313EF-AEF9-415B-AF7E-2E459D18F9CD}" type="slidenum">
              <a:rPr lang="en-US" smtClean="0"/>
              <a:pPr/>
              <a:t>22</a:t>
            </a:fld>
            <a:endParaRPr lang="en-US"/>
          </a:p>
        </p:txBody>
      </p:sp>
    </p:spTree>
    <p:extLst>
      <p:ext uri="{BB962C8B-B14F-4D97-AF65-F5344CB8AC3E}">
        <p14:creationId xmlns:p14="http://schemas.microsoft.com/office/powerpoint/2010/main" val="47796225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2BFC9A3-AF3C-4CC1-8FAA-58AD05255FE4}" type="datetimeFigureOut">
              <a:rPr lang="en-US" smtClean="0"/>
              <a:pPr/>
              <a:t>5/1/2019</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p>
            <a:fld id="{AB87FE11-6A5F-4A23-80E7-CB018A330197}" type="slidenum">
              <a:rPr lang="en-US" smtClean="0"/>
              <a:pPr/>
              <a:t>‹#›</a:t>
            </a:fld>
            <a:endParaRPr lang="en-US"/>
          </a:p>
        </p:txBody>
      </p:sp>
      <p:pic>
        <p:nvPicPr>
          <p:cNvPr id="1027" name="Picture 3" descr="C:\Users\Dell PC\Desktop\mainpag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38" y="2133600"/>
            <a:ext cx="9162738" cy="2362200"/>
          </a:xfrm>
          <a:prstGeom prst="rect">
            <a:avLst/>
          </a:prstGeom>
          <a:noFill/>
          <a:extLst>
            <a:ext uri="{909E8E84-426E-40DD-AFC4-6F175D3DCCD1}">
              <a14:hiddenFill xmlns:a14="http://schemas.microsoft.com/office/drawing/2010/main">
                <a:solidFill>
                  <a:srgbClr val="FFFFFF"/>
                </a:solidFill>
              </a14:hiddenFill>
            </a:ext>
          </a:extLst>
        </p:spPr>
      </p:pic>
      <p:sp>
        <p:nvSpPr>
          <p:cNvPr id="3" name="Subtitle 2"/>
          <p:cNvSpPr>
            <a:spLocks noGrp="1"/>
          </p:cNvSpPr>
          <p:nvPr>
            <p:ph type="subTitle" idx="1" hasCustomPrompt="1"/>
          </p:nvPr>
        </p:nvSpPr>
        <p:spPr>
          <a:xfrm>
            <a:off x="295431" y="4800600"/>
            <a:ext cx="8696169" cy="609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Chapter Title style</a:t>
            </a:r>
            <a:endParaRPr lang="en-US" dirty="0"/>
          </a:p>
        </p:txBody>
      </p:sp>
      <p:sp>
        <p:nvSpPr>
          <p:cNvPr id="2" name="Title 1"/>
          <p:cNvSpPr>
            <a:spLocks noGrp="1"/>
          </p:cNvSpPr>
          <p:nvPr>
            <p:ph type="ctrTitle" hasCustomPrompt="1"/>
          </p:nvPr>
        </p:nvSpPr>
        <p:spPr>
          <a:xfrm>
            <a:off x="228600" y="2247901"/>
            <a:ext cx="3886200" cy="1981199"/>
          </a:xfrm>
        </p:spPr>
        <p:txBody>
          <a:bodyPr/>
          <a:lstStyle>
            <a:lvl1pPr>
              <a:defRPr/>
            </a:lvl1pPr>
          </a:lstStyle>
          <a:p>
            <a:r>
              <a:rPr lang="en-US" dirty="0" smtClean="0"/>
              <a:t>Click to edit Course Title style</a:t>
            </a:r>
            <a:endParaRPr lang="en-US" dirty="0"/>
          </a:p>
        </p:txBody>
      </p:sp>
    </p:spTree>
    <p:extLst>
      <p:ext uri="{BB962C8B-B14F-4D97-AF65-F5344CB8AC3E}">
        <p14:creationId xmlns:p14="http://schemas.microsoft.com/office/powerpoint/2010/main" val="1302127494"/>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2BFC9A3-AF3C-4CC1-8FAA-58AD05255FE4}" type="datetimeFigureOut">
              <a:rPr lang="en-US" smtClean="0"/>
              <a:pPr/>
              <a:t>5/1/2019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B87FE11-6A5F-4A23-80E7-CB018A330197}" type="slidenum">
              <a:rPr lang="en-US" smtClean="0"/>
              <a:pPr/>
              <a:t>‹#›</a:t>
            </a:fld>
            <a:endParaRPr lang="en-US"/>
          </a:p>
        </p:txBody>
      </p:sp>
      <p:pic>
        <p:nvPicPr>
          <p:cNvPr id="1026" name="Picture 2" descr="C:\Users\Dell PC\Desktop\template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763"/>
            <a:ext cx="9144000" cy="355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8172857"/>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2BFC9A3-AF3C-4CC1-8FAA-58AD05255FE4}" type="datetimeFigureOut">
              <a:rPr lang="en-US" smtClean="0"/>
              <a:pPr/>
              <a:t>5/1/2019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B87FE11-6A5F-4A23-80E7-CB018A330197}" type="slidenum">
              <a:rPr lang="en-US" smtClean="0"/>
              <a:pPr/>
              <a:t>‹#›</a:t>
            </a:fld>
            <a:endParaRPr lang="en-US"/>
          </a:p>
        </p:txBody>
      </p:sp>
    </p:spTree>
    <p:extLst>
      <p:ext uri="{BB962C8B-B14F-4D97-AF65-F5344CB8AC3E}">
        <p14:creationId xmlns:p14="http://schemas.microsoft.com/office/powerpoint/2010/main" val="494410875"/>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E2BFC9A3-AF3C-4CC1-8FAA-58AD05255FE4}" type="datetimeFigureOut">
              <a:rPr lang="en-US" smtClean="0"/>
              <a:pPr/>
              <a:t>5/1/2019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B87FE11-6A5F-4A23-80E7-CB018A330197}" type="slidenum">
              <a:rPr lang="en-US" smtClean="0"/>
              <a:pPr/>
              <a:t>‹#›</a:t>
            </a:fld>
            <a:endParaRPr lang="en-US"/>
          </a:p>
        </p:txBody>
      </p:sp>
    </p:spTree>
    <p:extLst>
      <p:ext uri="{BB962C8B-B14F-4D97-AF65-F5344CB8AC3E}">
        <p14:creationId xmlns:p14="http://schemas.microsoft.com/office/powerpoint/2010/main" val="1134815677"/>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E2BFC9A3-AF3C-4CC1-8FAA-58AD05255FE4}" type="datetimeFigureOut">
              <a:rPr lang="en-US" smtClean="0"/>
              <a:pPr/>
              <a:t>5/1/2019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B87FE11-6A5F-4A23-80E7-CB018A330197}" type="slidenum">
              <a:rPr lang="en-US" smtClean="0"/>
              <a:pPr/>
              <a:t>‹#›</a:t>
            </a:fld>
            <a:endParaRPr lang="en-US"/>
          </a:p>
        </p:txBody>
      </p:sp>
    </p:spTree>
    <p:extLst>
      <p:ext uri="{BB962C8B-B14F-4D97-AF65-F5344CB8AC3E}">
        <p14:creationId xmlns:p14="http://schemas.microsoft.com/office/powerpoint/2010/main" val="2511861287"/>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E2BFC9A3-AF3C-4CC1-8FAA-58AD05255FE4}" type="datetimeFigureOut">
              <a:rPr lang="en-US" smtClean="0"/>
              <a:pPr/>
              <a:t>5/1/2019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B87FE11-6A5F-4A23-80E7-CB018A330197}" type="slidenum">
              <a:rPr lang="en-US" smtClean="0"/>
              <a:pPr/>
              <a:t>‹#›</a:t>
            </a:fld>
            <a:endParaRPr lang="en-US"/>
          </a:p>
        </p:txBody>
      </p:sp>
    </p:spTree>
    <p:extLst>
      <p:ext uri="{BB962C8B-B14F-4D97-AF65-F5344CB8AC3E}">
        <p14:creationId xmlns:p14="http://schemas.microsoft.com/office/powerpoint/2010/main" val="206419643"/>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2BFC9A3-AF3C-4CC1-8FAA-58AD05255FE4}" type="datetimeFigureOut">
              <a:rPr lang="en-US" smtClean="0"/>
              <a:pPr/>
              <a:t>5/1/2019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B87FE11-6A5F-4A23-80E7-CB018A330197}" type="slidenum">
              <a:rPr lang="en-US" smtClean="0"/>
              <a:pPr/>
              <a:t>‹#›</a:t>
            </a:fld>
            <a:endParaRPr lang="en-US"/>
          </a:p>
        </p:txBody>
      </p:sp>
    </p:spTree>
    <p:extLst>
      <p:ext uri="{BB962C8B-B14F-4D97-AF65-F5344CB8AC3E}">
        <p14:creationId xmlns:p14="http://schemas.microsoft.com/office/powerpoint/2010/main" val="666640643"/>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2BFC9A3-AF3C-4CC1-8FAA-58AD05255FE4}" type="datetimeFigureOut">
              <a:rPr lang="en-US" smtClean="0"/>
              <a:pPr/>
              <a:t>5/1/2019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B87FE11-6A5F-4A23-80E7-CB018A330197}" type="slidenum">
              <a:rPr lang="en-US" smtClean="0"/>
              <a:pPr/>
              <a:t>‹#›</a:t>
            </a:fld>
            <a:endParaRPr lang="en-US"/>
          </a:p>
        </p:txBody>
      </p:sp>
    </p:spTree>
    <p:extLst>
      <p:ext uri="{BB962C8B-B14F-4D97-AF65-F5344CB8AC3E}">
        <p14:creationId xmlns:p14="http://schemas.microsoft.com/office/powerpoint/2010/main" val="1144932376"/>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2BFC9A3-AF3C-4CC1-8FAA-58AD05255FE4}" type="datetimeFigureOut">
              <a:rPr lang="en-US" smtClean="0"/>
              <a:pPr/>
              <a:t>5/1/2019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B87FE11-6A5F-4A23-80E7-CB018A330197}" type="slidenum">
              <a:rPr lang="en-US" smtClean="0"/>
              <a:pPr/>
              <a:t>‹#›</a:t>
            </a:fld>
            <a:endParaRPr lang="en-US"/>
          </a:p>
        </p:txBody>
      </p:sp>
    </p:spTree>
    <p:extLst>
      <p:ext uri="{BB962C8B-B14F-4D97-AF65-F5344CB8AC3E}">
        <p14:creationId xmlns:p14="http://schemas.microsoft.com/office/powerpoint/2010/main" val="514718428"/>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2BFC9A3-AF3C-4CC1-8FAA-58AD05255FE4}" type="datetimeFigureOut">
              <a:rPr lang="en-US" smtClean="0"/>
              <a:pPr/>
              <a:t>5/1/2019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B87FE11-6A5F-4A23-80E7-CB018A330197}" type="slidenum">
              <a:rPr lang="en-US" smtClean="0"/>
              <a:pPr/>
              <a:t>‹#›</a:t>
            </a:fld>
            <a:endParaRPr lang="en-US"/>
          </a:p>
        </p:txBody>
      </p:sp>
    </p:spTree>
    <p:extLst>
      <p:ext uri="{BB962C8B-B14F-4D97-AF65-F5344CB8AC3E}">
        <p14:creationId xmlns:p14="http://schemas.microsoft.com/office/powerpoint/2010/main" val="2522774441"/>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2BFC9A3-AF3C-4CC1-8FAA-58AD05255FE4}" type="datetimeFigureOut">
              <a:rPr lang="en-US" smtClean="0"/>
              <a:pPr/>
              <a:t>5/1/2019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B87FE11-6A5F-4A23-80E7-CB018A330197}" type="slidenum">
              <a:rPr lang="en-US" smtClean="0"/>
              <a:pPr/>
              <a:t>‹#›</a:t>
            </a:fld>
            <a:endParaRPr lang="en-US"/>
          </a:p>
        </p:txBody>
      </p:sp>
    </p:spTree>
    <p:extLst>
      <p:ext uri="{BB962C8B-B14F-4D97-AF65-F5344CB8AC3E}">
        <p14:creationId xmlns:p14="http://schemas.microsoft.com/office/powerpoint/2010/main" val="2286135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609600"/>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905000"/>
            <a:ext cx="8229600" cy="42211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2BFC9A3-AF3C-4CC1-8FAA-58AD05255FE4}" type="datetimeFigureOut">
              <a:rPr lang="en-US" smtClean="0"/>
              <a:pPr/>
              <a:t>5/1/2019</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B87FE11-6A5F-4A23-80E7-CB018A330197}" type="slidenum">
              <a:rPr lang="en-US" smtClean="0"/>
              <a:pPr/>
              <a:t>‹#›</a:t>
            </a:fld>
            <a:endParaRPr lang="en-US"/>
          </a:p>
        </p:txBody>
      </p:sp>
      <p:pic>
        <p:nvPicPr>
          <p:cNvPr id="8" name="Picture 2" descr="C:\Users\Dell PC\Desktop\template2.jpg"/>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0" y="4763"/>
            <a:ext cx="9144000" cy="355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038408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143000" y="4800600"/>
            <a:ext cx="7406640" cy="1752600"/>
          </a:xfrm>
        </p:spPr>
        <p:txBody>
          <a:bodyPr/>
          <a:lstStyle/>
          <a:p>
            <a:r>
              <a:rPr lang="en-US" b="1" dirty="0">
                <a:effectLst>
                  <a:outerShdw blurRad="38100" dist="38100" dir="2700000" algn="tl">
                    <a:srgbClr val="000000">
                      <a:alpha val="43137"/>
                    </a:srgbClr>
                  </a:outerShdw>
                </a:effectLst>
              </a:rPr>
              <a:t>Principles of distributed</a:t>
            </a:r>
          </a:p>
          <a:p>
            <a:r>
              <a:rPr lang="en-US" b="1" dirty="0">
                <a:effectLst>
                  <a:outerShdw blurRad="38100" dist="38100" dir="2700000" algn="tl">
                    <a:srgbClr val="000000">
                      <a:alpha val="43137"/>
                    </a:srgbClr>
                  </a:outerShdw>
                </a:effectLst>
              </a:rPr>
              <a:t>software development</a:t>
            </a:r>
          </a:p>
        </p:txBody>
      </p:sp>
      <p:sp>
        <p:nvSpPr>
          <p:cNvPr id="2" name="Title 1"/>
          <p:cNvSpPr>
            <a:spLocks noGrp="1"/>
          </p:cNvSpPr>
          <p:nvPr>
            <p:ph type="ctrTitle"/>
          </p:nvPr>
        </p:nvSpPr>
        <p:spPr>
          <a:xfrm>
            <a:off x="990600" y="609600"/>
            <a:ext cx="8153400" cy="1472184"/>
          </a:xfrm>
        </p:spPr>
        <p:txBody>
          <a:bodyPr>
            <a:normAutofit/>
          </a:bodyPr>
          <a:lstStyle/>
          <a:p>
            <a:r>
              <a:rPr lang="en-US" b="1" dirty="0" smtClean="0">
                <a:effectLst>
                  <a:outerShdw blurRad="38100" dist="38100" dir="2700000" algn="tl">
                    <a:srgbClr val="000000">
                      <a:alpha val="43137"/>
                    </a:srgbClr>
                  </a:outerShdw>
                </a:effectLst>
              </a:rPr>
              <a:t>HNDIT2411</a:t>
            </a:r>
            <a:br>
              <a:rPr lang="en-US" b="1" dirty="0" smtClean="0">
                <a:effectLst>
                  <a:outerShdw blurRad="38100" dist="38100" dir="2700000" algn="tl">
                    <a:srgbClr val="000000">
                      <a:alpha val="43137"/>
                    </a:srgbClr>
                  </a:outerShdw>
                </a:effectLst>
              </a:rPr>
            </a:br>
            <a:r>
              <a:rPr lang="en-US" b="1" dirty="0">
                <a:effectLst>
                  <a:outerShdw blurRad="38100" dist="38100" dir="2700000" algn="tl">
                    <a:srgbClr val="000000">
                      <a:alpha val="43137"/>
                    </a:srgbClr>
                  </a:outerShdw>
                </a:effectLst>
              </a:rPr>
              <a:t>Enterprise Architecture</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Java EE components</a:t>
            </a:r>
            <a:endParaRPr lang="en-US" dirty="0"/>
          </a:p>
        </p:txBody>
      </p:sp>
      <p:sp>
        <p:nvSpPr>
          <p:cNvPr id="3" name="Content Placeholder 2"/>
          <p:cNvSpPr>
            <a:spLocks noGrp="1"/>
          </p:cNvSpPr>
          <p:nvPr>
            <p:ph idx="1"/>
          </p:nvPr>
        </p:nvSpPr>
        <p:spPr/>
        <p:txBody>
          <a:bodyPr>
            <a:normAutofit fontScale="92500" lnSpcReduction="20000"/>
          </a:bodyPr>
          <a:lstStyle/>
          <a:p>
            <a:pPr lvl="0" algn="just"/>
            <a:r>
              <a:rPr lang="en-US" dirty="0"/>
              <a:t>J2EE components are java classes.</a:t>
            </a:r>
            <a:endParaRPr lang="en-US" sz="3600" dirty="0"/>
          </a:p>
          <a:p>
            <a:pPr lvl="0" algn="just"/>
            <a:r>
              <a:rPr lang="en-US" dirty="0"/>
              <a:t>The difference between J2EE components and “Standard” Java classes :</a:t>
            </a:r>
            <a:endParaRPr lang="en-US" sz="3600" dirty="0"/>
          </a:p>
          <a:p>
            <a:pPr lvl="1" algn="just"/>
            <a:r>
              <a:rPr lang="en-US" dirty="0"/>
              <a:t>J2EE components are assembled into a J2EE applications</a:t>
            </a:r>
            <a:endParaRPr lang="en-US" sz="3200" dirty="0"/>
          </a:p>
          <a:p>
            <a:pPr lvl="1" algn="just"/>
            <a:r>
              <a:rPr lang="en-US" dirty="0"/>
              <a:t>Verified to be well formed.</a:t>
            </a:r>
            <a:endParaRPr lang="en-US" sz="3200" dirty="0"/>
          </a:p>
          <a:p>
            <a:pPr lvl="1" algn="just"/>
            <a:r>
              <a:rPr lang="en-US" dirty="0"/>
              <a:t>Should be in compliance with the </a:t>
            </a:r>
            <a:r>
              <a:rPr lang="en-US" dirty="0" smtClean="0"/>
              <a:t>Java EE specification.</a:t>
            </a:r>
            <a:endParaRPr lang="en-US" sz="3200" dirty="0"/>
          </a:p>
          <a:p>
            <a:pPr lvl="1" algn="just"/>
            <a:r>
              <a:rPr lang="en-US" dirty="0"/>
              <a:t>Are deployed to production, where they are run and managed by the J2EE server.</a:t>
            </a:r>
            <a:endParaRPr lang="en-US" sz="3200" dirty="0"/>
          </a:p>
          <a:p>
            <a:pPr algn="just"/>
            <a:endParaRPr lang="en-US" dirty="0"/>
          </a:p>
        </p:txBody>
      </p:sp>
    </p:spTree>
    <p:extLst>
      <p:ext uri="{BB962C8B-B14F-4D97-AF65-F5344CB8AC3E}">
        <p14:creationId xmlns:p14="http://schemas.microsoft.com/office/powerpoint/2010/main" val="31201866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Components defined in the </a:t>
            </a:r>
            <a:r>
              <a:rPr lang="en-US" b="1" dirty="0" smtClean="0"/>
              <a:t>Java EE Specification</a:t>
            </a:r>
            <a:endParaRPr lang="en-US" dirty="0"/>
          </a:p>
        </p:txBody>
      </p:sp>
      <p:sp>
        <p:nvSpPr>
          <p:cNvPr id="3" name="Content Placeholder 2"/>
          <p:cNvSpPr>
            <a:spLocks noGrp="1"/>
          </p:cNvSpPr>
          <p:nvPr>
            <p:ph idx="1"/>
          </p:nvPr>
        </p:nvSpPr>
        <p:spPr/>
        <p:txBody>
          <a:bodyPr>
            <a:normAutofit/>
          </a:bodyPr>
          <a:lstStyle/>
          <a:p>
            <a:pPr lvl="0" algn="just"/>
            <a:r>
              <a:rPr lang="en-US" dirty="0"/>
              <a:t>Application clients and applets are components that run on the clients.</a:t>
            </a:r>
          </a:p>
          <a:p>
            <a:pPr lvl="0" algn="just"/>
            <a:r>
              <a:rPr lang="en-US" dirty="0"/>
              <a:t>Java </a:t>
            </a:r>
            <a:r>
              <a:rPr lang="en-US" dirty="0" err="1" smtClean="0"/>
              <a:t>servlet</a:t>
            </a:r>
            <a:r>
              <a:rPr lang="en-US" dirty="0" smtClean="0"/>
              <a:t>, </a:t>
            </a:r>
            <a:r>
              <a:rPr lang="en-US" dirty="0" err="1" smtClean="0"/>
              <a:t>JavaServerFaces</a:t>
            </a:r>
            <a:r>
              <a:rPr lang="en-US" dirty="0" smtClean="0"/>
              <a:t>  </a:t>
            </a:r>
            <a:r>
              <a:rPr lang="en-US" dirty="0"/>
              <a:t>and Java Server Pages (JSP) technology components are web components that run on </a:t>
            </a:r>
            <a:r>
              <a:rPr lang="en-US" dirty="0" smtClean="0"/>
              <a:t>the server.</a:t>
            </a:r>
            <a:endParaRPr lang="en-US" dirty="0"/>
          </a:p>
          <a:p>
            <a:pPr lvl="0" algn="just"/>
            <a:r>
              <a:rPr lang="en-US" dirty="0"/>
              <a:t>Enterprise Java Beans (</a:t>
            </a:r>
            <a:r>
              <a:rPr lang="en-US" dirty="0" smtClean="0"/>
              <a:t>EJB</a:t>
            </a:r>
            <a:r>
              <a:rPr lang="en-US" dirty="0" smtClean="0">
                <a:sym typeface="Symbol"/>
              </a:rPr>
              <a:t></a:t>
            </a:r>
            <a:r>
              <a:rPr lang="en-US" dirty="0" smtClean="0"/>
              <a:t>) </a:t>
            </a:r>
            <a:r>
              <a:rPr lang="en-US" dirty="0"/>
              <a:t>component are business components that run </a:t>
            </a:r>
            <a:r>
              <a:rPr lang="en-US" dirty="0" smtClean="0"/>
              <a:t>on the Server.</a:t>
            </a:r>
            <a:endParaRPr lang="en-US" dirty="0"/>
          </a:p>
        </p:txBody>
      </p:sp>
    </p:spTree>
    <p:extLst>
      <p:ext uri="{BB962C8B-B14F-4D97-AF65-F5344CB8AC3E}">
        <p14:creationId xmlns:p14="http://schemas.microsoft.com/office/powerpoint/2010/main" val="27273544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0"/>
            <a:ext cx="5791200" cy="1143000"/>
          </a:xfrm>
        </p:spPr>
        <p:txBody>
          <a:bodyPr/>
          <a:lstStyle/>
          <a:p>
            <a:r>
              <a:rPr lang="en-US" dirty="0" smtClean="0"/>
              <a:t>Java EE Clients</a:t>
            </a:r>
            <a:endParaRPr lang="en-US" dirty="0"/>
          </a:p>
        </p:txBody>
      </p:sp>
      <p:graphicFrame>
        <p:nvGraphicFramePr>
          <p:cNvPr id="4" name="Content Placeholder 3"/>
          <p:cNvGraphicFramePr>
            <a:graphicFrameLocks noGrp="1"/>
          </p:cNvGraphicFramePr>
          <p:nvPr>
            <p:ph idx="1"/>
          </p:nvPr>
        </p:nvGraphicFramePr>
        <p:xfrm>
          <a:off x="228600" y="1371600"/>
          <a:ext cx="7543800" cy="43735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Rectangular Callout 4"/>
          <p:cNvSpPr/>
          <p:nvPr/>
        </p:nvSpPr>
        <p:spPr>
          <a:xfrm>
            <a:off x="5791200" y="609600"/>
            <a:ext cx="3352800" cy="914400"/>
          </a:xfrm>
          <a:prstGeom prst="wedgeRectCallout">
            <a:avLst>
              <a:gd name="adj1" fmla="val -20833"/>
              <a:gd name="adj2" fmla="val 95834"/>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dirty="0" smtClean="0">
                <a:solidFill>
                  <a:srgbClr val="0070C0"/>
                </a:solidFill>
              </a:rPr>
              <a:t>contains various types </a:t>
            </a:r>
            <a:r>
              <a:rPr lang="en-US" dirty="0">
                <a:solidFill>
                  <a:srgbClr val="0070C0"/>
                </a:solidFill>
              </a:rPr>
              <a:t>of markup language (HTML, XML, and so on)</a:t>
            </a:r>
          </a:p>
        </p:txBody>
      </p:sp>
      <p:sp>
        <p:nvSpPr>
          <p:cNvPr id="6" name="Rectangular Callout 5"/>
          <p:cNvSpPr/>
          <p:nvPr/>
        </p:nvSpPr>
        <p:spPr>
          <a:xfrm>
            <a:off x="4800600" y="5410200"/>
            <a:ext cx="3352800" cy="914400"/>
          </a:xfrm>
          <a:prstGeom prst="wedgeRectCallout">
            <a:avLst>
              <a:gd name="adj1" fmla="val 2487"/>
              <a:gd name="adj2" fmla="val -80978"/>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rgbClr val="0070C0"/>
                </a:solidFill>
              </a:rPr>
              <a:t>created from </a:t>
            </a:r>
            <a:r>
              <a:rPr lang="en-US" dirty="0" smtClean="0">
                <a:solidFill>
                  <a:srgbClr val="0070C0"/>
                </a:solidFill>
              </a:rPr>
              <a:t>the Swing </a:t>
            </a:r>
            <a:r>
              <a:rPr lang="en-US" dirty="0">
                <a:solidFill>
                  <a:srgbClr val="0070C0"/>
                </a:solidFill>
              </a:rPr>
              <a:t>or the Abstract Window Toolkit (AWT) API</a:t>
            </a:r>
          </a:p>
        </p:txBody>
      </p:sp>
    </p:spTree>
    <p:extLst>
      <p:ext uri="{BB962C8B-B14F-4D97-AF65-F5344CB8AC3E}">
        <p14:creationId xmlns:p14="http://schemas.microsoft.com/office/powerpoint/2010/main" val="24606214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altLang="en-US" dirty="0">
                <a:solidFill>
                  <a:schemeClr val="tx1">
                    <a:lumMod val="65000"/>
                    <a:lumOff val="35000"/>
                  </a:schemeClr>
                </a:solidFill>
                <a:effectLst>
                  <a:outerShdw blurRad="63500" algn="ctr" rotWithShape="0">
                    <a:prstClr val="black">
                      <a:alpha val="14000"/>
                    </a:prstClr>
                  </a:outerShdw>
                </a:effectLst>
              </a:rPr>
              <a:t>Java EE Application Model + </a:t>
            </a:r>
            <a:r>
              <a:rPr lang="en-US" altLang="en-US" i="1" dirty="0">
                <a:solidFill>
                  <a:srgbClr val="F60000"/>
                </a:solidFill>
                <a:cs typeface="Mangal" pitchFamily="2" charset="0"/>
              </a:rPr>
              <a:t>API</a:t>
            </a:r>
            <a:r>
              <a:rPr lang="en-US" altLang="en-US" sz="1600" dirty="0">
                <a:cs typeface="Mangal" pitchFamily="2" charset="0"/>
              </a:rPr>
              <a:t> </a:t>
            </a:r>
            <a:r>
              <a:rPr lang="en-US" altLang="en-US" dirty="0">
                <a:solidFill>
                  <a:schemeClr val="tx1">
                    <a:lumMod val="65000"/>
                    <a:lumOff val="35000"/>
                  </a:schemeClr>
                </a:solidFill>
                <a:effectLst>
                  <a:outerShdw blurRad="63500" algn="ctr" rotWithShape="0">
                    <a:prstClr val="black">
                      <a:alpha val="14000"/>
                    </a:prstClr>
                  </a:outerShdw>
                </a:effectLst>
              </a:rPr>
              <a:t>s</a:t>
            </a:r>
            <a:endParaRPr lang="en-US" dirty="0">
              <a:solidFill>
                <a:schemeClr val="tx1">
                  <a:lumMod val="65000"/>
                  <a:lumOff val="35000"/>
                </a:schemeClr>
              </a:solidFill>
              <a:effectLst>
                <a:outerShdw blurRad="63500" algn="ctr" rotWithShape="0">
                  <a:prstClr val="black">
                    <a:alpha val="14000"/>
                  </a:prstClr>
                </a:outerShdw>
              </a:effectLst>
            </a:endParaRPr>
          </a:p>
        </p:txBody>
      </p:sp>
      <p:pic>
        <p:nvPicPr>
          <p:cNvPr id="4" name="Picture 4"/>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81000" y="1600200"/>
            <a:ext cx="8077200" cy="49875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4120021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solidFill>
                  <a:schemeClr val="tx1">
                    <a:lumMod val="65000"/>
                    <a:lumOff val="35000"/>
                  </a:schemeClr>
                </a:solidFill>
                <a:effectLst>
                  <a:outerShdw blurRad="63500" algn="ctr" rotWithShape="0">
                    <a:prstClr val="black">
                      <a:alpha val="14000"/>
                    </a:prstClr>
                  </a:outerShdw>
                </a:effectLst>
              </a:rPr>
              <a:t>Application</a:t>
            </a:r>
            <a:r>
              <a:rPr lang="en-US" dirty="0"/>
              <a:t> </a:t>
            </a:r>
            <a:r>
              <a:rPr lang="en-US" dirty="0">
                <a:solidFill>
                  <a:schemeClr val="tx1">
                    <a:lumMod val="65000"/>
                    <a:lumOff val="35000"/>
                  </a:schemeClr>
                </a:solidFill>
                <a:effectLst>
                  <a:outerShdw blurRad="63500" algn="ctr" rotWithShape="0">
                    <a:prstClr val="black">
                      <a:alpha val="14000"/>
                    </a:prstClr>
                  </a:outerShdw>
                </a:effectLst>
              </a:rPr>
              <a:t>Server</a:t>
            </a:r>
            <a:endParaRPr lang="en-US" dirty="0"/>
          </a:p>
        </p:txBody>
      </p:sp>
      <p:sp>
        <p:nvSpPr>
          <p:cNvPr id="3" name="Content Placeholder 2"/>
          <p:cNvSpPr>
            <a:spLocks noGrp="1"/>
          </p:cNvSpPr>
          <p:nvPr>
            <p:ph idx="1"/>
          </p:nvPr>
        </p:nvSpPr>
        <p:spPr/>
        <p:txBody>
          <a:bodyPr>
            <a:normAutofit/>
          </a:bodyPr>
          <a:lstStyle/>
          <a:p>
            <a:pPr algn="just"/>
            <a:r>
              <a:rPr lang="en-US" sz="2000" dirty="0">
                <a:latin typeface="Calibri" pitchFamily="34" charset="0"/>
                <a:cs typeface="Calibri" pitchFamily="34" charset="0"/>
              </a:rPr>
              <a:t>“An </a:t>
            </a:r>
            <a:r>
              <a:rPr lang="en-US" sz="2000" b="1" dirty="0">
                <a:latin typeface="Calibri" pitchFamily="34" charset="0"/>
                <a:cs typeface="Calibri" pitchFamily="34" charset="0"/>
              </a:rPr>
              <a:t>application server</a:t>
            </a:r>
            <a:r>
              <a:rPr lang="en-US" sz="2000" dirty="0">
                <a:latin typeface="Calibri" pitchFamily="34" charset="0"/>
                <a:cs typeface="Calibri" pitchFamily="34" charset="0"/>
              </a:rPr>
              <a:t> is a server that provides software applications with </a:t>
            </a:r>
            <a:r>
              <a:rPr lang="en-US" sz="2000" dirty="0" smtClean="0">
                <a:latin typeface="Calibri" pitchFamily="34" charset="0"/>
                <a:cs typeface="Calibri" pitchFamily="34" charset="0"/>
              </a:rPr>
              <a:t>services </a:t>
            </a:r>
            <a:r>
              <a:rPr lang="en-US" sz="2000" dirty="0">
                <a:latin typeface="Calibri" pitchFamily="34" charset="0"/>
                <a:cs typeface="Calibri" pitchFamily="34" charset="0"/>
              </a:rPr>
              <a:t>such as security, data services, transaction support, load balancing, </a:t>
            </a:r>
            <a:r>
              <a:rPr lang="en-US" sz="2000" dirty="0" smtClean="0">
                <a:latin typeface="Calibri" pitchFamily="34" charset="0"/>
                <a:cs typeface="Calibri" pitchFamily="34" charset="0"/>
              </a:rPr>
              <a:t>and </a:t>
            </a:r>
            <a:r>
              <a:rPr lang="en-US" sz="2000" dirty="0">
                <a:latin typeface="Calibri" pitchFamily="34" charset="0"/>
                <a:cs typeface="Calibri" pitchFamily="34" charset="0"/>
              </a:rPr>
              <a:t>management of large distributed </a:t>
            </a:r>
            <a:r>
              <a:rPr lang="en-US" sz="2000" dirty="0" smtClean="0">
                <a:latin typeface="Calibri" pitchFamily="34" charset="0"/>
                <a:cs typeface="Calibri" pitchFamily="34" charset="0"/>
              </a:rPr>
              <a:t>Systems”</a:t>
            </a:r>
          </a:p>
          <a:p>
            <a:pPr marL="3657600" lvl="8" indent="0">
              <a:buNone/>
            </a:pPr>
            <a:r>
              <a:rPr lang="en-US" dirty="0" smtClean="0">
                <a:latin typeface="Calibri" pitchFamily="34" charset="0"/>
                <a:cs typeface="Calibri" pitchFamily="34" charset="0"/>
              </a:rPr>
              <a:t>		           Source : Wikipedia</a:t>
            </a:r>
          </a:p>
          <a:p>
            <a:r>
              <a:rPr lang="en-US" dirty="0">
                <a:solidFill>
                  <a:schemeClr val="bg1"/>
                </a:solidFill>
                <a:latin typeface="Calibri" pitchFamily="34" charset="0"/>
                <a:cs typeface="Calibri" pitchFamily="34" charset="0"/>
              </a:rPr>
              <a:t>						Source : Wikipedia</a:t>
            </a:r>
          </a:p>
          <a:p>
            <a:endParaRPr lang="en-US" dirty="0"/>
          </a:p>
        </p:txBody>
      </p:sp>
      <p:pic>
        <p:nvPicPr>
          <p:cNvPr id="4" name="Picture 3" descr="C:\Users\rucslk\Desktop\images (9).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3932457"/>
            <a:ext cx="2057400" cy="116678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91035" y="3581400"/>
            <a:ext cx="3177353" cy="2202126"/>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59289" y="3919895"/>
            <a:ext cx="2287706" cy="1525137"/>
          </a:xfrm>
          <a:prstGeom prst="rect">
            <a:avLst/>
          </a:prstGeom>
        </p:spPr>
      </p:pic>
    </p:spTree>
    <p:extLst>
      <p:ext uri="{BB962C8B-B14F-4D97-AF65-F5344CB8AC3E}">
        <p14:creationId xmlns:p14="http://schemas.microsoft.com/office/powerpoint/2010/main" val="20343645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143000"/>
          </a:xfrm>
        </p:spPr>
        <p:txBody>
          <a:bodyPr>
            <a:noAutofit/>
          </a:bodyPr>
          <a:lstStyle/>
          <a:p>
            <a:pPr algn="l"/>
            <a:r>
              <a:rPr lang="en-US" sz="4000" dirty="0">
                <a:solidFill>
                  <a:schemeClr val="tx1">
                    <a:lumMod val="65000"/>
                    <a:lumOff val="35000"/>
                  </a:schemeClr>
                </a:solidFill>
                <a:effectLst>
                  <a:outerShdw blurRad="63500" algn="ctr" rotWithShape="0">
                    <a:prstClr val="black">
                      <a:alpha val="14000"/>
                    </a:prstClr>
                  </a:outerShdw>
                </a:effectLst>
              </a:rPr>
              <a:t>Introduction to SOAP, WSDL &amp; Web Services</a:t>
            </a:r>
          </a:p>
        </p:txBody>
      </p:sp>
      <p:pic>
        <p:nvPicPr>
          <p:cNvPr id="7" name="Content Placeholder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19400" y="2286000"/>
            <a:ext cx="3368229" cy="3191669"/>
          </a:xfrm>
        </p:spPr>
      </p:pic>
    </p:spTree>
    <p:extLst>
      <p:ext uri="{BB962C8B-B14F-4D97-AF65-F5344CB8AC3E}">
        <p14:creationId xmlns:p14="http://schemas.microsoft.com/office/powerpoint/2010/main" val="345484787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8229600" cy="1143000"/>
          </a:xfrm>
        </p:spPr>
        <p:txBody>
          <a:bodyPr/>
          <a:lstStyle/>
          <a:p>
            <a:pPr algn="l"/>
            <a:r>
              <a:rPr lang="en-US" dirty="0">
                <a:solidFill>
                  <a:schemeClr val="tx1">
                    <a:lumMod val="65000"/>
                    <a:lumOff val="35000"/>
                  </a:schemeClr>
                </a:solidFill>
                <a:effectLst>
                  <a:outerShdw blurRad="63500" algn="ctr" rotWithShape="0">
                    <a:prstClr val="black">
                      <a:alpha val="14000"/>
                    </a:prstClr>
                  </a:outerShdw>
                </a:effectLst>
              </a:rPr>
              <a:t>W</a:t>
            </a:r>
            <a:r>
              <a:rPr lang="en-US" dirty="0" smtClean="0">
                <a:solidFill>
                  <a:schemeClr val="tx1">
                    <a:lumMod val="65000"/>
                    <a:lumOff val="35000"/>
                  </a:schemeClr>
                </a:solidFill>
                <a:effectLst>
                  <a:outerShdw blurRad="63500" algn="ctr" rotWithShape="0">
                    <a:prstClr val="black">
                      <a:alpha val="14000"/>
                    </a:prstClr>
                  </a:outerShdw>
                </a:effectLst>
              </a:rPr>
              <a:t>hat is SOAP</a:t>
            </a:r>
            <a:endParaRPr lang="en-US" dirty="0"/>
          </a:p>
        </p:txBody>
      </p:sp>
      <p:sp>
        <p:nvSpPr>
          <p:cNvPr id="3" name="Content Placeholder 2"/>
          <p:cNvSpPr>
            <a:spLocks noGrp="1"/>
          </p:cNvSpPr>
          <p:nvPr>
            <p:ph idx="1"/>
          </p:nvPr>
        </p:nvSpPr>
        <p:spPr>
          <a:xfrm>
            <a:off x="381000" y="1143000"/>
            <a:ext cx="8534400" cy="4525963"/>
          </a:xfrm>
        </p:spPr>
        <p:txBody>
          <a:bodyPr>
            <a:normAutofit fontScale="92500" lnSpcReduction="10000"/>
          </a:bodyPr>
          <a:lstStyle/>
          <a:p>
            <a:pPr algn="just">
              <a:lnSpc>
                <a:spcPct val="80000"/>
              </a:lnSpc>
            </a:pPr>
            <a:r>
              <a:rPr lang="en-US" altLang="en-US" sz="2400" dirty="0"/>
              <a:t>RPC is an obvious and popular paradigm for implementing the client-server model of distributed computing. </a:t>
            </a:r>
          </a:p>
          <a:p>
            <a:pPr algn="just">
              <a:lnSpc>
                <a:spcPct val="80000"/>
              </a:lnSpc>
            </a:pPr>
            <a:endParaRPr lang="en-US" altLang="en-US" sz="2400" dirty="0"/>
          </a:p>
          <a:p>
            <a:pPr algn="just">
              <a:lnSpc>
                <a:spcPct val="80000"/>
              </a:lnSpc>
            </a:pPr>
            <a:r>
              <a:rPr lang="en-US" altLang="en-US" sz="2400" dirty="0"/>
              <a:t>Different RPC protocols exist today.</a:t>
            </a:r>
          </a:p>
          <a:p>
            <a:pPr lvl="1" algn="just">
              <a:lnSpc>
                <a:spcPct val="80000"/>
              </a:lnSpc>
            </a:pPr>
            <a:r>
              <a:rPr lang="en-US" altLang="en-US" sz="2400" dirty="0"/>
              <a:t>Sun RPC, DCE/RPC, DCOM, CORBA</a:t>
            </a:r>
          </a:p>
          <a:p>
            <a:pPr lvl="1" algn="just">
              <a:lnSpc>
                <a:spcPct val="80000"/>
              </a:lnSpc>
              <a:buFont typeface="Webdings" pitchFamily="18" charset="2"/>
              <a:buNone/>
            </a:pPr>
            <a:endParaRPr lang="en-US" altLang="en-US" sz="2400" dirty="0"/>
          </a:p>
          <a:p>
            <a:pPr algn="just">
              <a:lnSpc>
                <a:spcPct val="80000"/>
              </a:lnSpc>
            </a:pPr>
            <a:r>
              <a:rPr lang="en-US" altLang="en-US" sz="2400" dirty="0"/>
              <a:t>Most of the RPC protocols are too low level and certainly not compatible among each other (gateways are needed)</a:t>
            </a:r>
          </a:p>
          <a:p>
            <a:pPr algn="just">
              <a:lnSpc>
                <a:spcPct val="80000"/>
              </a:lnSpc>
            </a:pPr>
            <a:endParaRPr lang="en-US" altLang="en-US" sz="2400" dirty="0"/>
          </a:p>
          <a:p>
            <a:pPr algn="just">
              <a:lnSpc>
                <a:spcPct val="80000"/>
              </a:lnSpc>
            </a:pPr>
            <a:r>
              <a:rPr lang="en-US" altLang="en-US" sz="2400" dirty="0"/>
              <a:t>Since RPC represents a compatibility and security problems, firewalls and proxy servers will normally block this kind of traffic. </a:t>
            </a:r>
          </a:p>
          <a:p>
            <a:pPr algn="just">
              <a:lnSpc>
                <a:spcPct val="80000"/>
              </a:lnSpc>
            </a:pPr>
            <a:endParaRPr lang="en-US" altLang="en-US" sz="2400" dirty="0"/>
          </a:p>
          <a:p>
            <a:pPr algn="just">
              <a:lnSpc>
                <a:spcPct val="80000"/>
              </a:lnSpc>
            </a:pPr>
            <a:r>
              <a:rPr lang="en-US" altLang="en-US" sz="2400" dirty="0"/>
              <a:t>To address this problem, XML was used to define SOAP. </a:t>
            </a:r>
          </a:p>
          <a:p>
            <a:pPr algn="just">
              <a:lnSpc>
                <a:spcPct val="80000"/>
              </a:lnSpc>
            </a:pPr>
            <a:endParaRPr lang="en-US" altLang="en-US" sz="2400" dirty="0"/>
          </a:p>
          <a:p>
            <a:pPr algn="just">
              <a:lnSpc>
                <a:spcPct val="80000"/>
              </a:lnSpc>
            </a:pPr>
            <a:r>
              <a:rPr lang="en-US" altLang="en-US" sz="2400" dirty="0"/>
              <a:t>Soap  uses HTTP/SMTP as the communication protocol</a:t>
            </a:r>
          </a:p>
          <a:p>
            <a:pPr algn="just"/>
            <a:endParaRPr lang="en-US" sz="4000" dirty="0"/>
          </a:p>
        </p:txBody>
      </p:sp>
    </p:spTree>
    <p:extLst>
      <p:ext uri="{BB962C8B-B14F-4D97-AF65-F5344CB8AC3E}">
        <p14:creationId xmlns:p14="http://schemas.microsoft.com/office/powerpoint/2010/main" val="274112204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lstStyle/>
          <a:p>
            <a:pPr algn="l"/>
            <a:r>
              <a:rPr lang="en-US" dirty="0" smtClean="0">
                <a:solidFill>
                  <a:schemeClr val="tx1">
                    <a:lumMod val="65000"/>
                    <a:lumOff val="35000"/>
                  </a:schemeClr>
                </a:solidFill>
                <a:effectLst>
                  <a:outerShdw blurRad="63500" algn="ctr" rotWithShape="0">
                    <a:prstClr val="black">
                      <a:alpha val="14000"/>
                    </a:prstClr>
                  </a:outerShdw>
                </a:effectLst>
              </a:rPr>
              <a:t>Why is </a:t>
            </a:r>
            <a:r>
              <a:rPr lang="en-US" dirty="0">
                <a:solidFill>
                  <a:schemeClr val="tx1">
                    <a:lumMod val="65000"/>
                    <a:lumOff val="35000"/>
                  </a:schemeClr>
                </a:solidFill>
                <a:effectLst>
                  <a:outerShdw blurRad="63500" algn="ctr" rotWithShape="0">
                    <a:prstClr val="black">
                      <a:alpha val="14000"/>
                    </a:prstClr>
                  </a:outerShdw>
                </a:effectLst>
              </a:rPr>
              <a:t>SOAP</a:t>
            </a:r>
            <a:endParaRPr lang="en-US" dirty="0"/>
          </a:p>
        </p:txBody>
      </p:sp>
      <p:sp>
        <p:nvSpPr>
          <p:cNvPr id="3" name="Content Placeholder 2"/>
          <p:cNvSpPr>
            <a:spLocks noGrp="1"/>
          </p:cNvSpPr>
          <p:nvPr>
            <p:ph idx="1"/>
          </p:nvPr>
        </p:nvSpPr>
        <p:spPr>
          <a:xfrm>
            <a:off x="228600" y="914400"/>
            <a:ext cx="8534400" cy="3657600"/>
          </a:xfrm>
        </p:spPr>
        <p:txBody>
          <a:bodyPr>
            <a:noAutofit/>
          </a:bodyPr>
          <a:lstStyle/>
          <a:p>
            <a:pPr algn="just">
              <a:lnSpc>
                <a:spcPct val="90000"/>
              </a:lnSpc>
            </a:pPr>
            <a:r>
              <a:rPr lang="en-US" altLang="en-US" sz="2400" dirty="0"/>
              <a:t>XML-based protocol for exchanging information between </a:t>
            </a:r>
            <a:r>
              <a:rPr lang="en-US" altLang="en-US" sz="2400" dirty="0" smtClean="0"/>
              <a:t>applications</a:t>
            </a:r>
            <a:endParaRPr lang="en-US" altLang="en-US" sz="2400" dirty="0"/>
          </a:p>
          <a:p>
            <a:pPr algn="just">
              <a:lnSpc>
                <a:spcPct val="90000"/>
              </a:lnSpc>
            </a:pPr>
            <a:r>
              <a:rPr lang="en-US" altLang="en-US" sz="2400" dirty="0" smtClean="0"/>
              <a:t>Primary </a:t>
            </a:r>
            <a:r>
              <a:rPr lang="en-US" altLang="en-US" sz="2400" dirty="0"/>
              <a:t>focus of SOAP is Remote Procedure Calls transported via </a:t>
            </a:r>
            <a:r>
              <a:rPr lang="en-US" altLang="en-US" sz="2400" dirty="0" smtClean="0"/>
              <a:t>HTTP</a:t>
            </a:r>
            <a:endParaRPr lang="en-US" altLang="en-US" sz="2400" dirty="0"/>
          </a:p>
          <a:p>
            <a:pPr algn="just">
              <a:lnSpc>
                <a:spcPct val="90000"/>
              </a:lnSpc>
            </a:pPr>
            <a:r>
              <a:rPr lang="en-US" altLang="en-US" sz="2400" dirty="0" smtClean="0"/>
              <a:t>Similar </a:t>
            </a:r>
            <a:r>
              <a:rPr lang="en-US" altLang="en-US" sz="2400" dirty="0"/>
              <a:t>to DCOM, CORBA, and Java RMI, the main difference is that SOAP messages are written entirely in </a:t>
            </a:r>
            <a:r>
              <a:rPr lang="en-US" altLang="en-US" sz="2400" dirty="0" smtClean="0"/>
              <a:t>XML</a:t>
            </a:r>
            <a:endParaRPr lang="en-US" altLang="en-US" sz="2400" dirty="0"/>
          </a:p>
          <a:p>
            <a:pPr algn="just">
              <a:lnSpc>
                <a:spcPct val="90000"/>
              </a:lnSpc>
            </a:pPr>
            <a:r>
              <a:rPr lang="en-US" altLang="en-US" sz="2400" dirty="0" smtClean="0"/>
              <a:t>SOAP </a:t>
            </a:r>
            <a:r>
              <a:rPr lang="en-US" altLang="en-US" sz="2400" dirty="0"/>
              <a:t>is therefore uniquely platform and language </a:t>
            </a:r>
            <a:r>
              <a:rPr lang="en-US" altLang="en-US" sz="2400" dirty="0" smtClean="0"/>
              <a:t>independent</a:t>
            </a:r>
            <a:endParaRPr lang="en-US" altLang="en-US" sz="2400" dirty="0"/>
          </a:p>
          <a:p>
            <a:pPr algn="just">
              <a:lnSpc>
                <a:spcPct val="90000"/>
              </a:lnSpc>
            </a:pPr>
            <a:r>
              <a:rPr lang="en-US" altLang="en-US" sz="2400" dirty="0" smtClean="0"/>
              <a:t>For </a:t>
            </a:r>
            <a:r>
              <a:rPr lang="en-US" altLang="en-US" sz="2400" dirty="0"/>
              <a:t>example, a SOAP Java client running on Linux or a Perl client running on Solaris can connect to a Microsoft SOAP server running on Windows </a:t>
            </a:r>
            <a:r>
              <a:rPr lang="en-US" altLang="en-US" sz="2400" dirty="0" smtClean="0"/>
              <a:t>2000</a:t>
            </a:r>
            <a:endParaRPr lang="en-US" altLang="en-US" sz="2400" dirty="0"/>
          </a:p>
          <a:p>
            <a:pPr algn="just"/>
            <a:endParaRPr lang="en-US" sz="2800" dirty="0" smtClean="0"/>
          </a:p>
          <a:p>
            <a:pPr algn="just"/>
            <a:endParaRPr lang="en-US" sz="2800" dirty="0"/>
          </a:p>
        </p:txBody>
      </p:sp>
      <p:pic>
        <p:nvPicPr>
          <p:cNvPr id="4" name="Picture 7" descr="Soa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4092243" y="4724400"/>
            <a:ext cx="4152900" cy="2057400"/>
          </a:xfrm>
          <a:prstGeom prst="rect">
            <a:avLst/>
          </a:prstGeom>
        </p:spPr>
      </p:pic>
    </p:spTree>
    <p:extLst>
      <p:ext uri="{BB962C8B-B14F-4D97-AF65-F5344CB8AC3E}">
        <p14:creationId xmlns:p14="http://schemas.microsoft.com/office/powerpoint/2010/main" val="75126070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767" y="228600"/>
            <a:ext cx="8229600" cy="1143000"/>
          </a:xfrm>
        </p:spPr>
        <p:txBody>
          <a:bodyPr>
            <a:normAutofit/>
          </a:bodyPr>
          <a:lstStyle/>
          <a:p>
            <a:pPr algn="l"/>
            <a:r>
              <a:rPr lang="en-US" dirty="0">
                <a:solidFill>
                  <a:schemeClr val="tx1">
                    <a:lumMod val="65000"/>
                    <a:lumOff val="35000"/>
                  </a:schemeClr>
                </a:solidFill>
                <a:effectLst>
                  <a:outerShdw blurRad="63500" algn="ctr" rotWithShape="0">
                    <a:prstClr val="black">
                      <a:alpha val="14000"/>
                    </a:prstClr>
                  </a:outerShdw>
                </a:effectLst>
              </a:rPr>
              <a:t>How SOAP works</a:t>
            </a:r>
          </a:p>
        </p:txBody>
      </p:sp>
      <p:sp>
        <p:nvSpPr>
          <p:cNvPr id="3" name="Content Placeholder 2"/>
          <p:cNvSpPr>
            <a:spLocks noGrp="1"/>
          </p:cNvSpPr>
          <p:nvPr>
            <p:ph idx="1"/>
          </p:nvPr>
        </p:nvSpPr>
        <p:spPr>
          <a:xfrm>
            <a:off x="457200" y="1143000"/>
            <a:ext cx="8229600" cy="4525963"/>
          </a:xfrm>
        </p:spPr>
        <p:txBody>
          <a:bodyPr>
            <a:normAutofit lnSpcReduction="10000"/>
          </a:bodyPr>
          <a:lstStyle/>
          <a:p>
            <a:pPr>
              <a:lnSpc>
                <a:spcPct val="90000"/>
              </a:lnSpc>
            </a:pPr>
            <a:r>
              <a:rPr lang="en-US" altLang="en-US" sz="2400" dirty="0"/>
              <a:t>RPC Using HTTP</a:t>
            </a:r>
          </a:p>
          <a:p>
            <a:pPr>
              <a:lnSpc>
                <a:spcPct val="90000"/>
              </a:lnSpc>
            </a:pPr>
            <a:endParaRPr lang="en-US" altLang="en-US" sz="2800" dirty="0"/>
          </a:p>
          <a:p>
            <a:pPr lvl="1">
              <a:lnSpc>
                <a:spcPct val="90000"/>
              </a:lnSpc>
            </a:pPr>
            <a:r>
              <a:rPr lang="en-US" altLang="en-US" sz="2400" dirty="0"/>
              <a:t>At the Client </a:t>
            </a:r>
          </a:p>
          <a:p>
            <a:pPr lvl="2">
              <a:lnSpc>
                <a:spcPct val="90000"/>
              </a:lnSpc>
            </a:pPr>
            <a:r>
              <a:rPr lang="en-US" altLang="en-US" sz="2000" dirty="0"/>
              <a:t> Turns the RPC call into a XML document</a:t>
            </a:r>
          </a:p>
          <a:p>
            <a:pPr lvl="1">
              <a:lnSpc>
                <a:spcPct val="90000"/>
              </a:lnSpc>
            </a:pPr>
            <a:r>
              <a:rPr lang="en-US" altLang="en-US" sz="2400" dirty="0" smtClean="0"/>
              <a:t>Transports </a:t>
            </a:r>
            <a:r>
              <a:rPr lang="en-US" altLang="en-US" sz="2400" dirty="0"/>
              <a:t>the XML data over HTTP (or SMTP) (Client to Server)</a:t>
            </a:r>
          </a:p>
          <a:p>
            <a:pPr lvl="1">
              <a:lnSpc>
                <a:spcPct val="90000"/>
              </a:lnSpc>
            </a:pPr>
            <a:r>
              <a:rPr lang="en-US" altLang="en-US" sz="2400" dirty="0" smtClean="0"/>
              <a:t>At </a:t>
            </a:r>
            <a:r>
              <a:rPr lang="en-US" altLang="en-US" sz="2400" dirty="0"/>
              <a:t>the Server </a:t>
            </a:r>
          </a:p>
          <a:p>
            <a:pPr lvl="2">
              <a:lnSpc>
                <a:spcPct val="90000"/>
              </a:lnSpc>
            </a:pPr>
            <a:r>
              <a:rPr lang="en-US" altLang="en-US" sz="2000" dirty="0"/>
              <a:t>Turns the XML document into a procedure call</a:t>
            </a:r>
          </a:p>
          <a:p>
            <a:pPr lvl="2">
              <a:lnSpc>
                <a:spcPct val="90000"/>
              </a:lnSpc>
            </a:pPr>
            <a:r>
              <a:rPr lang="en-US" altLang="en-US" sz="2000" dirty="0"/>
              <a:t>Turns the procedure’s response into a XML document</a:t>
            </a:r>
          </a:p>
          <a:p>
            <a:pPr lvl="1">
              <a:lnSpc>
                <a:spcPct val="90000"/>
              </a:lnSpc>
            </a:pPr>
            <a:r>
              <a:rPr lang="en-US" altLang="en-US" sz="2400" dirty="0" smtClean="0"/>
              <a:t>Transports </a:t>
            </a:r>
            <a:r>
              <a:rPr lang="en-US" altLang="en-US" sz="2400" dirty="0"/>
              <a:t>the XML data over HTTP (or SMTP) (Server to Client)</a:t>
            </a:r>
          </a:p>
          <a:p>
            <a:pPr lvl="1">
              <a:lnSpc>
                <a:spcPct val="90000"/>
              </a:lnSpc>
            </a:pPr>
            <a:r>
              <a:rPr lang="en-US" altLang="en-US" sz="2400" dirty="0" smtClean="0"/>
              <a:t>At </a:t>
            </a:r>
            <a:r>
              <a:rPr lang="en-US" altLang="en-US" sz="2400" dirty="0"/>
              <a:t>the Client</a:t>
            </a:r>
          </a:p>
          <a:p>
            <a:pPr lvl="2">
              <a:lnSpc>
                <a:spcPct val="90000"/>
              </a:lnSpc>
            </a:pPr>
            <a:r>
              <a:rPr lang="en-US" altLang="en-US" sz="2000" dirty="0"/>
              <a:t>Turns the XML data into the response to the RPC</a:t>
            </a:r>
          </a:p>
          <a:p>
            <a:endParaRPr lang="en-US" sz="4000" dirty="0"/>
          </a:p>
        </p:txBody>
      </p:sp>
    </p:spTree>
    <p:extLst>
      <p:ext uri="{BB962C8B-B14F-4D97-AF65-F5344CB8AC3E}">
        <p14:creationId xmlns:p14="http://schemas.microsoft.com/office/powerpoint/2010/main" val="26549547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altLang="en-US" dirty="0">
                <a:solidFill>
                  <a:schemeClr val="tx1">
                    <a:lumMod val="65000"/>
                    <a:lumOff val="35000"/>
                  </a:schemeClr>
                </a:solidFill>
                <a:effectLst>
                  <a:outerShdw blurRad="63500" algn="ctr" rotWithShape="0">
                    <a:prstClr val="black">
                      <a:alpha val="14000"/>
                    </a:prstClr>
                  </a:outerShdw>
                </a:effectLst>
              </a:rPr>
              <a:t>Structure of a SOAP Message</a:t>
            </a:r>
            <a:endParaRPr lang="en-US" dirty="0">
              <a:solidFill>
                <a:schemeClr val="tx1">
                  <a:lumMod val="65000"/>
                  <a:lumOff val="35000"/>
                </a:schemeClr>
              </a:solidFill>
              <a:effectLst>
                <a:outerShdw blurRad="63500" algn="ctr" rotWithShape="0">
                  <a:prstClr val="black">
                    <a:alpha val="14000"/>
                  </a:prstClr>
                </a:outerShdw>
              </a:effectLst>
            </a:endParaRPr>
          </a:p>
        </p:txBody>
      </p:sp>
      <p:sp>
        <p:nvSpPr>
          <p:cNvPr id="3" name="Content Placeholder 2"/>
          <p:cNvSpPr>
            <a:spLocks noGrp="1"/>
          </p:cNvSpPr>
          <p:nvPr>
            <p:ph idx="1"/>
          </p:nvPr>
        </p:nvSpPr>
        <p:spPr>
          <a:xfrm>
            <a:off x="533400" y="1295400"/>
            <a:ext cx="4572000" cy="4114800"/>
          </a:xfrm>
        </p:spPr>
        <p:txBody>
          <a:bodyPr>
            <a:noAutofit/>
          </a:bodyPr>
          <a:lstStyle/>
          <a:p>
            <a:pPr algn="just">
              <a:lnSpc>
                <a:spcPct val="90000"/>
              </a:lnSpc>
            </a:pPr>
            <a:r>
              <a:rPr lang="en-US" altLang="en-US" sz="2000" dirty="0"/>
              <a:t>SOAP is based on message exchanges.</a:t>
            </a:r>
          </a:p>
          <a:p>
            <a:pPr algn="just">
              <a:lnSpc>
                <a:spcPct val="90000"/>
              </a:lnSpc>
            </a:pPr>
            <a:endParaRPr lang="en-US" altLang="en-US" sz="2000" dirty="0"/>
          </a:p>
          <a:p>
            <a:pPr algn="just">
              <a:lnSpc>
                <a:spcPct val="90000"/>
              </a:lnSpc>
            </a:pPr>
            <a:r>
              <a:rPr lang="en-US" altLang="en-US" sz="2000" dirty="0"/>
              <a:t>Messages are seen as envelopes where the application encloses the data to be sent.</a:t>
            </a:r>
          </a:p>
          <a:p>
            <a:pPr algn="just">
              <a:lnSpc>
                <a:spcPct val="90000"/>
              </a:lnSpc>
            </a:pPr>
            <a:endParaRPr lang="en-US" altLang="en-US" sz="2000" dirty="0"/>
          </a:p>
          <a:p>
            <a:pPr algn="just">
              <a:lnSpc>
                <a:spcPct val="90000"/>
              </a:lnSpc>
            </a:pPr>
            <a:r>
              <a:rPr lang="en-US" altLang="en-US" sz="2000" dirty="0"/>
              <a:t>A message has two main parts; header and  body, which both can be divided into blocks.</a:t>
            </a:r>
          </a:p>
          <a:p>
            <a:pPr algn="just">
              <a:lnSpc>
                <a:spcPct val="90000"/>
              </a:lnSpc>
            </a:pPr>
            <a:endParaRPr lang="en-US" altLang="en-US" sz="2000" dirty="0"/>
          </a:p>
          <a:p>
            <a:pPr algn="just">
              <a:lnSpc>
                <a:spcPct val="90000"/>
              </a:lnSpc>
            </a:pPr>
            <a:r>
              <a:rPr lang="en-US" altLang="en-US" sz="2000" dirty="0"/>
              <a:t>SOAP does not specify what to do in the body, it only states that the header is optional and the body is mandatory.</a:t>
            </a:r>
          </a:p>
          <a:p>
            <a:pPr algn="just">
              <a:lnSpc>
                <a:spcPct val="90000"/>
              </a:lnSpc>
            </a:pPr>
            <a:endParaRPr lang="en-US" altLang="en-US" sz="2000" dirty="0"/>
          </a:p>
          <a:p>
            <a:pPr algn="just">
              <a:lnSpc>
                <a:spcPct val="90000"/>
              </a:lnSpc>
            </a:pPr>
            <a:r>
              <a:rPr lang="en-US" altLang="en-US" sz="2000" dirty="0"/>
              <a:t>The use of header and body, however, is implicit. The body is for application level data. The header is for infrastructure level data.</a:t>
            </a:r>
          </a:p>
          <a:p>
            <a:endParaRPr lang="en-US" sz="2800" dirty="0"/>
          </a:p>
        </p:txBody>
      </p:sp>
      <p:pic>
        <p:nvPicPr>
          <p:cNvPr id="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5791200" y="1570986"/>
            <a:ext cx="2274888" cy="3313112"/>
          </a:xfrm>
          <a:prstGeom prst="rect">
            <a:avLst/>
          </a:prstGeom>
          <a:noFill/>
        </p:spPr>
      </p:pic>
    </p:spTree>
    <p:extLst>
      <p:ext uri="{BB962C8B-B14F-4D97-AF65-F5344CB8AC3E}">
        <p14:creationId xmlns:p14="http://schemas.microsoft.com/office/powerpoint/2010/main" val="55793555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altLang="en-US" dirty="0">
                <a:solidFill>
                  <a:schemeClr val="tx1">
                    <a:lumMod val="65000"/>
                    <a:lumOff val="35000"/>
                  </a:schemeClr>
                </a:solidFill>
                <a:effectLst>
                  <a:outerShdw blurRad="63500" algn="ctr" rotWithShape="0">
                    <a:prstClr val="black">
                      <a:alpha val="14000"/>
                    </a:prstClr>
                  </a:outerShdw>
                </a:effectLst>
              </a:rPr>
              <a:t>SOAP Header</a:t>
            </a:r>
            <a:endParaRPr lang="en-US" dirty="0">
              <a:solidFill>
                <a:schemeClr val="tx1">
                  <a:lumMod val="65000"/>
                  <a:lumOff val="35000"/>
                </a:schemeClr>
              </a:solidFill>
              <a:effectLst>
                <a:outerShdw blurRad="63500" algn="ctr" rotWithShape="0">
                  <a:prstClr val="black">
                    <a:alpha val="14000"/>
                  </a:prstClr>
                </a:outerShdw>
              </a:effectLst>
            </a:endParaRPr>
          </a:p>
        </p:txBody>
      </p:sp>
      <p:sp>
        <p:nvSpPr>
          <p:cNvPr id="3" name="Content Placeholder 2"/>
          <p:cNvSpPr>
            <a:spLocks noGrp="1"/>
          </p:cNvSpPr>
          <p:nvPr>
            <p:ph idx="1"/>
          </p:nvPr>
        </p:nvSpPr>
        <p:spPr/>
        <p:txBody>
          <a:bodyPr/>
          <a:lstStyle/>
          <a:p>
            <a:pPr algn="just">
              <a:lnSpc>
                <a:spcPct val="150000"/>
              </a:lnSpc>
              <a:defRPr/>
            </a:pPr>
            <a:r>
              <a:rPr lang="en-US" sz="2400" dirty="0"/>
              <a:t>The header is intended as a generic place holder for information that is not necessarily application dependent (the application may not even be aware that a header was attached to the message).</a:t>
            </a:r>
          </a:p>
          <a:p>
            <a:pPr algn="just">
              <a:lnSpc>
                <a:spcPct val="150000"/>
              </a:lnSpc>
              <a:defRPr/>
            </a:pPr>
            <a:r>
              <a:rPr lang="en-US" sz="2400" dirty="0" smtClean="0"/>
              <a:t>Typical </a:t>
            </a:r>
            <a:r>
              <a:rPr lang="en-US" sz="2400" dirty="0"/>
              <a:t>uses of the header are: coordination information, identifiers (for, e.g.: transactions) and security information (e.g.: certificates)</a:t>
            </a:r>
          </a:p>
          <a:p>
            <a:pPr>
              <a:lnSpc>
                <a:spcPct val="150000"/>
              </a:lnSpc>
            </a:pPr>
            <a:endParaRPr lang="en-US" sz="3600" dirty="0"/>
          </a:p>
        </p:txBody>
      </p:sp>
    </p:spTree>
    <p:extLst>
      <p:ext uri="{BB962C8B-B14F-4D97-AF65-F5344CB8AC3E}">
        <p14:creationId xmlns:p14="http://schemas.microsoft.com/office/powerpoint/2010/main" val="294528409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4260" y="0"/>
            <a:ext cx="8229600" cy="1143000"/>
          </a:xfrm>
        </p:spPr>
        <p:txBody>
          <a:bodyPr/>
          <a:lstStyle/>
          <a:p>
            <a:pPr algn="l"/>
            <a:r>
              <a:rPr lang="en-US" altLang="en-US" dirty="0"/>
              <a:t>SOAP Body</a:t>
            </a:r>
            <a:endParaRPr lang="en-US" dirty="0"/>
          </a:p>
        </p:txBody>
      </p:sp>
      <p:sp>
        <p:nvSpPr>
          <p:cNvPr id="3" name="Content Placeholder 2"/>
          <p:cNvSpPr>
            <a:spLocks noGrp="1"/>
          </p:cNvSpPr>
          <p:nvPr>
            <p:ph idx="1"/>
          </p:nvPr>
        </p:nvSpPr>
        <p:spPr>
          <a:xfrm>
            <a:off x="381000" y="914400"/>
            <a:ext cx="8229600" cy="5211763"/>
          </a:xfrm>
        </p:spPr>
        <p:txBody>
          <a:bodyPr/>
          <a:lstStyle/>
          <a:p>
            <a:pPr algn="just"/>
            <a:r>
              <a:rPr lang="en-US" altLang="en-US" sz="2400" dirty="0"/>
              <a:t>The body is intended for the application specific data contained in the message.</a:t>
            </a:r>
          </a:p>
          <a:p>
            <a:pPr algn="just"/>
            <a:r>
              <a:rPr lang="en-US" altLang="en-US" sz="2400" dirty="0"/>
              <a:t>Also it may contain a Fault entry Section (for reporting errors in processing a SOAP message)</a:t>
            </a:r>
          </a:p>
          <a:p>
            <a:endParaRPr lang="en-US" sz="3600" dirty="0"/>
          </a:p>
        </p:txBody>
      </p:sp>
      <p:pic>
        <p:nvPicPr>
          <p:cNvPr id="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3377620"/>
            <a:ext cx="5029200" cy="3177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pic>
    </p:spTree>
    <p:extLst>
      <p:ext uri="{BB962C8B-B14F-4D97-AF65-F5344CB8AC3E}">
        <p14:creationId xmlns:p14="http://schemas.microsoft.com/office/powerpoint/2010/main" val="232144324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0"/>
            <a:ext cx="8229600" cy="1143000"/>
          </a:xfrm>
        </p:spPr>
        <p:txBody>
          <a:bodyPr/>
          <a:lstStyle/>
          <a:p>
            <a:r>
              <a:rPr lang="en-US" dirty="0" smtClean="0"/>
              <a:t>Introduction to WSDL</a:t>
            </a:r>
            <a:endParaRPr lang="en-US" dirty="0"/>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66800" y="990600"/>
            <a:ext cx="4953000" cy="6018415"/>
          </a:xfrm>
        </p:spPr>
      </p:pic>
    </p:spTree>
    <p:extLst>
      <p:ext uri="{BB962C8B-B14F-4D97-AF65-F5344CB8AC3E}">
        <p14:creationId xmlns:p14="http://schemas.microsoft.com/office/powerpoint/2010/main" val="51656702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What is WSDL?</a:t>
            </a:r>
            <a:endParaRPr lang="en-US" dirty="0"/>
          </a:p>
        </p:txBody>
      </p:sp>
      <p:sp>
        <p:nvSpPr>
          <p:cNvPr id="3" name="Content Placeholder 2"/>
          <p:cNvSpPr>
            <a:spLocks noGrp="1"/>
          </p:cNvSpPr>
          <p:nvPr>
            <p:ph idx="1"/>
          </p:nvPr>
        </p:nvSpPr>
        <p:spPr/>
        <p:txBody>
          <a:bodyPr>
            <a:normAutofit/>
          </a:bodyPr>
          <a:lstStyle/>
          <a:p>
            <a:pPr>
              <a:lnSpc>
                <a:spcPct val="150000"/>
              </a:lnSpc>
            </a:pPr>
            <a:r>
              <a:rPr lang="en-US" altLang="en-US" sz="2400" dirty="0"/>
              <a:t>WSDL stands for Web Services Description Language </a:t>
            </a:r>
          </a:p>
          <a:p>
            <a:pPr>
              <a:lnSpc>
                <a:spcPct val="150000"/>
              </a:lnSpc>
            </a:pPr>
            <a:r>
              <a:rPr lang="en-US" altLang="en-US" sz="2400" dirty="0"/>
              <a:t> </a:t>
            </a:r>
            <a:r>
              <a:rPr lang="en-US" altLang="en-US" sz="2400" dirty="0" smtClean="0"/>
              <a:t>WSDL </a:t>
            </a:r>
            <a:r>
              <a:rPr lang="en-US" altLang="en-US" sz="2400" dirty="0"/>
              <a:t>is as XML document </a:t>
            </a:r>
          </a:p>
          <a:p>
            <a:pPr>
              <a:lnSpc>
                <a:spcPct val="150000"/>
              </a:lnSpc>
            </a:pPr>
            <a:r>
              <a:rPr lang="en-US" altLang="en-US" sz="2400" dirty="0" smtClean="0"/>
              <a:t>WSDL </a:t>
            </a:r>
            <a:r>
              <a:rPr lang="en-US" altLang="en-US" sz="2400" dirty="0"/>
              <a:t>is used to describe Web services </a:t>
            </a:r>
          </a:p>
          <a:p>
            <a:pPr lvl="1">
              <a:lnSpc>
                <a:spcPct val="150000"/>
              </a:lnSpc>
            </a:pPr>
            <a:r>
              <a:rPr lang="en-US" altLang="en-US" sz="2400" dirty="0"/>
              <a:t>It specifies the location of the service and the operations (or methods) the service exposes </a:t>
            </a:r>
          </a:p>
          <a:p>
            <a:pPr>
              <a:lnSpc>
                <a:spcPct val="150000"/>
              </a:lnSpc>
            </a:pPr>
            <a:r>
              <a:rPr lang="en-US" altLang="en-US" sz="2400" dirty="0" smtClean="0"/>
              <a:t>WSDL </a:t>
            </a:r>
            <a:r>
              <a:rPr lang="en-US" altLang="en-US" sz="2400" dirty="0"/>
              <a:t>is also used to locate Web services </a:t>
            </a:r>
          </a:p>
          <a:p>
            <a:pPr>
              <a:lnSpc>
                <a:spcPct val="150000"/>
              </a:lnSpc>
            </a:pPr>
            <a:endParaRPr lang="en-US" sz="3600" dirty="0"/>
          </a:p>
        </p:txBody>
      </p:sp>
    </p:spTree>
    <p:extLst>
      <p:ext uri="{BB962C8B-B14F-4D97-AF65-F5344CB8AC3E}">
        <p14:creationId xmlns:p14="http://schemas.microsoft.com/office/powerpoint/2010/main" val="60443760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1084" y="266700"/>
            <a:ext cx="8229600" cy="1143000"/>
          </a:xfrm>
        </p:spPr>
        <p:txBody>
          <a:bodyPr/>
          <a:lstStyle/>
          <a:p>
            <a:r>
              <a:rPr lang="en-US" altLang="en-US" dirty="0"/>
              <a:t>The WSDL Document Structure </a:t>
            </a:r>
            <a:endParaRPr lang="en-US" dirty="0"/>
          </a:p>
        </p:txBody>
      </p:sp>
      <p:sp>
        <p:nvSpPr>
          <p:cNvPr id="3" name="Content Placeholder 2"/>
          <p:cNvSpPr>
            <a:spLocks noGrp="1"/>
          </p:cNvSpPr>
          <p:nvPr>
            <p:ph idx="1"/>
          </p:nvPr>
        </p:nvSpPr>
        <p:spPr>
          <a:xfrm>
            <a:off x="457200" y="1066800"/>
            <a:ext cx="8229600" cy="5059363"/>
          </a:xfrm>
        </p:spPr>
        <p:txBody>
          <a:bodyPr>
            <a:normAutofit/>
          </a:bodyPr>
          <a:lstStyle/>
          <a:p>
            <a:r>
              <a:rPr lang="en-US" altLang="en-US" sz="2400" dirty="0"/>
              <a:t>A WSDL document describes a web service using these major elements: </a:t>
            </a:r>
          </a:p>
          <a:p>
            <a:endParaRPr lang="en-US" altLang="en-US" sz="2400" dirty="0"/>
          </a:p>
          <a:p>
            <a:endParaRPr lang="en-US" sz="3600"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33400" y="1752600"/>
            <a:ext cx="8153400" cy="4876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23694013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WSDL Types </a:t>
            </a:r>
            <a:endParaRPr lang="en-US" dirty="0"/>
          </a:p>
        </p:txBody>
      </p:sp>
      <p:sp>
        <p:nvSpPr>
          <p:cNvPr id="3" name="Content Placeholder 2"/>
          <p:cNvSpPr>
            <a:spLocks noGrp="1"/>
          </p:cNvSpPr>
          <p:nvPr>
            <p:ph idx="1"/>
          </p:nvPr>
        </p:nvSpPr>
        <p:spPr/>
        <p:txBody>
          <a:bodyPr/>
          <a:lstStyle/>
          <a:p>
            <a:r>
              <a:rPr lang="en-US" altLang="en-US" sz="2400" dirty="0"/>
              <a:t>The </a:t>
            </a:r>
            <a:r>
              <a:rPr lang="en-US" altLang="en-US" sz="2400" b="1" dirty="0"/>
              <a:t>&lt;types&gt;</a:t>
            </a:r>
            <a:r>
              <a:rPr lang="en-US" altLang="en-US" sz="2400" dirty="0"/>
              <a:t> element defines the data types that are used by the web service. </a:t>
            </a:r>
          </a:p>
          <a:p>
            <a:endParaRPr lang="en-US" altLang="en-US" sz="2400" dirty="0"/>
          </a:p>
          <a:p>
            <a:r>
              <a:rPr lang="en-US" altLang="en-US" sz="2400" dirty="0"/>
              <a:t>For maximum platform neutrality, WSDL uses XML Schema syntax to define data types. </a:t>
            </a:r>
          </a:p>
          <a:p>
            <a:endParaRPr lang="en-US" sz="3600" dirty="0"/>
          </a:p>
        </p:txBody>
      </p:sp>
    </p:spTree>
    <p:extLst>
      <p:ext uri="{BB962C8B-B14F-4D97-AF65-F5344CB8AC3E}">
        <p14:creationId xmlns:p14="http://schemas.microsoft.com/office/powerpoint/2010/main" val="102343675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WSDL Messages </a:t>
            </a:r>
            <a:endParaRPr lang="en-US" dirty="0"/>
          </a:p>
        </p:txBody>
      </p:sp>
      <p:sp>
        <p:nvSpPr>
          <p:cNvPr id="3" name="Content Placeholder 2"/>
          <p:cNvSpPr>
            <a:spLocks noGrp="1"/>
          </p:cNvSpPr>
          <p:nvPr>
            <p:ph idx="1"/>
          </p:nvPr>
        </p:nvSpPr>
        <p:spPr/>
        <p:txBody>
          <a:bodyPr>
            <a:normAutofit lnSpcReduction="10000"/>
          </a:bodyPr>
          <a:lstStyle/>
          <a:p>
            <a:pPr algn="just"/>
            <a:r>
              <a:rPr lang="en-US" altLang="en-US" sz="2400" dirty="0"/>
              <a:t>The </a:t>
            </a:r>
            <a:r>
              <a:rPr lang="en-US" altLang="en-US" sz="2400" b="1" dirty="0"/>
              <a:t>&lt;message&gt;</a:t>
            </a:r>
            <a:r>
              <a:rPr lang="en-US" altLang="en-US" sz="2400" dirty="0"/>
              <a:t> element defines the data elements of an operation. </a:t>
            </a:r>
          </a:p>
          <a:p>
            <a:pPr algn="just"/>
            <a:endParaRPr lang="en-US" altLang="en-US" sz="2400" dirty="0"/>
          </a:p>
          <a:p>
            <a:pPr>
              <a:buFont typeface="Wingdings" pitchFamily="2" charset="2"/>
              <a:buNone/>
            </a:pPr>
            <a:r>
              <a:rPr lang="en-US" altLang="en-US" sz="2400" dirty="0"/>
              <a:t>	&lt;message name="</a:t>
            </a:r>
            <a:r>
              <a:rPr lang="en-US" altLang="en-US" sz="2400" dirty="0" err="1"/>
              <a:t>newTermValues</a:t>
            </a:r>
            <a:r>
              <a:rPr lang="en-US" altLang="en-US" sz="2400" dirty="0"/>
              <a:t>"&gt;</a:t>
            </a:r>
            <a:br>
              <a:rPr lang="en-US" altLang="en-US" sz="2400" dirty="0"/>
            </a:br>
            <a:r>
              <a:rPr lang="en-US" altLang="en-US" sz="2400" dirty="0"/>
              <a:t>  	&lt;part name="term" type="</a:t>
            </a:r>
            <a:r>
              <a:rPr lang="en-US" altLang="en-US" sz="2400" dirty="0" err="1"/>
              <a:t>xs:string</a:t>
            </a:r>
            <a:r>
              <a:rPr lang="en-US" altLang="en-US" sz="2400" dirty="0"/>
              <a:t>"/&gt;</a:t>
            </a:r>
            <a:br>
              <a:rPr lang="en-US" altLang="en-US" sz="2400" dirty="0"/>
            </a:br>
            <a:r>
              <a:rPr lang="en-US" altLang="en-US" sz="2400" dirty="0"/>
              <a:t>	&lt;part name="value" type="</a:t>
            </a:r>
            <a:r>
              <a:rPr lang="en-US" altLang="en-US" sz="2400" dirty="0" err="1"/>
              <a:t>xs:string</a:t>
            </a:r>
            <a:r>
              <a:rPr lang="en-US" altLang="en-US" sz="2400" dirty="0"/>
              <a:t>"/&gt;</a:t>
            </a:r>
          </a:p>
          <a:p>
            <a:pPr>
              <a:buFont typeface="Wingdings" pitchFamily="2" charset="2"/>
              <a:buNone/>
            </a:pPr>
            <a:r>
              <a:rPr lang="en-US" altLang="en-US" sz="2400" dirty="0"/>
              <a:t>	&lt;/message&gt;</a:t>
            </a:r>
          </a:p>
          <a:p>
            <a:pPr algn="just">
              <a:buFont typeface="Wingdings" pitchFamily="2" charset="2"/>
              <a:buNone/>
            </a:pPr>
            <a:endParaRPr lang="en-US" altLang="en-US" sz="2400" dirty="0"/>
          </a:p>
          <a:p>
            <a:pPr algn="just"/>
            <a:r>
              <a:rPr lang="en-US" altLang="en-US" sz="2400" dirty="0"/>
              <a:t>Each message can consist of one or more parts. The parts can be compared to the parameters of a function call in a traditional programming language. </a:t>
            </a:r>
          </a:p>
          <a:p>
            <a:pPr algn="just"/>
            <a:endParaRPr lang="en-US" sz="3600" dirty="0"/>
          </a:p>
        </p:txBody>
      </p:sp>
    </p:spTree>
    <p:extLst>
      <p:ext uri="{BB962C8B-B14F-4D97-AF65-F5344CB8AC3E}">
        <p14:creationId xmlns:p14="http://schemas.microsoft.com/office/powerpoint/2010/main" val="412832100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WSDL Port</a:t>
            </a:r>
            <a:endParaRPr lang="en-US" dirty="0"/>
          </a:p>
        </p:txBody>
      </p:sp>
      <p:sp>
        <p:nvSpPr>
          <p:cNvPr id="3" name="Content Placeholder 2"/>
          <p:cNvSpPr>
            <a:spLocks noGrp="1"/>
          </p:cNvSpPr>
          <p:nvPr>
            <p:ph idx="1"/>
          </p:nvPr>
        </p:nvSpPr>
        <p:spPr>
          <a:xfrm>
            <a:off x="457200" y="1143000"/>
            <a:ext cx="8229600" cy="4983163"/>
          </a:xfrm>
        </p:spPr>
        <p:txBody>
          <a:bodyPr>
            <a:noAutofit/>
          </a:bodyPr>
          <a:lstStyle/>
          <a:p>
            <a:pPr algn="just">
              <a:lnSpc>
                <a:spcPct val="150000"/>
              </a:lnSpc>
            </a:pPr>
            <a:r>
              <a:rPr lang="en-US" altLang="en-US" sz="2800" dirty="0"/>
              <a:t>A WSDL port describes the interfaces (legal operations) exposed by a web service.</a:t>
            </a:r>
          </a:p>
          <a:p>
            <a:pPr algn="just">
              <a:lnSpc>
                <a:spcPct val="150000"/>
              </a:lnSpc>
            </a:pPr>
            <a:r>
              <a:rPr lang="en-US" altLang="en-US" sz="2800" dirty="0" smtClean="0"/>
              <a:t>It </a:t>
            </a:r>
            <a:r>
              <a:rPr lang="en-US" altLang="en-US" sz="2800" dirty="0"/>
              <a:t>defines </a:t>
            </a:r>
            <a:r>
              <a:rPr lang="en-US" altLang="en-US" sz="2800" b="1" dirty="0"/>
              <a:t>a web service</a:t>
            </a:r>
            <a:r>
              <a:rPr lang="en-US" altLang="en-US" sz="2800" dirty="0"/>
              <a:t>, the </a:t>
            </a:r>
            <a:r>
              <a:rPr lang="en-US" altLang="en-US" sz="2800" b="1" dirty="0"/>
              <a:t>operations</a:t>
            </a:r>
            <a:r>
              <a:rPr lang="en-US" altLang="en-US" sz="2800" dirty="0"/>
              <a:t> that can be performed, and the </a:t>
            </a:r>
            <a:r>
              <a:rPr lang="en-US" altLang="en-US" sz="2800" b="1" dirty="0"/>
              <a:t>messages</a:t>
            </a:r>
            <a:r>
              <a:rPr lang="en-US" altLang="en-US" sz="2800" dirty="0"/>
              <a:t> that are involved. </a:t>
            </a:r>
          </a:p>
          <a:p>
            <a:pPr>
              <a:lnSpc>
                <a:spcPct val="150000"/>
              </a:lnSpc>
            </a:pPr>
            <a:r>
              <a:rPr lang="en-US" altLang="en-US" sz="2800" dirty="0" smtClean="0"/>
              <a:t>Operation </a:t>
            </a:r>
            <a:r>
              <a:rPr lang="en-US" altLang="en-US" sz="2800" dirty="0"/>
              <a:t>Types </a:t>
            </a:r>
            <a:endParaRPr lang="en-US" altLang="en-US" sz="2800" dirty="0" smtClean="0"/>
          </a:p>
          <a:p>
            <a:pPr lvl="1">
              <a:lnSpc>
                <a:spcPct val="150000"/>
              </a:lnSpc>
            </a:pPr>
            <a:r>
              <a:rPr lang="en-US" altLang="en-US" sz="2000" dirty="0" smtClean="0"/>
              <a:t>One-way</a:t>
            </a:r>
          </a:p>
          <a:p>
            <a:pPr lvl="1">
              <a:lnSpc>
                <a:spcPct val="150000"/>
              </a:lnSpc>
            </a:pPr>
            <a:r>
              <a:rPr lang="en-US" altLang="en-US" sz="2000" dirty="0"/>
              <a:t>Request-response 	</a:t>
            </a:r>
          </a:p>
          <a:p>
            <a:pPr lvl="1">
              <a:lnSpc>
                <a:spcPct val="150000"/>
              </a:lnSpc>
            </a:pPr>
            <a:r>
              <a:rPr lang="en-US" altLang="en-US" sz="2000" dirty="0"/>
              <a:t>Solicit-response </a:t>
            </a:r>
          </a:p>
          <a:p>
            <a:pPr lvl="1">
              <a:lnSpc>
                <a:spcPct val="150000"/>
              </a:lnSpc>
            </a:pPr>
            <a:r>
              <a:rPr lang="en-US" altLang="en-US" sz="2000" dirty="0"/>
              <a:t>Notification </a:t>
            </a:r>
          </a:p>
        </p:txBody>
      </p:sp>
    </p:spTree>
    <p:extLst>
      <p:ext uri="{BB962C8B-B14F-4D97-AF65-F5344CB8AC3E}">
        <p14:creationId xmlns:p14="http://schemas.microsoft.com/office/powerpoint/2010/main" val="387817716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One-Way Operation </a:t>
            </a:r>
            <a:endParaRPr lang="en-US" dirty="0"/>
          </a:p>
        </p:txBody>
      </p:sp>
      <p:sp>
        <p:nvSpPr>
          <p:cNvPr id="3" name="Content Placeholder 2"/>
          <p:cNvSpPr>
            <a:spLocks noGrp="1"/>
          </p:cNvSpPr>
          <p:nvPr>
            <p:ph idx="1"/>
          </p:nvPr>
        </p:nvSpPr>
        <p:spPr/>
        <p:txBody>
          <a:bodyPr>
            <a:normAutofit/>
          </a:bodyPr>
          <a:lstStyle/>
          <a:p>
            <a:pPr>
              <a:buFont typeface="Wingdings" pitchFamily="2" charset="2"/>
              <a:buNone/>
            </a:pPr>
            <a:r>
              <a:rPr lang="en-US" altLang="en-US" sz="2400" dirty="0"/>
              <a:t>&lt;message name="</a:t>
            </a:r>
            <a:r>
              <a:rPr lang="en-US" altLang="en-US" sz="2400" dirty="0" err="1"/>
              <a:t>newTermValues</a:t>
            </a:r>
            <a:r>
              <a:rPr lang="en-US" altLang="en-US" sz="2400" dirty="0"/>
              <a:t>"&gt;</a:t>
            </a:r>
            <a:br>
              <a:rPr lang="en-US" altLang="en-US" sz="2400" dirty="0"/>
            </a:br>
            <a:r>
              <a:rPr lang="en-US" altLang="en-US" sz="2400" dirty="0"/>
              <a:t>  &lt;part name="term" type="</a:t>
            </a:r>
            <a:r>
              <a:rPr lang="en-US" altLang="en-US" sz="2400" dirty="0" err="1"/>
              <a:t>xs:string</a:t>
            </a:r>
            <a:r>
              <a:rPr lang="en-US" altLang="en-US" sz="2400" dirty="0"/>
              <a:t>"/&gt;</a:t>
            </a:r>
            <a:br>
              <a:rPr lang="en-US" altLang="en-US" sz="2400" dirty="0"/>
            </a:br>
            <a:r>
              <a:rPr lang="en-US" altLang="en-US" sz="2400" dirty="0"/>
              <a:t>  &lt;part name="value" type="</a:t>
            </a:r>
            <a:r>
              <a:rPr lang="en-US" altLang="en-US" sz="2400" dirty="0" err="1"/>
              <a:t>xs:string</a:t>
            </a:r>
            <a:r>
              <a:rPr lang="en-US" altLang="en-US" sz="2400" dirty="0"/>
              <a:t>"/&gt;</a:t>
            </a:r>
          </a:p>
          <a:p>
            <a:pPr>
              <a:buFont typeface="Wingdings" pitchFamily="2" charset="2"/>
              <a:buNone/>
            </a:pPr>
            <a:r>
              <a:rPr lang="en-US" altLang="en-US" sz="2400" dirty="0"/>
              <a:t>&lt;/message&gt;</a:t>
            </a:r>
          </a:p>
          <a:p>
            <a:pPr>
              <a:buFont typeface="Wingdings" pitchFamily="2" charset="2"/>
              <a:buNone/>
            </a:pPr>
            <a:endParaRPr lang="en-US" altLang="en-US" sz="2400" dirty="0"/>
          </a:p>
          <a:p>
            <a:pPr>
              <a:buFont typeface="Wingdings" pitchFamily="2" charset="2"/>
              <a:buNone/>
            </a:pPr>
            <a:r>
              <a:rPr lang="en-US" altLang="en-US" sz="2400" dirty="0"/>
              <a:t>&lt;</a:t>
            </a:r>
            <a:r>
              <a:rPr lang="en-US" altLang="en-US" sz="2400" dirty="0" err="1"/>
              <a:t>portType</a:t>
            </a:r>
            <a:r>
              <a:rPr lang="en-US" altLang="en-US" sz="2400" dirty="0"/>
              <a:t> name="</a:t>
            </a:r>
            <a:r>
              <a:rPr lang="en-US" altLang="en-US" sz="2400" dirty="0" err="1"/>
              <a:t>glossaryTerms</a:t>
            </a:r>
            <a:r>
              <a:rPr lang="en-US" altLang="en-US" sz="2400" dirty="0"/>
              <a:t>"&gt;</a:t>
            </a:r>
            <a:br>
              <a:rPr lang="en-US" altLang="en-US" sz="2400" dirty="0"/>
            </a:br>
            <a:r>
              <a:rPr lang="en-US" altLang="en-US" sz="2400" dirty="0"/>
              <a:t>  &lt;operation name="</a:t>
            </a:r>
            <a:r>
              <a:rPr lang="en-US" altLang="en-US" sz="2400" dirty="0" err="1"/>
              <a:t>setTerm</a:t>
            </a:r>
            <a:r>
              <a:rPr lang="en-US" altLang="en-US" sz="2400" dirty="0"/>
              <a:t>"&gt;</a:t>
            </a:r>
            <a:br>
              <a:rPr lang="en-US" altLang="en-US" sz="2400" dirty="0"/>
            </a:br>
            <a:r>
              <a:rPr lang="en-US" altLang="en-US" sz="2400" dirty="0"/>
              <a:t>    &lt;input name="</a:t>
            </a:r>
            <a:r>
              <a:rPr lang="en-US" altLang="en-US" sz="2400" dirty="0" err="1"/>
              <a:t>newTerm</a:t>
            </a:r>
            <a:r>
              <a:rPr lang="en-US" altLang="en-US" sz="2400" dirty="0"/>
              <a:t>" message="</a:t>
            </a:r>
            <a:r>
              <a:rPr lang="en-US" altLang="en-US" sz="2400" dirty="0" err="1"/>
              <a:t>newTermValues</a:t>
            </a:r>
            <a:r>
              <a:rPr lang="en-US" altLang="en-US" sz="2400" dirty="0"/>
              <a:t>"/&gt;</a:t>
            </a:r>
            <a:br>
              <a:rPr lang="en-US" altLang="en-US" sz="2400" dirty="0"/>
            </a:br>
            <a:r>
              <a:rPr lang="en-US" altLang="en-US" sz="2400" dirty="0"/>
              <a:t>  &lt;/operation&gt;</a:t>
            </a:r>
          </a:p>
          <a:p>
            <a:pPr>
              <a:buFont typeface="Wingdings" pitchFamily="2" charset="2"/>
              <a:buNone/>
            </a:pPr>
            <a:r>
              <a:rPr lang="en-US" altLang="en-US" sz="2400" dirty="0"/>
              <a:t>&lt;/</a:t>
            </a:r>
            <a:r>
              <a:rPr lang="en-US" altLang="en-US" sz="2400" dirty="0" err="1"/>
              <a:t>portType</a:t>
            </a:r>
            <a:r>
              <a:rPr lang="en-US" altLang="en-US" sz="2400" dirty="0"/>
              <a:t> &gt; </a:t>
            </a:r>
          </a:p>
          <a:p>
            <a:endParaRPr lang="en-US" sz="4000" dirty="0"/>
          </a:p>
        </p:txBody>
      </p:sp>
    </p:spTree>
    <p:extLst>
      <p:ext uri="{BB962C8B-B14F-4D97-AF65-F5344CB8AC3E}">
        <p14:creationId xmlns:p14="http://schemas.microsoft.com/office/powerpoint/2010/main" val="408839378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Request-Response Operation </a:t>
            </a:r>
            <a:endParaRPr lang="en-US" dirty="0"/>
          </a:p>
        </p:txBody>
      </p:sp>
      <p:sp>
        <p:nvSpPr>
          <p:cNvPr id="3" name="Content Placeholder 2"/>
          <p:cNvSpPr>
            <a:spLocks noGrp="1"/>
          </p:cNvSpPr>
          <p:nvPr>
            <p:ph idx="1"/>
          </p:nvPr>
        </p:nvSpPr>
        <p:spPr/>
        <p:txBody>
          <a:bodyPr>
            <a:noAutofit/>
          </a:bodyPr>
          <a:lstStyle/>
          <a:p>
            <a:pPr>
              <a:lnSpc>
                <a:spcPct val="90000"/>
              </a:lnSpc>
              <a:buFont typeface="Wingdings" pitchFamily="2" charset="2"/>
              <a:buNone/>
            </a:pPr>
            <a:r>
              <a:rPr lang="en-US" altLang="en-US" sz="2400" dirty="0"/>
              <a:t>&lt;message name="</a:t>
            </a:r>
            <a:r>
              <a:rPr lang="en-US" altLang="en-US" sz="2400" dirty="0" err="1"/>
              <a:t>getTermRequest</a:t>
            </a:r>
            <a:r>
              <a:rPr lang="en-US" altLang="en-US" sz="2400" dirty="0"/>
              <a:t>"&gt;</a:t>
            </a:r>
            <a:br>
              <a:rPr lang="en-US" altLang="en-US" sz="2400" dirty="0"/>
            </a:br>
            <a:r>
              <a:rPr lang="en-US" altLang="en-US" sz="2400" dirty="0"/>
              <a:t>  &lt;part name="term" type="</a:t>
            </a:r>
            <a:r>
              <a:rPr lang="en-US" altLang="en-US" sz="2400" dirty="0" err="1"/>
              <a:t>xs:string</a:t>
            </a:r>
            <a:r>
              <a:rPr lang="en-US" altLang="en-US" sz="2400" dirty="0"/>
              <a:t>"/</a:t>
            </a:r>
          </a:p>
          <a:p>
            <a:pPr>
              <a:lnSpc>
                <a:spcPct val="90000"/>
              </a:lnSpc>
              <a:buFont typeface="Wingdings" pitchFamily="2" charset="2"/>
              <a:buNone/>
            </a:pPr>
            <a:r>
              <a:rPr lang="en-US" altLang="en-US" sz="2400" dirty="0"/>
              <a:t>&lt;/message&gt;</a:t>
            </a:r>
          </a:p>
          <a:p>
            <a:pPr>
              <a:lnSpc>
                <a:spcPct val="90000"/>
              </a:lnSpc>
              <a:buFont typeface="Wingdings" pitchFamily="2" charset="2"/>
              <a:buNone/>
            </a:pPr>
            <a:r>
              <a:rPr lang="en-US" altLang="en-US" sz="2400" dirty="0"/>
              <a:t>&lt;message name="</a:t>
            </a:r>
            <a:r>
              <a:rPr lang="en-US" altLang="en-US" sz="2400" dirty="0" err="1"/>
              <a:t>getTermResponse</a:t>
            </a:r>
            <a:r>
              <a:rPr lang="en-US" altLang="en-US" sz="2400" dirty="0"/>
              <a:t>"&gt;</a:t>
            </a:r>
            <a:br>
              <a:rPr lang="en-US" altLang="en-US" sz="2400" dirty="0"/>
            </a:br>
            <a:r>
              <a:rPr lang="en-US" altLang="en-US" sz="2400" dirty="0"/>
              <a:t>  &lt;part name="value" type="</a:t>
            </a:r>
            <a:r>
              <a:rPr lang="en-US" altLang="en-US" sz="2400" dirty="0" err="1"/>
              <a:t>xs:string</a:t>
            </a:r>
            <a:r>
              <a:rPr lang="en-US" altLang="en-US" sz="2400" dirty="0"/>
              <a:t>"/&gt;</a:t>
            </a:r>
          </a:p>
          <a:p>
            <a:pPr>
              <a:lnSpc>
                <a:spcPct val="90000"/>
              </a:lnSpc>
              <a:buFont typeface="Wingdings" pitchFamily="2" charset="2"/>
              <a:buNone/>
            </a:pPr>
            <a:r>
              <a:rPr lang="en-US" altLang="en-US" sz="2400" dirty="0"/>
              <a:t>&lt;/message&gt;</a:t>
            </a:r>
          </a:p>
          <a:p>
            <a:pPr>
              <a:lnSpc>
                <a:spcPct val="90000"/>
              </a:lnSpc>
              <a:buFont typeface="Wingdings" pitchFamily="2" charset="2"/>
              <a:buNone/>
            </a:pPr>
            <a:endParaRPr lang="en-US" altLang="en-US" sz="2400" dirty="0"/>
          </a:p>
          <a:p>
            <a:pPr>
              <a:lnSpc>
                <a:spcPct val="90000"/>
              </a:lnSpc>
              <a:buFont typeface="Wingdings" pitchFamily="2" charset="2"/>
              <a:buNone/>
            </a:pPr>
            <a:r>
              <a:rPr lang="en-US" altLang="en-US" sz="2400" dirty="0"/>
              <a:t>&lt;</a:t>
            </a:r>
            <a:r>
              <a:rPr lang="en-US" altLang="en-US" sz="2400" dirty="0" err="1"/>
              <a:t>portType</a:t>
            </a:r>
            <a:r>
              <a:rPr lang="en-US" altLang="en-US" sz="2400" dirty="0"/>
              <a:t> name="</a:t>
            </a:r>
            <a:r>
              <a:rPr lang="en-US" altLang="en-US" sz="2400" dirty="0" err="1"/>
              <a:t>glossaryTerms</a:t>
            </a:r>
            <a:r>
              <a:rPr lang="en-US" altLang="en-US" sz="2400" dirty="0"/>
              <a:t>"&gt;</a:t>
            </a:r>
            <a:br>
              <a:rPr lang="en-US" altLang="en-US" sz="2400" dirty="0"/>
            </a:br>
            <a:r>
              <a:rPr lang="en-US" altLang="en-US" sz="2400" dirty="0"/>
              <a:t>  &lt;operation name="</a:t>
            </a:r>
            <a:r>
              <a:rPr lang="en-US" altLang="en-US" sz="2400" dirty="0" err="1"/>
              <a:t>getTerm</a:t>
            </a:r>
            <a:r>
              <a:rPr lang="en-US" altLang="en-US" sz="2400" dirty="0"/>
              <a:t>"&gt;</a:t>
            </a:r>
            <a:br>
              <a:rPr lang="en-US" altLang="en-US" sz="2400" dirty="0"/>
            </a:br>
            <a:r>
              <a:rPr lang="en-US" altLang="en-US" sz="2400" dirty="0"/>
              <a:t>    &lt;input message="</a:t>
            </a:r>
            <a:r>
              <a:rPr lang="en-US" altLang="en-US" sz="2400" dirty="0" err="1"/>
              <a:t>getTermRequest</a:t>
            </a:r>
            <a:r>
              <a:rPr lang="en-US" altLang="en-US" sz="2400" dirty="0"/>
              <a:t>"/&gt;</a:t>
            </a:r>
            <a:br>
              <a:rPr lang="en-US" altLang="en-US" sz="2400" dirty="0"/>
            </a:br>
            <a:r>
              <a:rPr lang="en-US" altLang="en-US" sz="2400" dirty="0"/>
              <a:t>    &lt;output message="</a:t>
            </a:r>
            <a:r>
              <a:rPr lang="en-US" altLang="en-US" sz="2400" dirty="0" err="1"/>
              <a:t>getTermResponse</a:t>
            </a:r>
            <a:r>
              <a:rPr lang="en-US" altLang="en-US" sz="2400" dirty="0"/>
              <a:t>"/&gt;</a:t>
            </a:r>
            <a:br>
              <a:rPr lang="en-US" altLang="en-US" sz="2400" dirty="0"/>
            </a:br>
            <a:r>
              <a:rPr lang="en-US" altLang="en-US" sz="2400" dirty="0"/>
              <a:t>  &lt;/operation&gt;</a:t>
            </a:r>
          </a:p>
          <a:p>
            <a:pPr>
              <a:lnSpc>
                <a:spcPct val="90000"/>
              </a:lnSpc>
              <a:buFont typeface="Wingdings" pitchFamily="2" charset="2"/>
              <a:buNone/>
            </a:pPr>
            <a:r>
              <a:rPr lang="en-US" altLang="en-US" sz="2400" dirty="0"/>
              <a:t>&lt;/</a:t>
            </a:r>
            <a:r>
              <a:rPr lang="en-US" altLang="en-US" sz="2400" dirty="0" err="1"/>
              <a:t>portType</a:t>
            </a:r>
            <a:r>
              <a:rPr lang="en-US" altLang="en-US" sz="2400" dirty="0"/>
              <a:t>&gt; </a:t>
            </a:r>
          </a:p>
          <a:p>
            <a:endParaRPr lang="en-US" sz="4000" dirty="0"/>
          </a:p>
        </p:txBody>
      </p:sp>
    </p:spTree>
    <p:extLst>
      <p:ext uri="{BB962C8B-B14F-4D97-AF65-F5344CB8AC3E}">
        <p14:creationId xmlns:p14="http://schemas.microsoft.com/office/powerpoint/2010/main" val="404165187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43000"/>
          </a:xfrm>
        </p:spPr>
        <p:txBody>
          <a:bodyPr/>
          <a:lstStyle/>
          <a:p>
            <a:r>
              <a:rPr lang="en-US" altLang="en-US" dirty="0"/>
              <a:t>WSDL Binding</a:t>
            </a:r>
            <a:endParaRPr lang="en-US" dirty="0"/>
          </a:p>
        </p:txBody>
      </p:sp>
      <p:sp>
        <p:nvSpPr>
          <p:cNvPr id="3" name="Content Placeholder 2"/>
          <p:cNvSpPr>
            <a:spLocks noGrp="1"/>
          </p:cNvSpPr>
          <p:nvPr>
            <p:ph idx="1"/>
          </p:nvPr>
        </p:nvSpPr>
        <p:spPr>
          <a:xfrm>
            <a:off x="457200" y="1219200"/>
            <a:ext cx="8534400" cy="4906963"/>
          </a:xfrm>
        </p:spPr>
        <p:txBody>
          <a:bodyPr>
            <a:normAutofit lnSpcReduction="10000"/>
          </a:bodyPr>
          <a:lstStyle/>
          <a:p>
            <a:pPr algn="just">
              <a:lnSpc>
                <a:spcPct val="90000"/>
              </a:lnSpc>
            </a:pPr>
            <a:r>
              <a:rPr lang="en-US" altLang="en-US" sz="2800" dirty="0"/>
              <a:t>WSDL bindings defines the message format and protocol details for a web service.</a:t>
            </a:r>
          </a:p>
          <a:p>
            <a:pPr algn="just">
              <a:lnSpc>
                <a:spcPct val="90000"/>
              </a:lnSpc>
            </a:pPr>
            <a:r>
              <a:rPr lang="en-US" altLang="en-US" sz="2800" dirty="0" smtClean="0"/>
              <a:t>The</a:t>
            </a:r>
            <a:r>
              <a:rPr lang="en-US" altLang="en-US" sz="2800" b="1" dirty="0" smtClean="0"/>
              <a:t> </a:t>
            </a:r>
            <a:r>
              <a:rPr lang="en-US" altLang="en-US" sz="2800" b="1" dirty="0"/>
              <a:t>binding</a:t>
            </a:r>
            <a:r>
              <a:rPr lang="en-US" altLang="en-US" sz="2800" dirty="0"/>
              <a:t> element has two attributes - name and type.</a:t>
            </a:r>
          </a:p>
          <a:p>
            <a:pPr lvl="1" algn="just">
              <a:lnSpc>
                <a:spcPct val="90000"/>
              </a:lnSpc>
            </a:pPr>
            <a:r>
              <a:rPr lang="en-US" altLang="en-US" sz="2400" dirty="0"/>
              <a:t>The name attribute defines the name of the binding, and the type attribute points to the port for the binding.</a:t>
            </a:r>
          </a:p>
          <a:p>
            <a:pPr algn="just">
              <a:lnSpc>
                <a:spcPct val="90000"/>
              </a:lnSpc>
            </a:pPr>
            <a:r>
              <a:rPr lang="en-US" altLang="en-US" sz="2800" dirty="0" smtClean="0"/>
              <a:t>The </a:t>
            </a:r>
            <a:r>
              <a:rPr lang="en-US" altLang="en-US" sz="2800" b="1" dirty="0" err="1"/>
              <a:t>soap:binding</a:t>
            </a:r>
            <a:r>
              <a:rPr lang="en-US" altLang="en-US" sz="2800" dirty="0"/>
              <a:t> element has two attributes - style and transport</a:t>
            </a:r>
            <a:r>
              <a:rPr lang="en-US" altLang="en-US" sz="2800" dirty="0" smtClean="0"/>
              <a:t>.</a:t>
            </a:r>
          </a:p>
          <a:p>
            <a:pPr algn="just">
              <a:lnSpc>
                <a:spcPct val="90000"/>
              </a:lnSpc>
            </a:pPr>
            <a:r>
              <a:rPr lang="en-US" altLang="en-US" sz="2800" dirty="0" smtClean="0"/>
              <a:t>The</a:t>
            </a:r>
            <a:r>
              <a:rPr lang="en-US" altLang="en-US" sz="2800" b="1" dirty="0" smtClean="0"/>
              <a:t> </a:t>
            </a:r>
            <a:r>
              <a:rPr lang="en-US" altLang="en-US" sz="2800" b="1" dirty="0"/>
              <a:t>operation</a:t>
            </a:r>
            <a:r>
              <a:rPr lang="en-US" altLang="en-US" sz="2800" dirty="0"/>
              <a:t> element defines each operation that the port exposes</a:t>
            </a:r>
          </a:p>
          <a:p>
            <a:pPr lvl="1" algn="just">
              <a:lnSpc>
                <a:spcPct val="90000"/>
              </a:lnSpc>
            </a:pPr>
            <a:r>
              <a:rPr lang="en-US" altLang="en-US" sz="2400" dirty="0"/>
              <a:t>For each operation the corresponding SOAP action has to be defined. You must also specify how the input and output are encoded. . </a:t>
            </a:r>
          </a:p>
          <a:p>
            <a:pPr algn="just"/>
            <a:endParaRPr lang="en-US" sz="4000" dirty="0"/>
          </a:p>
        </p:txBody>
      </p:sp>
    </p:spTree>
    <p:extLst>
      <p:ext uri="{BB962C8B-B14F-4D97-AF65-F5344CB8AC3E}">
        <p14:creationId xmlns:p14="http://schemas.microsoft.com/office/powerpoint/2010/main" val="2287740328"/>
      </p:ext>
    </p:extLst>
  </p:cSld>
  <p:clrMapOvr>
    <a:masterClrMapping/>
  </p:clrMapOvr>
  <p:timing>
    <p:tnLst>
      <p:par>
        <p:cTn id="1" dur="indefinite" restart="never" nodeType="tmRoot"/>
      </p:par>
    </p:tnLst>
  </p:timing>
</p:sld>
</file>

<file path=ppt/theme/theme1.xml><?xml version="1.0" encoding="utf-8"?>
<a:theme xmlns:a="http://schemas.openxmlformats.org/drawingml/2006/main" name="HNDI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HNDIT</Template>
  <TotalTime>202</TotalTime>
  <Words>1043</Words>
  <Application>Microsoft Office PowerPoint</Application>
  <PresentationFormat>On-screen Show (4:3)</PresentationFormat>
  <Paragraphs>127</Paragraphs>
  <Slides>22</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Arial</vt:lpstr>
      <vt:lpstr>Calibri</vt:lpstr>
      <vt:lpstr>Mangal</vt:lpstr>
      <vt:lpstr>Symbol</vt:lpstr>
      <vt:lpstr>Webdings</vt:lpstr>
      <vt:lpstr>Wingdings</vt:lpstr>
      <vt:lpstr>HNDIT</vt:lpstr>
      <vt:lpstr>HNDIT2411 Enterprise Architecture</vt:lpstr>
      <vt:lpstr>Java EE components</vt:lpstr>
      <vt:lpstr>Components defined in the Java EE Specification</vt:lpstr>
      <vt:lpstr>Java EE Clients</vt:lpstr>
      <vt:lpstr>Java EE Application Model + API s</vt:lpstr>
      <vt:lpstr>Application Server</vt:lpstr>
      <vt:lpstr>Introduction to SOAP, WSDL &amp; Web Services</vt:lpstr>
      <vt:lpstr>What is SOAP</vt:lpstr>
      <vt:lpstr>Why is SOAP</vt:lpstr>
      <vt:lpstr>How SOAP works</vt:lpstr>
      <vt:lpstr>Structure of a SOAP Message</vt:lpstr>
      <vt:lpstr>SOAP Header</vt:lpstr>
      <vt:lpstr>SOAP Body</vt:lpstr>
      <vt:lpstr>Introduction to WSDL</vt:lpstr>
      <vt:lpstr>What is WSDL?</vt:lpstr>
      <vt:lpstr>The WSDL Document Structure </vt:lpstr>
      <vt:lpstr>WSDL Types </vt:lpstr>
      <vt:lpstr>WSDL Messages </vt:lpstr>
      <vt:lpstr>WSDL Port</vt:lpstr>
      <vt:lpstr>One-Way Operation </vt:lpstr>
      <vt:lpstr>Request-Response Operation </vt:lpstr>
      <vt:lpstr>WSDL Binding</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IT4101 Multi-tiered application development</dc:title>
  <dc:creator>User</dc:creator>
  <cp:lastModifiedBy>Admin</cp:lastModifiedBy>
  <cp:revision>18</cp:revision>
  <dcterms:created xsi:type="dcterms:W3CDTF">2012-08-01T05:29:21Z</dcterms:created>
  <dcterms:modified xsi:type="dcterms:W3CDTF">2019-01-05T05:51:36Z</dcterms:modified>
</cp:coreProperties>
</file>