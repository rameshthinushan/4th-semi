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88" r:id="rId3"/>
    <p:sldId id="259" r:id="rId4"/>
    <p:sldId id="260" r:id="rId5"/>
    <p:sldId id="287" r:id="rId6"/>
    <p:sldId id="290" r:id="rId7"/>
    <p:sldId id="291" r:id="rId8"/>
    <p:sldId id="292" r:id="rId9"/>
    <p:sldId id="289" r:id="rId10"/>
    <p:sldId id="285" r:id="rId11"/>
    <p:sldId id="261" r:id="rId12"/>
    <p:sldId id="286" r:id="rId13"/>
    <p:sldId id="293" r:id="rId14"/>
    <p:sldId id="294" r:id="rId15"/>
    <p:sldId id="295"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B678EE-353D-4F12-84C7-ED8D5FCF4BF2}" type="datetimeFigureOut">
              <a:rPr lang="en-US" smtClean="0"/>
              <a:pPr/>
              <a:t>11/23/2021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62B1D6-E3DC-4246-9660-7298CA13C088}" type="slidenum">
              <a:rPr lang="en-US" smtClean="0"/>
              <a:pPr/>
              <a:t>‹#›</a:t>
            </a:fld>
            <a:endParaRPr lang="en-US"/>
          </a:p>
        </p:txBody>
      </p:sp>
    </p:spTree>
    <p:extLst>
      <p:ext uri="{BB962C8B-B14F-4D97-AF65-F5344CB8AC3E}">
        <p14:creationId xmlns:p14="http://schemas.microsoft.com/office/powerpoint/2010/main" val="4121401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1747"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22</a:t>
            </a:r>
          </a:p>
        </p:txBody>
      </p:sp>
      <p:sp>
        <p:nvSpPr>
          <p:cNvPr id="31748"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1749"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1750"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1751"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99414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a:xfrm>
            <a:off x="920429" y="693016"/>
            <a:ext cx="5018757" cy="3415264"/>
          </a:xfrm>
          <a:ln/>
        </p:spPr>
      </p:sp>
      <p:sp>
        <p:nvSpPr>
          <p:cNvPr id="32771" name="Rectangle 2"/>
          <p:cNvSpPr>
            <a:spLocks noGrp="1" noChangeArrowheads="1"/>
          </p:cNvSpPr>
          <p:nvPr>
            <p:ph type="body" idx="1"/>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537726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62B1D6-E3DC-4246-9660-7298CA13C088}" type="slidenum">
              <a:rPr lang="en-US" smtClean="0"/>
              <a:pPr/>
              <a:t>9</a:t>
            </a:fld>
            <a:endParaRPr lang="en-US"/>
          </a:p>
        </p:txBody>
      </p:sp>
    </p:spTree>
    <p:extLst>
      <p:ext uri="{BB962C8B-B14F-4D97-AF65-F5344CB8AC3E}">
        <p14:creationId xmlns:p14="http://schemas.microsoft.com/office/powerpoint/2010/main" val="3267382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3795"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23</a:t>
            </a:r>
          </a:p>
        </p:txBody>
      </p:sp>
      <p:sp>
        <p:nvSpPr>
          <p:cNvPr id="33796"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3797"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3798"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3799"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4163171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4819"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24</a:t>
            </a:r>
          </a:p>
        </p:txBody>
      </p:sp>
      <p:sp>
        <p:nvSpPr>
          <p:cNvPr id="34820"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4821"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4822"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4823"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421773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5843"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25</a:t>
            </a:r>
          </a:p>
        </p:txBody>
      </p:sp>
      <p:sp>
        <p:nvSpPr>
          <p:cNvPr id="35844"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5845"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5846"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5847"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748868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6867"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26</a:t>
            </a:r>
          </a:p>
        </p:txBody>
      </p:sp>
      <p:sp>
        <p:nvSpPr>
          <p:cNvPr id="36868"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6869"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6870"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6871"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19732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7891"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27</a:t>
            </a:r>
          </a:p>
        </p:txBody>
      </p:sp>
      <p:sp>
        <p:nvSpPr>
          <p:cNvPr id="37892"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7893"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7894"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7895"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4160128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8915"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28</a:t>
            </a:r>
          </a:p>
        </p:txBody>
      </p:sp>
      <p:sp>
        <p:nvSpPr>
          <p:cNvPr id="38916"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8917"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8918"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8919"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667203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39939"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29</a:t>
            </a:r>
          </a:p>
        </p:txBody>
      </p:sp>
      <p:sp>
        <p:nvSpPr>
          <p:cNvPr id="39940"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39941"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39942"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39943"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114669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40963"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30</a:t>
            </a:r>
          </a:p>
        </p:txBody>
      </p:sp>
      <p:sp>
        <p:nvSpPr>
          <p:cNvPr id="40964"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40965"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40966"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0967"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651955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41987"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31</a:t>
            </a:r>
          </a:p>
        </p:txBody>
      </p:sp>
      <p:sp>
        <p:nvSpPr>
          <p:cNvPr id="41988"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41989"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41990"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1991"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108003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43011"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32</a:t>
            </a:r>
          </a:p>
        </p:txBody>
      </p:sp>
      <p:sp>
        <p:nvSpPr>
          <p:cNvPr id="43012"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43013"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43014"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3015"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581506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44035"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33</a:t>
            </a:r>
          </a:p>
        </p:txBody>
      </p:sp>
      <p:sp>
        <p:nvSpPr>
          <p:cNvPr id="44036"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44037"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44038"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4039"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282581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5059"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2183859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6083"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2315893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7107"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22579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8131"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4348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49155"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680711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0179"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549734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1203"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878346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2227"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657816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3251"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507456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4275"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4881372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Text Box 1"/>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5299" name="Rectangle 2"/>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3117769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3886793" y="0"/>
            <a:ext cx="2972822" cy="457127"/>
          </a:xfrm>
          <a:prstGeom prst="rect">
            <a:avLst/>
          </a:prstGeom>
          <a:noFill/>
          <a:ln w="9525">
            <a:noFill/>
            <a:round/>
            <a:headEnd/>
            <a:tailEnd/>
          </a:ln>
        </p:spPr>
        <p:txBody>
          <a:bodyPr wrap="none" anchor="ctr"/>
          <a:lstStyle/>
          <a:p>
            <a:endParaRPr lang="en-US"/>
          </a:p>
        </p:txBody>
      </p:sp>
      <p:sp>
        <p:nvSpPr>
          <p:cNvPr id="56323" name="Rectangle 2"/>
          <p:cNvSpPr>
            <a:spLocks noChangeArrowheads="1"/>
          </p:cNvSpPr>
          <p:nvPr/>
        </p:nvSpPr>
        <p:spPr bwMode="auto">
          <a:xfrm>
            <a:off x="3886793" y="8685408"/>
            <a:ext cx="2972822" cy="457127"/>
          </a:xfrm>
          <a:prstGeom prst="rect">
            <a:avLst/>
          </a:prstGeom>
          <a:noFill/>
          <a:ln w="9525">
            <a:noFill/>
            <a:round/>
            <a:headEnd/>
            <a:tailEnd/>
          </a:ln>
        </p:spPr>
        <p:txBody>
          <a:bodyPr lIns="92160" tIns="45360" rIns="92160" bIns="45360" anchor="b"/>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a:solidFill>
                  <a:srgbClr val="000000"/>
                </a:solidFill>
              </a:rPr>
              <a:t>36</a:t>
            </a:r>
          </a:p>
        </p:txBody>
      </p:sp>
      <p:sp>
        <p:nvSpPr>
          <p:cNvPr id="56324" name="Rectangle 3"/>
          <p:cNvSpPr>
            <a:spLocks noChangeArrowheads="1"/>
          </p:cNvSpPr>
          <p:nvPr/>
        </p:nvSpPr>
        <p:spPr bwMode="auto">
          <a:xfrm>
            <a:off x="0" y="8685408"/>
            <a:ext cx="2972823" cy="457127"/>
          </a:xfrm>
          <a:prstGeom prst="rect">
            <a:avLst/>
          </a:prstGeom>
          <a:noFill/>
          <a:ln w="9525">
            <a:noFill/>
            <a:round/>
            <a:headEnd/>
            <a:tailEnd/>
          </a:ln>
        </p:spPr>
        <p:txBody>
          <a:bodyPr wrap="none" anchor="ctr"/>
          <a:lstStyle/>
          <a:p>
            <a:endParaRPr lang="en-US"/>
          </a:p>
        </p:txBody>
      </p:sp>
      <p:sp>
        <p:nvSpPr>
          <p:cNvPr id="56325" name="Rectangle 4"/>
          <p:cNvSpPr>
            <a:spLocks noChangeArrowheads="1"/>
          </p:cNvSpPr>
          <p:nvPr/>
        </p:nvSpPr>
        <p:spPr bwMode="auto">
          <a:xfrm>
            <a:off x="0" y="0"/>
            <a:ext cx="2972823" cy="457127"/>
          </a:xfrm>
          <a:prstGeom prst="rect">
            <a:avLst/>
          </a:prstGeom>
          <a:noFill/>
          <a:ln w="9525">
            <a:noFill/>
            <a:round/>
            <a:headEnd/>
            <a:tailEnd/>
          </a:ln>
        </p:spPr>
        <p:txBody>
          <a:bodyPr wrap="none" anchor="ctr"/>
          <a:lstStyle/>
          <a:p>
            <a:endParaRPr lang="en-US"/>
          </a:p>
        </p:txBody>
      </p:sp>
      <p:sp>
        <p:nvSpPr>
          <p:cNvPr id="56326" name="Text Box 5"/>
          <p:cNvSpPr txBox="1">
            <a:spLocks noChangeArrowheads="1"/>
          </p:cNvSpPr>
          <p:nvPr/>
        </p:nvSpPr>
        <p:spPr bwMode="auto">
          <a:xfrm>
            <a:off x="922044" y="693016"/>
            <a:ext cx="5018757" cy="3415264"/>
          </a:xfrm>
          <a:prstGeom prst="rect">
            <a:avLst/>
          </a:prstGeom>
          <a:solidFill>
            <a:srgbClr val="FFFFFF"/>
          </a:solidFill>
          <a:ln w="9525">
            <a:solidFill>
              <a:srgbClr val="000000"/>
            </a:solidFill>
            <a:miter lim="800000"/>
            <a:headEnd/>
            <a:tailEnd/>
          </a:ln>
        </p:spPr>
        <p:txBody>
          <a:bodyPr wrap="none" anchor="ctr"/>
          <a:lstStyle/>
          <a:p>
            <a:endParaRPr lang="en-US"/>
          </a:p>
        </p:txBody>
      </p:sp>
      <p:sp>
        <p:nvSpPr>
          <p:cNvPr id="56327" name="Rectangle 6"/>
          <p:cNvSpPr>
            <a:spLocks noGrp="1" noChangeArrowheads="1"/>
          </p:cNvSpPr>
          <p:nvPr>
            <p:ph type="body"/>
          </p:nvPr>
        </p:nvSpPr>
        <p:spPr>
          <a:xfrm>
            <a:off x="915585" y="4342704"/>
            <a:ext cx="5028446" cy="4115606"/>
          </a:xfrm>
          <a:noFill/>
          <a:ln/>
        </p:spPr>
        <p:txBody>
          <a:bodyPr wrap="none" anchor="ctr"/>
          <a:lstStyle/>
          <a:p>
            <a:endParaRPr lang="en-US"/>
          </a:p>
        </p:txBody>
      </p:sp>
    </p:spTree>
    <p:extLst>
      <p:ext uri="{BB962C8B-B14F-4D97-AF65-F5344CB8AC3E}">
        <p14:creationId xmlns:p14="http://schemas.microsoft.com/office/powerpoint/2010/main" val="13354791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AA71DD-D0EC-4926-8ED6-19B5D40D3F29}" type="datetimeFigureOut">
              <a:rPr lang="en-US" smtClean="0"/>
              <a:pPr/>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D34B05-3558-49CA-9E94-A70F1820A0B2}"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AA71DD-D0EC-4926-8ED6-19B5D40D3F29}" type="datetimeFigureOut">
              <a:rPr lang="en-US" smtClean="0"/>
              <a:pPr/>
              <a:t>11/23/2021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D34B05-3558-49CA-9E94-A70F1820A0B2}"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92500"/>
          </a:bodyPr>
          <a:lstStyle/>
          <a:p>
            <a:r>
              <a:rPr lang="en-US" dirty="0"/>
              <a:t>Week 3: Internal Components of CPU and its functions </a:t>
            </a:r>
          </a:p>
        </p:txBody>
      </p:sp>
      <p:sp>
        <p:nvSpPr>
          <p:cNvPr id="2" name="Title 1"/>
          <p:cNvSpPr>
            <a:spLocks noGrp="1"/>
          </p:cNvSpPr>
          <p:nvPr>
            <p:ph type="ctrTitle"/>
          </p:nvPr>
        </p:nvSpPr>
        <p:spPr>
          <a:xfrm>
            <a:off x="228600" y="2247901"/>
            <a:ext cx="4267200" cy="1981199"/>
          </a:xfrm>
        </p:spPr>
        <p:txBody>
          <a:bodyPr>
            <a:normAutofit fontScale="90000"/>
          </a:bodyPr>
          <a:lstStyle/>
          <a:p>
            <a:r>
              <a:rPr lang="en-US" dirty="0">
                <a:solidFill>
                  <a:srgbClr val="FF0000"/>
                </a:solidFill>
              </a:rPr>
              <a:t>HNDIT2401</a:t>
            </a:r>
            <a:br>
              <a:rPr lang="en-US" dirty="0">
                <a:solidFill>
                  <a:srgbClr val="FF0000"/>
                </a:solidFill>
              </a:rPr>
            </a:br>
            <a:r>
              <a:rPr lang="en-US" dirty="0"/>
              <a:t>Computer Architecture</a:t>
            </a:r>
          </a:p>
        </p:txBody>
      </p:sp>
    </p:spTree>
    <p:extLst>
      <p:ext uri="{BB962C8B-B14F-4D97-AF65-F5344CB8AC3E}">
        <p14:creationId xmlns:p14="http://schemas.microsoft.com/office/powerpoint/2010/main" val="172696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CPU</a:t>
            </a:r>
          </a:p>
        </p:txBody>
      </p:sp>
      <p:sp>
        <p:nvSpPr>
          <p:cNvPr id="3" name="Content Placeholder 2"/>
          <p:cNvSpPr>
            <a:spLocks noGrp="1"/>
          </p:cNvSpPr>
          <p:nvPr>
            <p:ph idx="1"/>
          </p:nvPr>
        </p:nvSpPr>
        <p:spPr/>
        <p:txBody>
          <a:bodyPr/>
          <a:lstStyle/>
          <a:p>
            <a:r>
              <a:rPr lang="en-US" dirty="0"/>
              <a:t>The </a:t>
            </a:r>
            <a:r>
              <a:rPr lang="en-US" i="1" dirty="0"/>
              <a:t>central processing unit </a:t>
            </a:r>
            <a:r>
              <a:rPr lang="en-US" dirty="0"/>
              <a:t>(</a:t>
            </a:r>
            <a:r>
              <a:rPr lang="en-US" i="1" dirty="0"/>
              <a:t>CPU</a:t>
            </a:r>
            <a:r>
              <a:rPr lang="en-US" dirty="0"/>
              <a:t>) is responsible for fetching program instructions, decoding each instruction that is fetched, and performing the indicated sequence of operations on the correct data.</a:t>
            </a:r>
          </a:p>
          <a:p>
            <a:r>
              <a:rPr lang="en-US" dirty="0"/>
              <a:t>The performance of a machine is directly affected by the design of the data path and the control unit.</a:t>
            </a:r>
          </a:p>
        </p:txBody>
      </p:sp>
    </p:spTree>
    <p:extLst>
      <p:ext uri="{BB962C8B-B14F-4D97-AF65-F5344CB8AC3E}">
        <p14:creationId xmlns:p14="http://schemas.microsoft.com/office/powerpoint/2010/main" val="2391800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3075"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3076" name="Rectangle 3"/>
          <p:cNvSpPr>
            <a:spLocks noGrp="1" noChangeArrowheads="1"/>
          </p:cNvSpPr>
          <p:nvPr>
            <p:ph type="title"/>
          </p:nvPr>
        </p:nvSpPr>
        <p:spPr>
          <a:xfrm>
            <a:off x="457200" y="650875"/>
            <a:ext cx="8229600" cy="766763"/>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CPU Function</a:t>
            </a:r>
          </a:p>
        </p:txBody>
      </p:sp>
      <p:sp>
        <p:nvSpPr>
          <p:cNvPr id="3077" name="Rectangle 4"/>
          <p:cNvSpPr>
            <a:spLocks noGrp="1" noChangeArrowheads="1"/>
          </p:cNvSpPr>
          <p:nvPr>
            <p:ph type="body" idx="1"/>
          </p:nvPr>
        </p:nvSpPr>
        <p:spPr>
          <a:xfrm>
            <a:off x="457200" y="1600200"/>
            <a:ext cx="8229600" cy="45259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CPU must:</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Fetch instructions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Interpret/decode instructions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Fetch data</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Process data</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Write data</a:t>
            </a:r>
          </a:p>
          <a:p>
            <a:pPr eaLnBrk="1" hangingPunct="1">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457200" y="98425"/>
            <a:ext cx="8229600" cy="771525"/>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CPU With Systems Bus</a:t>
            </a:r>
          </a:p>
        </p:txBody>
      </p:sp>
      <p:pic>
        <p:nvPicPr>
          <p:cNvPr id="4099" name="Picture 2"/>
          <p:cNvPicPr>
            <a:picLocks noChangeAspect="1" noChangeArrowheads="1"/>
          </p:cNvPicPr>
          <p:nvPr/>
        </p:nvPicPr>
        <p:blipFill>
          <a:blip r:embed="rId3"/>
          <a:srcRect l="12102" t="25032" r="12102" b="23950"/>
          <a:stretch>
            <a:fillRect/>
          </a:stretch>
        </p:blipFill>
        <p:spPr bwMode="auto">
          <a:xfrm>
            <a:off x="684213" y="765175"/>
            <a:ext cx="7920037" cy="60055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CPU Basics and Organization</a:t>
            </a:r>
            <a:endParaRPr lang="en-US" dirty="0"/>
          </a:p>
        </p:txBody>
      </p:sp>
      <p:sp>
        <p:nvSpPr>
          <p:cNvPr id="3" name="Content Placeholder 2"/>
          <p:cNvSpPr>
            <a:spLocks noGrp="1"/>
          </p:cNvSpPr>
          <p:nvPr>
            <p:ph idx="1"/>
          </p:nvPr>
        </p:nvSpPr>
        <p:spPr/>
        <p:txBody>
          <a:bodyPr>
            <a:normAutofit/>
          </a:bodyPr>
          <a:lstStyle/>
          <a:p>
            <a:r>
              <a:rPr lang="en-US" b="1" dirty="0" err="1"/>
              <a:t>Registars</a:t>
            </a:r>
            <a:endParaRPr lang="en-US" b="1" dirty="0"/>
          </a:p>
          <a:p>
            <a:r>
              <a:rPr lang="en-US" b="1" dirty="0"/>
              <a:t>The ALU</a:t>
            </a:r>
          </a:p>
          <a:p>
            <a:r>
              <a:rPr lang="en-US" b="1" dirty="0"/>
              <a:t>The Control Unit</a:t>
            </a:r>
          </a:p>
          <a:p>
            <a:r>
              <a:rPr lang="en-US" b="1" dirty="0"/>
              <a:t>The Bus</a:t>
            </a:r>
          </a:p>
          <a:p>
            <a:r>
              <a:rPr lang="en-US" b="1" dirty="0"/>
              <a:t>Clocks</a:t>
            </a:r>
            <a:endParaRPr lang="en-US" dirty="0"/>
          </a:p>
        </p:txBody>
      </p:sp>
    </p:spTree>
    <p:extLst>
      <p:ext uri="{BB962C8B-B14F-4D97-AF65-F5344CB8AC3E}">
        <p14:creationId xmlns:p14="http://schemas.microsoft.com/office/powerpoint/2010/main" val="129767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ALU</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 </a:t>
            </a:r>
            <a:r>
              <a:rPr lang="en-US" i="1" dirty="0"/>
              <a:t>arithmetic logic unit </a:t>
            </a:r>
            <a:r>
              <a:rPr lang="en-US" dirty="0"/>
              <a:t>(</a:t>
            </a:r>
            <a:r>
              <a:rPr lang="en-US" i="1" dirty="0"/>
              <a:t>ALU</a:t>
            </a:r>
            <a:r>
              <a:rPr lang="en-US" dirty="0"/>
              <a:t>) carries out the logic operations (such as comparisons)and arithmetic operations (such as add or multiply) required during the program execution. </a:t>
            </a:r>
          </a:p>
          <a:p>
            <a:r>
              <a:rPr lang="en-US" dirty="0"/>
              <a:t>Generally an ALU has two data inputs and one data output. Operations performed in the ALU often affect bits in the </a:t>
            </a:r>
            <a:r>
              <a:rPr lang="en-US" i="1" dirty="0"/>
              <a:t>status register </a:t>
            </a:r>
            <a:r>
              <a:rPr lang="en-US" dirty="0"/>
              <a:t>(bits are set to indicate actions such as whether an overflow has occurred). The ALU knows which operations to </a:t>
            </a:r>
            <a:r>
              <a:rPr lang="en-US" dirty="0" err="1"/>
              <a:t>performbecause</a:t>
            </a:r>
            <a:r>
              <a:rPr lang="en-US" dirty="0"/>
              <a:t> it is controlled by signals from the control unit.</a:t>
            </a:r>
          </a:p>
        </p:txBody>
      </p:sp>
    </p:spTree>
    <p:extLst>
      <p:ext uri="{BB962C8B-B14F-4D97-AF65-F5344CB8AC3E}">
        <p14:creationId xmlns:p14="http://schemas.microsoft.com/office/powerpoint/2010/main" val="2510345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Control Unit</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The </a:t>
            </a:r>
            <a:r>
              <a:rPr lang="en-US" i="1" dirty="0"/>
              <a:t>control unit </a:t>
            </a:r>
            <a:r>
              <a:rPr lang="en-US" dirty="0"/>
              <a:t>is the “policeman” or “traffic manager” of the CPU. It monitors the execution of all instructions and the transfer of all information.</a:t>
            </a:r>
          </a:p>
          <a:p>
            <a:r>
              <a:rPr lang="en-US" dirty="0"/>
              <a:t> The control unit extracts instructions from memory, decodes these instructions, making sure data is in the right place at the right time, tells the ALU which registers to use, services interrupts, and turns on the correct circuitry in the ALU for the execution of the desired operation. </a:t>
            </a:r>
          </a:p>
          <a:p>
            <a:r>
              <a:rPr lang="en-US" dirty="0"/>
              <a:t>The control unit uses a </a:t>
            </a:r>
            <a:r>
              <a:rPr lang="en-US" i="1" dirty="0"/>
              <a:t>program counter </a:t>
            </a:r>
            <a:r>
              <a:rPr lang="en-US" dirty="0"/>
              <a:t>register to find the next instruction for execution and a status register to keep track of overflows, carries, </a:t>
            </a:r>
            <a:r>
              <a:rPr lang="en-US" dirty="0" err="1"/>
              <a:t>borrows,etc</a:t>
            </a:r>
            <a:endParaRPr lang="en-US" dirty="0"/>
          </a:p>
        </p:txBody>
      </p:sp>
    </p:spTree>
    <p:extLst>
      <p:ext uri="{BB962C8B-B14F-4D97-AF65-F5344CB8AC3E}">
        <p14:creationId xmlns:p14="http://schemas.microsoft.com/office/powerpoint/2010/main" val="2820005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a:t>
            </a:r>
          </a:p>
        </p:txBody>
      </p:sp>
      <p:sp>
        <p:nvSpPr>
          <p:cNvPr id="3" name="Content Placeholder 2"/>
          <p:cNvSpPr>
            <a:spLocks noGrp="1"/>
          </p:cNvSpPr>
          <p:nvPr>
            <p:ph idx="1"/>
          </p:nvPr>
        </p:nvSpPr>
        <p:spPr/>
        <p:txBody>
          <a:bodyPr/>
          <a:lstStyle/>
          <a:p>
            <a:r>
              <a:rPr lang="en-US" dirty="0"/>
              <a:t>The CPU communicates with the other components via a bus. </a:t>
            </a:r>
          </a:p>
          <a:p>
            <a:r>
              <a:rPr lang="en-US" dirty="0"/>
              <a:t>A </a:t>
            </a:r>
            <a:r>
              <a:rPr lang="en-US" i="1" dirty="0"/>
              <a:t>bus </a:t>
            </a:r>
            <a:r>
              <a:rPr lang="en-US" dirty="0"/>
              <a:t>is a set of wires that acts as a shared but common data path to connect multiple subsystems within the system.</a:t>
            </a:r>
          </a:p>
        </p:txBody>
      </p:sp>
    </p:spTree>
    <p:extLst>
      <p:ext uri="{BB962C8B-B14F-4D97-AF65-F5344CB8AC3E}">
        <p14:creationId xmlns:p14="http://schemas.microsoft.com/office/powerpoint/2010/main" val="2990002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Clocks</a:t>
            </a:r>
            <a:endParaRPr lang="en-US" dirty="0"/>
          </a:p>
        </p:txBody>
      </p:sp>
      <p:sp>
        <p:nvSpPr>
          <p:cNvPr id="3" name="Content Placeholder 2"/>
          <p:cNvSpPr>
            <a:spLocks noGrp="1"/>
          </p:cNvSpPr>
          <p:nvPr>
            <p:ph idx="1"/>
          </p:nvPr>
        </p:nvSpPr>
        <p:spPr/>
        <p:txBody>
          <a:bodyPr>
            <a:normAutofit fontScale="85000" lnSpcReduction="20000"/>
          </a:bodyPr>
          <a:lstStyle/>
          <a:p>
            <a:r>
              <a:rPr lang="en-US" dirty="0"/>
              <a:t>Every computer contains an internal clock that regulates how quickly instructions can be executed. </a:t>
            </a:r>
          </a:p>
          <a:p>
            <a:r>
              <a:rPr lang="en-US" dirty="0"/>
              <a:t>The clock also synchronizes all of the components in the </a:t>
            </a:r>
            <a:r>
              <a:rPr lang="en-US" dirty="0" err="1"/>
              <a:t>system.As</a:t>
            </a:r>
            <a:r>
              <a:rPr lang="en-US" dirty="0"/>
              <a:t> the clock ticks, it sets the pace for everything that happens in the </a:t>
            </a:r>
            <a:r>
              <a:rPr lang="en-US" dirty="0" err="1"/>
              <a:t>system,much</a:t>
            </a:r>
            <a:r>
              <a:rPr lang="en-US" dirty="0"/>
              <a:t> like a metronome or a symphony conductor. </a:t>
            </a:r>
          </a:p>
          <a:p>
            <a:r>
              <a:rPr lang="en-US" dirty="0"/>
              <a:t>instruction performance is often measured in </a:t>
            </a:r>
            <a:r>
              <a:rPr lang="en-US" i="1" dirty="0"/>
              <a:t>clock cycles</a:t>
            </a:r>
            <a:r>
              <a:rPr lang="en-US" dirty="0"/>
              <a:t>—the time between clock ticks—instead of seconds</a:t>
            </a:r>
          </a:p>
          <a:p>
            <a:r>
              <a:rPr lang="en-US" dirty="0"/>
              <a:t>Most machine instructions require 1 or 2 clock cycles, but some can take 35 or more.</a:t>
            </a:r>
          </a:p>
          <a:p>
            <a:endParaRPr lang="en-US" dirty="0"/>
          </a:p>
        </p:txBody>
      </p:sp>
      <p:pic>
        <p:nvPicPr>
          <p:cNvPr id="4" name="Picture 3"/>
          <p:cNvPicPr>
            <a:picLocks noChangeAspect="1"/>
          </p:cNvPicPr>
          <p:nvPr/>
        </p:nvPicPr>
        <p:blipFill>
          <a:blip r:embed="rId3"/>
          <a:stretch>
            <a:fillRect/>
          </a:stretch>
        </p:blipFill>
        <p:spPr>
          <a:xfrm>
            <a:off x="459475" y="5946133"/>
            <a:ext cx="8534401" cy="664860"/>
          </a:xfrm>
          <a:prstGeom prst="rect">
            <a:avLst/>
          </a:prstGeom>
        </p:spPr>
      </p:pic>
    </p:spTree>
    <p:extLst>
      <p:ext uri="{BB962C8B-B14F-4D97-AF65-F5344CB8AC3E}">
        <p14:creationId xmlns:p14="http://schemas.microsoft.com/office/powerpoint/2010/main" val="19172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CPU With Systems Bus</a:t>
            </a:r>
            <a:endParaRPr lang="en-US" dirty="0"/>
          </a:p>
        </p:txBody>
      </p:sp>
      <p:sp>
        <p:nvSpPr>
          <p:cNvPr id="3" name="Content Placeholder 2"/>
          <p:cNvSpPr>
            <a:spLocks noGrp="1"/>
          </p:cNvSpPr>
          <p:nvPr>
            <p:ph idx="1"/>
          </p:nvPr>
        </p:nvSpPr>
        <p:spPr/>
        <p:txBody>
          <a:bodyPr>
            <a:normAutofit fontScale="92500" lnSpcReduction="10000"/>
          </a:bodyPr>
          <a:lstStyle/>
          <a:p>
            <a:r>
              <a:rPr lang="en-US" dirty="0"/>
              <a:t>major components of the processor are an </a:t>
            </a:r>
            <a:r>
              <a:rPr lang="en-US" i="1" dirty="0"/>
              <a:t>arithmetic and logic unit </a:t>
            </a:r>
            <a:r>
              <a:rPr lang="en-US" dirty="0"/>
              <a:t>(ALU) and a </a:t>
            </a:r>
            <a:r>
              <a:rPr lang="en-US" i="1" dirty="0"/>
              <a:t>control unit </a:t>
            </a:r>
            <a:r>
              <a:rPr lang="en-US" dirty="0"/>
              <a:t>(CU). In addition, consisting of a set of storage locations, called </a:t>
            </a:r>
            <a:r>
              <a:rPr lang="en-US" i="1" dirty="0"/>
              <a:t>registers.</a:t>
            </a:r>
            <a:endParaRPr lang="en-US" dirty="0"/>
          </a:p>
          <a:p>
            <a:r>
              <a:rPr lang="en-US" dirty="0"/>
              <a:t>The ALU does the actual computation or processing of data.</a:t>
            </a:r>
          </a:p>
          <a:p>
            <a:r>
              <a:rPr lang="en-US" dirty="0"/>
              <a:t>The control unit controls the movement of data and instructions into and out of the processor and controls the operation of the ALU.</a:t>
            </a:r>
          </a:p>
          <a:p>
            <a:endParaRPr lang="en-US" dirty="0"/>
          </a:p>
        </p:txBody>
      </p:sp>
    </p:spTree>
    <p:extLst>
      <p:ext uri="{BB962C8B-B14F-4D97-AF65-F5344CB8AC3E}">
        <p14:creationId xmlns:p14="http://schemas.microsoft.com/office/powerpoint/2010/main" val="589409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5123"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5124"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Registers</a:t>
            </a:r>
          </a:p>
        </p:txBody>
      </p:sp>
      <p:sp>
        <p:nvSpPr>
          <p:cNvPr id="5125" name="Rectangle 4"/>
          <p:cNvSpPr>
            <a:spLocks noGrp="1" noChangeArrowheads="1"/>
          </p:cNvSpPr>
          <p:nvPr>
            <p:ph type="body" idx="1"/>
          </p:nvPr>
        </p:nvSpPr>
        <p:spPr>
          <a:xfrm>
            <a:off x="457200" y="1448345"/>
            <a:ext cx="8229600" cy="5900246"/>
          </a:xfrm>
        </p:spPr>
        <p:txBody>
          <a:bodyPr lIns="90360" tIns="44280" rIns="90360" bIns="44280">
            <a:spAutoFit/>
          </a:bodyPr>
          <a:lstStyle/>
          <a:p>
            <a:r>
              <a:rPr lang="en-US" dirty="0"/>
              <a:t>a </a:t>
            </a:r>
            <a:r>
              <a:rPr lang="en-US" i="1" dirty="0"/>
              <a:t>Register </a:t>
            </a:r>
            <a:r>
              <a:rPr lang="en-US" dirty="0"/>
              <a:t>is a hardware device that stores binary data. Registers are located on the processor so information can be accessed very quickly </a:t>
            </a:r>
            <a:r>
              <a:rPr lang="en-GB" dirty="0"/>
              <a:t>CPU must have some working space (temporary storage) - registers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Number and function vary between processor designs - one of the major design decisions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Top level of memory hierarchy.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dirty="0"/>
              <a:t>D flip-flops can be used to implement registers.</a:t>
            </a:r>
            <a:endParaRPr lang="en-GB" dirty="0"/>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Registers</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registers in the processor perform two roles:</a:t>
            </a:r>
          </a:p>
          <a:p>
            <a:r>
              <a:rPr lang="en-US" b="1" dirty="0"/>
              <a:t>User-visible registers: </a:t>
            </a:r>
            <a:r>
              <a:rPr lang="en-US" dirty="0"/>
              <a:t>Enable the machine- or assembly language programmer to minimize main memory references by optimizing use of registers.</a:t>
            </a:r>
          </a:p>
          <a:p>
            <a:r>
              <a:rPr lang="en-US" b="1" dirty="0"/>
              <a:t>Control and status registers: </a:t>
            </a:r>
            <a:r>
              <a:rPr lang="en-US" dirty="0"/>
              <a:t>Used by the control unit to control the operation of the processor and by privileged, operating system programs to control the execution of programs.</a:t>
            </a:r>
          </a:p>
        </p:txBody>
      </p:sp>
    </p:spTree>
    <p:extLst>
      <p:ext uri="{BB962C8B-B14F-4D97-AF65-F5344CB8AC3E}">
        <p14:creationId xmlns:p14="http://schemas.microsoft.com/office/powerpoint/2010/main" val="838190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a:t>MARIE ARCHI</a:t>
            </a:r>
          </a:p>
        </p:txBody>
      </p:sp>
      <p:sp>
        <p:nvSpPr>
          <p:cNvPr id="3" name="Content Placeholder 2"/>
          <p:cNvSpPr>
            <a:spLocks noGrp="1"/>
          </p:cNvSpPr>
          <p:nvPr>
            <p:ph idx="1"/>
          </p:nvPr>
        </p:nvSpPr>
        <p:spPr>
          <a:xfrm>
            <a:off x="457200" y="1447800"/>
            <a:ext cx="8229600" cy="4221163"/>
          </a:xfrm>
        </p:spPr>
        <p:txBody>
          <a:bodyPr>
            <a:normAutofit/>
          </a:bodyPr>
          <a:lstStyle/>
          <a:p>
            <a:r>
              <a:rPr lang="en-US" sz="1800" dirty="0"/>
              <a:t>MARIE, a </a:t>
            </a:r>
            <a:r>
              <a:rPr lang="en-US" sz="1800" b="1" dirty="0"/>
              <a:t>M</a:t>
            </a:r>
            <a:r>
              <a:rPr lang="en-US" sz="1800" dirty="0"/>
              <a:t>achine </a:t>
            </a:r>
            <a:r>
              <a:rPr lang="en-US" sz="1800" b="1" dirty="0"/>
              <a:t>A</a:t>
            </a:r>
            <a:r>
              <a:rPr lang="en-US" sz="1800" dirty="0"/>
              <a:t>rchitecture that is </a:t>
            </a:r>
            <a:r>
              <a:rPr lang="en-US" sz="1800" b="1" dirty="0"/>
              <a:t>R</a:t>
            </a:r>
            <a:r>
              <a:rPr lang="en-US" sz="1800" dirty="0"/>
              <a:t>eally </a:t>
            </a:r>
            <a:r>
              <a:rPr lang="en-US" sz="1800" b="1" dirty="0"/>
              <a:t>I</a:t>
            </a:r>
            <a:r>
              <a:rPr lang="en-US" sz="1800" dirty="0"/>
              <a:t>ntuitive and </a:t>
            </a:r>
            <a:r>
              <a:rPr lang="en-US" sz="1800" b="1" dirty="0"/>
              <a:t>E</a:t>
            </a:r>
            <a:r>
              <a:rPr lang="en-US" sz="1800" dirty="0"/>
              <a:t>asy, is a </a:t>
            </a:r>
            <a:r>
              <a:rPr lang="en-US" sz="1800" dirty="0" err="1"/>
              <a:t>simplearchitecture</a:t>
            </a:r>
            <a:r>
              <a:rPr lang="en-US" sz="1800" dirty="0"/>
              <a:t> consisting of memory (to store programs and data) and a CPU (consisting of an ALU and several registers).</a:t>
            </a:r>
          </a:p>
          <a:p>
            <a:r>
              <a:rPr lang="en-US" sz="1800" dirty="0"/>
              <a:t>It has all the functional components necessary to be a real working computer </a:t>
            </a:r>
          </a:p>
        </p:txBody>
      </p:sp>
      <p:pic>
        <p:nvPicPr>
          <p:cNvPr id="4" name="Picture 3"/>
          <p:cNvPicPr>
            <a:picLocks noChangeAspect="1"/>
          </p:cNvPicPr>
          <p:nvPr/>
        </p:nvPicPr>
        <p:blipFill>
          <a:blip r:embed="rId2"/>
          <a:stretch>
            <a:fillRect/>
          </a:stretch>
        </p:blipFill>
        <p:spPr>
          <a:xfrm>
            <a:off x="1219200" y="2362200"/>
            <a:ext cx="7159423" cy="4313687"/>
          </a:xfrm>
          <a:prstGeom prst="rect">
            <a:avLst/>
          </a:prstGeom>
        </p:spPr>
      </p:pic>
    </p:spTree>
    <p:extLst>
      <p:ext uri="{BB962C8B-B14F-4D97-AF65-F5344CB8AC3E}">
        <p14:creationId xmlns:p14="http://schemas.microsoft.com/office/powerpoint/2010/main" val="1109037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MARIE registers</a:t>
            </a:r>
          </a:p>
        </p:txBody>
      </p:sp>
      <p:sp>
        <p:nvSpPr>
          <p:cNvPr id="3" name="Content Placeholder 2"/>
          <p:cNvSpPr>
            <a:spLocks noGrp="1"/>
          </p:cNvSpPr>
          <p:nvPr>
            <p:ph idx="1"/>
          </p:nvPr>
        </p:nvSpPr>
        <p:spPr/>
        <p:txBody>
          <a:bodyPr>
            <a:normAutofit fontScale="62500" lnSpcReduction="20000"/>
          </a:bodyPr>
          <a:lstStyle/>
          <a:p>
            <a:r>
              <a:rPr lang="en-US" b="1" dirty="0"/>
              <a:t>AC: </a:t>
            </a:r>
            <a:r>
              <a:rPr lang="en-US" dirty="0"/>
              <a:t>The </a:t>
            </a:r>
            <a:r>
              <a:rPr lang="en-US" i="1" dirty="0"/>
              <a:t>accumulator</a:t>
            </a:r>
            <a:r>
              <a:rPr lang="en-US" dirty="0"/>
              <a:t>, which holds data values. This is a </a:t>
            </a:r>
            <a:r>
              <a:rPr lang="en-US" i="1" dirty="0"/>
              <a:t>general purpose register </a:t>
            </a:r>
            <a:r>
              <a:rPr lang="en-US" dirty="0"/>
              <a:t>and holds data that the CPU needs to process. Most computers today have multiple general purpose registers.</a:t>
            </a:r>
          </a:p>
          <a:p>
            <a:r>
              <a:rPr lang="en-US" dirty="0"/>
              <a:t> </a:t>
            </a:r>
            <a:r>
              <a:rPr lang="en-US" b="1" dirty="0"/>
              <a:t>MAR: </a:t>
            </a:r>
            <a:r>
              <a:rPr lang="en-US" dirty="0"/>
              <a:t>The </a:t>
            </a:r>
            <a:r>
              <a:rPr lang="en-US" i="1" dirty="0"/>
              <a:t>memory address register</a:t>
            </a:r>
            <a:r>
              <a:rPr lang="en-US" dirty="0"/>
              <a:t>, which holds the memory address of the data being referenced.</a:t>
            </a:r>
          </a:p>
          <a:p>
            <a:r>
              <a:rPr lang="en-US" dirty="0"/>
              <a:t> </a:t>
            </a:r>
            <a:r>
              <a:rPr lang="en-US" b="1" dirty="0"/>
              <a:t>MBR: </a:t>
            </a:r>
            <a:r>
              <a:rPr lang="en-US" dirty="0"/>
              <a:t>The </a:t>
            </a:r>
            <a:r>
              <a:rPr lang="en-US" i="1" dirty="0"/>
              <a:t>memory buffer register</a:t>
            </a:r>
            <a:r>
              <a:rPr lang="en-US" dirty="0"/>
              <a:t>, which holds either the data just read from memory or the data ready to be written to memory.</a:t>
            </a:r>
          </a:p>
          <a:p>
            <a:r>
              <a:rPr lang="en-US" b="1" dirty="0"/>
              <a:t>PC: </a:t>
            </a:r>
            <a:r>
              <a:rPr lang="en-US" dirty="0"/>
              <a:t>The </a:t>
            </a:r>
            <a:r>
              <a:rPr lang="en-US" i="1" dirty="0"/>
              <a:t>program counter</a:t>
            </a:r>
            <a:r>
              <a:rPr lang="en-US" dirty="0"/>
              <a:t>, which holds the address of the next instruction to be executed in the program.</a:t>
            </a:r>
          </a:p>
          <a:p>
            <a:r>
              <a:rPr lang="en-US" dirty="0"/>
              <a:t> </a:t>
            </a:r>
            <a:r>
              <a:rPr lang="en-US" b="1" dirty="0"/>
              <a:t>IR: </a:t>
            </a:r>
            <a:r>
              <a:rPr lang="en-US" dirty="0"/>
              <a:t>The </a:t>
            </a:r>
            <a:r>
              <a:rPr lang="en-US" i="1" dirty="0"/>
              <a:t>instruction register</a:t>
            </a:r>
            <a:r>
              <a:rPr lang="en-US" dirty="0"/>
              <a:t>, which holds the next instruction to be executed.</a:t>
            </a:r>
          </a:p>
          <a:p>
            <a:r>
              <a:rPr lang="en-US" dirty="0"/>
              <a:t> </a:t>
            </a:r>
            <a:r>
              <a:rPr lang="en-US" b="1" dirty="0" err="1"/>
              <a:t>InREG</a:t>
            </a:r>
            <a:r>
              <a:rPr lang="en-US" b="1" dirty="0"/>
              <a:t>: </a:t>
            </a:r>
            <a:r>
              <a:rPr lang="en-US" dirty="0"/>
              <a:t>The </a:t>
            </a:r>
            <a:r>
              <a:rPr lang="en-US" i="1" dirty="0"/>
              <a:t>input register</a:t>
            </a:r>
            <a:r>
              <a:rPr lang="en-US" dirty="0"/>
              <a:t>, which holds data from the input device.</a:t>
            </a:r>
          </a:p>
          <a:p>
            <a:r>
              <a:rPr lang="en-US" b="1" dirty="0" err="1"/>
              <a:t>OutREG</a:t>
            </a:r>
            <a:r>
              <a:rPr lang="en-US" b="1" dirty="0"/>
              <a:t>: </a:t>
            </a:r>
            <a:r>
              <a:rPr lang="en-US" dirty="0"/>
              <a:t>The </a:t>
            </a:r>
            <a:r>
              <a:rPr lang="en-US" i="1" dirty="0"/>
              <a:t>output register</a:t>
            </a:r>
            <a:r>
              <a:rPr lang="en-US" dirty="0"/>
              <a:t>, which holds data for the output device.</a:t>
            </a:r>
          </a:p>
        </p:txBody>
      </p:sp>
    </p:spTree>
    <p:extLst>
      <p:ext uri="{BB962C8B-B14F-4D97-AF65-F5344CB8AC3E}">
        <p14:creationId xmlns:p14="http://schemas.microsoft.com/office/powerpoint/2010/main" val="2956442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MARIE has the following characteristics:</a:t>
            </a:r>
            <a:br>
              <a:rPr lang="en-US"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a:t>Binary, two’s complement</a:t>
            </a:r>
          </a:p>
          <a:p>
            <a:r>
              <a:rPr lang="en-US" dirty="0"/>
              <a:t>Stored program, fixed word length</a:t>
            </a:r>
          </a:p>
          <a:p>
            <a:r>
              <a:rPr lang="en-US" dirty="0"/>
              <a:t>Word (but not byte) addressable</a:t>
            </a:r>
          </a:p>
          <a:p>
            <a:r>
              <a:rPr lang="en-US" dirty="0"/>
              <a:t>4K words of main memory (this implies 12 bits per address) </a:t>
            </a:r>
          </a:p>
          <a:p>
            <a:r>
              <a:rPr lang="en-US" dirty="0"/>
              <a:t>16-bit data (words have 16 bits)</a:t>
            </a:r>
          </a:p>
          <a:p>
            <a:r>
              <a:rPr lang="en-US" dirty="0"/>
              <a:t>16-bit instructions, 4 for the opcode and 12 for the address</a:t>
            </a:r>
          </a:p>
          <a:p>
            <a:r>
              <a:rPr lang="en-US" dirty="0"/>
              <a:t>A 16-bit accumulator (AC)</a:t>
            </a:r>
          </a:p>
          <a:p>
            <a:r>
              <a:rPr lang="en-US" dirty="0"/>
              <a:t>A 16-bit instruction register (IR)</a:t>
            </a:r>
          </a:p>
          <a:p>
            <a:r>
              <a:rPr lang="en-US" dirty="0"/>
              <a:t>A 16-bit memory buffer register (MBR)</a:t>
            </a:r>
          </a:p>
          <a:p>
            <a:r>
              <a:rPr lang="en-US" dirty="0"/>
              <a:t>A 12-bit program counter (PC)</a:t>
            </a:r>
          </a:p>
          <a:p>
            <a:r>
              <a:rPr lang="en-US" dirty="0"/>
              <a:t>A 12-bit memory address register (MAR)</a:t>
            </a:r>
          </a:p>
          <a:p>
            <a:r>
              <a:rPr lang="en-US" dirty="0"/>
              <a:t>An 8-bit input register</a:t>
            </a:r>
          </a:p>
          <a:p>
            <a:r>
              <a:rPr lang="en-US" dirty="0"/>
              <a:t>An 8-bit output register</a:t>
            </a:r>
          </a:p>
        </p:txBody>
      </p:sp>
    </p:spTree>
    <p:extLst>
      <p:ext uri="{BB962C8B-B14F-4D97-AF65-F5344CB8AC3E}">
        <p14:creationId xmlns:p14="http://schemas.microsoft.com/office/powerpoint/2010/main" val="1627792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6147"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6148"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User Visible Registers</a:t>
            </a:r>
          </a:p>
        </p:txBody>
      </p:sp>
      <p:sp>
        <p:nvSpPr>
          <p:cNvPr id="6149" name="Rectangle 4"/>
          <p:cNvSpPr>
            <a:spLocks noGrp="1" noChangeArrowheads="1"/>
          </p:cNvSpPr>
          <p:nvPr>
            <p:ph type="body" idx="1"/>
          </p:nvPr>
        </p:nvSpPr>
        <p:spPr>
          <a:xfrm>
            <a:off x="457200" y="1600200"/>
            <a:ext cx="8229600" cy="45259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General Purpose</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Data</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Address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Condition Codes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7171"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7172"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t>General Purpose Registers (1)</a:t>
            </a:r>
          </a:p>
        </p:txBody>
      </p:sp>
      <p:sp>
        <p:nvSpPr>
          <p:cNvPr id="7173" name="Rectangle 4"/>
          <p:cNvSpPr>
            <a:spLocks noGrp="1" noChangeArrowheads="1"/>
          </p:cNvSpPr>
          <p:nvPr>
            <p:ph type="body" idx="1"/>
          </p:nvPr>
        </p:nvSpPr>
        <p:spPr>
          <a:xfrm>
            <a:off x="457200" y="1600200"/>
            <a:ext cx="8229600" cy="45259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May be true general purpose</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May be restricted</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May be used for data or addressing</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Data: accumulator (AC)</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Addressing: segment (cf. virtual memory), stack (points to top of stack, cf. implicit addressing)</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8195"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8196"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t>General Purpose Registers (2)</a:t>
            </a:r>
          </a:p>
        </p:txBody>
      </p:sp>
      <p:sp>
        <p:nvSpPr>
          <p:cNvPr id="8197" name="Rectangle 4"/>
          <p:cNvSpPr>
            <a:spLocks noGrp="1" noChangeArrowheads="1"/>
          </p:cNvSpPr>
          <p:nvPr>
            <p:ph type="body" idx="1"/>
          </p:nvPr>
        </p:nvSpPr>
        <p:spPr>
          <a:xfrm>
            <a:off x="457200" y="1600200"/>
            <a:ext cx="8229600" cy="4244975"/>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Make them general purpose</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Increased flexibility and programmer options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Increased instruction size &amp; complexity, addressing</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Make them specialized</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Smaller (faster) but more instructions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Less flexibility, addresses implicit in opcode</a:t>
            </a:r>
          </a:p>
          <a:p>
            <a:pPr eaLnBrk="1" hangingPunct="1">
              <a:lnSpc>
                <a:spcPct val="100000"/>
              </a:lnSpc>
              <a:buFont typeface="Monotype Sort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9219"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9220"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How Many GP Registers?</a:t>
            </a:r>
          </a:p>
        </p:txBody>
      </p:sp>
      <p:sp>
        <p:nvSpPr>
          <p:cNvPr id="9221" name="Rectangle 4"/>
          <p:cNvSpPr>
            <a:spLocks noGrp="1" noChangeArrowheads="1"/>
          </p:cNvSpPr>
          <p:nvPr>
            <p:ph type="body" idx="1"/>
          </p:nvPr>
        </p:nvSpPr>
        <p:spPr>
          <a:xfrm>
            <a:off x="457200" y="1600200"/>
            <a:ext cx="8229600" cy="1763729"/>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Between 8 - 32</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Less = more memory references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More takes up processor real estate</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0243"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0244"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How big?</a:t>
            </a:r>
          </a:p>
        </p:txBody>
      </p:sp>
      <p:sp>
        <p:nvSpPr>
          <p:cNvPr id="10245" name="Rectangle 4"/>
          <p:cNvSpPr>
            <a:spLocks noGrp="1" noChangeArrowheads="1"/>
          </p:cNvSpPr>
          <p:nvPr>
            <p:ph type="body" idx="1"/>
          </p:nvPr>
        </p:nvSpPr>
        <p:spPr>
          <a:xfrm>
            <a:off x="457200" y="1600200"/>
            <a:ext cx="8362950" cy="324961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Large enough to hold full address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Large enough to hold full data types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But often possible to combine two data registers or two address registers by using more complex addressing (e.g., page and offset)</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1267"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1268"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t>Condition Code Registers – Flags</a:t>
            </a:r>
          </a:p>
        </p:txBody>
      </p:sp>
      <p:sp>
        <p:nvSpPr>
          <p:cNvPr id="11269" name="Rectangle 4"/>
          <p:cNvSpPr>
            <a:spLocks noGrp="1" noChangeArrowheads="1"/>
          </p:cNvSpPr>
          <p:nvPr>
            <p:ph type="body" idx="1"/>
          </p:nvPr>
        </p:nvSpPr>
        <p:spPr>
          <a:xfrm>
            <a:off x="457200" y="1600200"/>
            <a:ext cx="8229600" cy="34083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Sets of individual bits, flags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e.g., result of last operation was zero</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Can be read by programs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e.g., Jump if zero – simplifies branch taking</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Can not (usually) be set by programs</a:t>
            </a:r>
          </a:p>
          <a:p>
            <a:pPr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2291"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2292"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Control &amp; Status Registers</a:t>
            </a:r>
          </a:p>
        </p:txBody>
      </p:sp>
      <p:sp>
        <p:nvSpPr>
          <p:cNvPr id="12293" name="Rectangle 4"/>
          <p:cNvSpPr>
            <a:spLocks noGrp="1" noChangeArrowheads="1"/>
          </p:cNvSpPr>
          <p:nvPr>
            <p:ph type="body" idx="1"/>
          </p:nvPr>
        </p:nvSpPr>
        <p:spPr>
          <a:xfrm>
            <a:off x="457200" y="1600200"/>
            <a:ext cx="8229600" cy="45259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Program Counter (PC)</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Instruction Register (IR)</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Memory Address Register (MAR) – connects to address bus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Memory Buffer Register (MBR) – connects to data bus, feeds other registers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3315"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3316" name="Rectangle 3"/>
          <p:cNvSpPr>
            <a:spLocks noGrp="1" noChangeArrowheads="1"/>
          </p:cNvSpPr>
          <p:nvPr>
            <p:ph type="title"/>
          </p:nvPr>
        </p:nvSpPr>
        <p:spPr>
          <a:xfrm>
            <a:off x="457200" y="274638"/>
            <a:ext cx="8229600" cy="8509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Program Status Word</a:t>
            </a:r>
          </a:p>
        </p:txBody>
      </p:sp>
      <p:sp>
        <p:nvSpPr>
          <p:cNvPr id="13317" name="Rectangle 4"/>
          <p:cNvSpPr>
            <a:spLocks noGrp="1" noChangeArrowheads="1"/>
          </p:cNvSpPr>
          <p:nvPr>
            <p:ph type="body" idx="1"/>
          </p:nvPr>
        </p:nvSpPr>
        <p:spPr>
          <a:xfrm>
            <a:off x="468313" y="1125538"/>
            <a:ext cx="8229600" cy="4926012"/>
          </a:xfrm>
        </p:spPr>
        <p:txBody>
          <a:bodyPr>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 set of bits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Condition Codes: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Sign (of last result)</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Zero (last result)</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Carry (multiword arithmetic)</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Equal (two latest results)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Overflow</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Interrupts enabled/disabled</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Supervisor/user mode</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4339"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4340"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Supervisor Mode</a:t>
            </a:r>
          </a:p>
        </p:txBody>
      </p:sp>
      <p:sp>
        <p:nvSpPr>
          <p:cNvPr id="14341" name="Rectangle 4"/>
          <p:cNvSpPr>
            <a:spLocks noGrp="1" noChangeArrowheads="1"/>
          </p:cNvSpPr>
          <p:nvPr>
            <p:ph type="body" idx="1"/>
          </p:nvPr>
        </p:nvSpPr>
        <p:spPr>
          <a:xfrm>
            <a:off x="457200" y="1600200"/>
            <a:ext cx="8229600" cy="4525963"/>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Intel ring zero</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Kernel mode</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Allows privileged instructions to execute</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Used by operating system</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Not available to user programs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15363"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15364"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Other Registers</a:t>
            </a:r>
          </a:p>
        </p:txBody>
      </p:sp>
      <p:sp>
        <p:nvSpPr>
          <p:cNvPr id="15365" name="Rectangle 4"/>
          <p:cNvSpPr>
            <a:spLocks noGrp="1" noChangeArrowheads="1"/>
          </p:cNvSpPr>
          <p:nvPr>
            <p:ph type="body" idx="1"/>
          </p:nvPr>
        </p:nvSpPr>
        <p:spPr>
          <a:xfrm>
            <a:off x="457200" y="1600200"/>
            <a:ext cx="8229600" cy="3825875"/>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May have registers pointing to:</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Process control blocks (see OS)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Interrupt Vectors (see OS)</a:t>
            </a:r>
          </a:p>
          <a:p>
            <a:pPr lvl="1"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N.B. CPU design and operating system design are closely linked</a:t>
            </a:r>
          </a:p>
          <a:p>
            <a:pPr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b="10448"/>
          <a:stretch>
            <a:fillRect/>
          </a:stretch>
        </p:blipFill>
        <p:spPr bwMode="auto">
          <a:xfrm>
            <a:off x="96838" y="476250"/>
            <a:ext cx="8990012" cy="6381750"/>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a:t>MC68000 and Intel registers</a:t>
            </a:r>
          </a:p>
        </p:txBody>
      </p:sp>
      <p:sp>
        <p:nvSpPr>
          <p:cNvPr id="17411" name="Content Placeholder 2"/>
          <p:cNvSpPr>
            <a:spLocks noGrp="1"/>
          </p:cNvSpPr>
          <p:nvPr>
            <p:ph idx="1"/>
          </p:nvPr>
        </p:nvSpPr>
        <p:spPr>
          <a:xfrm>
            <a:off x="457200" y="1196975"/>
            <a:ext cx="8228013" cy="5400675"/>
          </a:xfrm>
        </p:spPr>
        <p:txBody>
          <a:bodyPr/>
          <a:lstStyle/>
          <a:p>
            <a:pPr eaLnBrk="1" hangingPunct="1"/>
            <a:r>
              <a:rPr lang="en-GB"/>
              <a:t>Motorola:</a:t>
            </a:r>
          </a:p>
          <a:p>
            <a:pPr lvl="1" eaLnBrk="1" hangingPunct="1"/>
            <a:r>
              <a:rPr lang="en-GB"/>
              <a:t>Largely general purpose registers – explicit addressing</a:t>
            </a:r>
          </a:p>
          <a:p>
            <a:pPr lvl="1" eaLnBrk="1" hangingPunct="1"/>
            <a:r>
              <a:rPr lang="en-GB"/>
              <a:t>Data registers also for indexing</a:t>
            </a:r>
          </a:p>
          <a:p>
            <a:pPr lvl="1" eaLnBrk="1" hangingPunct="1"/>
            <a:r>
              <a:rPr lang="en-GB"/>
              <a:t>A7 and A7’ for user and kernel stacks</a:t>
            </a:r>
          </a:p>
          <a:p>
            <a:pPr eaLnBrk="1" hangingPunct="1"/>
            <a:r>
              <a:rPr lang="en-GB"/>
              <a:t>Intel</a:t>
            </a:r>
          </a:p>
          <a:p>
            <a:pPr lvl="1" eaLnBrk="1" hangingPunct="1"/>
            <a:r>
              <a:rPr lang="en-GB"/>
              <a:t>Largely specific purpose registers – implicit addressing</a:t>
            </a:r>
          </a:p>
          <a:p>
            <a:pPr lvl="1" eaLnBrk="1" hangingPunct="1"/>
            <a:r>
              <a:rPr lang="en-GB"/>
              <a:t>Segment, Pointer &amp; Index, Data/General purpose</a:t>
            </a:r>
          </a:p>
          <a:p>
            <a:pPr lvl="1" eaLnBrk="1" hangingPunct="1"/>
            <a:r>
              <a:rPr lang="en-GB"/>
              <a:t>Pentium II – backward compatibility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457200" y="274638"/>
            <a:ext cx="8229600" cy="11430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Indirect Cycle</a:t>
            </a:r>
          </a:p>
        </p:txBody>
      </p:sp>
      <p:sp>
        <p:nvSpPr>
          <p:cNvPr id="18435" name="Rectangle 2"/>
          <p:cNvSpPr>
            <a:spLocks noGrp="1" noChangeArrowheads="1"/>
          </p:cNvSpPr>
          <p:nvPr>
            <p:ph type="body" idx="1"/>
          </p:nvPr>
        </p:nvSpPr>
        <p:spPr>
          <a:xfrm>
            <a:off x="457200" y="1600200"/>
            <a:ext cx="8229600" cy="4295775"/>
          </a:xfrm>
        </p:spPr>
        <p:txBody>
          <a:bodyPr>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Same address can refer to different arguments (by changing the content of the location the address is pointing to)</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Indirect addressing requires more memory accesses to fetch operands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Can be thought of as additional instruction </a:t>
            </a:r>
            <a:r>
              <a:rPr lang="en-GB" dirty="0" err="1"/>
              <a:t>subcycle</a:t>
            </a:r>
            <a:endParaRPr lang="en-GB" dirty="0"/>
          </a:p>
          <a:p>
            <a:pPr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457200" y="206375"/>
            <a:ext cx="8229600" cy="771525"/>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Instruction Cycle with Indirect</a:t>
            </a:r>
          </a:p>
        </p:txBody>
      </p:sp>
      <p:pic>
        <p:nvPicPr>
          <p:cNvPr id="19459" name="Picture 2"/>
          <p:cNvPicPr>
            <a:picLocks noChangeAspect="1" noChangeArrowheads="1"/>
          </p:cNvPicPr>
          <p:nvPr/>
        </p:nvPicPr>
        <p:blipFill>
          <a:blip r:embed="rId3"/>
          <a:srcRect b="18289"/>
          <a:stretch>
            <a:fillRect/>
          </a:stretch>
        </p:blipFill>
        <p:spPr bwMode="auto">
          <a:xfrm>
            <a:off x="457200" y="846138"/>
            <a:ext cx="8470900" cy="5805487"/>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457200" y="274638"/>
            <a:ext cx="8229600" cy="11430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Instruction Cycle State Diagram</a:t>
            </a:r>
          </a:p>
        </p:txBody>
      </p:sp>
      <p:pic>
        <p:nvPicPr>
          <p:cNvPr id="20483" name="Picture 2"/>
          <p:cNvPicPr>
            <a:picLocks noChangeAspect="1" noChangeArrowheads="1"/>
          </p:cNvPicPr>
          <p:nvPr/>
        </p:nvPicPr>
        <p:blipFill>
          <a:blip r:embed="rId3"/>
          <a:srcRect b="22145"/>
          <a:stretch>
            <a:fillRect/>
          </a:stretch>
        </p:blipFill>
        <p:spPr bwMode="auto">
          <a:xfrm>
            <a:off x="33338" y="1628775"/>
            <a:ext cx="9115425" cy="5040313"/>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457200" y="239713"/>
            <a:ext cx="8229600" cy="703262"/>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t>Data Flow (Instruction Fetch)</a:t>
            </a:r>
          </a:p>
        </p:txBody>
      </p:sp>
      <p:sp>
        <p:nvSpPr>
          <p:cNvPr id="21507" name="Rectangle 2"/>
          <p:cNvSpPr>
            <a:spLocks noGrp="1" noChangeArrowheads="1"/>
          </p:cNvSpPr>
          <p:nvPr>
            <p:ph type="body" idx="1"/>
          </p:nvPr>
        </p:nvSpPr>
        <p:spPr>
          <a:xfrm>
            <a:off x="457200" y="981075"/>
            <a:ext cx="8229600" cy="4527550"/>
          </a:xfrm>
        </p:spPr>
        <p:txBody>
          <a:bodyPr>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PC contains address of next instruction</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Address moved to MAR</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Address placed on address bus</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Control unit requests memory read</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Result placed on data bus, copied to MBR, then to IR</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Meanwhile PC incremented by 1</a:t>
            </a:r>
          </a:p>
          <a:p>
            <a:pPr lvl="1"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457200" y="196850"/>
            <a:ext cx="8229600" cy="6477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a:t>Data Flow (Fetch Diagram)</a:t>
            </a:r>
          </a:p>
        </p:txBody>
      </p:sp>
      <p:pic>
        <p:nvPicPr>
          <p:cNvPr id="22531" name="Picture 2"/>
          <p:cNvPicPr>
            <a:picLocks noChangeAspect="1" noChangeArrowheads="1"/>
          </p:cNvPicPr>
          <p:nvPr/>
        </p:nvPicPr>
        <p:blipFill>
          <a:blip r:embed="rId3"/>
          <a:srcRect b="9200"/>
          <a:stretch>
            <a:fillRect/>
          </a:stretch>
        </p:blipFill>
        <p:spPr bwMode="auto">
          <a:xfrm>
            <a:off x="827088" y="784225"/>
            <a:ext cx="7632700" cy="58959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457200" y="274638"/>
            <a:ext cx="8229600" cy="11430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Data Flow (Data Fetch)</a:t>
            </a:r>
          </a:p>
        </p:txBody>
      </p:sp>
      <p:sp>
        <p:nvSpPr>
          <p:cNvPr id="23555" name="Rectangle 2"/>
          <p:cNvSpPr>
            <a:spLocks noGrp="1" noChangeArrowheads="1"/>
          </p:cNvSpPr>
          <p:nvPr>
            <p:ph type="body" idx="1"/>
          </p:nvPr>
        </p:nvSpPr>
        <p:spPr>
          <a:xfrm>
            <a:off x="457200" y="1600200"/>
            <a:ext cx="8229600" cy="3667125"/>
          </a:xfrm>
        </p:spPr>
        <p:txBody>
          <a:bodyPr>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IR is examined</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If indirect addressing, indirect cycle is performed</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Rightmost n bits of MBR (address part of instruction) transferred to MAR</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Control unit requests memory read</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Result (address of operand) moved to MBR</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457200" y="169863"/>
            <a:ext cx="8229600" cy="771525"/>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Data Flow (Indirect Diagram)</a:t>
            </a:r>
          </a:p>
        </p:txBody>
      </p:sp>
      <p:pic>
        <p:nvPicPr>
          <p:cNvPr id="24579" name="Picture 2"/>
          <p:cNvPicPr>
            <a:picLocks noChangeAspect="1" noChangeArrowheads="1"/>
          </p:cNvPicPr>
          <p:nvPr/>
        </p:nvPicPr>
        <p:blipFill>
          <a:blip r:embed="rId3"/>
          <a:srcRect b="13402"/>
          <a:stretch>
            <a:fillRect/>
          </a:stretch>
        </p:blipFill>
        <p:spPr bwMode="auto">
          <a:xfrm>
            <a:off x="107950" y="1196975"/>
            <a:ext cx="8997950" cy="57054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a:xfrm>
            <a:off x="457200" y="274638"/>
            <a:ext cx="8229600" cy="1143000"/>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Data Flow (Execute)</a:t>
            </a:r>
          </a:p>
        </p:txBody>
      </p:sp>
      <p:sp>
        <p:nvSpPr>
          <p:cNvPr id="25603" name="Rectangle 2"/>
          <p:cNvSpPr>
            <a:spLocks noGrp="1" noChangeArrowheads="1"/>
          </p:cNvSpPr>
          <p:nvPr>
            <p:ph type="body" idx="1"/>
          </p:nvPr>
        </p:nvSpPr>
        <p:spPr>
          <a:xfrm>
            <a:off x="457200" y="1600200"/>
            <a:ext cx="8229600" cy="3719513"/>
          </a:xfrm>
        </p:spPr>
        <p:txBody>
          <a:bodyPr>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May take many forms, depends on instruction being executed</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May include</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Memory read/write</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Input/Output</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Register transfers</a:t>
            </a:r>
          </a:p>
          <a:p>
            <a:pPr lvl="1"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ALU operations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457200" y="239713"/>
            <a:ext cx="8229600" cy="703262"/>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a:t>Data Flow (Interrupt)</a:t>
            </a:r>
          </a:p>
        </p:txBody>
      </p:sp>
      <p:sp>
        <p:nvSpPr>
          <p:cNvPr id="26627" name="Rectangle 2"/>
          <p:cNvSpPr>
            <a:spLocks noGrp="1" noChangeArrowheads="1"/>
          </p:cNvSpPr>
          <p:nvPr>
            <p:ph type="body" idx="1"/>
          </p:nvPr>
        </p:nvSpPr>
        <p:spPr>
          <a:xfrm>
            <a:off x="468313" y="981075"/>
            <a:ext cx="8218487" cy="5418138"/>
          </a:xfrm>
        </p:spPr>
        <p:txBody>
          <a:bodyPr>
            <a:spAutoFit/>
          </a:bodyPr>
          <a:lstStyle/>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Current PC saved to allow resumption after interrupt</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Contents of PC copied to MBR</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Special memory location (e.g., stack pointer) loaded to MAR</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MBR written to memory according to content of MAR</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PC loaded with address of interrupt handling routine</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Next instruction (first of interrupt handler) can be fetched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457200" y="169863"/>
            <a:ext cx="8229600" cy="771525"/>
          </a:xfrm>
        </p:spPr>
        <p:txBody>
          <a:bodyPr>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Data Flow (Interrupt Diagram)</a:t>
            </a:r>
          </a:p>
        </p:txBody>
      </p:sp>
      <p:pic>
        <p:nvPicPr>
          <p:cNvPr id="27651" name="Picture 2"/>
          <p:cNvPicPr>
            <a:picLocks noChangeAspect="1" noChangeArrowheads="1"/>
          </p:cNvPicPr>
          <p:nvPr/>
        </p:nvPicPr>
        <p:blipFill>
          <a:blip r:embed="rId3"/>
          <a:srcRect b="25171"/>
          <a:stretch>
            <a:fillRect/>
          </a:stretch>
        </p:blipFill>
        <p:spPr bwMode="auto">
          <a:xfrm>
            <a:off x="250825" y="1196975"/>
            <a:ext cx="8699500" cy="5540375"/>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431800" y="6229350"/>
            <a:ext cx="1905000" cy="457200"/>
          </a:xfrm>
          <a:prstGeom prst="rect">
            <a:avLst/>
          </a:prstGeom>
          <a:noFill/>
          <a:ln w="9525">
            <a:noFill/>
            <a:round/>
            <a:headEnd/>
            <a:tailEnd/>
          </a:ln>
        </p:spPr>
        <p:txBody>
          <a:bodyPr wrap="none" anchor="ctr"/>
          <a:lstStyle/>
          <a:p>
            <a:endParaRPr lang="en-US"/>
          </a:p>
        </p:txBody>
      </p:sp>
      <p:sp>
        <p:nvSpPr>
          <p:cNvPr id="28675" name="Rectangle 2"/>
          <p:cNvSpPr>
            <a:spLocks noChangeArrowheads="1"/>
          </p:cNvSpPr>
          <p:nvPr/>
        </p:nvSpPr>
        <p:spPr bwMode="auto">
          <a:xfrm>
            <a:off x="3124200" y="6229350"/>
            <a:ext cx="2895600" cy="457200"/>
          </a:xfrm>
          <a:prstGeom prst="rect">
            <a:avLst/>
          </a:prstGeom>
          <a:noFill/>
          <a:ln w="9525">
            <a:noFill/>
            <a:round/>
            <a:headEnd/>
            <a:tailEnd/>
          </a:ln>
        </p:spPr>
        <p:txBody>
          <a:bodyPr wrap="none" anchor="ctr"/>
          <a:lstStyle/>
          <a:p>
            <a:endParaRPr lang="en-US"/>
          </a:p>
        </p:txBody>
      </p:sp>
      <p:sp>
        <p:nvSpPr>
          <p:cNvPr id="28676" name="Rectangle 3"/>
          <p:cNvSpPr>
            <a:spLocks noGrp="1" noChangeArrowheads="1"/>
          </p:cNvSpPr>
          <p:nvPr>
            <p:ph type="title"/>
          </p:nvPr>
        </p:nvSpPr>
        <p:spPr>
          <a:xfrm>
            <a:off x="457200" y="274638"/>
            <a:ext cx="8229600" cy="1143000"/>
          </a:xfrm>
        </p:spPr>
        <p:txBody>
          <a:bodyPr lIns="90360" tIns="44280" rIns="90360" bIns="44280" anchor="b">
            <a:spAutoFit/>
          </a:bodyPr>
          <a:lstStyle/>
          <a:p>
            <a:pPr eaLnBrk="1" hangingPunct="1">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Prefetch</a:t>
            </a:r>
          </a:p>
        </p:txBody>
      </p:sp>
      <p:sp>
        <p:nvSpPr>
          <p:cNvPr id="28677" name="Rectangle 4"/>
          <p:cNvSpPr>
            <a:spLocks noGrp="1" noChangeArrowheads="1"/>
          </p:cNvSpPr>
          <p:nvPr>
            <p:ph type="body" idx="1"/>
          </p:nvPr>
        </p:nvSpPr>
        <p:spPr>
          <a:xfrm>
            <a:off x="457200" y="1600200"/>
            <a:ext cx="8229600" cy="3946525"/>
          </a:xfrm>
        </p:spPr>
        <p:txBody>
          <a:bodyPr lIns="90360" tIns="44280" rIns="90360" bIns="44280">
            <a:spAutoFit/>
          </a:bodyPr>
          <a:lstStyle/>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Fetch involves accessing main memory</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Execution of ALU operations do not access main memory</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Can fetch next instruction during execution of current instruction, cf. assembly line</a:t>
            </a:r>
          </a:p>
          <a:p>
            <a:pPr eaLnBrk="1" hangingPunct="1">
              <a:lnSpc>
                <a:spcPct val="10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t>Called instruction prefetch</a:t>
            </a:r>
          </a:p>
          <a:p>
            <a:pPr eaLnBrk="1" hangingPunct="1">
              <a:lnSpc>
                <a:spcPct val="100000"/>
              </a:lnSpc>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662</TotalTime>
  <Words>1623</Words>
  <Application>Microsoft Office PowerPoint</Application>
  <PresentationFormat>On-screen Show (4:3)</PresentationFormat>
  <Paragraphs>195</Paragraphs>
  <Slides>38</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Monotype Sorts</vt:lpstr>
      <vt:lpstr>HNDIT</vt:lpstr>
      <vt:lpstr>HNDIT2401 Computer Architecture</vt:lpstr>
      <vt:lpstr>CPU</vt:lpstr>
      <vt:lpstr>CPU Function</vt:lpstr>
      <vt:lpstr>CPU With Systems Bus</vt:lpstr>
      <vt:lpstr>CPU Basics and Organization</vt:lpstr>
      <vt:lpstr>The ALU </vt:lpstr>
      <vt:lpstr>Control Unit </vt:lpstr>
      <vt:lpstr>Bus</vt:lpstr>
      <vt:lpstr>Clocks</vt:lpstr>
      <vt:lpstr>CPU With Systems Bus</vt:lpstr>
      <vt:lpstr>Registers</vt:lpstr>
      <vt:lpstr>Registers</vt:lpstr>
      <vt:lpstr>MARIE ARCHI</vt:lpstr>
      <vt:lpstr>MARIE registers</vt:lpstr>
      <vt:lpstr>MARIE has the following characteristics: </vt:lpstr>
      <vt:lpstr>User Visible Registers</vt:lpstr>
      <vt:lpstr>General Purpose Registers (1)</vt:lpstr>
      <vt:lpstr>General Purpose Registers (2)</vt:lpstr>
      <vt:lpstr>How Many GP Registers?</vt:lpstr>
      <vt:lpstr>How big?</vt:lpstr>
      <vt:lpstr>Condition Code Registers – Flags</vt:lpstr>
      <vt:lpstr>Control &amp; Status Registers</vt:lpstr>
      <vt:lpstr>Program Status Word</vt:lpstr>
      <vt:lpstr>Supervisor Mode</vt:lpstr>
      <vt:lpstr>Other Registers</vt:lpstr>
      <vt:lpstr>PowerPoint Presentation</vt:lpstr>
      <vt:lpstr>MC68000 and Intel registers</vt:lpstr>
      <vt:lpstr>Indirect Cycle</vt:lpstr>
      <vt:lpstr>Instruction Cycle with Indirect</vt:lpstr>
      <vt:lpstr>Instruction Cycle State Diagram</vt:lpstr>
      <vt:lpstr>Data Flow (Instruction Fetch)</vt:lpstr>
      <vt:lpstr>Data Flow (Fetch Diagram)</vt:lpstr>
      <vt:lpstr>Data Flow (Data Fetch)</vt:lpstr>
      <vt:lpstr>Data Flow (Indirect Diagram)</vt:lpstr>
      <vt:lpstr>Data Flow (Execute)</vt:lpstr>
      <vt:lpstr>Data Flow (Interrupt)</vt:lpstr>
      <vt:lpstr>Data Flow (Interrupt Diagram)</vt:lpstr>
      <vt:lpstr>Prefetch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2002 – Graphics &amp; Multimedia</dc:title>
  <dc:creator>Dell PC</dc:creator>
  <cp:lastModifiedBy>HP</cp:lastModifiedBy>
  <cp:revision>28</cp:revision>
  <dcterms:created xsi:type="dcterms:W3CDTF">2013-10-16T01:16:09Z</dcterms:created>
  <dcterms:modified xsi:type="dcterms:W3CDTF">2021-11-23T07:36:55Z</dcterms:modified>
</cp:coreProperties>
</file>