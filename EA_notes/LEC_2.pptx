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2"/>
  </p:notesMasterIdLst>
  <p:sldIdLst>
    <p:sldId id="256"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3" r:id="rId33"/>
    <p:sldId id="334" r:id="rId34"/>
    <p:sldId id="335" r:id="rId35"/>
    <p:sldId id="336" r:id="rId36"/>
    <p:sldId id="337" r:id="rId37"/>
    <p:sldId id="338" r:id="rId38"/>
    <p:sldId id="339" r:id="rId39"/>
    <p:sldId id="340" r:id="rId40"/>
    <p:sldId id="29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4" autoAdjust="0"/>
    <p:restoredTop sz="94660"/>
  </p:normalViewPr>
  <p:slideViewPr>
    <p:cSldViewPr>
      <p:cViewPr varScale="1">
        <p:scale>
          <a:sx n="84" d="100"/>
          <a:sy n="84" d="100"/>
        </p:scale>
        <p:origin x="1488"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BCF51B-97EB-454F-8969-F0D815A20D5B}"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06E2C123-C1BC-42E6-AD4A-A240F1FCC77A}">
      <dgm:prSet phldrT="[Text]" custT="1"/>
      <dgm:spPr>
        <a:noFill/>
        <a:ln>
          <a:solidFill>
            <a:schemeClr val="accent1"/>
          </a:solidFill>
        </a:ln>
      </dgm:spPr>
      <dgm:t>
        <a:bodyPr/>
        <a:lstStyle/>
        <a:p>
          <a:r>
            <a:rPr lang="en-US" sz="3200" b="1" dirty="0" smtClean="0">
              <a:solidFill>
                <a:srgbClr val="00B050"/>
              </a:solidFill>
            </a:rPr>
            <a:t>Java EE Clients</a:t>
          </a:r>
          <a:endParaRPr lang="en-US" sz="3200" b="1" dirty="0">
            <a:solidFill>
              <a:srgbClr val="00B050"/>
            </a:solidFill>
          </a:endParaRPr>
        </a:p>
      </dgm:t>
    </dgm:pt>
    <dgm:pt modelId="{A8F2E882-C15E-4167-A52A-59B01C5F12F8}" type="parTrans" cxnId="{427E6E82-D15F-4C5A-ACD0-D9A088B82B9A}">
      <dgm:prSet/>
      <dgm:spPr/>
      <dgm:t>
        <a:bodyPr/>
        <a:lstStyle/>
        <a:p>
          <a:endParaRPr lang="en-US" sz="1600">
            <a:solidFill>
              <a:schemeClr val="tx1"/>
            </a:solidFill>
          </a:endParaRPr>
        </a:p>
      </dgm:t>
    </dgm:pt>
    <dgm:pt modelId="{7BF19C30-5719-47A6-B857-9B82B6E7E29E}" type="sibTrans" cxnId="{427E6E82-D15F-4C5A-ACD0-D9A088B82B9A}">
      <dgm:prSet/>
      <dgm:spPr/>
      <dgm:t>
        <a:bodyPr/>
        <a:lstStyle/>
        <a:p>
          <a:endParaRPr lang="en-US" sz="1600">
            <a:solidFill>
              <a:schemeClr val="tx1"/>
            </a:solidFill>
          </a:endParaRPr>
        </a:p>
      </dgm:t>
    </dgm:pt>
    <dgm:pt modelId="{75ACB0CF-4654-45C5-B46F-C69EBAD99522}">
      <dgm:prSet phldrT="[Text]" custT="1"/>
      <dgm:spPr>
        <a:noFill/>
        <a:ln>
          <a:solidFill>
            <a:schemeClr val="accent1"/>
          </a:solidFill>
        </a:ln>
      </dgm:spPr>
      <dgm:t>
        <a:bodyPr/>
        <a:lstStyle/>
        <a:p>
          <a:r>
            <a:rPr lang="en-US" sz="3200" dirty="0" smtClean="0">
              <a:solidFill>
                <a:srgbClr val="7030A0"/>
              </a:solidFill>
            </a:rPr>
            <a:t>Web clients</a:t>
          </a:r>
          <a:endParaRPr lang="en-US" sz="3200" dirty="0">
            <a:solidFill>
              <a:srgbClr val="7030A0"/>
            </a:solidFill>
          </a:endParaRPr>
        </a:p>
      </dgm:t>
    </dgm:pt>
    <dgm:pt modelId="{D145E835-4430-4BBE-9E14-E2F5FF47D1BA}" type="parTrans" cxnId="{DE108D60-8F04-4502-BEAC-CA1F8201D000}">
      <dgm:prSet custT="1"/>
      <dgm:spPr/>
      <dgm:t>
        <a:bodyPr/>
        <a:lstStyle/>
        <a:p>
          <a:endParaRPr lang="en-US" sz="400">
            <a:solidFill>
              <a:schemeClr val="tx1"/>
            </a:solidFill>
          </a:endParaRPr>
        </a:p>
      </dgm:t>
    </dgm:pt>
    <dgm:pt modelId="{1820C35F-2E79-4AFB-B800-755179773216}" type="sibTrans" cxnId="{DE108D60-8F04-4502-BEAC-CA1F8201D000}">
      <dgm:prSet/>
      <dgm:spPr/>
      <dgm:t>
        <a:bodyPr/>
        <a:lstStyle/>
        <a:p>
          <a:endParaRPr lang="en-US" sz="1600">
            <a:solidFill>
              <a:schemeClr val="tx1"/>
            </a:solidFill>
          </a:endParaRPr>
        </a:p>
      </dgm:t>
    </dgm:pt>
    <dgm:pt modelId="{1CE44901-3B05-4EE3-8AAE-D6465DECD94B}">
      <dgm:prSet phldrT="[Text]" custT="1"/>
      <dgm:spPr>
        <a:noFill/>
        <a:ln>
          <a:solidFill>
            <a:schemeClr val="accent1"/>
          </a:solidFill>
        </a:ln>
      </dgm:spPr>
      <dgm:t>
        <a:bodyPr/>
        <a:lstStyle/>
        <a:p>
          <a:r>
            <a:rPr lang="en-US" sz="3200" dirty="0" smtClean="0">
              <a:solidFill>
                <a:srgbClr val="7030A0"/>
              </a:solidFill>
            </a:rPr>
            <a:t>Dynamic web pages</a:t>
          </a:r>
          <a:endParaRPr lang="en-US" sz="3200" dirty="0">
            <a:solidFill>
              <a:srgbClr val="7030A0"/>
            </a:solidFill>
          </a:endParaRPr>
        </a:p>
      </dgm:t>
    </dgm:pt>
    <dgm:pt modelId="{AF200905-0511-45E1-90FB-10EDD3363006}" type="parTrans" cxnId="{512CF6C8-1CB4-4F33-B56E-89AEB3CAB9D9}">
      <dgm:prSet custT="1"/>
      <dgm:spPr/>
      <dgm:t>
        <a:bodyPr/>
        <a:lstStyle/>
        <a:p>
          <a:endParaRPr lang="en-US" sz="400">
            <a:solidFill>
              <a:schemeClr val="tx1"/>
            </a:solidFill>
          </a:endParaRPr>
        </a:p>
      </dgm:t>
    </dgm:pt>
    <dgm:pt modelId="{6651904C-82FE-4838-AF79-A2F342F7671E}" type="sibTrans" cxnId="{512CF6C8-1CB4-4F33-B56E-89AEB3CAB9D9}">
      <dgm:prSet/>
      <dgm:spPr/>
      <dgm:t>
        <a:bodyPr/>
        <a:lstStyle/>
        <a:p>
          <a:endParaRPr lang="en-US" sz="1600">
            <a:solidFill>
              <a:schemeClr val="tx1"/>
            </a:solidFill>
          </a:endParaRPr>
        </a:p>
      </dgm:t>
    </dgm:pt>
    <dgm:pt modelId="{38866116-9424-4B30-9BA6-0BA8D935955E}">
      <dgm:prSet phldrT="[Text]" custT="1"/>
      <dgm:spPr>
        <a:noFill/>
        <a:ln>
          <a:solidFill>
            <a:schemeClr val="accent1"/>
          </a:solidFill>
        </a:ln>
      </dgm:spPr>
      <dgm:t>
        <a:bodyPr/>
        <a:lstStyle/>
        <a:p>
          <a:r>
            <a:rPr lang="en-US" sz="3200" dirty="0" smtClean="0">
              <a:solidFill>
                <a:srgbClr val="7030A0"/>
              </a:solidFill>
            </a:rPr>
            <a:t>Web browser</a:t>
          </a:r>
          <a:endParaRPr lang="en-US" sz="3200" dirty="0">
            <a:solidFill>
              <a:srgbClr val="7030A0"/>
            </a:solidFill>
          </a:endParaRPr>
        </a:p>
      </dgm:t>
    </dgm:pt>
    <dgm:pt modelId="{41C2C1FE-DE35-4B80-B907-4C90DA3560A1}" type="parTrans" cxnId="{623EC756-E353-4955-A543-0C9F787E72D1}">
      <dgm:prSet custT="1"/>
      <dgm:spPr/>
      <dgm:t>
        <a:bodyPr/>
        <a:lstStyle/>
        <a:p>
          <a:endParaRPr lang="en-US" sz="400">
            <a:solidFill>
              <a:schemeClr val="tx1"/>
            </a:solidFill>
          </a:endParaRPr>
        </a:p>
      </dgm:t>
    </dgm:pt>
    <dgm:pt modelId="{BF4C8F72-5A33-4763-90AA-00170D7A8B9D}" type="sibTrans" cxnId="{623EC756-E353-4955-A543-0C9F787E72D1}">
      <dgm:prSet/>
      <dgm:spPr/>
      <dgm:t>
        <a:bodyPr/>
        <a:lstStyle/>
        <a:p>
          <a:endParaRPr lang="en-US" sz="1600">
            <a:solidFill>
              <a:schemeClr val="tx1"/>
            </a:solidFill>
          </a:endParaRPr>
        </a:p>
      </dgm:t>
    </dgm:pt>
    <dgm:pt modelId="{10606D14-5C8D-4A82-BB3D-72F6F3FE2E48}">
      <dgm:prSet phldrT="[Text]" custT="1"/>
      <dgm:spPr>
        <a:noFill/>
        <a:ln>
          <a:solidFill>
            <a:schemeClr val="accent1"/>
          </a:solidFill>
        </a:ln>
      </dgm:spPr>
      <dgm:t>
        <a:bodyPr/>
        <a:lstStyle/>
        <a:p>
          <a:r>
            <a:rPr lang="en-US" sz="3200" dirty="0" smtClean="0">
              <a:solidFill>
                <a:srgbClr val="002060"/>
              </a:solidFill>
            </a:rPr>
            <a:t>Application Clients</a:t>
          </a:r>
          <a:endParaRPr lang="en-US" sz="3200" dirty="0">
            <a:solidFill>
              <a:srgbClr val="002060"/>
            </a:solidFill>
          </a:endParaRPr>
        </a:p>
      </dgm:t>
    </dgm:pt>
    <dgm:pt modelId="{E1DE3277-4BA3-487F-9BE3-5DD071555F4C}" type="parTrans" cxnId="{D49686B1-1ECA-4DE5-AC68-B91584DDBF57}">
      <dgm:prSet custT="1"/>
      <dgm:spPr/>
      <dgm:t>
        <a:bodyPr/>
        <a:lstStyle/>
        <a:p>
          <a:endParaRPr lang="en-US" sz="400">
            <a:solidFill>
              <a:schemeClr val="tx1"/>
            </a:solidFill>
          </a:endParaRPr>
        </a:p>
      </dgm:t>
    </dgm:pt>
    <dgm:pt modelId="{678EC82B-6A4E-4798-B47F-598D770953FF}" type="sibTrans" cxnId="{D49686B1-1ECA-4DE5-AC68-B91584DDBF57}">
      <dgm:prSet/>
      <dgm:spPr/>
      <dgm:t>
        <a:bodyPr/>
        <a:lstStyle/>
        <a:p>
          <a:endParaRPr lang="en-US" sz="1600">
            <a:solidFill>
              <a:schemeClr val="tx1"/>
            </a:solidFill>
          </a:endParaRPr>
        </a:p>
      </dgm:t>
    </dgm:pt>
    <dgm:pt modelId="{66B2113A-E023-4E7C-AFD3-8DA4B0B961F6}">
      <dgm:prSet phldrT="[Text]" custT="1"/>
      <dgm:spPr>
        <a:noFill/>
        <a:ln>
          <a:solidFill>
            <a:schemeClr val="accent1"/>
          </a:solidFill>
        </a:ln>
      </dgm:spPr>
      <dgm:t>
        <a:bodyPr/>
        <a:lstStyle/>
        <a:p>
          <a:r>
            <a:rPr lang="en-US" sz="3200" dirty="0" smtClean="0">
              <a:solidFill>
                <a:srgbClr val="002060"/>
              </a:solidFill>
            </a:rPr>
            <a:t>GUIs</a:t>
          </a:r>
          <a:endParaRPr lang="en-US" sz="3200" dirty="0">
            <a:solidFill>
              <a:srgbClr val="002060"/>
            </a:solidFill>
          </a:endParaRPr>
        </a:p>
      </dgm:t>
    </dgm:pt>
    <dgm:pt modelId="{E94B3D92-F66F-44C5-A312-581CBA9DFDB5}" type="parTrans" cxnId="{F6FC3967-4121-4094-A3D8-CA28902360D5}">
      <dgm:prSet custT="1"/>
      <dgm:spPr/>
      <dgm:t>
        <a:bodyPr/>
        <a:lstStyle/>
        <a:p>
          <a:endParaRPr lang="en-US" sz="400">
            <a:solidFill>
              <a:schemeClr val="tx1"/>
            </a:solidFill>
          </a:endParaRPr>
        </a:p>
      </dgm:t>
    </dgm:pt>
    <dgm:pt modelId="{CE5B34C8-3042-49EB-BE55-E90FF012D482}" type="sibTrans" cxnId="{F6FC3967-4121-4094-A3D8-CA28902360D5}">
      <dgm:prSet/>
      <dgm:spPr/>
      <dgm:t>
        <a:bodyPr/>
        <a:lstStyle/>
        <a:p>
          <a:endParaRPr lang="en-US" sz="1600">
            <a:solidFill>
              <a:schemeClr val="tx1"/>
            </a:solidFill>
          </a:endParaRPr>
        </a:p>
      </dgm:t>
    </dgm:pt>
    <dgm:pt modelId="{3C3D23FF-702B-4163-97CE-215E3D1AE274}" type="pres">
      <dgm:prSet presAssocID="{08BCF51B-97EB-454F-8969-F0D815A20D5B}" presName="diagram" presStyleCnt="0">
        <dgm:presLayoutVars>
          <dgm:chPref val="1"/>
          <dgm:dir/>
          <dgm:animOne val="branch"/>
          <dgm:animLvl val="lvl"/>
          <dgm:resizeHandles val="exact"/>
        </dgm:presLayoutVars>
      </dgm:prSet>
      <dgm:spPr/>
      <dgm:t>
        <a:bodyPr/>
        <a:lstStyle/>
        <a:p>
          <a:endParaRPr lang="en-US"/>
        </a:p>
      </dgm:t>
    </dgm:pt>
    <dgm:pt modelId="{CA75958B-E6A4-4B87-9EBF-F687C25BE1C5}" type="pres">
      <dgm:prSet presAssocID="{06E2C123-C1BC-42E6-AD4A-A240F1FCC77A}" presName="root1" presStyleCnt="0"/>
      <dgm:spPr/>
    </dgm:pt>
    <dgm:pt modelId="{6F35D231-BBF4-4447-9818-61208FCD0244}" type="pres">
      <dgm:prSet presAssocID="{06E2C123-C1BC-42E6-AD4A-A240F1FCC77A}" presName="LevelOneTextNode" presStyleLbl="node0" presStyleIdx="0" presStyleCnt="1">
        <dgm:presLayoutVars>
          <dgm:chPref val="3"/>
        </dgm:presLayoutVars>
      </dgm:prSet>
      <dgm:spPr/>
      <dgm:t>
        <a:bodyPr/>
        <a:lstStyle/>
        <a:p>
          <a:endParaRPr lang="en-US"/>
        </a:p>
      </dgm:t>
    </dgm:pt>
    <dgm:pt modelId="{0C44323E-313B-4528-A410-91C84254FF83}" type="pres">
      <dgm:prSet presAssocID="{06E2C123-C1BC-42E6-AD4A-A240F1FCC77A}" presName="level2hierChild" presStyleCnt="0"/>
      <dgm:spPr/>
    </dgm:pt>
    <dgm:pt modelId="{51104F2F-9BB1-42B4-A87C-500B8FDC615A}" type="pres">
      <dgm:prSet presAssocID="{D145E835-4430-4BBE-9E14-E2F5FF47D1BA}" presName="conn2-1" presStyleLbl="parChTrans1D2" presStyleIdx="0" presStyleCnt="2"/>
      <dgm:spPr/>
      <dgm:t>
        <a:bodyPr/>
        <a:lstStyle/>
        <a:p>
          <a:endParaRPr lang="en-US"/>
        </a:p>
      </dgm:t>
    </dgm:pt>
    <dgm:pt modelId="{2C3BE36B-3627-4CB8-8713-0129855826D4}" type="pres">
      <dgm:prSet presAssocID="{D145E835-4430-4BBE-9E14-E2F5FF47D1BA}" presName="connTx" presStyleLbl="parChTrans1D2" presStyleIdx="0" presStyleCnt="2"/>
      <dgm:spPr/>
      <dgm:t>
        <a:bodyPr/>
        <a:lstStyle/>
        <a:p>
          <a:endParaRPr lang="en-US"/>
        </a:p>
      </dgm:t>
    </dgm:pt>
    <dgm:pt modelId="{55583562-A140-43AD-A1B4-0A13B56CAD64}" type="pres">
      <dgm:prSet presAssocID="{75ACB0CF-4654-45C5-B46F-C69EBAD99522}" presName="root2" presStyleCnt="0"/>
      <dgm:spPr/>
    </dgm:pt>
    <dgm:pt modelId="{1BD730F3-72E6-4B19-A4DC-F088523A10E0}" type="pres">
      <dgm:prSet presAssocID="{75ACB0CF-4654-45C5-B46F-C69EBAD99522}" presName="LevelTwoTextNode" presStyleLbl="node2" presStyleIdx="0" presStyleCnt="2">
        <dgm:presLayoutVars>
          <dgm:chPref val="3"/>
        </dgm:presLayoutVars>
      </dgm:prSet>
      <dgm:spPr/>
      <dgm:t>
        <a:bodyPr/>
        <a:lstStyle/>
        <a:p>
          <a:endParaRPr lang="en-US"/>
        </a:p>
      </dgm:t>
    </dgm:pt>
    <dgm:pt modelId="{071AF3E0-E7E1-48FA-9C2B-DCF87E22B574}" type="pres">
      <dgm:prSet presAssocID="{75ACB0CF-4654-45C5-B46F-C69EBAD99522}" presName="level3hierChild" presStyleCnt="0"/>
      <dgm:spPr/>
    </dgm:pt>
    <dgm:pt modelId="{08F1CDE0-25B0-43E7-99CE-0684725018D2}" type="pres">
      <dgm:prSet presAssocID="{AF200905-0511-45E1-90FB-10EDD3363006}" presName="conn2-1" presStyleLbl="parChTrans1D3" presStyleIdx="0" presStyleCnt="3"/>
      <dgm:spPr/>
      <dgm:t>
        <a:bodyPr/>
        <a:lstStyle/>
        <a:p>
          <a:endParaRPr lang="en-US"/>
        </a:p>
      </dgm:t>
    </dgm:pt>
    <dgm:pt modelId="{B1E842EF-4808-4ED2-950C-C3F7C6BFEC3A}" type="pres">
      <dgm:prSet presAssocID="{AF200905-0511-45E1-90FB-10EDD3363006}" presName="connTx" presStyleLbl="parChTrans1D3" presStyleIdx="0" presStyleCnt="3"/>
      <dgm:spPr/>
      <dgm:t>
        <a:bodyPr/>
        <a:lstStyle/>
        <a:p>
          <a:endParaRPr lang="en-US"/>
        </a:p>
      </dgm:t>
    </dgm:pt>
    <dgm:pt modelId="{1AC87E0D-CAC1-4319-B906-E62631192FE5}" type="pres">
      <dgm:prSet presAssocID="{1CE44901-3B05-4EE3-8AAE-D6465DECD94B}" presName="root2" presStyleCnt="0"/>
      <dgm:spPr/>
    </dgm:pt>
    <dgm:pt modelId="{EDB06E7F-2CE4-462A-93E2-3C8BE0513BAE}" type="pres">
      <dgm:prSet presAssocID="{1CE44901-3B05-4EE3-8AAE-D6465DECD94B}" presName="LevelTwoTextNode" presStyleLbl="node3" presStyleIdx="0" presStyleCnt="3">
        <dgm:presLayoutVars>
          <dgm:chPref val="3"/>
        </dgm:presLayoutVars>
      </dgm:prSet>
      <dgm:spPr/>
      <dgm:t>
        <a:bodyPr/>
        <a:lstStyle/>
        <a:p>
          <a:endParaRPr lang="en-US"/>
        </a:p>
      </dgm:t>
    </dgm:pt>
    <dgm:pt modelId="{52300890-E1DE-4760-87A3-931F24B3EE28}" type="pres">
      <dgm:prSet presAssocID="{1CE44901-3B05-4EE3-8AAE-D6465DECD94B}" presName="level3hierChild" presStyleCnt="0"/>
      <dgm:spPr/>
    </dgm:pt>
    <dgm:pt modelId="{CF1DAC6A-1A32-49EA-8E89-9449D4B6D626}" type="pres">
      <dgm:prSet presAssocID="{41C2C1FE-DE35-4B80-B907-4C90DA3560A1}" presName="conn2-1" presStyleLbl="parChTrans1D3" presStyleIdx="1" presStyleCnt="3"/>
      <dgm:spPr/>
      <dgm:t>
        <a:bodyPr/>
        <a:lstStyle/>
        <a:p>
          <a:endParaRPr lang="en-US"/>
        </a:p>
      </dgm:t>
    </dgm:pt>
    <dgm:pt modelId="{8CE80F0A-155C-49E3-A03B-386073FD6FFE}" type="pres">
      <dgm:prSet presAssocID="{41C2C1FE-DE35-4B80-B907-4C90DA3560A1}" presName="connTx" presStyleLbl="parChTrans1D3" presStyleIdx="1" presStyleCnt="3"/>
      <dgm:spPr/>
      <dgm:t>
        <a:bodyPr/>
        <a:lstStyle/>
        <a:p>
          <a:endParaRPr lang="en-US"/>
        </a:p>
      </dgm:t>
    </dgm:pt>
    <dgm:pt modelId="{540EABEF-C67B-4F28-B7BC-3E763E77A827}" type="pres">
      <dgm:prSet presAssocID="{38866116-9424-4B30-9BA6-0BA8D935955E}" presName="root2" presStyleCnt="0"/>
      <dgm:spPr/>
    </dgm:pt>
    <dgm:pt modelId="{090978A7-B8FF-4F56-9E89-4997C67C5CEE}" type="pres">
      <dgm:prSet presAssocID="{38866116-9424-4B30-9BA6-0BA8D935955E}" presName="LevelTwoTextNode" presStyleLbl="node3" presStyleIdx="1" presStyleCnt="3">
        <dgm:presLayoutVars>
          <dgm:chPref val="3"/>
        </dgm:presLayoutVars>
      </dgm:prSet>
      <dgm:spPr/>
      <dgm:t>
        <a:bodyPr/>
        <a:lstStyle/>
        <a:p>
          <a:endParaRPr lang="en-US"/>
        </a:p>
      </dgm:t>
    </dgm:pt>
    <dgm:pt modelId="{64EDFF60-E13F-4E6D-92AE-312C924325C1}" type="pres">
      <dgm:prSet presAssocID="{38866116-9424-4B30-9BA6-0BA8D935955E}" presName="level3hierChild" presStyleCnt="0"/>
      <dgm:spPr/>
    </dgm:pt>
    <dgm:pt modelId="{6CA6B921-B1EE-472D-80AF-19D05933FB75}" type="pres">
      <dgm:prSet presAssocID="{E1DE3277-4BA3-487F-9BE3-5DD071555F4C}" presName="conn2-1" presStyleLbl="parChTrans1D2" presStyleIdx="1" presStyleCnt="2"/>
      <dgm:spPr/>
      <dgm:t>
        <a:bodyPr/>
        <a:lstStyle/>
        <a:p>
          <a:endParaRPr lang="en-US"/>
        </a:p>
      </dgm:t>
    </dgm:pt>
    <dgm:pt modelId="{F96D16B8-B00D-4C57-B6B0-DEC0AFF502E6}" type="pres">
      <dgm:prSet presAssocID="{E1DE3277-4BA3-487F-9BE3-5DD071555F4C}" presName="connTx" presStyleLbl="parChTrans1D2" presStyleIdx="1" presStyleCnt="2"/>
      <dgm:spPr/>
      <dgm:t>
        <a:bodyPr/>
        <a:lstStyle/>
        <a:p>
          <a:endParaRPr lang="en-US"/>
        </a:p>
      </dgm:t>
    </dgm:pt>
    <dgm:pt modelId="{82053E61-2D77-4D89-9DFC-8DFAE6B4447E}" type="pres">
      <dgm:prSet presAssocID="{10606D14-5C8D-4A82-BB3D-72F6F3FE2E48}" presName="root2" presStyleCnt="0"/>
      <dgm:spPr/>
    </dgm:pt>
    <dgm:pt modelId="{DC554EC9-DCC0-496A-A968-869C436AF577}" type="pres">
      <dgm:prSet presAssocID="{10606D14-5C8D-4A82-BB3D-72F6F3FE2E48}" presName="LevelTwoTextNode" presStyleLbl="node2" presStyleIdx="1" presStyleCnt="2">
        <dgm:presLayoutVars>
          <dgm:chPref val="3"/>
        </dgm:presLayoutVars>
      </dgm:prSet>
      <dgm:spPr/>
      <dgm:t>
        <a:bodyPr/>
        <a:lstStyle/>
        <a:p>
          <a:endParaRPr lang="en-US"/>
        </a:p>
      </dgm:t>
    </dgm:pt>
    <dgm:pt modelId="{6A43452A-D70E-4E9C-B4FA-A96C7AE82A22}" type="pres">
      <dgm:prSet presAssocID="{10606D14-5C8D-4A82-BB3D-72F6F3FE2E48}" presName="level3hierChild" presStyleCnt="0"/>
      <dgm:spPr/>
    </dgm:pt>
    <dgm:pt modelId="{FE8635B5-FD92-446A-AC16-5E15478E98A0}" type="pres">
      <dgm:prSet presAssocID="{E94B3D92-F66F-44C5-A312-581CBA9DFDB5}" presName="conn2-1" presStyleLbl="parChTrans1D3" presStyleIdx="2" presStyleCnt="3"/>
      <dgm:spPr/>
      <dgm:t>
        <a:bodyPr/>
        <a:lstStyle/>
        <a:p>
          <a:endParaRPr lang="en-US"/>
        </a:p>
      </dgm:t>
    </dgm:pt>
    <dgm:pt modelId="{984EDF43-5FC5-45B1-854E-730873F2D761}" type="pres">
      <dgm:prSet presAssocID="{E94B3D92-F66F-44C5-A312-581CBA9DFDB5}" presName="connTx" presStyleLbl="parChTrans1D3" presStyleIdx="2" presStyleCnt="3"/>
      <dgm:spPr/>
      <dgm:t>
        <a:bodyPr/>
        <a:lstStyle/>
        <a:p>
          <a:endParaRPr lang="en-US"/>
        </a:p>
      </dgm:t>
    </dgm:pt>
    <dgm:pt modelId="{FAC4ADEC-AE3A-4D08-A698-43102D558B11}" type="pres">
      <dgm:prSet presAssocID="{66B2113A-E023-4E7C-AFD3-8DA4B0B961F6}" presName="root2" presStyleCnt="0"/>
      <dgm:spPr/>
    </dgm:pt>
    <dgm:pt modelId="{8253496F-563D-43D8-B2C4-665562DC6544}" type="pres">
      <dgm:prSet presAssocID="{66B2113A-E023-4E7C-AFD3-8DA4B0B961F6}" presName="LevelTwoTextNode" presStyleLbl="node3" presStyleIdx="2" presStyleCnt="3">
        <dgm:presLayoutVars>
          <dgm:chPref val="3"/>
        </dgm:presLayoutVars>
      </dgm:prSet>
      <dgm:spPr/>
      <dgm:t>
        <a:bodyPr/>
        <a:lstStyle/>
        <a:p>
          <a:endParaRPr lang="en-US"/>
        </a:p>
      </dgm:t>
    </dgm:pt>
    <dgm:pt modelId="{C377C449-116A-456E-97D6-A16409063A27}" type="pres">
      <dgm:prSet presAssocID="{66B2113A-E023-4E7C-AFD3-8DA4B0B961F6}" presName="level3hierChild" presStyleCnt="0"/>
      <dgm:spPr/>
    </dgm:pt>
  </dgm:ptLst>
  <dgm:cxnLst>
    <dgm:cxn modelId="{F6F3A969-A33C-4DD1-862D-BFB1FD9E3851}" type="presOf" srcId="{06E2C123-C1BC-42E6-AD4A-A240F1FCC77A}" destId="{6F35D231-BBF4-4447-9818-61208FCD0244}" srcOrd="0" destOrd="0" presId="urn:microsoft.com/office/officeart/2005/8/layout/hierarchy2"/>
    <dgm:cxn modelId="{D49686B1-1ECA-4DE5-AC68-B91584DDBF57}" srcId="{06E2C123-C1BC-42E6-AD4A-A240F1FCC77A}" destId="{10606D14-5C8D-4A82-BB3D-72F6F3FE2E48}" srcOrd="1" destOrd="0" parTransId="{E1DE3277-4BA3-487F-9BE3-5DD071555F4C}" sibTransId="{678EC82B-6A4E-4798-B47F-598D770953FF}"/>
    <dgm:cxn modelId="{91616216-C824-4699-B0EA-33E99917DAC0}" type="presOf" srcId="{41C2C1FE-DE35-4B80-B907-4C90DA3560A1}" destId="{8CE80F0A-155C-49E3-A03B-386073FD6FFE}" srcOrd="1" destOrd="0" presId="urn:microsoft.com/office/officeart/2005/8/layout/hierarchy2"/>
    <dgm:cxn modelId="{DB96E137-9107-4483-B8BE-C64764F8349F}" type="presOf" srcId="{D145E835-4430-4BBE-9E14-E2F5FF47D1BA}" destId="{2C3BE36B-3627-4CB8-8713-0129855826D4}" srcOrd="1" destOrd="0" presId="urn:microsoft.com/office/officeart/2005/8/layout/hierarchy2"/>
    <dgm:cxn modelId="{D5D2EDCE-0B85-4579-9BD8-49E24EB8BE89}" type="presOf" srcId="{AF200905-0511-45E1-90FB-10EDD3363006}" destId="{B1E842EF-4808-4ED2-950C-C3F7C6BFEC3A}" srcOrd="1" destOrd="0" presId="urn:microsoft.com/office/officeart/2005/8/layout/hierarchy2"/>
    <dgm:cxn modelId="{AC089703-605D-4197-9B00-74AAE67FC077}" type="presOf" srcId="{E94B3D92-F66F-44C5-A312-581CBA9DFDB5}" destId="{FE8635B5-FD92-446A-AC16-5E15478E98A0}" srcOrd="0" destOrd="0" presId="urn:microsoft.com/office/officeart/2005/8/layout/hierarchy2"/>
    <dgm:cxn modelId="{065D5F47-6555-49E1-9D92-37EB2E6F5D02}" type="presOf" srcId="{E1DE3277-4BA3-487F-9BE3-5DD071555F4C}" destId="{F96D16B8-B00D-4C57-B6B0-DEC0AFF502E6}" srcOrd="1" destOrd="0" presId="urn:microsoft.com/office/officeart/2005/8/layout/hierarchy2"/>
    <dgm:cxn modelId="{623EC756-E353-4955-A543-0C9F787E72D1}" srcId="{75ACB0CF-4654-45C5-B46F-C69EBAD99522}" destId="{38866116-9424-4B30-9BA6-0BA8D935955E}" srcOrd="1" destOrd="0" parTransId="{41C2C1FE-DE35-4B80-B907-4C90DA3560A1}" sibTransId="{BF4C8F72-5A33-4763-90AA-00170D7A8B9D}"/>
    <dgm:cxn modelId="{C4D7515A-1E29-472A-B0D4-91DCC9F6581C}" type="presOf" srcId="{E1DE3277-4BA3-487F-9BE3-5DD071555F4C}" destId="{6CA6B921-B1EE-472D-80AF-19D05933FB75}" srcOrd="0" destOrd="0" presId="urn:microsoft.com/office/officeart/2005/8/layout/hierarchy2"/>
    <dgm:cxn modelId="{6A9B211E-EA1A-42D2-8AD1-CB0A3DADF711}" type="presOf" srcId="{08BCF51B-97EB-454F-8969-F0D815A20D5B}" destId="{3C3D23FF-702B-4163-97CE-215E3D1AE274}" srcOrd="0" destOrd="0" presId="urn:microsoft.com/office/officeart/2005/8/layout/hierarchy2"/>
    <dgm:cxn modelId="{E2C3B8E8-A4FD-4C48-A172-815F4D140F32}" type="presOf" srcId="{AF200905-0511-45E1-90FB-10EDD3363006}" destId="{08F1CDE0-25B0-43E7-99CE-0684725018D2}" srcOrd="0" destOrd="0" presId="urn:microsoft.com/office/officeart/2005/8/layout/hierarchy2"/>
    <dgm:cxn modelId="{F6FC3967-4121-4094-A3D8-CA28902360D5}" srcId="{10606D14-5C8D-4A82-BB3D-72F6F3FE2E48}" destId="{66B2113A-E023-4E7C-AFD3-8DA4B0B961F6}" srcOrd="0" destOrd="0" parTransId="{E94B3D92-F66F-44C5-A312-581CBA9DFDB5}" sibTransId="{CE5B34C8-3042-49EB-BE55-E90FF012D482}"/>
    <dgm:cxn modelId="{BF512460-6004-4E5C-BB71-41C8F9ADEB23}" type="presOf" srcId="{38866116-9424-4B30-9BA6-0BA8D935955E}" destId="{090978A7-B8FF-4F56-9E89-4997C67C5CEE}" srcOrd="0" destOrd="0" presId="urn:microsoft.com/office/officeart/2005/8/layout/hierarchy2"/>
    <dgm:cxn modelId="{34E5044C-8ACB-4D84-9995-D90979420F96}" type="presOf" srcId="{D145E835-4430-4BBE-9E14-E2F5FF47D1BA}" destId="{51104F2F-9BB1-42B4-A87C-500B8FDC615A}" srcOrd="0" destOrd="0" presId="urn:microsoft.com/office/officeart/2005/8/layout/hierarchy2"/>
    <dgm:cxn modelId="{C78CF9F2-6062-467C-A9E6-BE0A2D3604D2}" type="presOf" srcId="{1CE44901-3B05-4EE3-8AAE-D6465DECD94B}" destId="{EDB06E7F-2CE4-462A-93E2-3C8BE0513BAE}" srcOrd="0" destOrd="0" presId="urn:microsoft.com/office/officeart/2005/8/layout/hierarchy2"/>
    <dgm:cxn modelId="{427E6E82-D15F-4C5A-ACD0-D9A088B82B9A}" srcId="{08BCF51B-97EB-454F-8969-F0D815A20D5B}" destId="{06E2C123-C1BC-42E6-AD4A-A240F1FCC77A}" srcOrd="0" destOrd="0" parTransId="{A8F2E882-C15E-4167-A52A-59B01C5F12F8}" sibTransId="{7BF19C30-5719-47A6-B857-9B82B6E7E29E}"/>
    <dgm:cxn modelId="{DE108D60-8F04-4502-BEAC-CA1F8201D000}" srcId="{06E2C123-C1BC-42E6-AD4A-A240F1FCC77A}" destId="{75ACB0CF-4654-45C5-B46F-C69EBAD99522}" srcOrd="0" destOrd="0" parTransId="{D145E835-4430-4BBE-9E14-E2F5FF47D1BA}" sibTransId="{1820C35F-2E79-4AFB-B800-755179773216}"/>
    <dgm:cxn modelId="{512CF6C8-1CB4-4F33-B56E-89AEB3CAB9D9}" srcId="{75ACB0CF-4654-45C5-B46F-C69EBAD99522}" destId="{1CE44901-3B05-4EE3-8AAE-D6465DECD94B}" srcOrd="0" destOrd="0" parTransId="{AF200905-0511-45E1-90FB-10EDD3363006}" sibTransId="{6651904C-82FE-4838-AF79-A2F342F7671E}"/>
    <dgm:cxn modelId="{2CFBCC36-F60B-47F8-BC5E-DF6AF91C7AF4}" type="presOf" srcId="{75ACB0CF-4654-45C5-B46F-C69EBAD99522}" destId="{1BD730F3-72E6-4B19-A4DC-F088523A10E0}" srcOrd="0" destOrd="0" presId="urn:microsoft.com/office/officeart/2005/8/layout/hierarchy2"/>
    <dgm:cxn modelId="{F144D8EF-9BD3-4685-8039-3D1930AF3F83}" type="presOf" srcId="{E94B3D92-F66F-44C5-A312-581CBA9DFDB5}" destId="{984EDF43-5FC5-45B1-854E-730873F2D761}" srcOrd="1" destOrd="0" presId="urn:microsoft.com/office/officeart/2005/8/layout/hierarchy2"/>
    <dgm:cxn modelId="{FDEE3243-D245-425E-861B-89C002E0807B}" type="presOf" srcId="{10606D14-5C8D-4A82-BB3D-72F6F3FE2E48}" destId="{DC554EC9-DCC0-496A-A968-869C436AF577}" srcOrd="0" destOrd="0" presId="urn:microsoft.com/office/officeart/2005/8/layout/hierarchy2"/>
    <dgm:cxn modelId="{A9FC0F54-3C70-49D9-84B4-8DEB61989D10}" type="presOf" srcId="{41C2C1FE-DE35-4B80-B907-4C90DA3560A1}" destId="{CF1DAC6A-1A32-49EA-8E89-9449D4B6D626}" srcOrd="0" destOrd="0" presId="urn:microsoft.com/office/officeart/2005/8/layout/hierarchy2"/>
    <dgm:cxn modelId="{AEB0F9B9-0E0B-4BE3-A0A5-6D70EBD0BC28}" type="presOf" srcId="{66B2113A-E023-4E7C-AFD3-8DA4B0B961F6}" destId="{8253496F-563D-43D8-B2C4-665562DC6544}" srcOrd="0" destOrd="0" presId="urn:microsoft.com/office/officeart/2005/8/layout/hierarchy2"/>
    <dgm:cxn modelId="{7F153FFF-41FC-4C5C-BD49-B82E0EF95178}" type="presParOf" srcId="{3C3D23FF-702B-4163-97CE-215E3D1AE274}" destId="{CA75958B-E6A4-4B87-9EBF-F687C25BE1C5}" srcOrd="0" destOrd="0" presId="urn:microsoft.com/office/officeart/2005/8/layout/hierarchy2"/>
    <dgm:cxn modelId="{5C80B25F-250B-4346-9CA4-4ADCAF64876B}" type="presParOf" srcId="{CA75958B-E6A4-4B87-9EBF-F687C25BE1C5}" destId="{6F35D231-BBF4-4447-9818-61208FCD0244}" srcOrd="0" destOrd="0" presId="urn:microsoft.com/office/officeart/2005/8/layout/hierarchy2"/>
    <dgm:cxn modelId="{B4242B26-C204-4A23-B43A-6F5BCF9F7223}" type="presParOf" srcId="{CA75958B-E6A4-4B87-9EBF-F687C25BE1C5}" destId="{0C44323E-313B-4528-A410-91C84254FF83}" srcOrd="1" destOrd="0" presId="urn:microsoft.com/office/officeart/2005/8/layout/hierarchy2"/>
    <dgm:cxn modelId="{89067C9F-3AB0-487D-B441-5F84AF87BA75}" type="presParOf" srcId="{0C44323E-313B-4528-A410-91C84254FF83}" destId="{51104F2F-9BB1-42B4-A87C-500B8FDC615A}" srcOrd="0" destOrd="0" presId="urn:microsoft.com/office/officeart/2005/8/layout/hierarchy2"/>
    <dgm:cxn modelId="{1C3A1207-23AA-45AE-8323-E4E612C0A697}" type="presParOf" srcId="{51104F2F-9BB1-42B4-A87C-500B8FDC615A}" destId="{2C3BE36B-3627-4CB8-8713-0129855826D4}" srcOrd="0" destOrd="0" presId="urn:microsoft.com/office/officeart/2005/8/layout/hierarchy2"/>
    <dgm:cxn modelId="{05638539-3D17-46AA-B5FD-6103BF27D26B}" type="presParOf" srcId="{0C44323E-313B-4528-A410-91C84254FF83}" destId="{55583562-A140-43AD-A1B4-0A13B56CAD64}" srcOrd="1" destOrd="0" presId="urn:microsoft.com/office/officeart/2005/8/layout/hierarchy2"/>
    <dgm:cxn modelId="{1FC17A90-D5B3-4251-81D2-C9306E1F7EFA}" type="presParOf" srcId="{55583562-A140-43AD-A1B4-0A13B56CAD64}" destId="{1BD730F3-72E6-4B19-A4DC-F088523A10E0}" srcOrd="0" destOrd="0" presId="urn:microsoft.com/office/officeart/2005/8/layout/hierarchy2"/>
    <dgm:cxn modelId="{C6C27376-6E6B-4FA4-B421-C6B3AF64E21C}" type="presParOf" srcId="{55583562-A140-43AD-A1B4-0A13B56CAD64}" destId="{071AF3E0-E7E1-48FA-9C2B-DCF87E22B574}" srcOrd="1" destOrd="0" presId="urn:microsoft.com/office/officeart/2005/8/layout/hierarchy2"/>
    <dgm:cxn modelId="{7B494C0A-037F-4E83-A74E-BBC2CAFDDA88}" type="presParOf" srcId="{071AF3E0-E7E1-48FA-9C2B-DCF87E22B574}" destId="{08F1CDE0-25B0-43E7-99CE-0684725018D2}" srcOrd="0" destOrd="0" presId="urn:microsoft.com/office/officeart/2005/8/layout/hierarchy2"/>
    <dgm:cxn modelId="{3C5C0C4D-4B27-42DF-9065-0ADEA2C83261}" type="presParOf" srcId="{08F1CDE0-25B0-43E7-99CE-0684725018D2}" destId="{B1E842EF-4808-4ED2-950C-C3F7C6BFEC3A}" srcOrd="0" destOrd="0" presId="urn:microsoft.com/office/officeart/2005/8/layout/hierarchy2"/>
    <dgm:cxn modelId="{59128220-FD80-40F6-B607-08CA67F2396E}" type="presParOf" srcId="{071AF3E0-E7E1-48FA-9C2B-DCF87E22B574}" destId="{1AC87E0D-CAC1-4319-B906-E62631192FE5}" srcOrd="1" destOrd="0" presId="urn:microsoft.com/office/officeart/2005/8/layout/hierarchy2"/>
    <dgm:cxn modelId="{57EAF7F8-BFEE-4D15-8886-98C738F33237}" type="presParOf" srcId="{1AC87E0D-CAC1-4319-B906-E62631192FE5}" destId="{EDB06E7F-2CE4-462A-93E2-3C8BE0513BAE}" srcOrd="0" destOrd="0" presId="urn:microsoft.com/office/officeart/2005/8/layout/hierarchy2"/>
    <dgm:cxn modelId="{499A3DCA-90D1-45DF-B57B-E5D62EC65925}" type="presParOf" srcId="{1AC87E0D-CAC1-4319-B906-E62631192FE5}" destId="{52300890-E1DE-4760-87A3-931F24B3EE28}" srcOrd="1" destOrd="0" presId="urn:microsoft.com/office/officeart/2005/8/layout/hierarchy2"/>
    <dgm:cxn modelId="{0B5EE63E-9FC8-48CC-8412-7608F9C546F6}" type="presParOf" srcId="{071AF3E0-E7E1-48FA-9C2B-DCF87E22B574}" destId="{CF1DAC6A-1A32-49EA-8E89-9449D4B6D626}" srcOrd="2" destOrd="0" presId="urn:microsoft.com/office/officeart/2005/8/layout/hierarchy2"/>
    <dgm:cxn modelId="{1DB03D8D-DD56-41F2-881A-A4093D438137}" type="presParOf" srcId="{CF1DAC6A-1A32-49EA-8E89-9449D4B6D626}" destId="{8CE80F0A-155C-49E3-A03B-386073FD6FFE}" srcOrd="0" destOrd="0" presId="urn:microsoft.com/office/officeart/2005/8/layout/hierarchy2"/>
    <dgm:cxn modelId="{D19983E3-6429-4C61-A9C7-EF6FC6AFF3AA}" type="presParOf" srcId="{071AF3E0-E7E1-48FA-9C2B-DCF87E22B574}" destId="{540EABEF-C67B-4F28-B7BC-3E763E77A827}" srcOrd="3" destOrd="0" presId="urn:microsoft.com/office/officeart/2005/8/layout/hierarchy2"/>
    <dgm:cxn modelId="{92FF35CF-7A28-4041-9AAC-D66BBDF96D34}" type="presParOf" srcId="{540EABEF-C67B-4F28-B7BC-3E763E77A827}" destId="{090978A7-B8FF-4F56-9E89-4997C67C5CEE}" srcOrd="0" destOrd="0" presId="urn:microsoft.com/office/officeart/2005/8/layout/hierarchy2"/>
    <dgm:cxn modelId="{03E5ADE1-1A2E-451B-B16F-FD44FA4C2746}" type="presParOf" srcId="{540EABEF-C67B-4F28-B7BC-3E763E77A827}" destId="{64EDFF60-E13F-4E6D-92AE-312C924325C1}" srcOrd="1" destOrd="0" presId="urn:microsoft.com/office/officeart/2005/8/layout/hierarchy2"/>
    <dgm:cxn modelId="{D2680D90-6700-40C3-A8D2-CA8828B8E077}" type="presParOf" srcId="{0C44323E-313B-4528-A410-91C84254FF83}" destId="{6CA6B921-B1EE-472D-80AF-19D05933FB75}" srcOrd="2" destOrd="0" presId="urn:microsoft.com/office/officeart/2005/8/layout/hierarchy2"/>
    <dgm:cxn modelId="{9C77266F-0229-4237-B80F-084BFC85FE1A}" type="presParOf" srcId="{6CA6B921-B1EE-472D-80AF-19D05933FB75}" destId="{F96D16B8-B00D-4C57-B6B0-DEC0AFF502E6}" srcOrd="0" destOrd="0" presId="urn:microsoft.com/office/officeart/2005/8/layout/hierarchy2"/>
    <dgm:cxn modelId="{D58849FD-0484-412B-8A6B-7AF6F40BD247}" type="presParOf" srcId="{0C44323E-313B-4528-A410-91C84254FF83}" destId="{82053E61-2D77-4D89-9DFC-8DFAE6B4447E}" srcOrd="3" destOrd="0" presId="urn:microsoft.com/office/officeart/2005/8/layout/hierarchy2"/>
    <dgm:cxn modelId="{11E0CA91-957B-431E-A58C-C35D76B4ECAF}" type="presParOf" srcId="{82053E61-2D77-4D89-9DFC-8DFAE6B4447E}" destId="{DC554EC9-DCC0-496A-A968-869C436AF577}" srcOrd="0" destOrd="0" presId="urn:microsoft.com/office/officeart/2005/8/layout/hierarchy2"/>
    <dgm:cxn modelId="{DEE54596-79D6-49D2-ACA0-74ED21A699D9}" type="presParOf" srcId="{82053E61-2D77-4D89-9DFC-8DFAE6B4447E}" destId="{6A43452A-D70E-4E9C-B4FA-A96C7AE82A22}" srcOrd="1" destOrd="0" presId="urn:microsoft.com/office/officeart/2005/8/layout/hierarchy2"/>
    <dgm:cxn modelId="{B4012BEB-683A-4EB3-B9D1-668650110D24}" type="presParOf" srcId="{6A43452A-D70E-4E9C-B4FA-A96C7AE82A22}" destId="{FE8635B5-FD92-446A-AC16-5E15478E98A0}" srcOrd="0" destOrd="0" presId="urn:microsoft.com/office/officeart/2005/8/layout/hierarchy2"/>
    <dgm:cxn modelId="{65676194-56D3-4A39-8123-4F2240305A12}" type="presParOf" srcId="{FE8635B5-FD92-446A-AC16-5E15478E98A0}" destId="{984EDF43-5FC5-45B1-854E-730873F2D761}" srcOrd="0" destOrd="0" presId="urn:microsoft.com/office/officeart/2005/8/layout/hierarchy2"/>
    <dgm:cxn modelId="{9A2C5C68-C6EC-4982-8D5F-9E33A9B89E9C}" type="presParOf" srcId="{6A43452A-D70E-4E9C-B4FA-A96C7AE82A22}" destId="{FAC4ADEC-AE3A-4D08-A698-43102D558B11}" srcOrd="1" destOrd="0" presId="urn:microsoft.com/office/officeart/2005/8/layout/hierarchy2"/>
    <dgm:cxn modelId="{AB68ED5F-E3F3-4711-9D07-0B2665A9A8DD}" type="presParOf" srcId="{FAC4ADEC-AE3A-4D08-A698-43102D558B11}" destId="{8253496F-563D-43D8-B2C4-665562DC6544}" srcOrd="0" destOrd="0" presId="urn:microsoft.com/office/officeart/2005/8/layout/hierarchy2"/>
    <dgm:cxn modelId="{8D79B327-0807-494B-B6CF-7313CEB8E10A}" type="presParOf" srcId="{FAC4ADEC-AE3A-4D08-A698-43102D558B11}" destId="{C377C449-116A-456E-97D6-A16409063A27}" srcOrd="1" destOrd="0" presId="urn:microsoft.com/office/officeart/2005/8/layout/hierarchy2"/>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5D231-BBF4-4447-9818-61208FCD0244}">
      <dsp:nvSpPr>
        <dsp:cNvPr id="0" name=""/>
        <dsp:cNvSpPr/>
      </dsp:nvSpPr>
      <dsp:spPr>
        <a:xfrm>
          <a:off x="2478" y="197599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b="1" kern="1200" dirty="0" smtClean="0">
              <a:solidFill>
                <a:srgbClr val="00B050"/>
              </a:solidFill>
            </a:rPr>
            <a:t>Java EE Clients</a:t>
          </a:r>
          <a:endParaRPr lang="en-US" sz="3200" b="1" kern="1200" dirty="0">
            <a:solidFill>
              <a:srgbClr val="00B050"/>
            </a:solidFill>
          </a:endParaRPr>
        </a:p>
      </dsp:txBody>
      <dsp:txXfrm>
        <a:off x="31531" y="2005044"/>
        <a:ext cx="1925800" cy="933847"/>
      </dsp:txXfrm>
    </dsp:sp>
    <dsp:sp modelId="{51104F2F-9BB1-42B4-A87C-500B8FDC615A}">
      <dsp:nvSpPr>
        <dsp:cNvPr id="0" name=""/>
        <dsp:cNvSpPr/>
      </dsp:nvSpPr>
      <dsp:spPr>
        <a:xfrm rot="18770822">
          <a:off x="1799701" y="2023775"/>
          <a:ext cx="1166929" cy="40825"/>
        </a:xfrm>
        <a:custGeom>
          <a:avLst/>
          <a:gdLst/>
          <a:ahLst/>
          <a:cxnLst/>
          <a:rect l="0" t="0" r="0" b="0"/>
          <a:pathLst>
            <a:path>
              <a:moveTo>
                <a:pt x="0" y="20412"/>
              </a:moveTo>
              <a:lnTo>
                <a:pt x="1166929" y="204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2353992" y="2015015"/>
        <a:ext cx="58346" cy="58346"/>
      </dsp:txXfrm>
    </dsp:sp>
    <dsp:sp modelId="{1BD730F3-72E6-4B19-A4DC-F088523A10E0}">
      <dsp:nvSpPr>
        <dsp:cNvPr id="0" name=""/>
        <dsp:cNvSpPr/>
      </dsp:nvSpPr>
      <dsp:spPr>
        <a:xfrm>
          <a:off x="2779946" y="112043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7030A0"/>
              </a:solidFill>
            </a:rPr>
            <a:t>Web clients</a:t>
          </a:r>
          <a:endParaRPr lang="en-US" sz="3200" kern="1200" dirty="0">
            <a:solidFill>
              <a:srgbClr val="7030A0"/>
            </a:solidFill>
          </a:endParaRPr>
        </a:p>
      </dsp:txBody>
      <dsp:txXfrm>
        <a:off x="2808999" y="1149484"/>
        <a:ext cx="1925800" cy="933847"/>
      </dsp:txXfrm>
    </dsp:sp>
    <dsp:sp modelId="{08F1CDE0-25B0-43E7-99CE-0684725018D2}">
      <dsp:nvSpPr>
        <dsp:cNvPr id="0" name=""/>
        <dsp:cNvSpPr/>
      </dsp:nvSpPr>
      <dsp:spPr>
        <a:xfrm rot="19457599">
          <a:off x="4671996" y="1310809"/>
          <a:ext cx="977275" cy="40825"/>
        </a:xfrm>
        <a:custGeom>
          <a:avLst/>
          <a:gdLst/>
          <a:ahLst/>
          <a:cxnLst/>
          <a:rect l="0" t="0" r="0" b="0"/>
          <a:pathLst>
            <a:path>
              <a:moveTo>
                <a:pt x="0" y="20412"/>
              </a:moveTo>
              <a:lnTo>
                <a:pt x="977275" y="204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5136202" y="1306790"/>
        <a:ext cx="48863" cy="48863"/>
      </dsp:txXfrm>
    </dsp:sp>
    <dsp:sp modelId="{EDB06E7F-2CE4-462A-93E2-3C8BE0513BAE}">
      <dsp:nvSpPr>
        <dsp:cNvPr id="0" name=""/>
        <dsp:cNvSpPr/>
      </dsp:nvSpPr>
      <dsp:spPr>
        <a:xfrm>
          <a:off x="5557415" y="550058"/>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7030A0"/>
              </a:solidFill>
            </a:rPr>
            <a:t>Dynamic web pages</a:t>
          </a:r>
          <a:endParaRPr lang="en-US" sz="3200" kern="1200" dirty="0">
            <a:solidFill>
              <a:srgbClr val="7030A0"/>
            </a:solidFill>
          </a:endParaRPr>
        </a:p>
      </dsp:txBody>
      <dsp:txXfrm>
        <a:off x="5586468" y="579111"/>
        <a:ext cx="1925800" cy="933847"/>
      </dsp:txXfrm>
    </dsp:sp>
    <dsp:sp modelId="{CF1DAC6A-1A32-49EA-8E89-9449D4B6D626}">
      <dsp:nvSpPr>
        <dsp:cNvPr id="0" name=""/>
        <dsp:cNvSpPr/>
      </dsp:nvSpPr>
      <dsp:spPr>
        <a:xfrm rot="2142401">
          <a:off x="4671996" y="1881182"/>
          <a:ext cx="977275" cy="40825"/>
        </a:xfrm>
        <a:custGeom>
          <a:avLst/>
          <a:gdLst/>
          <a:ahLst/>
          <a:cxnLst/>
          <a:rect l="0" t="0" r="0" b="0"/>
          <a:pathLst>
            <a:path>
              <a:moveTo>
                <a:pt x="0" y="20412"/>
              </a:moveTo>
              <a:lnTo>
                <a:pt x="977275" y="204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5136202" y="1877163"/>
        <a:ext cx="48863" cy="48863"/>
      </dsp:txXfrm>
    </dsp:sp>
    <dsp:sp modelId="{090978A7-B8FF-4F56-9E89-4997C67C5CEE}">
      <dsp:nvSpPr>
        <dsp:cNvPr id="0" name=""/>
        <dsp:cNvSpPr/>
      </dsp:nvSpPr>
      <dsp:spPr>
        <a:xfrm>
          <a:off x="5557415" y="1690804"/>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7030A0"/>
              </a:solidFill>
            </a:rPr>
            <a:t>Web browser</a:t>
          </a:r>
          <a:endParaRPr lang="en-US" sz="3200" kern="1200" dirty="0">
            <a:solidFill>
              <a:srgbClr val="7030A0"/>
            </a:solidFill>
          </a:endParaRPr>
        </a:p>
      </dsp:txBody>
      <dsp:txXfrm>
        <a:off x="5586468" y="1719857"/>
        <a:ext cx="1925800" cy="933847"/>
      </dsp:txXfrm>
    </dsp:sp>
    <dsp:sp modelId="{6CA6B921-B1EE-472D-80AF-19D05933FB75}">
      <dsp:nvSpPr>
        <dsp:cNvPr id="0" name=""/>
        <dsp:cNvSpPr/>
      </dsp:nvSpPr>
      <dsp:spPr>
        <a:xfrm rot="2829178">
          <a:off x="1799701" y="2879335"/>
          <a:ext cx="1166929" cy="40825"/>
        </a:xfrm>
        <a:custGeom>
          <a:avLst/>
          <a:gdLst/>
          <a:ahLst/>
          <a:cxnLst/>
          <a:rect l="0" t="0" r="0" b="0"/>
          <a:pathLst>
            <a:path>
              <a:moveTo>
                <a:pt x="0" y="20412"/>
              </a:moveTo>
              <a:lnTo>
                <a:pt x="1166929" y="204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2353992" y="2870574"/>
        <a:ext cx="58346" cy="58346"/>
      </dsp:txXfrm>
    </dsp:sp>
    <dsp:sp modelId="{DC554EC9-DCC0-496A-A968-869C436AF577}">
      <dsp:nvSpPr>
        <dsp:cNvPr id="0" name=""/>
        <dsp:cNvSpPr/>
      </dsp:nvSpPr>
      <dsp:spPr>
        <a:xfrm>
          <a:off x="2779946" y="283155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002060"/>
              </a:solidFill>
            </a:rPr>
            <a:t>Application Clients</a:t>
          </a:r>
          <a:endParaRPr lang="en-US" sz="3200" kern="1200" dirty="0">
            <a:solidFill>
              <a:srgbClr val="002060"/>
            </a:solidFill>
          </a:endParaRPr>
        </a:p>
      </dsp:txBody>
      <dsp:txXfrm>
        <a:off x="2808999" y="2860604"/>
        <a:ext cx="1925800" cy="933847"/>
      </dsp:txXfrm>
    </dsp:sp>
    <dsp:sp modelId="{FE8635B5-FD92-446A-AC16-5E15478E98A0}">
      <dsp:nvSpPr>
        <dsp:cNvPr id="0" name=""/>
        <dsp:cNvSpPr/>
      </dsp:nvSpPr>
      <dsp:spPr>
        <a:xfrm>
          <a:off x="4763853" y="3307115"/>
          <a:ext cx="793562" cy="40825"/>
        </a:xfrm>
        <a:custGeom>
          <a:avLst/>
          <a:gdLst/>
          <a:ahLst/>
          <a:cxnLst/>
          <a:rect l="0" t="0" r="0" b="0"/>
          <a:pathLst>
            <a:path>
              <a:moveTo>
                <a:pt x="0" y="20412"/>
              </a:moveTo>
              <a:lnTo>
                <a:pt x="793562" y="2041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kern="1200">
            <a:solidFill>
              <a:schemeClr val="tx1"/>
            </a:solidFill>
          </a:endParaRPr>
        </a:p>
      </dsp:txBody>
      <dsp:txXfrm>
        <a:off x="5140795" y="3307688"/>
        <a:ext cx="39678" cy="39678"/>
      </dsp:txXfrm>
    </dsp:sp>
    <dsp:sp modelId="{8253496F-563D-43D8-B2C4-665562DC6544}">
      <dsp:nvSpPr>
        <dsp:cNvPr id="0" name=""/>
        <dsp:cNvSpPr/>
      </dsp:nvSpPr>
      <dsp:spPr>
        <a:xfrm>
          <a:off x="5557415" y="2831551"/>
          <a:ext cx="1983906" cy="991953"/>
        </a:xfrm>
        <a:prstGeom prst="roundRect">
          <a:avLst>
            <a:gd name="adj" fmla="val 10000"/>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sz="3200" kern="1200" dirty="0" smtClean="0">
              <a:solidFill>
                <a:srgbClr val="002060"/>
              </a:solidFill>
            </a:rPr>
            <a:t>GUIs</a:t>
          </a:r>
          <a:endParaRPr lang="en-US" sz="3200" kern="1200" dirty="0">
            <a:solidFill>
              <a:srgbClr val="002060"/>
            </a:solidFill>
          </a:endParaRPr>
        </a:p>
      </dsp:txBody>
      <dsp:txXfrm>
        <a:off x="5586468" y="2860604"/>
        <a:ext cx="1925800" cy="93384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1AF1BF-01CA-4961-8652-E6477156C05F}" type="datetimeFigureOut">
              <a:rPr lang="en-US" smtClean="0"/>
              <a:pPr/>
              <a:t>8/19/2021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FD58E-DEE8-4398-ADC3-3A3441DE8C86}" type="slidenum">
              <a:rPr lang="en-US" smtClean="0"/>
              <a:pPr/>
              <a:t>‹#›</a:t>
            </a:fld>
            <a:endParaRPr lang="en-US"/>
          </a:p>
        </p:txBody>
      </p:sp>
    </p:spTree>
    <p:extLst>
      <p:ext uri="{BB962C8B-B14F-4D97-AF65-F5344CB8AC3E}">
        <p14:creationId xmlns:p14="http://schemas.microsoft.com/office/powerpoint/2010/main" val="1420231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latin typeface="Arial" charset="0"/>
              </a:rPr>
              <a:t>When you create a WSDL binding that maps a </a:t>
            </a:r>
            <a:r>
              <a:rPr lang="en-US" altLang="en-US" dirty="0" err="1" smtClean="0">
                <a:latin typeface="Arial" charset="0"/>
              </a:rPr>
              <a:t>portType's</a:t>
            </a:r>
            <a:r>
              <a:rPr lang="en-US" altLang="en-US" dirty="0" smtClean="0">
                <a:latin typeface="Arial" charset="0"/>
              </a:rPr>
              <a:t> operations to SOAP messages sent over HTTP, you have to specify whether the SOAP messages contain literal or encoded instances of the schema constructs the operations use. If you choose "literal," you are saying that the XML Schema constructs your WSDL definitions refer to are concrete specifications of what will appear in your SOAP message bodies. If you choose "encoded," you are saying that the XML Schema constructs your WSDL definitions refer to are abstract specifications of what will appear in your SOAP message bodies; these can be made concrete by applying the rules defined by SOAP encoding. (The WSDL specification allows other encoding schemes as well, but alternatives are rarely if ever used.) </a:t>
            </a:r>
          </a:p>
          <a:p>
            <a:endParaRPr lang="en-US" dirty="0"/>
          </a:p>
        </p:txBody>
      </p:sp>
      <p:sp>
        <p:nvSpPr>
          <p:cNvPr id="4" name="Slide Number Placeholder 3"/>
          <p:cNvSpPr>
            <a:spLocks noGrp="1"/>
          </p:cNvSpPr>
          <p:nvPr>
            <p:ph type="sldNum" sz="quarter" idx="10"/>
          </p:nvPr>
        </p:nvSpPr>
        <p:spPr/>
        <p:txBody>
          <a:bodyPr/>
          <a:lstStyle/>
          <a:p>
            <a:fld id="{AEC313EF-AEF9-415B-AF7E-2E459D18F9CD}" type="slidenum">
              <a:rPr lang="en-US" smtClean="0"/>
              <a:pPr/>
              <a:t>39</a:t>
            </a:fld>
            <a:endParaRPr lang="en-US"/>
          </a:p>
        </p:txBody>
      </p:sp>
    </p:spTree>
    <p:extLst>
      <p:ext uri="{BB962C8B-B14F-4D97-AF65-F5344CB8AC3E}">
        <p14:creationId xmlns:p14="http://schemas.microsoft.com/office/powerpoint/2010/main" val="477962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21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0AD8B82-BA90-4D37-9CEE-7D5AE470854B}" type="slidenum">
              <a:rPr lang="en-US"/>
              <a:pPr fontAlgn="base">
                <a:spcBef>
                  <a:spcPct val="0"/>
                </a:spcBef>
                <a:spcAft>
                  <a:spcPct val="0"/>
                </a:spcAft>
              </a:pPr>
              <a:t>40</a:t>
            </a:fld>
            <a:endParaRPr lang="en-US"/>
          </a:p>
        </p:txBody>
      </p:sp>
    </p:spTree>
    <p:extLst>
      <p:ext uri="{BB962C8B-B14F-4D97-AF65-F5344CB8AC3E}">
        <p14:creationId xmlns:p14="http://schemas.microsoft.com/office/powerpoint/2010/main" val="8215220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BFC9A3-AF3C-4CC1-8FAA-58AD05255FE4}" type="datetimeFigureOut">
              <a:rPr lang="en-US" smtClean="0"/>
              <a:pPr/>
              <a:t>8/19/2021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BFC9A3-AF3C-4CC1-8FAA-58AD05255FE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BFC9A3-AF3C-4CC1-8FAA-58AD05255FE4}" type="datetimeFigureOut">
              <a:rPr lang="en-US" smtClean="0"/>
              <a:pPr/>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BFC9A3-AF3C-4CC1-8FAA-58AD05255FE4}" type="datetimeFigureOut">
              <a:rPr lang="en-US" smtClean="0"/>
              <a:pPr/>
              <a:t>8/19/2021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BFC9A3-AF3C-4CC1-8FAA-58AD05255FE4}" type="datetimeFigureOut">
              <a:rPr lang="en-US" smtClean="0"/>
              <a:pPr/>
              <a:t>8/19/2021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FC9A3-AF3C-4CC1-8FAA-58AD05255FE4}" type="datetimeFigureOut">
              <a:rPr lang="en-US" smtClean="0"/>
              <a:pPr/>
              <a:t>8/19/2021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8/19/2021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8/19/2021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FC9A3-AF3C-4CC1-8FAA-58AD05255FE4}" type="datetimeFigureOut">
              <a:rPr lang="en-US" smtClean="0"/>
              <a:pPr/>
              <a:t>8/19/2021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87FE11-6A5F-4A23-80E7-CB018A330197}"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4800600"/>
            <a:ext cx="7406640" cy="1752600"/>
          </a:xfrm>
        </p:spPr>
        <p:txBody>
          <a:bodyPr/>
          <a:lstStyle/>
          <a:p>
            <a:r>
              <a:rPr lang="en-US" b="1" dirty="0">
                <a:effectLst>
                  <a:outerShdw blurRad="38100" dist="38100" dir="2700000" algn="tl">
                    <a:srgbClr val="000000">
                      <a:alpha val="43137"/>
                    </a:srgbClr>
                  </a:outerShdw>
                </a:effectLst>
              </a:rPr>
              <a:t>Principles of distributed</a:t>
            </a:r>
          </a:p>
          <a:p>
            <a:r>
              <a:rPr lang="en-US" b="1" dirty="0">
                <a:effectLst>
                  <a:outerShdw blurRad="38100" dist="38100" dir="2700000" algn="tl">
                    <a:srgbClr val="000000">
                      <a:alpha val="43137"/>
                    </a:srgbClr>
                  </a:outerShdw>
                </a:effectLst>
              </a:rPr>
              <a:t>software development</a:t>
            </a:r>
          </a:p>
        </p:txBody>
      </p:sp>
      <p:sp>
        <p:nvSpPr>
          <p:cNvPr id="2" name="Title 1"/>
          <p:cNvSpPr>
            <a:spLocks noGrp="1"/>
          </p:cNvSpPr>
          <p:nvPr>
            <p:ph type="ctrTitle"/>
          </p:nvPr>
        </p:nvSpPr>
        <p:spPr>
          <a:xfrm>
            <a:off x="990600" y="609600"/>
            <a:ext cx="8153400" cy="1472184"/>
          </a:xfrm>
        </p:spPr>
        <p:txBody>
          <a:bodyPr>
            <a:normAutofit/>
          </a:bodyPr>
          <a:lstStyle/>
          <a:p>
            <a:r>
              <a:rPr lang="en-US" b="1" dirty="0" smtClean="0">
                <a:effectLst>
                  <a:outerShdw blurRad="38100" dist="38100" dir="2700000" algn="tl">
                    <a:srgbClr val="000000">
                      <a:alpha val="43137"/>
                    </a:srgbClr>
                  </a:outerShdw>
                </a:effectLst>
              </a:rPr>
              <a:t>HNDIT2411</a:t>
            </a:r>
            <a:br>
              <a:rPr lang="en-US" b="1" dirty="0" smtClean="0">
                <a:effectLst>
                  <a:outerShdw blurRad="38100" dist="38100" dir="2700000" algn="tl">
                    <a:srgbClr val="000000">
                      <a:alpha val="43137"/>
                    </a:srgbClr>
                  </a:outerShdw>
                </a:effectLst>
              </a:rPr>
            </a:br>
            <a:r>
              <a:rPr lang="en-US" b="1" dirty="0">
                <a:effectLst>
                  <a:outerShdw blurRad="38100" dist="38100" dir="2700000" algn="tl">
                    <a:srgbClr val="000000">
                      <a:alpha val="43137"/>
                    </a:srgbClr>
                  </a:outerShdw>
                </a:effectLst>
              </a:rPr>
              <a:t>Enterprise Architecture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1143000"/>
          </a:xfrm>
        </p:spPr>
        <p:txBody>
          <a:bodyPr>
            <a:noAutofit/>
          </a:bodyPr>
          <a:lstStyle/>
          <a:p>
            <a:pPr algn="l"/>
            <a:r>
              <a:rPr lang="en-US" sz="3600" dirty="0" smtClean="0">
                <a:solidFill>
                  <a:schemeClr val="tx1">
                    <a:lumMod val="65000"/>
                    <a:lumOff val="35000"/>
                  </a:schemeClr>
                </a:solidFill>
                <a:effectLst>
                  <a:outerShdw blurRad="63500" algn="ctr" rotWithShape="0">
                    <a:prstClr val="black">
                      <a:alpha val="14000"/>
                    </a:prstClr>
                  </a:outerShdw>
                </a:effectLst>
              </a:rPr>
              <a:t>Introduction</a:t>
            </a:r>
            <a:r>
              <a:rPr lang="en-US" sz="3600" dirty="0" smtClean="0"/>
              <a:t> </a:t>
            </a:r>
            <a:r>
              <a:rPr lang="en-US" sz="3600" dirty="0" smtClean="0">
                <a:solidFill>
                  <a:schemeClr val="tx1">
                    <a:lumMod val="65000"/>
                    <a:lumOff val="35000"/>
                  </a:schemeClr>
                </a:solidFill>
                <a:effectLst>
                  <a:outerShdw blurRad="63500" algn="ctr" rotWithShape="0">
                    <a:prstClr val="black">
                      <a:alpha val="14000"/>
                    </a:prstClr>
                  </a:outerShdw>
                </a:effectLst>
              </a:rPr>
              <a:t>to Multi-Tiered Architecture</a:t>
            </a:r>
            <a:endParaRPr lang="en-US" sz="3600" dirty="0">
              <a:solidFill>
                <a:schemeClr val="tx1">
                  <a:lumMod val="65000"/>
                  <a:lumOff val="35000"/>
                </a:schemeClr>
              </a:solidFill>
              <a:effectLst>
                <a:outerShdw blurRad="63500" algn="ctr" rotWithShape="0">
                  <a:prstClr val="black">
                    <a:alpha val="14000"/>
                  </a:prstClr>
                </a:outerShdw>
              </a:effectLst>
            </a:endParaRPr>
          </a:p>
        </p:txBody>
      </p:sp>
      <p:pic>
        <p:nvPicPr>
          <p:cNvPr id="7" name="Picture Placeholder 6"/>
          <p:cNvPicPr>
            <a:picLocks noChangeAspect="1"/>
          </p:cNvPicPr>
          <p:nvPr/>
        </p:nvPicPr>
        <p:blipFill>
          <a:blip r:embed="rId2">
            <a:extLst>
              <a:ext uri="{28A0092B-C50C-407E-A947-70E740481C1C}">
                <a14:useLocalDpi xmlns:a14="http://schemas.microsoft.com/office/drawing/2010/main" val="0"/>
              </a:ext>
            </a:extLst>
          </a:blip>
          <a:srcRect l="3800" r="3800"/>
          <a:stretch>
            <a:fillRect/>
          </a:stretch>
        </p:blipFill>
        <p:spPr>
          <a:xfrm>
            <a:off x="838200" y="838200"/>
            <a:ext cx="7696199" cy="5851783"/>
          </a:xfrm>
          <a:prstGeom prst="rect">
            <a:avLst/>
          </a:prstGeom>
        </p:spPr>
      </p:pic>
    </p:spTree>
    <p:extLst>
      <p:ext uri="{BB962C8B-B14F-4D97-AF65-F5344CB8AC3E}">
        <p14:creationId xmlns:p14="http://schemas.microsoft.com/office/powerpoint/2010/main" val="2871194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Enterprise Computing</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lvl="0" algn="just"/>
            <a:r>
              <a:rPr lang="en-US" dirty="0"/>
              <a:t>Computing that is distributed across the network.</a:t>
            </a:r>
            <a:endParaRPr lang="en-US" sz="2800" dirty="0"/>
          </a:p>
          <a:p>
            <a:pPr lvl="0" algn="just"/>
            <a:r>
              <a:rPr lang="en-US" dirty="0"/>
              <a:t>Support the need to build distributed, transactional, and portable applications that leverage the speed, security, and reliability of server side technology.</a:t>
            </a:r>
            <a:endParaRPr lang="en-US" sz="2800" dirty="0"/>
          </a:p>
          <a:p>
            <a:pPr lvl="0" algn="just"/>
            <a:r>
              <a:rPr lang="en-US" dirty="0"/>
              <a:t>J2EE</a:t>
            </a:r>
            <a:endParaRPr lang="en-US" sz="2800" dirty="0"/>
          </a:p>
          <a:p>
            <a:pPr lvl="1" algn="just"/>
            <a:r>
              <a:rPr lang="en-US" dirty="0"/>
              <a:t>Provides a set of tools to design , develop, assemble and deploy platform independent server based applications more quickly.</a:t>
            </a:r>
            <a:endParaRPr lang="en-US" sz="2400" dirty="0"/>
          </a:p>
          <a:p>
            <a:pPr lvl="1" algn="just"/>
            <a:r>
              <a:rPr lang="en-US" dirty="0"/>
              <a:t>Provides a distributed, component based, loosely coupled , reliable and secure, platform independent and responsive application environment.</a:t>
            </a:r>
            <a:endParaRPr lang="en-US" sz="2400" dirty="0"/>
          </a:p>
          <a:p>
            <a:pPr algn="just"/>
            <a:endParaRPr lang="en-US" dirty="0"/>
          </a:p>
        </p:txBody>
      </p:sp>
    </p:spTree>
    <p:extLst>
      <p:ext uri="{BB962C8B-B14F-4D97-AF65-F5344CB8AC3E}">
        <p14:creationId xmlns:p14="http://schemas.microsoft.com/office/powerpoint/2010/main" val="279055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Enterprise Computing</a:t>
            </a:r>
            <a:r>
              <a:rPr lang="en-US" dirty="0"/>
              <a:t/>
            </a:r>
            <a:br>
              <a:rPr lang="en-US" dirty="0"/>
            </a:br>
            <a:endParaRPr lang="en-US" dirty="0"/>
          </a:p>
        </p:txBody>
      </p:sp>
      <p:sp>
        <p:nvSpPr>
          <p:cNvPr id="1025"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6" name="Table 5"/>
          <p:cNvGraphicFramePr>
            <a:graphicFrameLocks noGrp="1"/>
          </p:cNvGraphicFramePr>
          <p:nvPr/>
        </p:nvGraphicFramePr>
        <p:xfrm>
          <a:off x="609600" y="1676400"/>
          <a:ext cx="8077200" cy="4724400"/>
        </p:xfrm>
        <a:graphic>
          <a:graphicData uri="http://schemas.openxmlformats.org/drawingml/2006/table">
            <a:tbl>
              <a:tblPr/>
              <a:tblGrid>
                <a:gridCol w="2692400"/>
                <a:gridCol w="2692400"/>
                <a:gridCol w="2692400"/>
              </a:tblGrid>
              <a:tr h="3006436">
                <a:tc rowSpan="2">
                  <a:txBody>
                    <a:bodyPr/>
                    <a:lstStyle/>
                    <a:p>
                      <a:pPr marL="0" marR="0">
                        <a:lnSpc>
                          <a:spcPct val="115000"/>
                        </a:lnSpc>
                        <a:spcBef>
                          <a:spcPts val="0"/>
                        </a:spcBef>
                        <a:spcAft>
                          <a:spcPts val="0"/>
                        </a:spcAft>
                      </a:pPr>
                      <a:r>
                        <a:rPr lang="en-US" sz="2400" b="1">
                          <a:latin typeface="Times New Roman"/>
                          <a:ea typeface="Calibri"/>
                          <a:cs typeface="Times New Roman"/>
                        </a:rPr>
                        <a:t>Challenges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Portability</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Diverse</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Environments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Time-to-market</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Core Competence</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Assembly</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Integration</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0"/>
                        </a:spcAft>
                      </a:pPr>
                      <a:r>
                        <a:rPr lang="en-US" sz="2400" b="1">
                          <a:latin typeface="Times New Roman"/>
                          <a:ea typeface="Calibri"/>
                          <a:cs typeface="Times New Roman"/>
                        </a:rPr>
                        <a:t>Key Technologies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J2SE™</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J2EE™</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JMS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Servlet</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JSP</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Connector</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XML</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Data</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Binding</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XSLT</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b="1">
                          <a:latin typeface="Times New Roman"/>
                          <a:ea typeface="Calibri"/>
                          <a:cs typeface="Times New Roman"/>
                        </a:rPr>
                        <a:t>Products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App Servers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Web Servers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Components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Databases</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Object to DB</a:t>
                      </a:r>
                      <a:endParaRPr lang="en-US" sz="2000">
                        <a:latin typeface="Calibri"/>
                        <a:ea typeface="Calibri"/>
                        <a:cs typeface="Times New Roman"/>
                      </a:endParaRPr>
                    </a:p>
                    <a:p>
                      <a:pPr marL="0" marR="0">
                        <a:lnSpc>
                          <a:spcPct val="115000"/>
                        </a:lnSpc>
                        <a:spcBef>
                          <a:spcPts val="0"/>
                        </a:spcBef>
                        <a:spcAft>
                          <a:spcPts val="0"/>
                        </a:spcAft>
                      </a:pPr>
                      <a:r>
                        <a:rPr lang="en-US" sz="2400">
                          <a:latin typeface="Times New Roman"/>
                          <a:ea typeface="Calibri"/>
                          <a:cs typeface="Times New Roman"/>
                        </a:rPr>
                        <a:t>tools</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17964">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0"/>
                        </a:spcAft>
                      </a:pPr>
                      <a:r>
                        <a:rPr lang="en-US" sz="2400" b="1" dirty="0">
                          <a:latin typeface="Times New Roman"/>
                          <a:ea typeface="Calibri"/>
                          <a:cs typeface="Times New Roman"/>
                        </a:rPr>
                        <a:t>Legacy  Systems</a:t>
                      </a:r>
                      <a:endParaRPr lang="en-US" sz="2000" dirty="0">
                        <a:latin typeface="Calibri"/>
                        <a:ea typeface="Calibri"/>
                        <a:cs typeface="Times New Roman"/>
                      </a:endParaRPr>
                    </a:p>
                    <a:p>
                      <a:pPr marL="0" marR="0">
                        <a:lnSpc>
                          <a:spcPct val="115000"/>
                        </a:lnSpc>
                        <a:spcBef>
                          <a:spcPts val="0"/>
                        </a:spcBef>
                        <a:spcAft>
                          <a:spcPts val="0"/>
                        </a:spcAft>
                      </a:pPr>
                      <a:r>
                        <a:rPr lang="en-US" sz="2400" dirty="0">
                          <a:latin typeface="Times New Roman"/>
                          <a:ea typeface="Calibri"/>
                          <a:cs typeface="Times New Roman"/>
                        </a:rPr>
                        <a:t>Databases</a:t>
                      </a:r>
                      <a:endParaRPr lang="en-US" sz="2000" dirty="0">
                        <a:latin typeface="Calibri"/>
                        <a:ea typeface="Calibri"/>
                        <a:cs typeface="Times New Roman"/>
                      </a:endParaRPr>
                    </a:p>
                    <a:p>
                      <a:pPr marL="0" marR="0">
                        <a:lnSpc>
                          <a:spcPct val="115000"/>
                        </a:lnSpc>
                        <a:spcBef>
                          <a:spcPts val="0"/>
                        </a:spcBef>
                        <a:spcAft>
                          <a:spcPts val="0"/>
                        </a:spcAft>
                      </a:pPr>
                      <a:r>
                        <a:rPr lang="en-US" sz="2400" dirty="0">
                          <a:latin typeface="Times New Roman"/>
                          <a:ea typeface="Calibri"/>
                          <a:cs typeface="Times New Roman"/>
                        </a:rPr>
                        <a:t>TP Monitors</a:t>
                      </a:r>
                      <a:endParaRPr lang="en-US" sz="2000" dirty="0">
                        <a:latin typeface="Calibri"/>
                        <a:ea typeface="Calibri"/>
                        <a:cs typeface="Times New Roman"/>
                      </a:endParaRPr>
                    </a:p>
                    <a:p>
                      <a:pPr marL="0" marR="0">
                        <a:lnSpc>
                          <a:spcPct val="115000"/>
                        </a:lnSpc>
                        <a:spcBef>
                          <a:spcPts val="0"/>
                        </a:spcBef>
                        <a:spcAft>
                          <a:spcPts val="0"/>
                        </a:spcAft>
                      </a:pPr>
                      <a:r>
                        <a:rPr lang="en-US" sz="2400" dirty="0">
                          <a:latin typeface="Times New Roman"/>
                          <a:ea typeface="Calibri"/>
                          <a:cs typeface="Times New Roman"/>
                        </a:rPr>
                        <a:t>EIS Systems</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96754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tx1">
                    <a:lumMod val="65000"/>
                    <a:lumOff val="35000"/>
                  </a:schemeClr>
                </a:solidFill>
                <a:effectLst>
                  <a:outerShdw blurRad="63500" algn="ctr" rotWithShape="0">
                    <a:prstClr val="black">
                      <a:alpha val="14000"/>
                    </a:prstClr>
                  </a:outerShdw>
                </a:effectLst>
              </a:rPr>
              <a:t>Enterprise</a:t>
            </a:r>
            <a:r>
              <a:rPr lang="en-US" dirty="0" smtClean="0"/>
              <a:t> </a:t>
            </a:r>
            <a:r>
              <a:rPr lang="en-US" dirty="0">
                <a:solidFill>
                  <a:schemeClr val="tx1">
                    <a:lumMod val="65000"/>
                    <a:lumOff val="35000"/>
                  </a:schemeClr>
                </a:solidFill>
                <a:effectLst>
                  <a:outerShdw blurRad="63500" algn="ctr" rotWithShape="0">
                    <a:prstClr val="black">
                      <a:alpha val="14000"/>
                    </a:prstClr>
                  </a:outerShdw>
                </a:effectLst>
              </a:rPr>
              <a:t>Applications</a:t>
            </a:r>
          </a:p>
        </p:txBody>
      </p:sp>
      <p:sp>
        <p:nvSpPr>
          <p:cNvPr id="3" name="Content Placeholder 2"/>
          <p:cNvSpPr>
            <a:spLocks noGrp="1"/>
          </p:cNvSpPr>
          <p:nvPr>
            <p:ph idx="1"/>
          </p:nvPr>
        </p:nvSpPr>
        <p:spPr/>
        <p:txBody>
          <a:bodyPr/>
          <a:lstStyle/>
          <a:p>
            <a:pPr algn="just"/>
            <a:r>
              <a:rPr lang="en-US" sz="2800" dirty="0"/>
              <a:t>Applications designed to solve problems encountered by large enterprises</a:t>
            </a:r>
          </a:p>
          <a:p>
            <a:pPr algn="just"/>
            <a:r>
              <a:rPr lang="en-US" sz="2800" dirty="0" smtClean="0"/>
              <a:t>Used </a:t>
            </a:r>
            <a:r>
              <a:rPr lang="en-US" sz="2800" dirty="0"/>
              <a:t>by large corporations, governments, etc.</a:t>
            </a:r>
          </a:p>
          <a:p>
            <a:pPr algn="just"/>
            <a:r>
              <a:rPr lang="en-US" sz="2800" dirty="0" smtClean="0"/>
              <a:t>Useful </a:t>
            </a:r>
            <a:r>
              <a:rPr lang="en-US" sz="2800" dirty="0"/>
              <a:t>for even small organizations in an increasingly networked world</a:t>
            </a:r>
          </a:p>
          <a:p>
            <a:pPr algn="just"/>
            <a:endParaRPr lang="en-US" sz="3600" dirty="0"/>
          </a:p>
        </p:txBody>
      </p:sp>
      <p:sp>
        <p:nvSpPr>
          <p:cNvPr id="4" name="Rectangle 5"/>
          <p:cNvSpPr>
            <a:spLocks noChangeArrowheads="1"/>
          </p:cNvSpPr>
          <p:nvPr/>
        </p:nvSpPr>
        <p:spPr bwMode="auto">
          <a:xfrm>
            <a:off x="609600" y="4876800"/>
            <a:ext cx="8153400" cy="1295400"/>
          </a:xfrm>
          <a:prstGeom prst="rect">
            <a:avLst/>
          </a:prstGeom>
          <a:solidFill>
            <a:schemeClr val="accent5">
              <a:lumMod val="40000"/>
              <a:lumOff val="60000"/>
            </a:schemeClr>
          </a:solidFill>
          <a:ln/>
        </p:spPr>
        <p:style>
          <a:lnRef idx="0">
            <a:schemeClr val="accent6"/>
          </a:lnRef>
          <a:fillRef idx="1003">
            <a:schemeClr val="dk2"/>
          </a:fillRef>
          <a:effectRef idx="3">
            <a:schemeClr val="accent6"/>
          </a:effectRef>
          <a:fontRef idx="minor">
            <a:schemeClr val="lt1"/>
          </a:fontRef>
        </p:style>
        <p:txBody>
          <a:bodyPr wrap="none" lIns="90000" tIns="90000" rIns="90000" bIns="90000" anchor="ctr"/>
          <a:lstStyle/>
          <a:p>
            <a:pPr algn="ctr"/>
            <a:r>
              <a:rPr lang="en-US" sz="2800" b="0" dirty="0">
                <a:solidFill>
                  <a:srgbClr val="FF0000"/>
                </a:solidFill>
                <a:cs typeface="Arial" charset="0"/>
              </a:rPr>
              <a:t/>
            </a:r>
            <a:br>
              <a:rPr lang="en-US" sz="2800" b="0" dirty="0">
                <a:solidFill>
                  <a:srgbClr val="FF0000"/>
                </a:solidFill>
                <a:cs typeface="Arial" charset="0"/>
              </a:rPr>
            </a:br>
            <a:r>
              <a:rPr lang="en-US" sz="2800" b="0" dirty="0">
                <a:solidFill>
                  <a:srgbClr val="FF0000"/>
                </a:solidFill>
                <a:cs typeface="Arial" charset="0"/>
              </a:rPr>
              <a:t/>
            </a:r>
            <a:br>
              <a:rPr lang="en-US" sz="2800" b="0" dirty="0">
                <a:solidFill>
                  <a:srgbClr val="FF0000"/>
                </a:solidFill>
                <a:cs typeface="Arial" charset="0"/>
              </a:rPr>
            </a:br>
            <a:endParaRPr lang="en-US" sz="2800" b="0" dirty="0">
              <a:solidFill>
                <a:srgbClr val="FF0000"/>
              </a:solidFill>
              <a:cs typeface="Arial" charset="0"/>
            </a:endParaRPr>
          </a:p>
          <a:p>
            <a:pPr algn="ctr"/>
            <a:r>
              <a:rPr lang="en-US" sz="2800" b="0" i="1" dirty="0">
                <a:solidFill>
                  <a:srgbClr val="FF0000"/>
                </a:solidFill>
                <a:cs typeface="Arial" charset="0"/>
              </a:rPr>
              <a:t>Large-scale  </a:t>
            </a:r>
            <a:r>
              <a:rPr lang="en-US" sz="2800" b="0" dirty="0">
                <a:solidFill>
                  <a:srgbClr val="FF0000"/>
                </a:solidFill>
                <a:cs typeface="Arial" charset="0"/>
                <a:sym typeface="Wingdings" pitchFamily="2" charset="2"/>
              </a:rPr>
              <a:t> </a:t>
            </a:r>
            <a:r>
              <a:rPr lang="en-US" sz="2800" b="0" i="1" dirty="0">
                <a:solidFill>
                  <a:srgbClr val="FF0000"/>
                </a:solidFill>
                <a:cs typeface="Arial" charset="0"/>
              </a:rPr>
              <a:t> Scalable</a:t>
            </a:r>
          </a:p>
          <a:p>
            <a:pPr algn="ctr"/>
            <a:r>
              <a:rPr lang="en-US" sz="2800" b="0" i="1" dirty="0">
                <a:solidFill>
                  <a:srgbClr val="FF0000"/>
                </a:solidFill>
                <a:cs typeface="Arial" charset="0"/>
              </a:rPr>
              <a:t>Reliable  </a:t>
            </a:r>
            <a:r>
              <a:rPr lang="en-US" sz="2800" b="0" dirty="0">
                <a:solidFill>
                  <a:srgbClr val="FF0000"/>
                </a:solidFill>
                <a:cs typeface="Arial" charset="0"/>
                <a:sym typeface="Wingdings" pitchFamily="2" charset="2"/>
              </a:rPr>
              <a:t> </a:t>
            </a:r>
            <a:r>
              <a:rPr lang="en-US" sz="2800" b="0" i="1" dirty="0">
                <a:solidFill>
                  <a:srgbClr val="FF0000"/>
                </a:solidFill>
                <a:cs typeface="Arial" charset="0"/>
                <a:sym typeface="Wingdings" pitchFamily="2" charset="2"/>
              </a:rPr>
              <a:t> </a:t>
            </a:r>
            <a:r>
              <a:rPr lang="en-US" sz="2800" b="0" i="1" dirty="0">
                <a:solidFill>
                  <a:srgbClr val="FF0000"/>
                </a:solidFill>
                <a:cs typeface="Arial" charset="0"/>
              </a:rPr>
              <a:t>Secure</a:t>
            </a:r>
          </a:p>
          <a:p>
            <a:endParaRPr lang="en-US" sz="2800" b="0" i="1" dirty="0">
              <a:solidFill>
                <a:srgbClr val="FF0000"/>
              </a:solidFill>
              <a:cs typeface="Arial" charset="0"/>
            </a:endParaRPr>
          </a:p>
          <a:p>
            <a:endParaRPr lang="en-US" sz="2800" b="0" dirty="0">
              <a:solidFill>
                <a:srgbClr val="FF0000"/>
              </a:solidFill>
              <a:cs typeface="Arial" charset="0"/>
            </a:endParaRPr>
          </a:p>
        </p:txBody>
      </p:sp>
    </p:spTree>
    <p:extLst>
      <p:ext uri="{BB962C8B-B14F-4D97-AF65-F5344CB8AC3E}">
        <p14:creationId xmlns:p14="http://schemas.microsoft.com/office/powerpoint/2010/main" val="30380716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Multi-tiered Architecture</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r>
              <a:rPr lang="en-US" sz="2400" dirty="0"/>
              <a:t>Functionality of application separated into isolated functional areas called ‘tiers’</a:t>
            </a:r>
            <a:br>
              <a:rPr lang="en-US" sz="2400" dirty="0"/>
            </a:br>
            <a:endParaRPr lang="en-US" sz="2400" dirty="0"/>
          </a:p>
          <a:p>
            <a:r>
              <a:rPr lang="en-US" sz="2400" dirty="0"/>
              <a:t>3-tiered architecture: </a:t>
            </a:r>
            <a:endParaRPr lang="en-US" sz="2400" dirty="0" smtClean="0"/>
          </a:p>
          <a:p>
            <a:pPr marL="0" indent="0">
              <a:buNone/>
            </a:pPr>
            <a:endParaRPr lang="en-US" dirty="0"/>
          </a:p>
          <a:p>
            <a:endParaRPr lang="en-US" dirty="0"/>
          </a:p>
        </p:txBody>
      </p:sp>
      <p:sp>
        <p:nvSpPr>
          <p:cNvPr id="4" name="Text Box 5"/>
          <p:cNvSpPr txBox="1">
            <a:spLocks noChangeArrowheads="1"/>
          </p:cNvSpPr>
          <p:nvPr/>
        </p:nvSpPr>
        <p:spPr bwMode="auto">
          <a:xfrm>
            <a:off x="1219200" y="3505200"/>
            <a:ext cx="6553200" cy="2533650"/>
          </a:xfrm>
          <a:prstGeom prst="rect">
            <a:avLst/>
          </a:prstGeom>
          <a:noFill/>
          <a:ln w="12700" algn="ctr">
            <a:solidFill>
              <a:srgbClr val="100F76"/>
            </a:solidFill>
            <a:miter lim="800000"/>
            <a:headEnd/>
            <a:tailEnd/>
          </a:ln>
          <a:effectLst/>
          <a:extLst>
            <a:ext uri="{909E8E84-426E-40DD-AFC4-6F175D3DCCD1}">
              <a14:hiddenFill xmlns:a14="http://schemas.microsoft.com/office/drawing/2010/main">
                <a:solidFill>
                  <a:srgbClr val="FFFF00">
                    <a:alpha val="47058"/>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90000" rIns="90000" bIns="90000">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a:spcBef>
                <a:spcPct val="20000"/>
              </a:spcBef>
              <a:buClr>
                <a:srgbClr val="100F76"/>
              </a:buClr>
              <a:buFont typeface="Wingdings" pitchFamily="2" charset="2"/>
              <a:buChar char="§"/>
            </a:pPr>
            <a:r>
              <a:rPr lang="en-US" altLang="en-US" sz="1800" dirty="0">
                <a:solidFill>
                  <a:schemeClr val="tx1"/>
                </a:solidFill>
                <a:latin typeface="+mn-lt"/>
              </a:rPr>
              <a:t> Client tier</a:t>
            </a:r>
            <a:r>
              <a:rPr lang="en-US" altLang="en-US" sz="1800" b="0" dirty="0">
                <a:solidFill>
                  <a:schemeClr val="tx1"/>
                </a:solidFill>
                <a:latin typeface="+mn-lt"/>
              </a:rPr>
              <a:t> - client program makes requests to middle tier</a:t>
            </a:r>
            <a:br>
              <a:rPr lang="en-US" altLang="en-US" sz="1800" b="0" dirty="0">
                <a:solidFill>
                  <a:schemeClr val="tx1"/>
                </a:solidFill>
                <a:latin typeface="+mn-lt"/>
              </a:rPr>
            </a:br>
            <a:endParaRPr lang="en-US" altLang="en-US" sz="1800" b="0" dirty="0">
              <a:solidFill>
                <a:schemeClr val="tx1"/>
              </a:solidFill>
              <a:latin typeface="+mn-lt"/>
            </a:endParaRPr>
          </a:p>
          <a:p>
            <a:pPr algn="l">
              <a:spcBef>
                <a:spcPct val="20000"/>
              </a:spcBef>
              <a:buClr>
                <a:srgbClr val="100F76"/>
              </a:buClr>
              <a:buFont typeface="Wingdings" pitchFamily="2" charset="2"/>
              <a:buChar char="§"/>
            </a:pPr>
            <a:r>
              <a:rPr lang="en-US" altLang="en-US" sz="1800" dirty="0">
                <a:solidFill>
                  <a:schemeClr val="tx1"/>
                </a:solidFill>
                <a:latin typeface="+mn-lt"/>
              </a:rPr>
              <a:t> Middle tier</a:t>
            </a:r>
            <a:r>
              <a:rPr lang="en-US" altLang="en-US" sz="1800" b="0" dirty="0">
                <a:solidFill>
                  <a:schemeClr val="tx1"/>
                </a:solidFill>
                <a:latin typeface="+mn-lt"/>
              </a:rPr>
              <a:t> - handles client requests by processing </a:t>
            </a:r>
            <a:br>
              <a:rPr lang="en-US" altLang="en-US" sz="1800" b="0" dirty="0">
                <a:solidFill>
                  <a:schemeClr val="tx1"/>
                </a:solidFill>
                <a:latin typeface="+mn-lt"/>
              </a:rPr>
            </a:br>
            <a:r>
              <a:rPr lang="en-US" altLang="en-US" sz="1800" b="0" dirty="0">
                <a:solidFill>
                  <a:schemeClr val="tx1"/>
                </a:solidFill>
                <a:latin typeface="+mn-lt"/>
              </a:rPr>
              <a:t>                        application data (business logic – business tier)</a:t>
            </a:r>
            <a:br>
              <a:rPr lang="en-US" altLang="en-US" sz="1800" b="0" dirty="0">
                <a:solidFill>
                  <a:schemeClr val="tx1"/>
                </a:solidFill>
                <a:latin typeface="+mn-lt"/>
              </a:rPr>
            </a:br>
            <a:endParaRPr lang="en-US" altLang="en-US" sz="1800" b="0" dirty="0">
              <a:solidFill>
                <a:schemeClr val="tx1"/>
              </a:solidFill>
              <a:latin typeface="+mn-lt"/>
            </a:endParaRPr>
          </a:p>
          <a:p>
            <a:pPr algn="l">
              <a:spcBef>
                <a:spcPct val="20000"/>
              </a:spcBef>
              <a:buClr>
                <a:srgbClr val="100F76"/>
              </a:buClr>
              <a:buFont typeface="Wingdings" pitchFamily="2" charset="2"/>
              <a:buChar char="§"/>
            </a:pPr>
            <a:r>
              <a:rPr lang="en-US" altLang="en-US" sz="1800" dirty="0">
                <a:solidFill>
                  <a:schemeClr val="tx1"/>
                </a:solidFill>
                <a:latin typeface="+mn-lt"/>
              </a:rPr>
              <a:t> Data tier</a:t>
            </a:r>
            <a:r>
              <a:rPr lang="en-US" altLang="en-US" sz="1800" b="0" dirty="0">
                <a:solidFill>
                  <a:schemeClr val="tx1"/>
                </a:solidFill>
                <a:latin typeface="+mn-lt"/>
              </a:rPr>
              <a:t> - persistent data store </a:t>
            </a:r>
            <a:br>
              <a:rPr lang="en-US" altLang="en-US" sz="1800" b="0" dirty="0">
                <a:solidFill>
                  <a:schemeClr val="tx1"/>
                </a:solidFill>
                <a:latin typeface="+mn-lt"/>
              </a:rPr>
            </a:br>
            <a:r>
              <a:rPr lang="en-US" altLang="en-US" sz="1800" b="0" dirty="0">
                <a:solidFill>
                  <a:schemeClr val="tx1"/>
                </a:solidFill>
                <a:latin typeface="+mn-lt"/>
              </a:rPr>
              <a:t>	     (database / legacy system / etc.)</a:t>
            </a:r>
          </a:p>
          <a:p>
            <a:endParaRPr lang="en-US" altLang="en-US" dirty="0"/>
          </a:p>
        </p:txBody>
      </p:sp>
    </p:spTree>
    <p:extLst>
      <p:ext uri="{BB962C8B-B14F-4D97-AF65-F5344CB8AC3E}">
        <p14:creationId xmlns:p14="http://schemas.microsoft.com/office/powerpoint/2010/main" val="22483128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Enterprise</a:t>
            </a:r>
            <a:r>
              <a:rPr lang="en-US" altLang="en-US" dirty="0"/>
              <a:t> </a:t>
            </a:r>
            <a:r>
              <a:rPr lang="en-US" altLang="en-US" dirty="0">
                <a:solidFill>
                  <a:schemeClr val="tx1">
                    <a:lumMod val="65000"/>
                    <a:lumOff val="35000"/>
                  </a:schemeClr>
                </a:solidFill>
                <a:effectLst>
                  <a:outerShdw blurRad="63500" algn="ctr" rotWithShape="0">
                    <a:prstClr val="black">
                      <a:alpha val="14000"/>
                    </a:prstClr>
                  </a:outerShdw>
                </a:effectLst>
              </a:rPr>
              <a:t>Applications</a:t>
            </a:r>
            <a:r>
              <a:rPr lang="en-US" altLang="en-US" dirty="0"/>
              <a:t>	</a:t>
            </a:r>
            <a:endParaRPr lang="en-US" dirty="0"/>
          </a:p>
        </p:txBody>
      </p:sp>
      <p:sp>
        <p:nvSpPr>
          <p:cNvPr id="5" name="AutoShape 5"/>
          <p:cNvSpPr>
            <a:spLocks noChangeArrowheads="1"/>
          </p:cNvSpPr>
          <p:nvPr/>
        </p:nvSpPr>
        <p:spPr bwMode="auto">
          <a:xfrm>
            <a:off x="7729538" y="1700213"/>
            <a:ext cx="1123950" cy="1530350"/>
          </a:xfrm>
          <a:prstGeom prst="can">
            <a:avLst>
              <a:gd name="adj" fmla="val 19226"/>
            </a:avLst>
          </a:prstGeom>
          <a:gradFill rotWithShape="1">
            <a:gsLst>
              <a:gs pos="0">
                <a:srgbClr val="395F58"/>
              </a:gs>
              <a:gs pos="50000">
                <a:srgbClr val="7CCEBE"/>
              </a:gs>
              <a:gs pos="100000">
                <a:srgbClr val="395F5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endParaRPr lang="en-US" altLang="en-US" b="0">
              <a:solidFill>
                <a:schemeClr val="tx1"/>
              </a:solidFill>
              <a:cs typeface="Arial" charset="0"/>
            </a:endParaRPr>
          </a:p>
        </p:txBody>
      </p:sp>
      <p:sp>
        <p:nvSpPr>
          <p:cNvPr id="6" name="Oval 6"/>
          <p:cNvSpPr>
            <a:spLocks noChangeArrowheads="1"/>
          </p:cNvSpPr>
          <p:nvPr/>
        </p:nvSpPr>
        <p:spPr bwMode="auto">
          <a:xfrm>
            <a:off x="7729538" y="3017838"/>
            <a:ext cx="1123950" cy="212725"/>
          </a:xfrm>
          <a:prstGeom prst="ellipse">
            <a:avLst/>
          </a:prstGeom>
          <a:gradFill rotWithShape="1">
            <a:gsLst>
              <a:gs pos="0">
                <a:srgbClr val="395F58"/>
              </a:gs>
              <a:gs pos="50000">
                <a:srgbClr val="7CCEBE"/>
              </a:gs>
              <a:gs pos="100000">
                <a:srgbClr val="395F58"/>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endParaRPr lang="en-US" altLang="en-US" b="0">
              <a:solidFill>
                <a:schemeClr val="tx1"/>
              </a:solidFill>
              <a:cs typeface="Arial" charset="0"/>
            </a:endParaRPr>
          </a:p>
        </p:txBody>
      </p:sp>
      <p:sp>
        <p:nvSpPr>
          <p:cNvPr id="7" name="Text Box 7"/>
          <p:cNvSpPr txBox="1">
            <a:spLocks noChangeArrowheads="1"/>
          </p:cNvSpPr>
          <p:nvPr/>
        </p:nvSpPr>
        <p:spPr bwMode="auto">
          <a:xfrm>
            <a:off x="7835900" y="3408363"/>
            <a:ext cx="9382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000">
                <a:solidFill>
                  <a:schemeClr val="tx1"/>
                </a:solidFill>
                <a:cs typeface="Arial" charset="0"/>
              </a:rPr>
              <a:t>Database</a:t>
            </a:r>
          </a:p>
        </p:txBody>
      </p:sp>
      <p:sp>
        <p:nvSpPr>
          <p:cNvPr id="8" name="Rectangle 9"/>
          <p:cNvSpPr>
            <a:spLocks noChangeArrowheads="1"/>
          </p:cNvSpPr>
          <p:nvPr/>
        </p:nvSpPr>
        <p:spPr bwMode="auto">
          <a:xfrm>
            <a:off x="7847013" y="2217738"/>
            <a:ext cx="644525" cy="681037"/>
          </a:xfrm>
          <a:prstGeom prst="rect">
            <a:avLst/>
          </a:prstGeom>
          <a:solidFill>
            <a:srgbClr val="4B3811"/>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4B3811"/>
            </a:extrusionClr>
          </a:sp3d>
        </p:spPr>
        <p:txBody>
          <a:bodyPr wrap="none" anchor="ctr">
            <a:flatTx/>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000" b="0">
                <a:solidFill>
                  <a:schemeClr val="bg1"/>
                </a:solidFill>
                <a:cs typeface="Arial" charset="0"/>
              </a:rPr>
              <a:t>Tables</a:t>
            </a:r>
          </a:p>
        </p:txBody>
      </p:sp>
      <p:sp>
        <p:nvSpPr>
          <p:cNvPr id="9" name="Rectangle 11"/>
          <p:cNvSpPr>
            <a:spLocks noChangeArrowheads="1"/>
          </p:cNvSpPr>
          <p:nvPr/>
        </p:nvSpPr>
        <p:spPr bwMode="auto">
          <a:xfrm>
            <a:off x="561975" y="1804988"/>
            <a:ext cx="1271588" cy="1427162"/>
          </a:xfrm>
          <a:prstGeom prst="rect">
            <a:avLst/>
          </a:prstGeom>
          <a:gradFill rotWithShape="1">
            <a:gsLst>
              <a:gs pos="0">
                <a:srgbClr val="EDE0C9"/>
              </a:gs>
              <a:gs pos="100000">
                <a:srgbClr val="E5D2B1"/>
              </a:gs>
            </a:gsLst>
            <a:lin ang="2700000" scaled="1"/>
          </a:gradFill>
          <a:ln w="9525">
            <a:miter lim="800000"/>
            <a:headEnd/>
            <a:tailEnd/>
          </a:ln>
          <a:effectLst/>
          <a:scene3d>
            <a:camera prst="legacyObliqueTopRight"/>
            <a:lightRig rig="legacyFlat3" dir="b"/>
          </a:scene3d>
          <a:sp3d extrusionH="303200" prstMaterial="legacyMatte">
            <a:bevelT w="13500" h="13500" prst="angle"/>
            <a:bevelB w="13500" h="13500" prst="angle"/>
            <a:extrusionClr>
              <a:srgbClr val="EDE0C9"/>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flatTx/>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buFontTx/>
              <a:buChar char="•"/>
            </a:pPr>
            <a:endParaRPr lang="en-US" altLang="en-US" sz="1000" b="0">
              <a:solidFill>
                <a:schemeClr val="tx1"/>
              </a:solidFill>
              <a:cs typeface="Arial" charset="0"/>
            </a:endParaRPr>
          </a:p>
        </p:txBody>
      </p:sp>
      <p:sp>
        <p:nvSpPr>
          <p:cNvPr id="10" name="Text Box 12"/>
          <p:cNvSpPr txBox="1">
            <a:spLocks noChangeArrowheads="1"/>
          </p:cNvSpPr>
          <p:nvPr/>
        </p:nvSpPr>
        <p:spPr bwMode="auto">
          <a:xfrm>
            <a:off x="868363" y="3408363"/>
            <a:ext cx="6588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r>
              <a:rPr lang="en-US" altLang="en-US" sz="1000" dirty="0">
                <a:solidFill>
                  <a:srgbClr val="1C1C1C"/>
                </a:solidFill>
                <a:cs typeface="Arial" charset="0"/>
              </a:rPr>
              <a:t>Client</a:t>
            </a:r>
          </a:p>
        </p:txBody>
      </p:sp>
      <p:sp>
        <p:nvSpPr>
          <p:cNvPr id="11" name="Text Box 13"/>
          <p:cNvSpPr txBox="1">
            <a:spLocks noChangeArrowheads="1"/>
          </p:cNvSpPr>
          <p:nvPr/>
        </p:nvSpPr>
        <p:spPr bwMode="auto">
          <a:xfrm>
            <a:off x="561975" y="1916113"/>
            <a:ext cx="1163638"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buFontTx/>
              <a:buChar char="•"/>
            </a:pPr>
            <a:r>
              <a:rPr lang="en-US" altLang="en-US" sz="1200" dirty="0">
                <a:solidFill>
                  <a:schemeClr val="tx1"/>
                </a:solidFill>
                <a:cs typeface="Arial" charset="0"/>
              </a:rPr>
              <a:t> Standalone</a:t>
            </a:r>
            <a:r>
              <a:rPr lang="sa-IN" altLang="en-US" sz="1200" dirty="0">
                <a:solidFill>
                  <a:schemeClr val="tx1"/>
                </a:solidFill>
                <a:cs typeface="Mangal" pitchFamily="2" charset="0"/>
              </a:rPr>
              <a:t/>
            </a:r>
            <a:br>
              <a:rPr lang="sa-IN" altLang="en-US" sz="1200" dirty="0">
                <a:solidFill>
                  <a:schemeClr val="tx1"/>
                </a:solidFill>
                <a:cs typeface="Mangal" pitchFamily="2" charset="0"/>
              </a:rPr>
            </a:br>
            <a:endParaRPr lang="en-US" altLang="en-US" sz="1200" dirty="0">
              <a:solidFill>
                <a:schemeClr val="tx1"/>
              </a:solidFill>
              <a:cs typeface="Mangal" pitchFamily="2" charset="0"/>
            </a:endParaRPr>
          </a:p>
          <a:p>
            <a:pPr algn="l" eaLnBrk="1" hangingPunct="1">
              <a:buFontTx/>
              <a:buChar char="•"/>
            </a:pPr>
            <a:r>
              <a:rPr lang="en-US" altLang="en-US" sz="1200" dirty="0">
                <a:solidFill>
                  <a:schemeClr val="tx1"/>
                </a:solidFill>
                <a:cs typeface="Arial" charset="0"/>
              </a:rPr>
              <a:t> Web </a:t>
            </a:r>
            <a:r>
              <a:rPr lang="sa-IN" altLang="en-US" sz="1200" dirty="0">
                <a:solidFill>
                  <a:schemeClr val="tx1"/>
                </a:solidFill>
                <a:cs typeface="Mangal" pitchFamily="2" charset="0"/>
              </a:rPr>
              <a:t/>
            </a:r>
            <a:br>
              <a:rPr lang="sa-IN" altLang="en-US" sz="1200" dirty="0">
                <a:solidFill>
                  <a:schemeClr val="tx1"/>
                </a:solidFill>
                <a:cs typeface="Mangal" pitchFamily="2" charset="0"/>
              </a:rPr>
            </a:br>
            <a:endParaRPr lang="en-US" altLang="en-US" sz="1200" dirty="0">
              <a:solidFill>
                <a:schemeClr val="tx1"/>
              </a:solidFill>
              <a:cs typeface="Mangal" pitchFamily="2" charset="0"/>
            </a:endParaRPr>
          </a:p>
          <a:p>
            <a:pPr algn="l" eaLnBrk="1" hangingPunct="1">
              <a:buFontTx/>
              <a:buChar char="•"/>
            </a:pPr>
            <a:r>
              <a:rPr lang="en-US" altLang="en-US" sz="1200" dirty="0">
                <a:solidFill>
                  <a:schemeClr val="tx1"/>
                </a:solidFill>
                <a:cs typeface="Arial" charset="0"/>
              </a:rPr>
              <a:t> Mobile</a:t>
            </a:r>
          </a:p>
        </p:txBody>
      </p:sp>
      <p:sp>
        <p:nvSpPr>
          <p:cNvPr id="12" name="Rectangle 8"/>
          <p:cNvSpPr>
            <a:spLocks noChangeArrowheads="1"/>
          </p:cNvSpPr>
          <p:nvPr/>
        </p:nvSpPr>
        <p:spPr bwMode="auto">
          <a:xfrm>
            <a:off x="4152900" y="1752600"/>
            <a:ext cx="1168400" cy="1517650"/>
          </a:xfrm>
          <a:prstGeom prst="rect">
            <a:avLst/>
          </a:prstGeom>
          <a:solidFill>
            <a:srgbClr val="0066CC"/>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CC"/>
            </a:extrusionClr>
          </a:sp3d>
        </p:spPr>
        <p:txBody>
          <a:bodyPr wrap="none" anchor="ctr">
            <a:flatTx/>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endParaRPr lang="en-US" altLang="en-US" sz="1000" b="0" i="1">
              <a:solidFill>
                <a:schemeClr val="accent2"/>
              </a:solidFill>
              <a:cs typeface="Arial" charset="0"/>
            </a:endParaRPr>
          </a:p>
          <a:p>
            <a:pPr eaLnBrk="1" hangingPunct="1">
              <a:spcBef>
                <a:spcPct val="0"/>
              </a:spcBef>
            </a:pPr>
            <a:r>
              <a:rPr lang="en-US" altLang="en-US" sz="1000" b="0" i="1">
                <a:solidFill>
                  <a:schemeClr val="accent2"/>
                </a:solidFill>
                <a:cs typeface="Arial" charset="0"/>
              </a:rPr>
              <a:t>PLSQL</a:t>
            </a:r>
          </a:p>
          <a:p>
            <a:pPr eaLnBrk="1" hangingPunct="1">
              <a:spcBef>
                <a:spcPct val="0"/>
              </a:spcBef>
            </a:pPr>
            <a:endParaRPr lang="en-US" altLang="en-US" sz="1000" b="0" i="1">
              <a:solidFill>
                <a:srgbClr val="4B3811"/>
              </a:solidFill>
              <a:cs typeface="Arial" charset="0"/>
            </a:endParaRPr>
          </a:p>
        </p:txBody>
      </p:sp>
      <p:sp>
        <p:nvSpPr>
          <p:cNvPr id="13" name="AutoShape 19"/>
          <p:cNvSpPr>
            <a:spLocks noChangeArrowheads="1"/>
          </p:cNvSpPr>
          <p:nvPr/>
        </p:nvSpPr>
        <p:spPr bwMode="auto">
          <a:xfrm>
            <a:off x="4225925" y="1851025"/>
            <a:ext cx="965200" cy="815975"/>
          </a:xfrm>
          <a:prstGeom prst="roundRect">
            <a:avLst>
              <a:gd name="adj" fmla="val 6370"/>
            </a:avLst>
          </a:pr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200">
                <a:solidFill>
                  <a:schemeClr val="bg1"/>
                </a:solidFill>
                <a:cs typeface="Arial" charset="0"/>
              </a:rPr>
              <a:t>Business</a:t>
            </a:r>
            <a:br>
              <a:rPr lang="en-US" altLang="en-US" sz="1200">
                <a:solidFill>
                  <a:schemeClr val="bg1"/>
                </a:solidFill>
                <a:cs typeface="Arial" charset="0"/>
              </a:rPr>
            </a:br>
            <a:r>
              <a:rPr lang="en-US" altLang="en-US" sz="1200">
                <a:solidFill>
                  <a:schemeClr val="bg1"/>
                </a:solidFill>
                <a:cs typeface="Arial" charset="0"/>
              </a:rPr>
              <a:t>Logic</a:t>
            </a:r>
          </a:p>
        </p:txBody>
      </p:sp>
      <p:sp>
        <p:nvSpPr>
          <p:cNvPr id="14" name="Rectangle 21"/>
          <p:cNvSpPr>
            <a:spLocks noChangeArrowheads="1"/>
          </p:cNvSpPr>
          <p:nvPr/>
        </p:nvSpPr>
        <p:spPr bwMode="auto">
          <a:xfrm>
            <a:off x="5578475" y="2855913"/>
            <a:ext cx="2065338" cy="238125"/>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Database Connectivity</a:t>
            </a:r>
          </a:p>
        </p:txBody>
      </p:sp>
      <p:sp>
        <p:nvSpPr>
          <p:cNvPr id="15" name="Rectangle 17"/>
          <p:cNvSpPr>
            <a:spLocks noChangeArrowheads="1"/>
          </p:cNvSpPr>
          <p:nvPr/>
        </p:nvSpPr>
        <p:spPr bwMode="auto">
          <a:xfrm>
            <a:off x="5578475" y="2498725"/>
            <a:ext cx="2065338" cy="238125"/>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Transaction Management</a:t>
            </a:r>
          </a:p>
        </p:txBody>
      </p:sp>
      <p:sp>
        <p:nvSpPr>
          <p:cNvPr id="16" name="Rectangle 15"/>
          <p:cNvSpPr>
            <a:spLocks noChangeArrowheads="1"/>
          </p:cNvSpPr>
          <p:nvPr/>
        </p:nvSpPr>
        <p:spPr bwMode="auto">
          <a:xfrm>
            <a:off x="2001838" y="2498725"/>
            <a:ext cx="2065337" cy="238125"/>
          </a:xfrm>
          <a:prstGeom prst="rect">
            <a:avLst/>
          </a:prstGeom>
          <a:solidFill>
            <a:srgbClr val="BC0000"/>
          </a:solidFill>
          <a:ln w="19050">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Network Communication</a:t>
            </a:r>
          </a:p>
        </p:txBody>
      </p:sp>
      <p:sp>
        <p:nvSpPr>
          <p:cNvPr id="17" name="Rectangle 16"/>
          <p:cNvSpPr>
            <a:spLocks noChangeArrowheads="1"/>
          </p:cNvSpPr>
          <p:nvPr/>
        </p:nvSpPr>
        <p:spPr bwMode="auto">
          <a:xfrm>
            <a:off x="2001838" y="3214688"/>
            <a:ext cx="2065337" cy="238125"/>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dirty="0">
                <a:solidFill>
                  <a:schemeClr val="bg1"/>
                </a:solidFill>
                <a:latin typeface="Trebuchet MS" pitchFamily="34" charset="0"/>
                <a:cs typeface="Tahoma" pitchFamily="34" charset="0"/>
              </a:rPr>
              <a:t>Authentication / Security</a:t>
            </a:r>
          </a:p>
        </p:txBody>
      </p:sp>
      <p:sp>
        <p:nvSpPr>
          <p:cNvPr id="18" name="Rectangle 18"/>
          <p:cNvSpPr>
            <a:spLocks noChangeArrowheads="1"/>
          </p:cNvSpPr>
          <p:nvPr/>
        </p:nvSpPr>
        <p:spPr bwMode="auto">
          <a:xfrm>
            <a:off x="2001838" y="2855913"/>
            <a:ext cx="2065337" cy="238125"/>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Client Session Management</a:t>
            </a:r>
          </a:p>
        </p:txBody>
      </p:sp>
      <p:sp>
        <p:nvSpPr>
          <p:cNvPr id="19" name="Text Box 12"/>
          <p:cNvSpPr txBox="1">
            <a:spLocks noChangeArrowheads="1"/>
          </p:cNvSpPr>
          <p:nvPr/>
        </p:nvSpPr>
        <p:spPr bwMode="auto">
          <a:xfrm>
            <a:off x="4208463" y="3408363"/>
            <a:ext cx="11096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000">
                <a:solidFill>
                  <a:srgbClr val="1C1C1C"/>
                </a:solidFill>
                <a:cs typeface="Arial" charset="0"/>
              </a:rPr>
              <a:t>Middle Tier</a:t>
            </a:r>
          </a:p>
        </p:txBody>
      </p:sp>
      <p:sp>
        <p:nvSpPr>
          <p:cNvPr id="20" name="Rectangle 16"/>
          <p:cNvSpPr>
            <a:spLocks noChangeArrowheads="1"/>
          </p:cNvSpPr>
          <p:nvPr/>
        </p:nvSpPr>
        <p:spPr bwMode="auto">
          <a:xfrm>
            <a:off x="5578475" y="3214688"/>
            <a:ext cx="2065338" cy="238125"/>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Load Balancing</a:t>
            </a:r>
          </a:p>
        </p:txBody>
      </p:sp>
      <p:sp>
        <p:nvSpPr>
          <p:cNvPr id="21" name="Line 25"/>
          <p:cNvSpPr>
            <a:spLocks noChangeShapeType="1"/>
          </p:cNvSpPr>
          <p:nvPr/>
        </p:nvSpPr>
        <p:spPr bwMode="auto">
          <a:xfrm>
            <a:off x="1897063" y="2224088"/>
            <a:ext cx="2251075" cy="0"/>
          </a:xfrm>
          <a:prstGeom prst="line">
            <a:avLst/>
          </a:prstGeom>
          <a:noFill/>
          <a:ln w="12700">
            <a:solidFill>
              <a:srgbClr val="100F76"/>
            </a:solidFill>
            <a:prstDash val="dash"/>
            <a:round/>
            <a:headEnd type="arrow" w="lg" len="lg"/>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90000" rIns="90000" bIns="90000" anchor="ctr"/>
          <a:lstStyle/>
          <a:p>
            <a:endParaRPr lang="en-US"/>
          </a:p>
        </p:txBody>
      </p:sp>
      <p:sp>
        <p:nvSpPr>
          <p:cNvPr id="22" name="Line 27"/>
          <p:cNvSpPr>
            <a:spLocks noChangeShapeType="1"/>
          </p:cNvSpPr>
          <p:nvPr/>
        </p:nvSpPr>
        <p:spPr bwMode="auto">
          <a:xfrm>
            <a:off x="5372100" y="2224088"/>
            <a:ext cx="2368550" cy="0"/>
          </a:xfrm>
          <a:prstGeom prst="line">
            <a:avLst/>
          </a:prstGeom>
          <a:noFill/>
          <a:ln w="12700">
            <a:solidFill>
              <a:srgbClr val="100F76"/>
            </a:solidFill>
            <a:prstDash val="dash"/>
            <a:round/>
            <a:headEnd type="arrow" w="lg" len="lg"/>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90000" rIns="90000" bIns="90000" anchor="ctr"/>
          <a:lstStyle/>
          <a:p>
            <a:endParaRPr lang="en-US"/>
          </a:p>
        </p:txBody>
      </p:sp>
      <p:sp>
        <p:nvSpPr>
          <p:cNvPr id="23" name="Rectangle 16"/>
          <p:cNvSpPr>
            <a:spLocks noChangeArrowheads="1"/>
          </p:cNvSpPr>
          <p:nvPr/>
        </p:nvSpPr>
        <p:spPr bwMode="auto">
          <a:xfrm>
            <a:off x="5578475" y="3573463"/>
            <a:ext cx="2065338" cy="238125"/>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Failover</a:t>
            </a:r>
          </a:p>
        </p:txBody>
      </p:sp>
      <p:sp>
        <p:nvSpPr>
          <p:cNvPr id="24" name="Rectangle 16"/>
          <p:cNvSpPr>
            <a:spLocks noChangeArrowheads="1"/>
          </p:cNvSpPr>
          <p:nvPr/>
        </p:nvSpPr>
        <p:spPr bwMode="auto">
          <a:xfrm>
            <a:off x="2001838" y="3573463"/>
            <a:ext cx="2065337" cy="238125"/>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Pooling / Caching</a:t>
            </a:r>
          </a:p>
        </p:txBody>
      </p:sp>
      <p:grpSp>
        <p:nvGrpSpPr>
          <p:cNvPr id="3" name="Group 25"/>
          <p:cNvGrpSpPr/>
          <p:nvPr/>
        </p:nvGrpSpPr>
        <p:grpSpPr>
          <a:xfrm>
            <a:off x="457200" y="4038600"/>
            <a:ext cx="7416800" cy="2232025"/>
            <a:chOff x="916509" y="4273550"/>
            <a:chExt cx="7416800" cy="2232025"/>
          </a:xfrm>
        </p:grpSpPr>
        <p:sp>
          <p:nvSpPr>
            <p:cNvPr id="4" name="Rectangle 33"/>
            <p:cNvSpPr>
              <a:spLocks noChangeArrowheads="1"/>
            </p:cNvSpPr>
            <p:nvPr/>
          </p:nvSpPr>
          <p:spPr bwMode="auto">
            <a:xfrm>
              <a:off x="916509" y="4273550"/>
              <a:ext cx="7416800" cy="2232025"/>
            </a:xfrm>
            <a:prstGeom prst="rect">
              <a:avLst/>
            </a:prstGeom>
            <a:solidFill>
              <a:srgbClr val="DDDDDD">
                <a:alpha val="47058"/>
              </a:srgbClr>
            </a:solidFill>
            <a:ln>
              <a:noFill/>
            </a:ln>
            <a:effectLst/>
            <a:extLst>
              <a:ext uri="{91240B29-F687-4F45-9708-019B960494DF}">
                <a14:hiddenLine xmlns:a14="http://schemas.microsoft.com/office/drawing/2010/main" w="12700" algn="ctr">
                  <a:solidFill>
                    <a:srgbClr val="100F7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90000" rIns="90000" bIns="90000"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25" name="Rectangle 31"/>
            <p:cNvSpPr>
              <a:spLocks noChangeArrowheads="1"/>
            </p:cNvSpPr>
            <p:nvPr/>
          </p:nvSpPr>
          <p:spPr bwMode="auto">
            <a:xfrm>
              <a:off x="971550" y="4489450"/>
              <a:ext cx="669607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11125" indent="-1588">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a:spcBef>
                  <a:spcPct val="20000"/>
                </a:spcBef>
                <a:buClr>
                  <a:srgbClr val="100F76"/>
                </a:buClr>
                <a:buFont typeface="Wingdings" pitchFamily="2" charset="2"/>
                <a:buNone/>
              </a:pPr>
              <a:r>
                <a:rPr lang="en-US" altLang="en-US" sz="1800" b="0" dirty="0">
                  <a:solidFill>
                    <a:schemeClr val="tx1"/>
                  </a:solidFill>
                  <a:latin typeface="+mn-lt"/>
                </a:rPr>
                <a:t>In addition to business logic, we have to implement the other middle-tier services (‘middleware’)</a:t>
              </a:r>
              <a:r>
                <a:rPr lang="sa-IN" altLang="en-US" sz="900" b="0" dirty="0">
                  <a:solidFill>
                    <a:schemeClr val="tx1"/>
                  </a:solidFill>
                  <a:cs typeface="Mangal" pitchFamily="2" charset="0"/>
                </a:rPr>
                <a:t/>
              </a:r>
              <a:br>
                <a:rPr lang="sa-IN" altLang="en-US" sz="900" b="0" dirty="0">
                  <a:solidFill>
                    <a:schemeClr val="tx1"/>
                  </a:solidFill>
                  <a:cs typeface="Mangal" pitchFamily="2" charset="0"/>
                </a:rPr>
              </a:br>
              <a:endParaRPr lang="en-US" altLang="en-US" sz="900" b="0" dirty="0">
                <a:solidFill>
                  <a:schemeClr val="tx1"/>
                </a:solidFill>
                <a:cs typeface="Mangal" pitchFamily="2" charset="0"/>
              </a:endParaRPr>
            </a:p>
            <a:p>
              <a:pPr algn="l">
                <a:spcBef>
                  <a:spcPct val="20000"/>
                </a:spcBef>
                <a:buClr>
                  <a:srgbClr val="100F76"/>
                </a:buClr>
                <a:buFont typeface="Wingdings" pitchFamily="2" charset="2"/>
                <a:buChar char="§"/>
              </a:pPr>
              <a:r>
                <a:rPr lang="en-US" altLang="en-US" sz="1600" b="0" dirty="0">
                  <a:solidFill>
                    <a:schemeClr val="tx1"/>
                  </a:solidFill>
                  <a:latin typeface="+mn-lt"/>
                </a:rPr>
                <a:t> </a:t>
              </a:r>
              <a:r>
                <a:rPr lang="sa-IN" altLang="en-US" sz="1600" b="0" dirty="0">
                  <a:solidFill>
                    <a:schemeClr val="tx1"/>
                  </a:solidFill>
                  <a:latin typeface="+mn-lt"/>
                  <a:cs typeface="Mangal" pitchFamily="2" charset="0"/>
                </a:rPr>
                <a:t> </a:t>
              </a:r>
              <a:r>
                <a:rPr lang="en-US" altLang="en-US" sz="1600" b="0" dirty="0">
                  <a:solidFill>
                    <a:schemeClr val="tx1"/>
                  </a:solidFill>
                  <a:latin typeface="+mn-lt"/>
                </a:rPr>
                <a:t>Very Complex</a:t>
              </a:r>
            </a:p>
            <a:p>
              <a:pPr algn="l">
                <a:spcBef>
                  <a:spcPct val="20000"/>
                </a:spcBef>
                <a:buClr>
                  <a:srgbClr val="100F76"/>
                </a:buClr>
                <a:buFont typeface="Wingdings" pitchFamily="2" charset="2"/>
                <a:buChar char="§"/>
              </a:pPr>
              <a:r>
                <a:rPr lang="en-US" altLang="en-US" sz="1600" b="0" dirty="0">
                  <a:solidFill>
                    <a:schemeClr val="tx1"/>
                  </a:solidFill>
                  <a:latin typeface="+mn-lt"/>
                </a:rPr>
                <a:t> </a:t>
              </a:r>
              <a:r>
                <a:rPr lang="sa-IN" altLang="en-US" sz="1600" b="0" dirty="0">
                  <a:solidFill>
                    <a:schemeClr val="tx1"/>
                  </a:solidFill>
                  <a:latin typeface="+mn-lt"/>
                  <a:cs typeface="Mangal" pitchFamily="2" charset="0"/>
                </a:rPr>
                <a:t> </a:t>
              </a:r>
              <a:r>
                <a:rPr lang="en-US" altLang="en-US" sz="1600" b="0" dirty="0">
                  <a:solidFill>
                    <a:schemeClr val="tx1"/>
                  </a:solidFill>
                  <a:latin typeface="+mn-lt"/>
                </a:rPr>
                <a:t>Needs technical expertise</a:t>
              </a:r>
            </a:p>
            <a:p>
              <a:pPr algn="l">
                <a:spcBef>
                  <a:spcPct val="20000"/>
                </a:spcBef>
                <a:buClr>
                  <a:srgbClr val="100F76"/>
                </a:buClr>
                <a:buFont typeface="Wingdings" pitchFamily="2" charset="2"/>
                <a:buChar char="§"/>
              </a:pPr>
              <a:r>
                <a:rPr lang="en-US" altLang="en-US" sz="1600" b="0" dirty="0">
                  <a:solidFill>
                    <a:schemeClr val="tx1"/>
                  </a:solidFill>
                  <a:latin typeface="+mn-lt"/>
                </a:rPr>
                <a:t> </a:t>
              </a:r>
              <a:r>
                <a:rPr lang="sa-IN" altLang="en-US" sz="1600" b="0" dirty="0">
                  <a:solidFill>
                    <a:schemeClr val="tx1"/>
                  </a:solidFill>
                  <a:latin typeface="+mn-lt"/>
                  <a:cs typeface="Mangal" pitchFamily="2" charset="0"/>
                </a:rPr>
                <a:t> </a:t>
              </a:r>
              <a:r>
                <a:rPr lang="en-US" altLang="en-US" sz="1600" b="0" dirty="0">
                  <a:solidFill>
                    <a:schemeClr val="tx1"/>
                  </a:solidFill>
                  <a:latin typeface="+mn-lt"/>
                </a:rPr>
                <a:t>Time consuming</a:t>
              </a:r>
            </a:p>
            <a:p>
              <a:pPr algn="l">
                <a:spcBef>
                  <a:spcPct val="20000"/>
                </a:spcBef>
                <a:buClr>
                  <a:srgbClr val="100F76"/>
                </a:buClr>
                <a:buFont typeface="Wingdings" pitchFamily="2" charset="2"/>
                <a:buChar char="§"/>
              </a:pPr>
              <a:r>
                <a:rPr lang="en-US" altLang="en-US" sz="1600" b="0" dirty="0">
                  <a:solidFill>
                    <a:schemeClr val="tx1"/>
                  </a:solidFill>
                  <a:latin typeface="+mn-lt"/>
                </a:rPr>
                <a:t> </a:t>
              </a:r>
              <a:r>
                <a:rPr lang="sa-IN" altLang="en-US" sz="1600" b="0" dirty="0">
                  <a:solidFill>
                    <a:schemeClr val="tx1"/>
                  </a:solidFill>
                  <a:latin typeface="+mn-lt"/>
                  <a:cs typeface="Mangal" pitchFamily="2" charset="0"/>
                </a:rPr>
                <a:t> </a:t>
              </a:r>
              <a:r>
                <a:rPr lang="en-US" altLang="en-US" sz="1600" b="0" dirty="0">
                  <a:solidFill>
                    <a:schemeClr val="tx1"/>
                  </a:solidFill>
                  <a:latin typeface="+mn-lt"/>
                </a:rPr>
                <a:t>Very costly</a:t>
              </a:r>
            </a:p>
          </p:txBody>
        </p:sp>
      </p:grpSp>
    </p:spTree>
    <p:extLst>
      <p:ext uri="{BB962C8B-B14F-4D97-AF65-F5344CB8AC3E}">
        <p14:creationId xmlns:p14="http://schemas.microsoft.com/office/powerpoint/2010/main" val="293088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250"/>
                                        <p:tgtEl>
                                          <p:spTgt spid="18"/>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50"/>
                                        <p:tgtEl>
                                          <p:spTgt spid="17"/>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50"/>
                                        <p:tgtEl>
                                          <p:spTgt spid="24"/>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250"/>
                                        <p:tgtEl>
                                          <p:spTgt spid="15"/>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250"/>
                                        <p:tgtEl>
                                          <p:spTgt spid="20"/>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20"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Enterprise Applications</a:t>
            </a:r>
            <a:r>
              <a:rPr lang="en-US" altLang="en-US" dirty="0"/>
              <a:t>	</a:t>
            </a:r>
            <a:endParaRPr lang="en-US" dirty="0"/>
          </a:p>
        </p:txBody>
      </p:sp>
      <p:sp>
        <p:nvSpPr>
          <p:cNvPr id="4" name="Rectangle 35"/>
          <p:cNvSpPr>
            <a:spLocks noChangeArrowheads="1"/>
          </p:cNvSpPr>
          <p:nvPr/>
        </p:nvSpPr>
        <p:spPr bwMode="auto">
          <a:xfrm>
            <a:off x="250772" y="5293994"/>
            <a:ext cx="4759325" cy="1296988"/>
          </a:xfrm>
          <a:prstGeom prst="rect">
            <a:avLst/>
          </a:prstGeom>
          <a:gradFill rotWithShape="1">
            <a:gsLst>
              <a:gs pos="0">
                <a:srgbClr val="FFFFFF"/>
              </a:gs>
              <a:gs pos="100000">
                <a:srgbClr val="E2EBFE"/>
              </a:gs>
            </a:gsLst>
            <a:lin ang="2700000" scaled="1"/>
          </a:gradFill>
          <a:ln>
            <a:noFill/>
          </a:ln>
          <a:effectLst/>
          <a:extLst>
            <a:ext uri="{91240B29-F687-4F45-9708-019B960494DF}">
              <a14:hiddenLine xmlns:a14="http://schemas.microsoft.com/office/drawing/2010/main" w="12700" algn="ctr">
                <a:solidFill>
                  <a:srgbClr val="1D1DE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90000" rIns="90000" bIns="90000" anchor="ctr"/>
          <a:lstStyle/>
          <a:p>
            <a:pPr>
              <a:defRPr/>
            </a:pPr>
            <a:r>
              <a:rPr lang="en-US" sz="4000" b="0" dirty="0" smtClean="0">
                <a:solidFill>
                  <a:srgbClr val="5A358B"/>
                </a:solidFill>
                <a:effectLst>
                  <a:outerShdw blurRad="38100" dist="38100" dir="2700000" algn="tl">
                    <a:srgbClr val="C0C0C0"/>
                  </a:outerShdw>
                </a:effectLst>
                <a:ea typeface="Mangal" pitchFamily="2" charset="0"/>
                <a:cs typeface="Arial Unicode MS" pitchFamily="34" charset="-128"/>
              </a:rPr>
              <a:t>JEE</a:t>
            </a:r>
          </a:p>
          <a:p>
            <a:pPr>
              <a:defRPr/>
            </a:pPr>
            <a:r>
              <a:rPr lang="en-US" sz="4000" b="0" dirty="0" smtClean="0">
                <a:solidFill>
                  <a:srgbClr val="5A358B"/>
                </a:solidFill>
                <a:effectLst>
                  <a:outerShdw blurRad="38100" dist="38100" dir="2700000" algn="tl">
                    <a:srgbClr val="C0C0C0"/>
                  </a:outerShdw>
                </a:effectLst>
                <a:ea typeface="Mangal" pitchFamily="2" charset="0"/>
                <a:cs typeface="Arial Unicode MS" pitchFamily="34" charset="-128"/>
              </a:rPr>
              <a:t>Java Enterprise Edition</a:t>
            </a:r>
            <a:endParaRPr lang="en-US" sz="4000" b="0" dirty="0">
              <a:solidFill>
                <a:srgbClr val="5A358B"/>
              </a:solidFill>
              <a:effectLst>
                <a:outerShdw blurRad="38100" dist="38100" dir="2700000" algn="tl">
                  <a:srgbClr val="C0C0C0"/>
                </a:outerShdw>
              </a:effectLst>
              <a:ea typeface="Mangal" pitchFamily="2" charset="0"/>
              <a:cs typeface="Arial Unicode MS" pitchFamily="34" charset="-128"/>
            </a:endParaRPr>
          </a:p>
        </p:txBody>
      </p:sp>
      <p:sp>
        <p:nvSpPr>
          <p:cNvPr id="5" name="AutoShape 19"/>
          <p:cNvSpPr>
            <a:spLocks noChangeArrowheads="1"/>
          </p:cNvSpPr>
          <p:nvPr/>
        </p:nvSpPr>
        <p:spPr bwMode="auto">
          <a:xfrm>
            <a:off x="2085975" y="2930525"/>
            <a:ext cx="1295400" cy="1296988"/>
          </a:xfrm>
          <a:prstGeom prst="roundRect">
            <a:avLst>
              <a:gd name="adj" fmla="val 6370"/>
            </a:avLst>
          </a:pr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a:solidFill>
                  <a:schemeClr val="bg1"/>
                </a:solidFill>
                <a:cs typeface="Arial" charset="0"/>
              </a:rPr>
              <a:t>Business</a:t>
            </a:r>
            <a:br>
              <a:rPr lang="en-US" altLang="en-US">
                <a:solidFill>
                  <a:schemeClr val="bg1"/>
                </a:solidFill>
                <a:cs typeface="Arial" charset="0"/>
              </a:rPr>
            </a:br>
            <a:r>
              <a:rPr lang="en-US" altLang="en-US">
                <a:solidFill>
                  <a:schemeClr val="bg1"/>
                </a:solidFill>
                <a:cs typeface="Arial" charset="0"/>
              </a:rPr>
              <a:t>Logic</a:t>
            </a:r>
          </a:p>
        </p:txBody>
      </p:sp>
      <p:grpSp>
        <p:nvGrpSpPr>
          <p:cNvPr id="3" name="Group 20"/>
          <p:cNvGrpSpPr>
            <a:grpSpLocks/>
          </p:cNvGrpSpPr>
          <p:nvPr/>
        </p:nvGrpSpPr>
        <p:grpSpPr bwMode="auto">
          <a:xfrm>
            <a:off x="4746625" y="1628775"/>
            <a:ext cx="4321175" cy="4543425"/>
            <a:chOff x="2653" y="886"/>
            <a:chExt cx="2294" cy="2636"/>
          </a:xfrm>
        </p:grpSpPr>
        <p:sp>
          <p:nvSpPr>
            <p:cNvPr id="7" name="Text Box 7"/>
            <p:cNvSpPr txBox="1">
              <a:spLocks noChangeArrowheads="1"/>
            </p:cNvSpPr>
            <p:nvPr/>
          </p:nvSpPr>
          <p:spPr bwMode="auto">
            <a:xfrm rot="300784">
              <a:off x="2881" y="886"/>
              <a:ext cx="20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r>
                <a:rPr lang="en-US" altLang="en-US" sz="1800" dirty="0">
                  <a:solidFill>
                    <a:schemeClr val="tx1"/>
                  </a:solidFill>
                  <a:latin typeface="Comic Sans MS" pitchFamily="66" charset="0"/>
                  <a:cs typeface="Arial" charset="0"/>
                </a:rPr>
                <a:t>We don’t worry about these</a:t>
              </a:r>
            </a:p>
          </p:txBody>
        </p:sp>
        <p:sp>
          <p:nvSpPr>
            <p:cNvPr id="8" name="Freeform 8"/>
            <p:cNvSpPr>
              <a:spLocks/>
            </p:cNvSpPr>
            <p:nvPr/>
          </p:nvSpPr>
          <p:spPr bwMode="auto">
            <a:xfrm rot="-2129247">
              <a:off x="2835" y="1162"/>
              <a:ext cx="410" cy="302"/>
            </a:xfrm>
            <a:custGeom>
              <a:avLst/>
              <a:gdLst>
                <a:gd name="T0" fmla="*/ 650875 w 410"/>
                <a:gd name="T1" fmla="*/ 9969 h 529"/>
                <a:gd name="T2" fmla="*/ 523875 w 410"/>
                <a:gd name="T3" fmla="*/ 23563 h 529"/>
                <a:gd name="T4" fmla="*/ 384175 w 410"/>
                <a:gd name="T5" fmla="*/ 42595 h 529"/>
                <a:gd name="T6" fmla="*/ 280988 w 410"/>
                <a:gd name="T7" fmla="*/ 62533 h 529"/>
                <a:gd name="T8" fmla="*/ 246063 w 410"/>
                <a:gd name="T9" fmla="*/ 69784 h 529"/>
                <a:gd name="T10" fmla="*/ 3175 w 410"/>
                <a:gd name="T11" fmla="*/ 287292 h 529"/>
                <a:gd name="T12" fmla="*/ 3175 w 410"/>
                <a:gd name="T13" fmla="*/ 479425 h 529"/>
                <a:gd name="T14" fmla="*/ 0 60000 65536"/>
                <a:gd name="T15" fmla="*/ 0 60000 65536"/>
                <a:gd name="T16" fmla="*/ 0 60000 65536"/>
                <a:gd name="T17" fmla="*/ 0 60000 65536"/>
                <a:gd name="T18" fmla="*/ 0 60000 65536"/>
                <a:gd name="T19" fmla="*/ 0 60000 65536"/>
                <a:gd name="T20" fmla="*/ 0 60000 65536"/>
                <a:gd name="T21" fmla="*/ 0 w 410"/>
                <a:gd name="T22" fmla="*/ 0 h 529"/>
                <a:gd name="T23" fmla="*/ 410 w 410"/>
                <a:gd name="T24" fmla="*/ 529 h 5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0" h="529">
                  <a:moveTo>
                    <a:pt x="410" y="11"/>
                  </a:moveTo>
                  <a:cubicBezTo>
                    <a:pt x="365" y="0"/>
                    <a:pt x="369" y="17"/>
                    <a:pt x="330" y="26"/>
                  </a:cubicBezTo>
                  <a:cubicBezTo>
                    <a:pt x="258" y="43"/>
                    <a:pt x="313" y="21"/>
                    <a:pt x="242" y="47"/>
                  </a:cubicBezTo>
                  <a:cubicBezTo>
                    <a:pt x="192" y="65"/>
                    <a:pt x="253" y="43"/>
                    <a:pt x="177" y="69"/>
                  </a:cubicBezTo>
                  <a:cubicBezTo>
                    <a:pt x="170" y="72"/>
                    <a:pt x="155" y="77"/>
                    <a:pt x="155" y="77"/>
                  </a:cubicBezTo>
                  <a:cubicBezTo>
                    <a:pt x="92" y="137"/>
                    <a:pt x="5" y="220"/>
                    <a:pt x="2" y="317"/>
                  </a:cubicBezTo>
                  <a:cubicBezTo>
                    <a:pt x="0" y="388"/>
                    <a:pt x="2" y="458"/>
                    <a:pt x="2" y="529"/>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Freeform 14"/>
            <p:cNvSpPr>
              <a:spLocks/>
            </p:cNvSpPr>
            <p:nvPr/>
          </p:nvSpPr>
          <p:spPr bwMode="auto">
            <a:xfrm>
              <a:off x="2653" y="1480"/>
              <a:ext cx="1724" cy="2042"/>
            </a:xfrm>
            <a:custGeom>
              <a:avLst/>
              <a:gdLst>
                <a:gd name="T0" fmla="*/ 1118600 w 2317"/>
                <a:gd name="T1" fmla="*/ 62422 h 1868"/>
                <a:gd name="T2" fmla="*/ 1230815 w 2317"/>
                <a:gd name="T3" fmla="*/ 0 h 1868"/>
                <a:gd name="T4" fmla="*/ 2005684 w 2317"/>
                <a:gd name="T5" fmla="*/ 47355 h 1868"/>
                <a:gd name="T6" fmla="*/ 2169872 w 2317"/>
                <a:gd name="T7" fmla="*/ 139912 h 1868"/>
                <a:gd name="T8" fmla="*/ 2306891 w 2317"/>
                <a:gd name="T9" fmla="*/ 312111 h 1868"/>
                <a:gd name="T10" fmla="*/ 2436824 w 2317"/>
                <a:gd name="T11" fmla="*/ 516599 h 1868"/>
                <a:gd name="T12" fmla="*/ 2513602 w 2317"/>
                <a:gd name="T13" fmla="*/ 721085 h 1868"/>
                <a:gd name="T14" fmla="*/ 2539589 w 2317"/>
                <a:gd name="T15" fmla="*/ 798575 h 1868"/>
                <a:gd name="T16" fmla="*/ 2591562 w 2317"/>
                <a:gd name="T17" fmla="*/ 925571 h 1868"/>
                <a:gd name="T18" fmla="*/ 2625816 w 2317"/>
                <a:gd name="T19" fmla="*/ 1082704 h 1868"/>
                <a:gd name="T20" fmla="*/ 2669521 w 2317"/>
                <a:gd name="T21" fmla="*/ 1287191 h 1868"/>
                <a:gd name="T22" fmla="*/ 2695508 w 2317"/>
                <a:gd name="T23" fmla="*/ 1427103 h 1868"/>
                <a:gd name="T24" fmla="*/ 2703776 w 2317"/>
                <a:gd name="T25" fmla="*/ 1474457 h 1868"/>
                <a:gd name="T26" fmla="*/ 2695508 w 2317"/>
                <a:gd name="T27" fmla="*/ 2212763 h 1868"/>
                <a:gd name="T28" fmla="*/ 2625816 w 2317"/>
                <a:gd name="T29" fmla="*/ 2619584 h 1868"/>
                <a:gd name="T30" fmla="*/ 2565575 w 2317"/>
                <a:gd name="T31" fmla="*/ 2871426 h 1868"/>
                <a:gd name="T32" fmla="*/ 2513602 w 2317"/>
                <a:gd name="T33" fmla="*/ 3028557 h 1868"/>
                <a:gd name="T34" fmla="*/ 2384850 w 2317"/>
                <a:gd name="T35" fmla="*/ 3310535 h 1868"/>
                <a:gd name="T36" fmla="*/ 2264368 w 2317"/>
                <a:gd name="T37" fmla="*/ 3515021 h 1868"/>
                <a:gd name="T38" fmla="*/ 2126167 w 2317"/>
                <a:gd name="T39" fmla="*/ 3672153 h 1868"/>
                <a:gd name="T40" fmla="*/ 1963161 w 2317"/>
                <a:gd name="T41" fmla="*/ 3812065 h 1868"/>
                <a:gd name="T42" fmla="*/ 1635967 w 2317"/>
                <a:gd name="T43" fmla="*/ 3954130 h 1868"/>
                <a:gd name="T44" fmla="*/ 1110332 w 2317"/>
                <a:gd name="T45" fmla="*/ 3969197 h 1868"/>
                <a:gd name="T46" fmla="*/ 851648 w 2317"/>
                <a:gd name="T47" fmla="*/ 3859419 h 1868"/>
                <a:gd name="T48" fmla="*/ 791407 w 2317"/>
                <a:gd name="T49" fmla="*/ 3812065 h 1868"/>
                <a:gd name="T50" fmla="*/ 628401 w 2317"/>
                <a:gd name="T51" fmla="*/ 3654933 h 1868"/>
                <a:gd name="T52" fmla="*/ 568159 w 2317"/>
                <a:gd name="T53" fmla="*/ 3562376 h 1868"/>
                <a:gd name="T54" fmla="*/ 516186 w 2317"/>
                <a:gd name="T55" fmla="*/ 3530088 h 1868"/>
                <a:gd name="T56" fmla="*/ 403972 w 2317"/>
                <a:gd name="T57" fmla="*/ 3420311 h 1868"/>
                <a:gd name="T58" fmla="*/ 223247 w 2317"/>
                <a:gd name="T59" fmla="*/ 3200757 h 1868"/>
                <a:gd name="T60" fmla="*/ 102764 w 2317"/>
                <a:gd name="T61" fmla="*/ 2746581 h 1868"/>
                <a:gd name="T62" fmla="*/ 76778 w 2317"/>
                <a:gd name="T63" fmla="*/ 2322540 h 1868"/>
                <a:gd name="T64" fmla="*/ 94496 w 2317"/>
                <a:gd name="T65" fmla="*/ 611308 h 1868"/>
                <a:gd name="T66" fmla="*/ 137020 w 2317"/>
                <a:gd name="T67" fmla="*/ 406821 h 1868"/>
                <a:gd name="T68" fmla="*/ 438226 w 2317"/>
                <a:gd name="T69" fmla="*/ 157132 h 1868"/>
                <a:gd name="T70" fmla="*/ 618951 w 2317"/>
                <a:gd name="T71" fmla="*/ 77490 h 1868"/>
                <a:gd name="T72" fmla="*/ 1118600 w 2317"/>
                <a:gd name="T73" fmla="*/ 62422 h 186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317"/>
                <a:gd name="T112" fmla="*/ 0 h 1868"/>
                <a:gd name="T113" fmla="*/ 2317 w 2317"/>
                <a:gd name="T114" fmla="*/ 1868 h 186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317" h="1868">
                  <a:moveTo>
                    <a:pt x="947" y="29"/>
                  </a:moveTo>
                  <a:cubicBezTo>
                    <a:pt x="979" y="19"/>
                    <a:pt x="1010" y="10"/>
                    <a:pt x="1042" y="0"/>
                  </a:cubicBezTo>
                  <a:cubicBezTo>
                    <a:pt x="1263" y="4"/>
                    <a:pt x="1478" y="12"/>
                    <a:pt x="1698" y="22"/>
                  </a:cubicBezTo>
                  <a:cubicBezTo>
                    <a:pt x="1748" y="31"/>
                    <a:pt x="1789" y="53"/>
                    <a:pt x="1837" y="65"/>
                  </a:cubicBezTo>
                  <a:cubicBezTo>
                    <a:pt x="1877" y="92"/>
                    <a:pt x="1910" y="124"/>
                    <a:pt x="1953" y="145"/>
                  </a:cubicBezTo>
                  <a:cubicBezTo>
                    <a:pt x="1987" y="179"/>
                    <a:pt x="2032" y="204"/>
                    <a:pt x="2063" y="240"/>
                  </a:cubicBezTo>
                  <a:cubicBezTo>
                    <a:pt x="2088" y="269"/>
                    <a:pt x="2107" y="303"/>
                    <a:pt x="2128" y="335"/>
                  </a:cubicBezTo>
                  <a:cubicBezTo>
                    <a:pt x="2136" y="347"/>
                    <a:pt x="2142" y="359"/>
                    <a:pt x="2150" y="371"/>
                  </a:cubicBezTo>
                  <a:cubicBezTo>
                    <a:pt x="2164" y="391"/>
                    <a:pt x="2194" y="430"/>
                    <a:pt x="2194" y="430"/>
                  </a:cubicBezTo>
                  <a:cubicBezTo>
                    <a:pt x="2209" y="524"/>
                    <a:pt x="2187" y="431"/>
                    <a:pt x="2223" y="503"/>
                  </a:cubicBezTo>
                  <a:cubicBezTo>
                    <a:pt x="2238" y="534"/>
                    <a:pt x="2239" y="568"/>
                    <a:pt x="2260" y="598"/>
                  </a:cubicBezTo>
                  <a:cubicBezTo>
                    <a:pt x="2267" y="620"/>
                    <a:pt x="2275" y="641"/>
                    <a:pt x="2282" y="663"/>
                  </a:cubicBezTo>
                  <a:cubicBezTo>
                    <a:pt x="2284" y="670"/>
                    <a:pt x="2289" y="685"/>
                    <a:pt x="2289" y="685"/>
                  </a:cubicBezTo>
                  <a:cubicBezTo>
                    <a:pt x="2295" y="799"/>
                    <a:pt x="2317" y="917"/>
                    <a:pt x="2282" y="1028"/>
                  </a:cubicBezTo>
                  <a:cubicBezTo>
                    <a:pt x="2274" y="1078"/>
                    <a:pt x="2253" y="1173"/>
                    <a:pt x="2223" y="1217"/>
                  </a:cubicBezTo>
                  <a:cubicBezTo>
                    <a:pt x="2214" y="1263"/>
                    <a:pt x="2206" y="1300"/>
                    <a:pt x="2172" y="1334"/>
                  </a:cubicBezTo>
                  <a:cubicBezTo>
                    <a:pt x="2162" y="1366"/>
                    <a:pt x="2149" y="1382"/>
                    <a:pt x="2128" y="1407"/>
                  </a:cubicBezTo>
                  <a:cubicBezTo>
                    <a:pt x="2090" y="1453"/>
                    <a:pt x="2070" y="1503"/>
                    <a:pt x="2019" y="1538"/>
                  </a:cubicBezTo>
                  <a:cubicBezTo>
                    <a:pt x="1990" y="1581"/>
                    <a:pt x="1956" y="1603"/>
                    <a:pt x="1917" y="1633"/>
                  </a:cubicBezTo>
                  <a:cubicBezTo>
                    <a:pt x="1875" y="1666"/>
                    <a:pt x="1853" y="1691"/>
                    <a:pt x="1800" y="1706"/>
                  </a:cubicBezTo>
                  <a:cubicBezTo>
                    <a:pt x="1760" y="1746"/>
                    <a:pt x="1714" y="1751"/>
                    <a:pt x="1662" y="1771"/>
                  </a:cubicBezTo>
                  <a:cubicBezTo>
                    <a:pt x="1601" y="1832"/>
                    <a:pt x="1461" y="1832"/>
                    <a:pt x="1385" y="1837"/>
                  </a:cubicBezTo>
                  <a:cubicBezTo>
                    <a:pt x="1219" y="1868"/>
                    <a:pt x="1205" y="1850"/>
                    <a:pt x="940" y="1844"/>
                  </a:cubicBezTo>
                  <a:cubicBezTo>
                    <a:pt x="867" y="1821"/>
                    <a:pt x="796" y="1809"/>
                    <a:pt x="721" y="1793"/>
                  </a:cubicBezTo>
                  <a:cubicBezTo>
                    <a:pt x="704" y="1785"/>
                    <a:pt x="685" y="1781"/>
                    <a:pt x="670" y="1771"/>
                  </a:cubicBezTo>
                  <a:cubicBezTo>
                    <a:pt x="626" y="1742"/>
                    <a:pt x="586" y="1710"/>
                    <a:pt x="532" y="1698"/>
                  </a:cubicBezTo>
                  <a:cubicBezTo>
                    <a:pt x="458" y="1663"/>
                    <a:pt x="545" y="1710"/>
                    <a:pt x="481" y="1655"/>
                  </a:cubicBezTo>
                  <a:cubicBezTo>
                    <a:pt x="477" y="1652"/>
                    <a:pt x="441" y="1642"/>
                    <a:pt x="437" y="1640"/>
                  </a:cubicBezTo>
                  <a:cubicBezTo>
                    <a:pt x="406" y="1625"/>
                    <a:pt x="368" y="1611"/>
                    <a:pt x="342" y="1589"/>
                  </a:cubicBezTo>
                  <a:cubicBezTo>
                    <a:pt x="298" y="1552"/>
                    <a:pt x="245" y="1505"/>
                    <a:pt x="189" y="1487"/>
                  </a:cubicBezTo>
                  <a:cubicBezTo>
                    <a:pt x="137" y="1418"/>
                    <a:pt x="104" y="1361"/>
                    <a:pt x="87" y="1276"/>
                  </a:cubicBezTo>
                  <a:cubicBezTo>
                    <a:pt x="83" y="1197"/>
                    <a:pt x="87" y="1147"/>
                    <a:pt x="65" y="1079"/>
                  </a:cubicBezTo>
                  <a:cubicBezTo>
                    <a:pt x="70" y="814"/>
                    <a:pt x="0" y="537"/>
                    <a:pt x="80" y="284"/>
                  </a:cubicBezTo>
                  <a:cubicBezTo>
                    <a:pt x="88" y="259"/>
                    <a:pt x="100" y="209"/>
                    <a:pt x="116" y="189"/>
                  </a:cubicBezTo>
                  <a:cubicBezTo>
                    <a:pt x="176" y="115"/>
                    <a:pt x="284" y="87"/>
                    <a:pt x="371" y="73"/>
                  </a:cubicBezTo>
                  <a:cubicBezTo>
                    <a:pt x="421" y="65"/>
                    <a:pt x="474" y="38"/>
                    <a:pt x="524" y="36"/>
                  </a:cubicBezTo>
                  <a:cubicBezTo>
                    <a:pt x="665" y="32"/>
                    <a:pt x="806" y="31"/>
                    <a:pt x="947" y="29"/>
                  </a:cubicBezTo>
                  <a:close/>
                </a:path>
              </a:pathLst>
            </a:custGeom>
            <a:solidFill>
              <a:schemeClr val="bg1"/>
            </a:solidFill>
            <a:ln w="9525">
              <a:solidFill>
                <a:schemeClr val="tx1"/>
              </a:solidFill>
              <a:round/>
              <a:headEnd/>
              <a:tailEnd/>
            </a:ln>
          </p:spPr>
          <p:txBody>
            <a:bodyPr/>
            <a:lstStyle/>
            <a:p>
              <a:endParaRPr lang="en-US"/>
            </a:p>
          </p:txBody>
        </p:sp>
      </p:grpSp>
      <p:sp>
        <p:nvSpPr>
          <p:cNvPr id="10" name="Text Box 11"/>
          <p:cNvSpPr txBox="1">
            <a:spLocks noChangeArrowheads="1"/>
          </p:cNvSpPr>
          <p:nvPr/>
        </p:nvSpPr>
        <p:spPr bwMode="auto">
          <a:xfrm rot="21065771">
            <a:off x="534988" y="1889125"/>
            <a:ext cx="2211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r>
              <a:rPr lang="en-US" altLang="en-US" sz="1800">
                <a:solidFill>
                  <a:schemeClr val="tx1"/>
                </a:solidFill>
                <a:latin typeface="Comic Sans MS" pitchFamily="66" charset="0"/>
                <a:cs typeface="Arial" charset="0"/>
              </a:rPr>
              <a:t>We do only this</a:t>
            </a:r>
          </a:p>
        </p:txBody>
      </p:sp>
      <p:sp>
        <p:nvSpPr>
          <p:cNvPr id="11" name="Freeform 18"/>
          <p:cNvSpPr>
            <a:spLocks/>
          </p:cNvSpPr>
          <p:nvPr/>
        </p:nvSpPr>
        <p:spPr bwMode="auto">
          <a:xfrm rot="17245313" flipH="1">
            <a:off x="1960563" y="2271712"/>
            <a:ext cx="433388" cy="620713"/>
          </a:xfrm>
          <a:custGeom>
            <a:avLst/>
            <a:gdLst>
              <a:gd name="T0" fmla="*/ 0 w 182"/>
              <a:gd name="T1" fmla="*/ 0 h 255"/>
              <a:gd name="T2" fmla="*/ 332661009 w 182"/>
              <a:gd name="T3" fmla="*/ 506217010 h 255"/>
              <a:gd name="T4" fmla="*/ 468749603 w 182"/>
              <a:gd name="T5" fmla="*/ 734206112 h 255"/>
              <a:gd name="T6" fmla="*/ 525454375 w 182"/>
              <a:gd name="T7" fmla="*/ 900369765 h 255"/>
              <a:gd name="T8" fmla="*/ 608619627 w 182"/>
              <a:gd name="T9" fmla="*/ 931283707 h 255"/>
              <a:gd name="T10" fmla="*/ 688003450 w 182"/>
              <a:gd name="T11" fmla="*/ 985383105 h 255"/>
              <a:gd name="T12" fmla="*/ 0 60000 65536"/>
              <a:gd name="T13" fmla="*/ 0 60000 65536"/>
              <a:gd name="T14" fmla="*/ 0 60000 65536"/>
              <a:gd name="T15" fmla="*/ 0 60000 65536"/>
              <a:gd name="T16" fmla="*/ 0 60000 65536"/>
              <a:gd name="T17" fmla="*/ 0 60000 65536"/>
              <a:gd name="T18" fmla="*/ 0 w 182"/>
              <a:gd name="T19" fmla="*/ 0 h 255"/>
              <a:gd name="T20" fmla="*/ 182 w 182"/>
              <a:gd name="T21" fmla="*/ 255 h 255"/>
            </a:gdLst>
            <a:ahLst/>
            <a:cxnLst>
              <a:cxn ang="T12">
                <a:pos x="T0" y="T1"/>
              </a:cxn>
              <a:cxn ang="T13">
                <a:pos x="T2" y="T3"/>
              </a:cxn>
              <a:cxn ang="T14">
                <a:pos x="T4" y="T5"/>
              </a:cxn>
              <a:cxn ang="T15">
                <a:pos x="T6" y="T7"/>
              </a:cxn>
              <a:cxn ang="T16">
                <a:pos x="T8" y="T9"/>
              </a:cxn>
              <a:cxn ang="T17">
                <a:pos x="T10" y="T11"/>
              </a:cxn>
            </a:cxnLst>
            <a:rect l="T18" t="T19" r="T20" b="T21"/>
            <a:pathLst>
              <a:path w="182" h="255">
                <a:moveTo>
                  <a:pt x="0" y="0"/>
                </a:moveTo>
                <a:cubicBezTo>
                  <a:pt x="27" y="41"/>
                  <a:pt x="48" y="105"/>
                  <a:pt x="88" y="131"/>
                </a:cubicBezTo>
                <a:cubicBezTo>
                  <a:pt x="105" y="183"/>
                  <a:pt x="89" y="166"/>
                  <a:pt x="124" y="190"/>
                </a:cubicBezTo>
                <a:cubicBezTo>
                  <a:pt x="129" y="204"/>
                  <a:pt x="125" y="228"/>
                  <a:pt x="139" y="233"/>
                </a:cubicBezTo>
                <a:cubicBezTo>
                  <a:pt x="146" y="236"/>
                  <a:pt x="154" y="237"/>
                  <a:pt x="161" y="241"/>
                </a:cubicBezTo>
                <a:cubicBezTo>
                  <a:pt x="168" y="245"/>
                  <a:pt x="182" y="255"/>
                  <a:pt x="182" y="255"/>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vert="eaVert"/>
          <a:lstStyle/>
          <a:p>
            <a:endParaRPr lang="en-US"/>
          </a:p>
        </p:txBody>
      </p:sp>
      <p:grpSp>
        <p:nvGrpSpPr>
          <p:cNvPr id="6" name="Group 33"/>
          <p:cNvGrpSpPr>
            <a:grpSpLocks/>
          </p:cNvGrpSpPr>
          <p:nvPr/>
        </p:nvGrpSpPr>
        <p:grpSpPr bwMode="auto">
          <a:xfrm>
            <a:off x="5251450" y="2854325"/>
            <a:ext cx="2065338" cy="2747963"/>
            <a:chOff x="1261" y="1574"/>
            <a:chExt cx="1301" cy="1731"/>
          </a:xfrm>
        </p:grpSpPr>
        <p:grpSp>
          <p:nvGrpSpPr>
            <p:cNvPr id="12" name="Group 31"/>
            <p:cNvGrpSpPr>
              <a:grpSpLocks/>
            </p:cNvGrpSpPr>
            <p:nvPr/>
          </p:nvGrpSpPr>
          <p:grpSpPr bwMode="auto">
            <a:xfrm>
              <a:off x="1261" y="2478"/>
              <a:ext cx="1301" cy="827"/>
              <a:chOff x="3514" y="1574"/>
              <a:chExt cx="1301" cy="827"/>
            </a:xfrm>
          </p:grpSpPr>
          <p:sp>
            <p:nvSpPr>
              <p:cNvPr id="19" name="Rectangle 21"/>
              <p:cNvSpPr>
                <a:spLocks noChangeArrowheads="1"/>
              </p:cNvSpPr>
              <p:nvPr/>
            </p:nvSpPr>
            <p:spPr bwMode="auto">
              <a:xfrm>
                <a:off x="3514" y="1799"/>
                <a:ext cx="1301" cy="150"/>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Database Connectivity</a:t>
                </a:r>
              </a:p>
            </p:txBody>
          </p:sp>
          <p:sp>
            <p:nvSpPr>
              <p:cNvPr id="20" name="Rectangle 17"/>
              <p:cNvSpPr>
                <a:spLocks noChangeArrowheads="1"/>
              </p:cNvSpPr>
              <p:nvPr/>
            </p:nvSpPr>
            <p:spPr bwMode="auto">
              <a:xfrm>
                <a:off x="3514" y="1574"/>
                <a:ext cx="1301" cy="150"/>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Transaction Management</a:t>
                </a:r>
              </a:p>
            </p:txBody>
          </p:sp>
          <p:sp>
            <p:nvSpPr>
              <p:cNvPr id="21" name="Rectangle 16"/>
              <p:cNvSpPr>
                <a:spLocks noChangeArrowheads="1"/>
              </p:cNvSpPr>
              <p:nvPr/>
            </p:nvSpPr>
            <p:spPr bwMode="auto">
              <a:xfrm>
                <a:off x="3514" y="2025"/>
                <a:ext cx="1301" cy="150"/>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Load Balancing</a:t>
                </a:r>
              </a:p>
            </p:txBody>
          </p:sp>
          <p:sp>
            <p:nvSpPr>
              <p:cNvPr id="22" name="Rectangle 16"/>
              <p:cNvSpPr>
                <a:spLocks noChangeArrowheads="1"/>
              </p:cNvSpPr>
              <p:nvPr/>
            </p:nvSpPr>
            <p:spPr bwMode="auto">
              <a:xfrm>
                <a:off x="3514" y="2251"/>
                <a:ext cx="1301" cy="150"/>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Failover</a:t>
                </a:r>
              </a:p>
            </p:txBody>
          </p:sp>
        </p:grpSp>
        <p:grpSp>
          <p:nvGrpSpPr>
            <p:cNvPr id="13" name="Group 32"/>
            <p:cNvGrpSpPr>
              <a:grpSpLocks/>
            </p:cNvGrpSpPr>
            <p:nvPr/>
          </p:nvGrpSpPr>
          <p:grpSpPr bwMode="auto">
            <a:xfrm>
              <a:off x="1261" y="1574"/>
              <a:ext cx="1301" cy="827"/>
              <a:chOff x="1261" y="1574"/>
              <a:chExt cx="1301" cy="827"/>
            </a:xfrm>
          </p:grpSpPr>
          <p:sp>
            <p:nvSpPr>
              <p:cNvPr id="15" name="Rectangle 15"/>
              <p:cNvSpPr>
                <a:spLocks noChangeArrowheads="1"/>
              </p:cNvSpPr>
              <p:nvPr/>
            </p:nvSpPr>
            <p:spPr bwMode="auto">
              <a:xfrm>
                <a:off x="1261" y="1574"/>
                <a:ext cx="1301" cy="150"/>
              </a:xfrm>
              <a:prstGeom prst="rect">
                <a:avLst/>
              </a:prstGeom>
              <a:solidFill>
                <a:srgbClr val="BC0000"/>
              </a:solidFill>
              <a:ln w="19050">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Network Communication</a:t>
                </a:r>
              </a:p>
            </p:txBody>
          </p:sp>
          <p:sp>
            <p:nvSpPr>
              <p:cNvPr id="16" name="Rectangle 16"/>
              <p:cNvSpPr>
                <a:spLocks noChangeArrowheads="1"/>
              </p:cNvSpPr>
              <p:nvPr/>
            </p:nvSpPr>
            <p:spPr bwMode="auto">
              <a:xfrm>
                <a:off x="1261" y="2025"/>
                <a:ext cx="1301" cy="150"/>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Authentication / Security</a:t>
                </a:r>
              </a:p>
            </p:txBody>
          </p:sp>
          <p:sp>
            <p:nvSpPr>
              <p:cNvPr id="17" name="Rectangle 18"/>
              <p:cNvSpPr>
                <a:spLocks noChangeArrowheads="1"/>
              </p:cNvSpPr>
              <p:nvPr/>
            </p:nvSpPr>
            <p:spPr bwMode="auto">
              <a:xfrm>
                <a:off x="1261" y="1799"/>
                <a:ext cx="1301" cy="150"/>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Client Session Management</a:t>
                </a:r>
              </a:p>
            </p:txBody>
          </p:sp>
          <p:sp>
            <p:nvSpPr>
              <p:cNvPr id="18" name="Rectangle 16"/>
              <p:cNvSpPr>
                <a:spLocks noChangeArrowheads="1"/>
              </p:cNvSpPr>
              <p:nvPr/>
            </p:nvSpPr>
            <p:spPr bwMode="auto">
              <a:xfrm>
                <a:off x="1261" y="2251"/>
                <a:ext cx="1301" cy="150"/>
              </a:xfrm>
              <a:prstGeom prst="rect">
                <a:avLst/>
              </a:prstGeom>
              <a:solidFill>
                <a:srgbClr val="BC0000"/>
              </a:solidFill>
              <a:ln w="19050" algn="ctr">
                <a:solidFill>
                  <a:srgbClr val="9A0000"/>
                </a:solidFill>
                <a:miter lim="800000"/>
                <a:headEnd/>
                <a:tailEnd/>
              </a:ln>
              <a:effectLst>
                <a:outerShdw dist="35921" dir="2700000" algn="ctr" rotWithShape="0">
                  <a:srgbClr val="808080"/>
                </a:outerShdw>
              </a:effec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300" b="0">
                    <a:solidFill>
                      <a:schemeClr val="bg1"/>
                    </a:solidFill>
                    <a:latin typeface="Trebuchet MS" pitchFamily="34" charset="0"/>
                    <a:cs typeface="Tahoma" pitchFamily="34" charset="0"/>
                  </a:rPr>
                  <a:t>Pooling / Caching</a:t>
                </a:r>
              </a:p>
            </p:txBody>
          </p:sp>
        </p:grpSp>
      </p:grpSp>
    </p:spTree>
    <p:extLst>
      <p:ext uri="{BB962C8B-B14F-4D97-AF65-F5344CB8AC3E}">
        <p14:creationId xmlns:p14="http://schemas.microsoft.com/office/powerpoint/2010/main" val="8123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p:stCondLst>
                              <p:cond delay="1000"/>
                            </p:stCondLst>
                            <p:childTnLst>
                              <p:par>
                                <p:cTn id="13" presetID="16" presetClass="entr" presetSubtype="26"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Horizont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Java Technology</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normAutofit/>
          </a:bodyPr>
          <a:lstStyle/>
          <a:p>
            <a:r>
              <a:rPr lang="en-US" sz="3600" dirty="0"/>
              <a:t>Programming language + platform</a:t>
            </a:r>
          </a:p>
          <a:p>
            <a:r>
              <a:rPr lang="en-US" sz="3600" dirty="0"/>
              <a:t>3 Platforms of the Java programming language</a:t>
            </a:r>
            <a:r>
              <a:rPr lang="en-US" sz="3600" dirty="0" smtClean="0"/>
              <a:t>:</a:t>
            </a:r>
            <a:endParaRPr lang="en-US" sz="4000" dirty="0"/>
          </a:p>
          <a:p>
            <a:pPr lvl="1"/>
            <a:r>
              <a:rPr lang="en-US" dirty="0"/>
              <a:t>Java Platform, Standard Edition (Java SE)</a:t>
            </a:r>
          </a:p>
          <a:p>
            <a:pPr lvl="1"/>
            <a:r>
              <a:rPr lang="en-US" dirty="0"/>
              <a:t>Java Platform, Micro Edition (Java ME)</a:t>
            </a:r>
          </a:p>
          <a:p>
            <a:pPr lvl="1"/>
            <a:r>
              <a:rPr lang="en-US" dirty="0"/>
              <a:t>Java Platform, Enterprise Edition (Java EE)</a:t>
            </a:r>
          </a:p>
          <a:p>
            <a:endParaRPr lang="en-US" sz="4000" dirty="0"/>
          </a:p>
        </p:txBody>
      </p:sp>
    </p:spTree>
    <p:extLst>
      <p:ext uri="{BB962C8B-B14F-4D97-AF65-F5344CB8AC3E}">
        <p14:creationId xmlns:p14="http://schemas.microsoft.com/office/powerpoint/2010/main" val="24135944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Java</a:t>
            </a:r>
            <a:r>
              <a:rPr lang="en-US" altLang="en-US" dirty="0"/>
              <a:t> </a:t>
            </a:r>
            <a:r>
              <a:rPr lang="en-US" altLang="en-US" dirty="0">
                <a:solidFill>
                  <a:schemeClr val="tx1">
                    <a:lumMod val="65000"/>
                    <a:lumOff val="35000"/>
                  </a:schemeClr>
                </a:solidFill>
                <a:effectLst>
                  <a:outerShdw blurRad="63500" algn="ctr" rotWithShape="0">
                    <a:prstClr val="black">
                      <a:alpha val="14000"/>
                    </a:prstClr>
                  </a:outerShdw>
                </a:effectLst>
              </a:rPr>
              <a:t>Technology</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r>
              <a:rPr lang="en-US" sz="2800" dirty="0"/>
              <a:t>Java Platform, Standard Edition (Java SE)</a:t>
            </a:r>
          </a:p>
          <a:p>
            <a:r>
              <a:rPr lang="en-US" sz="2800" dirty="0"/>
              <a:t>“When you think of Java programming language, you think of Java SE</a:t>
            </a:r>
            <a:r>
              <a:rPr lang="en-US" sz="2800" dirty="0" smtClean="0"/>
              <a:t>”</a:t>
            </a:r>
          </a:p>
          <a:p>
            <a:endParaRPr lang="en-US" dirty="0"/>
          </a:p>
        </p:txBody>
      </p:sp>
      <p:sp>
        <p:nvSpPr>
          <p:cNvPr id="4" name="Rectangle 7"/>
          <p:cNvSpPr>
            <a:spLocks noChangeArrowheads="1"/>
          </p:cNvSpPr>
          <p:nvPr/>
        </p:nvSpPr>
        <p:spPr bwMode="auto">
          <a:xfrm>
            <a:off x="1341437" y="3581400"/>
            <a:ext cx="6461125" cy="3124200"/>
          </a:xfrm>
          <a:prstGeom prst="rect">
            <a:avLst/>
          </a:prstGeom>
          <a:solidFill>
            <a:srgbClr val="E6EEE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endParaRPr lang="en-US" altLang="en-US" sz="1800" b="0">
              <a:solidFill>
                <a:schemeClr val="tx1"/>
              </a:solidFill>
              <a:cs typeface="Arial" charset="0"/>
            </a:endParaRPr>
          </a:p>
        </p:txBody>
      </p:sp>
      <p:sp>
        <p:nvSpPr>
          <p:cNvPr id="5" name="Rectangle 8"/>
          <p:cNvSpPr>
            <a:spLocks noChangeArrowheads="1"/>
          </p:cNvSpPr>
          <p:nvPr/>
        </p:nvSpPr>
        <p:spPr bwMode="auto">
          <a:xfrm>
            <a:off x="1349057" y="6093460"/>
            <a:ext cx="4343400" cy="457200"/>
          </a:xfrm>
          <a:prstGeom prst="rect">
            <a:avLst/>
          </a:prstGeom>
          <a:solidFill>
            <a:srgbClr val="E6EEE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800" dirty="0">
                <a:latin typeface="+mn-lt"/>
                <a:cs typeface="Arial" charset="0"/>
              </a:rPr>
              <a:t>JVM</a:t>
            </a:r>
          </a:p>
        </p:txBody>
      </p:sp>
      <p:sp>
        <p:nvSpPr>
          <p:cNvPr id="6" name="Rectangle 9"/>
          <p:cNvSpPr>
            <a:spLocks noChangeArrowheads="1"/>
          </p:cNvSpPr>
          <p:nvPr/>
        </p:nvSpPr>
        <p:spPr bwMode="auto">
          <a:xfrm>
            <a:off x="1349057" y="3569812"/>
            <a:ext cx="3657600" cy="2501900"/>
          </a:xfrm>
          <a:prstGeom prst="rect">
            <a:avLst/>
          </a:prstGeom>
          <a:solidFill>
            <a:srgbClr val="E6EEE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r>
              <a:rPr lang="en-US" altLang="en-US" sz="2400" b="0" dirty="0">
                <a:cs typeface="Arial" charset="0"/>
              </a:rPr>
              <a:t>                        </a:t>
            </a:r>
            <a:r>
              <a:rPr lang="en-US" altLang="en-US" sz="2400" dirty="0">
                <a:latin typeface="+mn-lt"/>
                <a:cs typeface="Arial" charset="0"/>
              </a:rPr>
              <a:t>API</a:t>
            </a:r>
          </a:p>
          <a:p>
            <a:pPr algn="l" eaLnBrk="1" hangingPunct="1">
              <a:spcBef>
                <a:spcPct val="0"/>
              </a:spcBef>
              <a:buClr>
                <a:schemeClr val="hlink"/>
              </a:buClr>
              <a:buFont typeface="Wingdings" pitchFamily="2" charset="2"/>
              <a:buNone/>
            </a:pPr>
            <a:r>
              <a:rPr lang="en-US" altLang="en-US" sz="1800" b="0" dirty="0">
                <a:latin typeface="+mn-lt"/>
                <a:cs typeface="Arial" charset="0"/>
              </a:rPr>
              <a:t>Provides core functionality of Java</a:t>
            </a:r>
          </a:p>
          <a:p>
            <a:pPr algn="l" eaLnBrk="1" hangingPunct="1">
              <a:spcBef>
                <a:spcPct val="0"/>
              </a:spcBef>
              <a:buFont typeface="Wingdings" pitchFamily="2" charset="2"/>
              <a:buChar char="§"/>
            </a:pPr>
            <a:r>
              <a:rPr lang="en-US" altLang="en-US" sz="1800" b="0" dirty="0">
                <a:latin typeface="+mn-lt"/>
                <a:cs typeface="Arial" charset="0"/>
              </a:rPr>
              <a:t>  Basic types and </a:t>
            </a:r>
            <a:r>
              <a:rPr lang="en-US" altLang="en-US" sz="1800" b="0" dirty="0" smtClean="0">
                <a:latin typeface="+mn-lt"/>
                <a:cs typeface="Arial" charset="0"/>
              </a:rPr>
              <a:t>objects</a:t>
            </a:r>
          </a:p>
          <a:p>
            <a:pPr algn="l" eaLnBrk="1" hangingPunct="1">
              <a:spcBef>
                <a:spcPct val="0"/>
              </a:spcBef>
              <a:buFont typeface="Wingdings" pitchFamily="2" charset="2"/>
              <a:buChar char="§"/>
            </a:pPr>
            <a:r>
              <a:rPr lang="en-US" altLang="en-US" sz="1800" b="0" dirty="0">
                <a:latin typeface="+mn-lt"/>
                <a:cs typeface="Arial" charset="0"/>
              </a:rPr>
              <a:t> </a:t>
            </a:r>
            <a:r>
              <a:rPr lang="en-US" altLang="en-US" sz="1800" b="0" dirty="0" err="1" smtClean="0">
                <a:latin typeface="+mn-lt"/>
                <a:cs typeface="Arial" charset="0"/>
              </a:rPr>
              <a:t>Input/Output</a:t>
            </a:r>
            <a:r>
              <a:rPr lang="en-US" altLang="en-US" sz="1800" b="0" dirty="0" smtClean="0">
                <a:latin typeface="+mn-lt"/>
                <a:cs typeface="Arial" charset="0"/>
              </a:rPr>
              <a:t> </a:t>
            </a:r>
          </a:p>
          <a:p>
            <a:pPr algn="l" eaLnBrk="1" hangingPunct="1">
              <a:spcBef>
                <a:spcPct val="0"/>
              </a:spcBef>
              <a:buFont typeface="Wingdings" pitchFamily="2" charset="2"/>
              <a:buChar char="§"/>
            </a:pPr>
            <a:r>
              <a:rPr lang="en-US" altLang="en-US" sz="1800" b="0" dirty="0" smtClean="0">
                <a:latin typeface="+mn-lt"/>
                <a:cs typeface="Arial" charset="0"/>
              </a:rPr>
              <a:t> Networking</a:t>
            </a:r>
            <a:endParaRPr lang="en-US" altLang="en-US" sz="1800" b="0" dirty="0">
              <a:latin typeface="+mn-lt"/>
              <a:cs typeface="Arial" charset="0"/>
            </a:endParaRPr>
          </a:p>
          <a:p>
            <a:pPr algn="l" eaLnBrk="1" hangingPunct="1">
              <a:spcBef>
                <a:spcPct val="0"/>
              </a:spcBef>
              <a:buFont typeface="Wingdings" pitchFamily="2" charset="2"/>
              <a:buChar char="§"/>
            </a:pPr>
            <a:r>
              <a:rPr lang="en-US" altLang="en-US" sz="1800" b="0" dirty="0">
                <a:latin typeface="+mn-lt"/>
                <a:cs typeface="Arial" charset="0"/>
              </a:rPr>
              <a:t> </a:t>
            </a:r>
            <a:r>
              <a:rPr lang="en-US" altLang="en-US" sz="1800" b="0" dirty="0" smtClean="0">
                <a:latin typeface="+mn-lt"/>
                <a:cs typeface="Arial" charset="0"/>
              </a:rPr>
              <a:t>Security</a:t>
            </a:r>
            <a:endParaRPr lang="en-US" altLang="en-US" sz="1800" b="0" dirty="0">
              <a:latin typeface="+mn-lt"/>
              <a:cs typeface="Arial" charset="0"/>
            </a:endParaRPr>
          </a:p>
          <a:p>
            <a:pPr algn="l" eaLnBrk="1" hangingPunct="1">
              <a:spcBef>
                <a:spcPct val="0"/>
              </a:spcBef>
              <a:buFont typeface="Wingdings" pitchFamily="2" charset="2"/>
              <a:buChar char="§"/>
            </a:pPr>
            <a:r>
              <a:rPr lang="en-US" altLang="en-US" sz="1800" b="0" dirty="0">
                <a:latin typeface="+mn-lt"/>
                <a:cs typeface="Arial" charset="0"/>
              </a:rPr>
              <a:t> </a:t>
            </a:r>
            <a:r>
              <a:rPr lang="en-US" altLang="en-US" sz="1800" b="0" dirty="0" smtClean="0">
                <a:latin typeface="+mn-lt"/>
                <a:cs typeface="Arial" charset="0"/>
              </a:rPr>
              <a:t>GUI development</a:t>
            </a:r>
          </a:p>
          <a:p>
            <a:pPr algn="l" eaLnBrk="1" hangingPunct="1">
              <a:spcBef>
                <a:spcPct val="0"/>
              </a:spcBef>
              <a:buFont typeface="Wingdings" pitchFamily="2" charset="2"/>
              <a:buChar char="§"/>
            </a:pPr>
            <a:r>
              <a:rPr lang="en-US" altLang="en-US" sz="1800" b="0" dirty="0">
                <a:latin typeface="+mn-lt"/>
                <a:cs typeface="Arial" charset="0"/>
              </a:rPr>
              <a:t> </a:t>
            </a:r>
            <a:r>
              <a:rPr lang="en-US" altLang="en-US" sz="1800" b="0" dirty="0" smtClean="0">
                <a:latin typeface="+mn-lt"/>
                <a:cs typeface="Arial" charset="0"/>
              </a:rPr>
              <a:t>Database access</a:t>
            </a:r>
          </a:p>
          <a:p>
            <a:pPr algn="l" eaLnBrk="1" hangingPunct="1">
              <a:spcBef>
                <a:spcPct val="0"/>
              </a:spcBef>
              <a:buFont typeface="Wingdings" pitchFamily="2" charset="2"/>
              <a:buChar char="§"/>
            </a:pPr>
            <a:r>
              <a:rPr lang="en-US" altLang="en-US" sz="1800" b="0" dirty="0">
                <a:latin typeface="+mn-lt"/>
                <a:cs typeface="Arial" charset="0"/>
              </a:rPr>
              <a:t> </a:t>
            </a:r>
            <a:r>
              <a:rPr lang="en-US" altLang="en-US" sz="1800" b="0" dirty="0" smtClean="0">
                <a:latin typeface="+mn-lt"/>
                <a:cs typeface="Arial" charset="0"/>
              </a:rPr>
              <a:t>XML </a:t>
            </a:r>
            <a:r>
              <a:rPr lang="en-US" altLang="en-US" sz="1800" b="0" dirty="0">
                <a:latin typeface="+mn-lt"/>
                <a:cs typeface="Arial" charset="0"/>
              </a:rPr>
              <a:t>processing</a:t>
            </a:r>
          </a:p>
        </p:txBody>
      </p:sp>
      <p:sp>
        <p:nvSpPr>
          <p:cNvPr id="7" name="Text Box 10"/>
          <p:cNvSpPr txBox="1">
            <a:spLocks noChangeArrowheads="1"/>
          </p:cNvSpPr>
          <p:nvPr/>
        </p:nvSpPr>
        <p:spPr bwMode="auto">
          <a:xfrm>
            <a:off x="5638800" y="3581400"/>
            <a:ext cx="2133600" cy="193899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2000" b="0" dirty="0">
                <a:latin typeface="+mn-lt"/>
                <a:cs typeface="Arial" charset="0"/>
              </a:rPr>
              <a:t>Development tools,</a:t>
            </a:r>
            <a:br>
              <a:rPr lang="en-US" altLang="en-US" sz="2000" b="0" dirty="0">
                <a:latin typeface="+mn-lt"/>
                <a:cs typeface="Arial" charset="0"/>
              </a:rPr>
            </a:br>
            <a:r>
              <a:rPr lang="en-US" altLang="en-US" sz="2000" b="0" dirty="0">
                <a:latin typeface="+mn-lt"/>
                <a:cs typeface="Arial" charset="0"/>
              </a:rPr>
              <a:t>deployment technologies, </a:t>
            </a:r>
            <a:br>
              <a:rPr lang="en-US" altLang="en-US" sz="2000" b="0" dirty="0">
                <a:latin typeface="+mn-lt"/>
                <a:cs typeface="Arial" charset="0"/>
              </a:rPr>
            </a:br>
            <a:r>
              <a:rPr lang="en-US" altLang="en-US" sz="2000" b="0" dirty="0">
                <a:latin typeface="+mn-lt"/>
                <a:cs typeface="Arial" charset="0"/>
              </a:rPr>
              <a:t>other class libraries</a:t>
            </a:r>
          </a:p>
        </p:txBody>
      </p:sp>
    </p:spTree>
    <p:extLst>
      <p:ext uri="{BB962C8B-B14F-4D97-AF65-F5344CB8AC3E}">
        <p14:creationId xmlns:p14="http://schemas.microsoft.com/office/powerpoint/2010/main" val="37039153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Java</a:t>
            </a:r>
            <a:r>
              <a:rPr lang="en-US" altLang="en-US" dirty="0"/>
              <a:t> </a:t>
            </a:r>
            <a:r>
              <a:rPr lang="en-US" altLang="en-US" dirty="0">
                <a:solidFill>
                  <a:schemeClr val="tx1">
                    <a:lumMod val="65000"/>
                    <a:lumOff val="35000"/>
                  </a:schemeClr>
                </a:solidFill>
                <a:effectLst>
                  <a:outerShdw blurRad="63500" algn="ctr" rotWithShape="0">
                    <a:prstClr val="black">
                      <a:alpha val="14000"/>
                    </a:prstClr>
                  </a:outerShdw>
                </a:effectLst>
              </a:rPr>
              <a:t>Technology</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r>
              <a:rPr lang="en-US" altLang="en-US" sz="2800" dirty="0" smtClean="0"/>
              <a:t>Java </a:t>
            </a:r>
            <a:r>
              <a:rPr lang="en-US" altLang="en-US" sz="2800" dirty="0"/>
              <a:t>Platform, Micro Edition (Java ME)</a:t>
            </a:r>
          </a:p>
          <a:p>
            <a:endParaRPr lang="en-US" dirty="0"/>
          </a:p>
        </p:txBody>
      </p:sp>
      <p:sp>
        <p:nvSpPr>
          <p:cNvPr id="4" name="Rectangle 4"/>
          <p:cNvSpPr>
            <a:spLocks noChangeArrowheads="1"/>
          </p:cNvSpPr>
          <p:nvPr/>
        </p:nvSpPr>
        <p:spPr bwMode="auto">
          <a:xfrm>
            <a:off x="1908175" y="5257800"/>
            <a:ext cx="4319588" cy="457200"/>
          </a:xfrm>
          <a:prstGeom prst="rect">
            <a:avLst/>
          </a:prstGeom>
          <a:solidFill>
            <a:srgbClr val="DABF8E"/>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2000" dirty="0">
                <a:latin typeface="+mn-lt"/>
                <a:cs typeface="Arial" charset="0"/>
              </a:rPr>
              <a:t>A small footprint JVM</a:t>
            </a:r>
          </a:p>
        </p:txBody>
      </p:sp>
      <p:sp>
        <p:nvSpPr>
          <p:cNvPr id="5" name="Rectangle 5"/>
          <p:cNvSpPr>
            <a:spLocks noChangeArrowheads="1"/>
          </p:cNvSpPr>
          <p:nvPr/>
        </p:nvSpPr>
        <p:spPr bwMode="auto">
          <a:xfrm>
            <a:off x="1908175" y="2514600"/>
            <a:ext cx="4319588" cy="2743200"/>
          </a:xfrm>
          <a:prstGeom prst="rect">
            <a:avLst/>
          </a:prstGeom>
          <a:solidFill>
            <a:srgbClr val="DABF8E"/>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r>
              <a:rPr lang="en-US" altLang="en-US" sz="2800" b="0" dirty="0">
                <a:solidFill>
                  <a:schemeClr val="tx1"/>
                </a:solidFill>
                <a:cs typeface="Arial" charset="0"/>
              </a:rPr>
              <a:t>                        </a:t>
            </a:r>
            <a:r>
              <a:rPr lang="en-US" altLang="en-US" sz="2800" dirty="0">
                <a:solidFill>
                  <a:schemeClr val="tx1"/>
                </a:solidFill>
                <a:latin typeface="+mn-lt"/>
                <a:cs typeface="Arial" charset="0"/>
              </a:rPr>
              <a:t>API</a:t>
            </a:r>
          </a:p>
          <a:p>
            <a:pPr algn="l" eaLnBrk="1" hangingPunct="1">
              <a:spcBef>
                <a:spcPct val="0"/>
              </a:spcBef>
              <a:buClr>
                <a:schemeClr val="hlink"/>
              </a:buClr>
              <a:buFont typeface="Wingdings" pitchFamily="2" charset="2"/>
              <a:buNone/>
            </a:pPr>
            <a:r>
              <a:rPr lang="en-US" altLang="en-US" sz="2000" b="0" dirty="0">
                <a:solidFill>
                  <a:schemeClr val="tx1"/>
                </a:solidFill>
                <a:latin typeface="+mn-lt"/>
                <a:cs typeface="Arial" charset="0"/>
              </a:rPr>
              <a:t>Cut-down version of Java SE API’s</a:t>
            </a:r>
            <a:br>
              <a:rPr lang="en-US" altLang="en-US" sz="2000" b="0" dirty="0">
                <a:solidFill>
                  <a:schemeClr val="tx1"/>
                </a:solidFill>
                <a:latin typeface="+mn-lt"/>
                <a:cs typeface="Arial" charset="0"/>
              </a:rPr>
            </a:br>
            <a:endParaRPr lang="en-US" altLang="en-US" sz="2000" b="0" dirty="0">
              <a:solidFill>
                <a:schemeClr val="tx1"/>
              </a:solidFill>
              <a:latin typeface="+mn-lt"/>
              <a:cs typeface="Arial" charset="0"/>
            </a:endParaRPr>
          </a:p>
          <a:p>
            <a:pPr algn="l" eaLnBrk="1" hangingPunct="1">
              <a:spcBef>
                <a:spcPct val="0"/>
              </a:spcBef>
              <a:buFont typeface="Wingdings" pitchFamily="2" charset="2"/>
              <a:buChar char="§"/>
            </a:pPr>
            <a:r>
              <a:rPr lang="en-US" altLang="en-US" sz="2000" b="0" dirty="0">
                <a:solidFill>
                  <a:schemeClr val="tx1"/>
                </a:solidFill>
                <a:latin typeface="+mn-lt"/>
                <a:cs typeface="Arial" charset="0"/>
              </a:rPr>
              <a:t>  Basic types and </a:t>
            </a:r>
            <a:r>
              <a:rPr lang="en-US" altLang="en-US" sz="2000" b="0" dirty="0" smtClean="0">
                <a:solidFill>
                  <a:schemeClr val="tx1"/>
                </a:solidFill>
                <a:latin typeface="+mn-lt"/>
                <a:cs typeface="Arial" charset="0"/>
              </a:rPr>
              <a:t>objects</a:t>
            </a:r>
          </a:p>
          <a:p>
            <a:pPr algn="l" eaLnBrk="1" hangingPunct="1">
              <a:spcBef>
                <a:spcPct val="0"/>
              </a:spcBef>
              <a:buFont typeface="Wingdings" pitchFamily="2" charset="2"/>
              <a:buChar char="§"/>
            </a:pPr>
            <a:r>
              <a:rPr lang="en-US" altLang="en-US" sz="2000" b="0" dirty="0">
                <a:solidFill>
                  <a:schemeClr val="tx1"/>
                </a:solidFill>
                <a:latin typeface="+mn-lt"/>
                <a:cs typeface="Arial" charset="0"/>
              </a:rPr>
              <a:t> </a:t>
            </a:r>
            <a:r>
              <a:rPr lang="en-US" altLang="en-US" sz="2000" b="0" dirty="0" smtClean="0">
                <a:solidFill>
                  <a:schemeClr val="tx1"/>
                </a:solidFill>
                <a:latin typeface="+mn-lt"/>
                <a:cs typeface="Arial" charset="0"/>
              </a:rPr>
              <a:t> </a:t>
            </a:r>
            <a:r>
              <a:rPr lang="en-US" altLang="en-US" sz="2000" b="0" dirty="0" smtClean="0">
                <a:solidFill>
                  <a:schemeClr val="tx1"/>
                </a:solidFill>
                <a:latin typeface="+mn-lt"/>
                <a:cs typeface="Arial" charset="0"/>
              </a:rPr>
              <a:t>Input/output </a:t>
            </a:r>
            <a:endParaRPr lang="en-US" altLang="en-US" sz="2000" b="0" dirty="0">
              <a:solidFill>
                <a:schemeClr val="tx1"/>
              </a:solidFill>
              <a:latin typeface="+mn-lt"/>
              <a:cs typeface="Arial" charset="0"/>
            </a:endParaRPr>
          </a:p>
          <a:p>
            <a:pPr algn="l" eaLnBrk="1" hangingPunct="1">
              <a:spcBef>
                <a:spcPct val="0"/>
              </a:spcBef>
              <a:buFont typeface="Wingdings" pitchFamily="2" charset="2"/>
              <a:buChar char="§"/>
            </a:pPr>
            <a:r>
              <a:rPr lang="en-US" altLang="en-US" sz="2000" b="0" dirty="0">
                <a:solidFill>
                  <a:schemeClr val="tx1"/>
                </a:solidFill>
                <a:latin typeface="+mn-lt"/>
                <a:cs typeface="Arial" charset="0"/>
              </a:rPr>
              <a:t> </a:t>
            </a:r>
            <a:r>
              <a:rPr lang="en-US" altLang="en-US" sz="2000" b="0" dirty="0" smtClean="0">
                <a:solidFill>
                  <a:schemeClr val="tx1"/>
                </a:solidFill>
                <a:latin typeface="+mn-lt"/>
                <a:cs typeface="Arial" charset="0"/>
              </a:rPr>
              <a:t> Networking</a:t>
            </a:r>
            <a:endParaRPr lang="en-US" altLang="en-US" sz="2000" b="0" dirty="0">
              <a:solidFill>
                <a:schemeClr val="tx1"/>
              </a:solidFill>
              <a:latin typeface="+mn-lt"/>
              <a:cs typeface="Arial" charset="0"/>
            </a:endParaRPr>
          </a:p>
          <a:p>
            <a:pPr algn="l" eaLnBrk="1" hangingPunct="1">
              <a:spcBef>
                <a:spcPct val="0"/>
              </a:spcBef>
              <a:buFont typeface="Wingdings" pitchFamily="2" charset="2"/>
              <a:buChar char="§"/>
            </a:pPr>
            <a:r>
              <a:rPr lang="en-US" altLang="en-US" sz="2000" b="0" dirty="0">
                <a:solidFill>
                  <a:schemeClr val="tx1"/>
                </a:solidFill>
                <a:latin typeface="+mn-lt"/>
                <a:cs typeface="Arial" charset="0"/>
              </a:rPr>
              <a:t> </a:t>
            </a:r>
            <a:r>
              <a:rPr lang="en-US" altLang="en-US" sz="2000" b="0" dirty="0" smtClean="0">
                <a:solidFill>
                  <a:schemeClr val="tx1"/>
                </a:solidFill>
                <a:latin typeface="+mn-lt"/>
                <a:cs typeface="Arial" charset="0"/>
              </a:rPr>
              <a:t> GUI development</a:t>
            </a:r>
          </a:p>
          <a:p>
            <a:pPr algn="l" eaLnBrk="1" hangingPunct="1">
              <a:spcBef>
                <a:spcPct val="0"/>
              </a:spcBef>
              <a:buFont typeface="Wingdings" pitchFamily="2" charset="2"/>
              <a:buChar char="§"/>
            </a:pPr>
            <a:r>
              <a:rPr lang="en-US" altLang="en-US" sz="2000" b="0" dirty="0">
                <a:solidFill>
                  <a:schemeClr val="tx1"/>
                </a:solidFill>
                <a:latin typeface="+mn-lt"/>
                <a:cs typeface="Arial" charset="0"/>
              </a:rPr>
              <a:t> </a:t>
            </a:r>
            <a:r>
              <a:rPr lang="en-US" altLang="en-US" sz="2000" b="0" dirty="0" smtClean="0">
                <a:solidFill>
                  <a:schemeClr val="tx1"/>
                </a:solidFill>
                <a:latin typeface="+mn-lt"/>
                <a:cs typeface="Arial" charset="0"/>
              </a:rPr>
              <a:t> Database </a:t>
            </a:r>
            <a:r>
              <a:rPr lang="en-US" altLang="en-US" sz="2000" b="0" dirty="0">
                <a:solidFill>
                  <a:schemeClr val="tx1"/>
                </a:solidFill>
                <a:latin typeface="+mn-lt"/>
                <a:cs typeface="Arial" charset="0"/>
              </a:rPr>
              <a:t>access</a:t>
            </a:r>
          </a:p>
        </p:txBody>
      </p:sp>
    </p:spTree>
    <p:extLst>
      <p:ext uri="{BB962C8B-B14F-4D97-AF65-F5344CB8AC3E}">
        <p14:creationId xmlns:p14="http://schemas.microsoft.com/office/powerpoint/2010/main" val="541241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Java</a:t>
            </a:r>
            <a:r>
              <a:rPr lang="en-US" altLang="en-US" dirty="0"/>
              <a:t> </a:t>
            </a:r>
            <a:r>
              <a:rPr lang="en-US" altLang="en-US" dirty="0">
                <a:solidFill>
                  <a:schemeClr val="tx1">
                    <a:lumMod val="65000"/>
                    <a:lumOff val="35000"/>
                  </a:schemeClr>
                </a:solidFill>
                <a:effectLst>
                  <a:outerShdw blurRad="63500" algn="ctr" rotWithShape="0">
                    <a:prstClr val="black">
                      <a:alpha val="14000"/>
                    </a:prstClr>
                  </a:outerShdw>
                </a:effectLst>
              </a:rPr>
              <a:t>Technology</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r>
              <a:rPr lang="en-US" altLang="en-US" sz="2800" dirty="0"/>
              <a:t>Java Platform, Enterprise Edition (Java EE)</a:t>
            </a:r>
          </a:p>
          <a:p>
            <a:endParaRPr lang="en-US" dirty="0"/>
          </a:p>
        </p:txBody>
      </p:sp>
      <p:sp>
        <p:nvSpPr>
          <p:cNvPr id="4" name="Rectangle 3"/>
          <p:cNvSpPr>
            <a:spLocks noChangeArrowheads="1"/>
          </p:cNvSpPr>
          <p:nvPr/>
        </p:nvSpPr>
        <p:spPr bwMode="auto">
          <a:xfrm>
            <a:off x="1143000" y="3657600"/>
            <a:ext cx="6934200" cy="2895600"/>
          </a:xfrm>
          <a:prstGeom prst="rect">
            <a:avLst/>
          </a:prstGeom>
          <a:solidFill>
            <a:srgbClr val="E6EEE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endParaRPr lang="en-US" altLang="en-US" sz="1800" b="0">
              <a:solidFill>
                <a:schemeClr val="tx1"/>
              </a:solidFill>
              <a:cs typeface="Arial" charset="0"/>
            </a:endParaRPr>
          </a:p>
        </p:txBody>
      </p:sp>
      <p:sp>
        <p:nvSpPr>
          <p:cNvPr id="5" name="Rectangle 4"/>
          <p:cNvSpPr>
            <a:spLocks noChangeArrowheads="1"/>
          </p:cNvSpPr>
          <p:nvPr/>
        </p:nvSpPr>
        <p:spPr bwMode="auto">
          <a:xfrm>
            <a:off x="1143000" y="6096000"/>
            <a:ext cx="4892675" cy="457200"/>
          </a:xfrm>
          <a:prstGeom prst="rect">
            <a:avLst/>
          </a:prstGeom>
          <a:solidFill>
            <a:srgbClr val="E6EEE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800" dirty="0">
                <a:solidFill>
                  <a:schemeClr val="tx1"/>
                </a:solidFill>
                <a:latin typeface="+mn-lt"/>
                <a:cs typeface="Arial" charset="0"/>
              </a:rPr>
              <a:t>JVM</a:t>
            </a:r>
          </a:p>
        </p:txBody>
      </p:sp>
      <p:sp>
        <p:nvSpPr>
          <p:cNvPr id="6" name="Rectangle 5"/>
          <p:cNvSpPr>
            <a:spLocks noChangeArrowheads="1"/>
          </p:cNvSpPr>
          <p:nvPr/>
        </p:nvSpPr>
        <p:spPr bwMode="auto">
          <a:xfrm>
            <a:off x="1143001" y="3657600"/>
            <a:ext cx="3886200" cy="2438400"/>
          </a:xfrm>
          <a:prstGeom prst="rect">
            <a:avLst/>
          </a:prstGeom>
          <a:solidFill>
            <a:srgbClr val="E6EEE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r>
              <a:rPr lang="en-US" altLang="en-US" sz="2000" b="0" dirty="0">
                <a:cs typeface="Arial" charset="0"/>
              </a:rPr>
              <a:t>                        </a:t>
            </a:r>
            <a:r>
              <a:rPr lang="en-US" altLang="en-US" sz="2000" dirty="0">
                <a:solidFill>
                  <a:schemeClr val="tx1"/>
                </a:solidFill>
                <a:latin typeface="+mn-lt"/>
                <a:cs typeface="Arial" charset="0"/>
              </a:rPr>
              <a:t>API</a:t>
            </a:r>
          </a:p>
          <a:p>
            <a:pPr algn="l" eaLnBrk="1" hangingPunct="1">
              <a:spcBef>
                <a:spcPct val="0"/>
              </a:spcBef>
              <a:buClr>
                <a:schemeClr val="hlink"/>
              </a:buClr>
              <a:buFont typeface="Wingdings" pitchFamily="2" charset="2"/>
              <a:buNone/>
            </a:pPr>
            <a:r>
              <a:rPr lang="en-US" altLang="en-US" sz="1600" b="0" dirty="0">
                <a:latin typeface="+mn-lt"/>
                <a:cs typeface="Arial" charset="0"/>
              </a:rPr>
              <a:t>Provides core functionality of Java</a:t>
            </a:r>
          </a:p>
          <a:p>
            <a:pPr algn="l" eaLnBrk="1" hangingPunct="1">
              <a:spcBef>
                <a:spcPct val="0"/>
              </a:spcBef>
              <a:buFont typeface="Wingdings" pitchFamily="2" charset="2"/>
              <a:buChar char="§"/>
            </a:pPr>
            <a:r>
              <a:rPr lang="en-US" altLang="en-US" sz="1600" b="0" dirty="0">
                <a:latin typeface="+mn-lt"/>
                <a:cs typeface="Arial" charset="0"/>
              </a:rPr>
              <a:t>  Basic types and objects</a:t>
            </a:r>
          </a:p>
          <a:p>
            <a:pPr algn="l" eaLnBrk="1" hangingPunct="1">
              <a:spcBef>
                <a:spcPct val="0"/>
              </a:spcBef>
              <a:buFont typeface="Wingdings" pitchFamily="2" charset="2"/>
              <a:buChar char="§"/>
            </a:pPr>
            <a:r>
              <a:rPr lang="en-US" altLang="en-US" sz="1600" b="0" dirty="0">
                <a:latin typeface="+mn-lt"/>
                <a:cs typeface="Arial" charset="0"/>
              </a:rPr>
              <a:t>  </a:t>
            </a:r>
            <a:r>
              <a:rPr lang="en-US" altLang="en-US" sz="1600" b="0" dirty="0" err="1">
                <a:latin typeface="+mn-lt"/>
                <a:cs typeface="Arial" charset="0"/>
              </a:rPr>
              <a:t>Input/Output</a:t>
            </a:r>
            <a:r>
              <a:rPr lang="en-US" altLang="en-US" sz="1600" b="0" dirty="0">
                <a:latin typeface="+mn-lt"/>
                <a:cs typeface="Arial" charset="0"/>
              </a:rPr>
              <a:t> </a:t>
            </a:r>
          </a:p>
          <a:p>
            <a:pPr algn="l" eaLnBrk="1" hangingPunct="1">
              <a:spcBef>
                <a:spcPct val="0"/>
              </a:spcBef>
              <a:buFont typeface="Wingdings" pitchFamily="2" charset="2"/>
              <a:buChar char="§"/>
            </a:pPr>
            <a:r>
              <a:rPr lang="en-US" altLang="en-US" sz="1600" b="0" dirty="0">
                <a:latin typeface="+mn-lt"/>
                <a:cs typeface="Arial" charset="0"/>
              </a:rPr>
              <a:t>  Networking</a:t>
            </a:r>
          </a:p>
          <a:p>
            <a:pPr algn="l" eaLnBrk="1" hangingPunct="1">
              <a:spcBef>
                <a:spcPct val="0"/>
              </a:spcBef>
              <a:buFont typeface="Wingdings" pitchFamily="2" charset="2"/>
              <a:buChar char="§"/>
            </a:pPr>
            <a:r>
              <a:rPr lang="en-US" altLang="en-US" sz="1600" b="0" dirty="0">
                <a:latin typeface="+mn-lt"/>
                <a:cs typeface="Arial" charset="0"/>
              </a:rPr>
              <a:t>  Security</a:t>
            </a:r>
          </a:p>
          <a:p>
            <a:pPr algn="l" eaLnBrk="1" hangingPunct="1">
              <a:spcBef>
                <a:spcPct val="0"/>
              </a:spcBef>
              <a:buFont typeface="Wingdings" pitchFamily="2" charset="2"/>
              <a:buChar char="§"/>
            </a:pPr>
            <a:r>
              <a:rPr lang="en-US" altLang="en-US" sz="1600" b="0" dirty="0">
                <a:latin typeface="+mn-lt"/>
                <a:cs typeface="Arial" charset="0"/>
              </a:rPr>
              <a:t>  GUI development</a:t>
            </a:r>
          </a:p>
          <a:p>
            <a:pPr algn="l" eaLnBrk="1" hangingPunct="1">
              <a:spcBef>
                <a:spcPct val="0"/>
              </a:spcBef>
              <a:buFont typeface="Wingdings" pitchFamily="2" charset="2"/>
              <a:buChar char="§"/>
            </a:pPr>
            <a:r>
              <a:rPr lang="en-US" altLang="en-US" sz="1600" b="0" dirty="0">
                <a:latin typeface="+mn-lt"/>
                <a:cs typeface="Arial" charset="0"/>
              </a:rPr>
              <a:t>  Database access</a:t>
            </a:r>
          </a:p>
          <a:p>
            <a:pPr algn="l" eaLnBrk="1" hangingPunct="1">
              <a:spcBef>
                <a:spcPct val="0"/>
              </a:spcBef>
              <a:buFont typeface="Wingdings" pitchFamily="2" charset="2"/>
              <a:buChar char="§"/>
            </a:pPr>
            <a:r>
              <a:rPr lang="en-US" altLang="en-US" sz="1600" b="0" dirty="0">
                <a:latin typeface="+mn-lt"/>
                <a:cs typeface="Arial" charset="0"/>
              </a:rPr>
              <a:t>  XML processing</a:t>
            </a:r>
          </a:p>
        </p:txBody>
      </p:sp>
      <p:sp>
        <p:nvSpPr>
          <p:cNvPr id="7" name="Text Box 6"/>
          <p:cNvSpPr txBox="1">
            <a:spLocks noChangeArrowheads="1"/>
          </p:cNvSpPr>
          <p:nvPr/>
        </p:nvSpPr>
        <p:spPr bwMode="auto">
          <a:xfrm>
            <a:off x="5349875" y="3873500"/>
            <a:ext cx="1447800" cy="1754326"/>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spcBef>
                <a:spcPct val="0"/>
              </a:spcBef>
            </a:pPr>
            <a:r>
              <a:rPr lang="en-US" altLang="en-US" sz="1800" b="0" dirty="0">
                <a:solidFill>
                  <a:schemeClr val="tx1"/>
                </a:solidFill>
                <a:latin typeface="+mn-lt"/>
                <a:cs typeface="Arial" charset="0"/>
              </a:rPr>
              <a:t>Development tools,</a:t>
            </a:r>
            <a:br>
              <a:rPr lang="en-US" altLang="en-US" sz="1800" b="0" dirty="0">
                <a:solidFill>
                  <a:schemeClr val="tx1"/>
                </a:solidFill>
                <a:latin typeface="+mn-lt"/>
                <a:cs typeface="Arial" charset="0"/>
              </a:rPr>
            </a:br>
            <a:r>
              <a:rPr lang="en-US" altLang="en-US" sz="1800" b="0" dirty="0">
                <a:solidFill>
                  <a:schemeClr val="tx1"/>
                </a:solidFill>
                <a:latin typeface="+mn-lt"/>
                <a:cs typeface="Arial" charset="0"/>
              </a:rPr>
              <a:t>deployment technologies, </a:t>
            </a:r>
            <a:br>
              <a:rPr lang="en-US" altLang="en-US" sz="1800" b="0" dirty="0">
                <a:solidFill>
                  <a:schemeClr val="tx1"/>
                </a:solidFill>
                <a:latin typeface="+mn-lt"/>
                <a:cs typeface="Arial" charset="0"/>
              </a:rPr>
            </a:br>
            <a:r>
              <a:rPr lang="en-US" altLang="en-US" sz="1800" b="0" dirty="0">
                <a:solidFill>
                  <a:schemeClr val="tx1"/>
                </a:solidFill>
                <a:latin typeface="+mn-lt"/>
                <a:cs typeface="Arial" charset="0"/>
              </a:rPr>
              <a:t>other class libraries</a:t>
            </a:r>
          </a:p>
        </p:txBody>
      </p:sp>
      <p:sp>
        <p:nvSpPr>
          <p:cNvPr id="8" name="Rectangle 7"/>
          <p:cNvSpPr>
            <a:spLocks noChangeArrowheads="1"/>
          </p:cNvSpPr>
          <p:nvPr/>
        </p:nvSpPr>
        <p:spPr bwMode="auto">
          <a:xfrm>
            <a:off x="4932362" y="2452687"/>
            <a:ext cx="3144837" cy="1198563"/>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800" b="0" dirty="0">
                <a:solidFill>
                  <a:schemeClr val="tx1"/>
                </a:solidFill>
                <a:latin typeface="+mn-lt"/>
                <a:cs typeface="Arial" charset="0"/>
              </a:rPr>
              <a:t>Development Model</a:t>
            </a:r>
          </a:p>
          <a:p>
            <a:pPr eaLnBrk="1" hangingPunct="1">
              <a:spcBef>
                <a:spcPct val="0"/>
              </a:spcBef>
            </a:pPr>
            <a:endParaRPr lang="en-US" altLang="en-US" sz="1800" b="0" dirty="0">
              <a:solidFill>
                <a:schemeClr val="tx1"/>
              </a:solidFill>
              <a:cs typeface="Arial" charset="0"/>
            </a:endParaRPr>
          </a:p>
          <a:p>
            <a:pPr eaLnBrk="1" hangingPunct="1">
              <a:spcBef>
                <a:spcPct val="0"/>
              </a:spcBef>
            </a:pPr>
            <a:r>
              <a:rPr lang="en-US" altLang="en-US" sz="1800" b="0" dirty="0">
                <a:solidFill>
                  <a:schemeClr val="tx1"/>
                </a:solidFill>
                <a:latin typeface="+mn-lt"/>
                <a:cs typeface="Arial" charset="0"/>
              </a:rPr>
              <a:t>Runtime environments</a:t>
            </a:r>
            <a:br>
              <a:rPr lang="en-US" altLang="en-US" sz="1800" b="0" dirty="0">
                <a:solidFill>
                  <a:schemeClr val="tx1"/>
                </a:solidFill>
                <a:latin typeface="+mn-lt"/>
                <a:cs typeface="Arial" charset="0"/>
              </a:rPr>
            </a:br>
            <a:r>
              <a:rPr lang="en-US" altLang="en-US" sz="1800" b="0" dirty="0">
                <a:solidFill>
                  <a:schemeClr val="tx1"/>
                </a:solidFill>
                <a:latin typeface="+mn-lt"/>
                <a:cs typeface="Arial" charset="0"/>
              </a:rPr>
              <a:t> (“containers”)</a:t>
            </a:r>
          </a:p>
        </p:txBody>
      </p:sp>
      <p:sp>
        <p:nvSpPr>
          <p:cNvPr id="9" name="Rectangle 8"/>
          <p:cNvSpPr>
            <a:spLocks noChangeArrowheads="1"/>
          </p:cNvSpPr>
          <p:nvPr/>
        </p:nvSpPr>
        <p:spPr bwMode="auto">
          <a:xfrm>
            <a:off x="1143000" y="2452687"/>
            <a:ext cx="3789363" cy="1198563"/>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r>
              <a:rPr lang="en-US" altLang="en-US" sz="2400" dirty="0">
                <a:solidFill>
                  <a:schemeClr val="tx1"/>
                </a:solidFill>
                <a:cs typeface="Arial" charset="0"/>
              </a:rPr>
              <a:t>                       </a:t>
            </a:r>
            <a:r>
              <a:rPr lang="en-US" altLang="en-US" sz="2400" dirty="0">
                <a:solidFill>
                  <a:schemeClr val="tx1"/>
                </a:solidFill>
                <a:latin typeface="+mn-lt"/>
                <a:cs typeface="Arial" charset="0"/>
              </a:rPr>
              <a:t>API</a:t>
            </a:r>
          </a:p>
          <a:p>
            <a:pPr algn="l" eaLnBrk="1" hangingPunct="1">
              <a:spcBef>
                <a:spcPct val="0"/>
              </a:spcBef>
            </a:pPr>
            <a:r>
              <a:rPr lang="en-US" altLang="en-US" sz="1800" b="0" dirty="0">
                <a:solidFill>
                  <a:schemeClr val="tx1"/>
                </a:solidFill>
                <a:latin typeface="+mn-lt"/>
                <a:cs typeface="Arial" charset="0"/>
              </a:rPr>
              <a:t>For developing and running large-scale,</a:t>
            </a:r>
            <a:br>
              <a:rPr lang="en-US" altLang="en-US" sz="1800" b="0" dirty="0">
                <a:solidFill>
                  <a:schemeClr val="tx1"/>
                </a:solidFill>
                <a:latin typeface="+mn-lt"/>
                <a:cs typeface="Arial" charset="0"/>
              </a:rPr>
            </a:br>
            <a:r>
              <a:rPr lang="en-US" altLang="en-US" sz="1800" b="0" dirty="0">
                <a:solidFill>
                  <a:schemeClr val="tx1"/>
                </a:solidFill>
                <a:latin typeface="+mn-lt"/>
                <a:cs typeface="Arial" charset="0"/>
              </a:rPr>
              <a:t> multi-tiered, scalable, reliable and </a:t>
            </a:r>
            <a:br>
              <a:rPr lang="en-US" altLang="en-US" sz="1800" b="0" dirty="0">
                <a:solidFill>
                  <a:schemeClr val="tx1"/>
                </a:solidFill>
                <a:latin typeface="+mn-lt"/>
                <a:cs typeface="Arial" charset="0"/>
              </a:rPr>
            </a:br>
            <a:r>
              <a:rPr lang="en-US" altLang="en-US" sz="1800" b="0" dirty="0">
                <a:solidFill>
                  <a:schemeClr val="tx1"/>
                </a:solidFill>
                <a:latin typeface="+mn-lt"/>
                <a:cs typeface="Arial" charset="0"/>
              </a:rPr>
              <a:t>secure enterprise applications</a:t>
            </a:r>
          </a:p>
        </p:txBody>
      </p:sp>
      <p:sp>
        <p:nvSpPr>
          <p:cNvPr id="11" name="Text Box 12"/>
          <p:cNvSpPr txBox="1">
            <a:spLocks noChangeArrowheads="1"/>
          </p:cNvSpPr>
          <p:nvPr/>
        </p:nvSpPr>
        <p:spPr bwMode="auto">
          <a:xfrm>
            <a:off x="228600" y="4648200"/>
            <a:ext cx="1081087" cy="393700"/>
          </a:xfrm>
          <a:prstGeom prst="rect">
            <a:avLst/>
          </a:prstGeom>
          <a:noFill/>
          <a:ln>
            <a:noFill/>
          </a:ln>
          <a:effectLst/>
          <a:extLst>
            <a:ext uri="{909E8E84-426E-40DD-AFC4-6F175D3DCCD1}">
              <a14:hiddenFill xmlns:a14="http://schemas.microsoft.com/office/drawing/2010/main">
                <a:solidFill>
                  <a:srgbClr val="FFFF00">
                    <a:alpha val="47058"/>
                  </a:srgbClr>
                </a:solidFill>
              </a14:hiddenFill>
            </a:ext>
            <a:ext uri="{91240B29-F687-4F45-9708-019B960494DF}">
              <a14:hiddenLine xmlns:a14="http://schemas.microsoft.com/office/drawing/2010/main" w="12700" algn="ctr">
                <a:solidFill>
                  <a:srgbClr val="100F7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90000" rIns="90000" bIns="90000">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r>
              <a:rPr lang="en-US" altLang="en-US" dirty="0"/>
              <a:t>Java SE</a:t>
            </a:r>
          </a:p>
        </p:txBody>
      </p:sp>
      <p:sp>
        <p:nvSpPr>
          <p:cNvPr id="12" name="Text Box 13"/>
          <p:cNvSpPr txBox="1">
            <a:spLocks noChangeArrowheads="1"/>
          </p:cNvSpPr>
          <p:nvPr/>
        </p:nvSpPr>
        <p:spPr bwMode="auto">
          <a:xfrm>
            <a:off x="228600" y="2743200"/>
            <a:ext cx="1081087" cy="393700"/>
          </a:xfrm>
          <a:prstGeom prst="rect">
            <a:avLst/>
          </a:prstGeom>
          <a:noFill/>
          <a:ln>
            <a:noFill/>
          </a:ln>
          <a:effectLst/>
          <a:extLst>
            <a:ext uri="{909E8E84-426E-40DD-AFC4-6F175D3DCCD1}">
              <a14:hiddenFill xmlns:a14="http://schemas.microsoft.com/office/drawing/2010/main">
                <a:solidFill>
                  <a:srgbClr val="FFFF00">
                    <a:alpha val="47058"/>
                  </a:srgbClr>
                </a:solidFill>
              </a14:hiddenFill>
            </a:ext>
            <a:ext uri="{91240B29-F687-4F45-9708-019B960494DF}">
              <a14:hiddenLine xmlns:a14="http://schemas.microsoft.com/office/drawing/2010/main" w="12700" algn="ctr">
                <a:solidFill>
                  <a:srgbClr val="100F7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90000" rIns="90000" bIns="90000">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r>
              <a:rPr lang="en-US" altLang="en-US" dirty="0"/>
              <a:t>Java EE</a:t>
            </a:r>
          </a:p>
        </p:txBody>
      </p:sp>
      <p:cxnSp>
        <p:nvCxnSpPr>
          <p:cNvPr id="14" name="Straight Connector 13"/>
          <p:cNvCxnSpPr>
            <a:stCxn id="9" idx="3"/>
            <a:endCxn id="8" idx="3"/>
          </p:cNvCxnSpPr>
          <p:nvPr/>
        </p:nvCxnSpPr>
        <p:spPr>
          <a:xfrm>
            <a:off x="4932363" y="3051969"/>
            <a:ext cx="3144836"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95124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Multi-tiered Applications</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4" name="AutoShape 105"/>
          <p:cNvSpPr>
            <a:spLocks noChangeArrowheads="1"/>
          </p:cNvSpPr>
          <p:nvPr/>
        </p:nvSpPr>
        <p:spPr bwMode="auto">
          <a:xfrm>
            <a:off x="6294438" y="2644775"/>
            <a:ext cx="2154237" cy="3128963"/>
          </a:xfrm>
          <a:prstGeom prst="flowChartAlternateProcess">
            <a:avLst/>
          </a:prstGeom>
          <a:solidFill>
            <a:srgbClr val="F7F7E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5" name="AutoShape 106"/>
          <p:cNvSpPr>
            <a:spLocks noChangeArrowheads="1"/>
          </p:cNvSpPr>
          <p:nvPr/>
        </p:nvSpPr>
        <p:spPr bwMode="auto">
          <a:xfrm>
            <a:off x="3917950" y="2644775"/>
            <a:ext cx="2154238" cy="3128963"/>
          </a:xfrm>
          <a:prstGeom prst="flowChartAlternateProcess">
            <a:avLst/>
          </a:prstGeom>
          <a:solidFill>
            <a:srgbClr val="F7F7E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6" name="Text Box 108"/>
          <p:cNvSpPr txBox="1">
            <a:spLocks noChangeArrowheads="1"/>
          </p:cNvSpPr>
          <p:nvPr/>
        </p:nvSpPr>
        <p:spPr bwMode="auto">
          <a:xfrm>
            <a:off x="1949450" y="5835650"/>
            <a:ext cx="1633538" cy="336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600" b="0">
                <a:cs typeface="Arial" charset="0"/>
              </a:rPr>
              <a:t>Client tier</a:t>
            </a:r>
          </a:p>
        </p:txBody>
      </p:sp>
      <p:sp>
        <p:nvSpPr>
          <p:cNvPr id="7" name="Text Box 109"/>
          <p:cNvSpPr txBox="1">
            <a:spLocks noChangeArrowheads="1"/>
          </p:cNvSpPr>
          <p:nvPr/>
        </p:nvSpPr>
        <p:spPr bwMode="auto">
          <a:xfrm>
            <a:off x="4178300" y="5835650"/>
            <a:ext cx="1633538" cy="336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600" b="0">
                <a:cs typeface="Arial" charset="0"/>
              </a:rPr>
              <a:t>Middle tier</a:t>
            </a:r>
          </a:p>
        </p:txBody>
      </p:sp>
      <p:sp>
        <p:nvSpPr>
          <p:cNvPr id="8" name="Text Box 110"/>
          <p:cNvSpPr txBox="1">
            <a:spLocks noChangeArrowheads="1"/>
          </p:cNvSpPr>
          <p:nvPr/>
        </p:nvSpPr>
        <p:spPr bwMode="auto">
          <a:xfrm>
            <a:off x="6554788" y="5835650"/>
            <a:ext cx="1635125" cy="336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600" b="0">
                <a:cs typeface="Arial" charset="0"/>
              </a:rPr>
              <a:t>Data tier</a:t>
            </a:r>
          </a:p>
        </p:txBody>
      </p:sp>
      <p:grpSp>
        <p:nvGrpSpPr>
          <p:cNvPr id="3" name="Group 111"/>
          <p:cNvGrpSpPr>
            <a:grpSpLocks/>
          </p:cNvGrpSpPr>
          <p:nvPr/>
        </p:nvGrpSpPr>
        <p:grpSpPr bwMode="auto">
          <a:xfrm flipH="1">
            <a:off x="4051300" y="2787650"/>
            <a:ext cx="1893888" cy="2819400"/>
            <a:chOff x="1968" y="1884"/>
            <a:chExt cx="792" cy="720"/>
          </a:xfrm>
        </p:grpSpPr>
        <p:sp>
          <p:nvSpPr>
            <p:cNvPr id="10" name="Rectangle 112"/>
            <p:cNvSpPr>
              <a:spLocks noChangeArrowheads="1"/>
            </p:cNvSpPr>
            <p:nvPr/>
          </p:nvSpPr>
          <p:spPr bwMode="auto">
            <a:xfrm>
              <a:off x="1968" y="1884"/>
              <a:ext cx="792" cy="720"/>
            </a:xfrm>
            <a:prstGeom prst="rect">
              <a:avLst/>
            </a:prstGeom>
            <a:gradFill rotWithShape="1">
              <a:gsLst>
                <a:gs pos="0">
                  <a:srgbClr val="85A2FF"/>
                </a:gs>
                <a:gs pos="100000">
                  <a:srgbClr val="3366FF"/>
                </a:gs>
              </a:gsLst>
              <a:lin ang="2700000" scaled="1"/>
            </a:gradFill>
            <a:ln w="9525">
              <a:solidFill>
                <a:srgbClr val="85A2FF"/>
              </a:solidFill>
              <a:miter lim="800000"/>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11" name="Text Box 113"/>
            <p:cNvSpPr txBox="1">
              <a:spLocks noChangeArrowheads="1"/>
            </p:cNvSpPr>
            <p:nvPr/>
          </p:nvSpPr>
          <p:spPr bwMode="auto">
            <a:xfrm>
              <a:off x="2076" y="2172"/>
              <a:ext cx="5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500">
                  <a:solidFill>
                    <a:srgbClr val="FFFFFF"/>
                  </a:solidFill>
                  <a:latin typeface="Trebuchet MS" pitchFamily="34" charset="0"/>
                  <a:cs typeface="Times New Roman" pitchFamily="18" charset="0"/>
                </a:rPr>
                <a:t>Business Logic</a:t>
              </a:r>
              <a:endParaRPr lang="en-US" altLang="en-US" sz="3200">
                <a:latin typeface="Times New Roman" pitchFamily="18" charset="0"/>
                <a:cs typeface="Arial" charset="0"/>
              </a:endParaRPr>
            </a:p>
          </p:txBody>
        </p:sp>
      </p:grpSp>
      <p:grpSp>
        <p:nvGrpSpPr>
          <p:cNvPr id="9" name="Group 114"/>
          <p:cNvGrpSpPr>
            <a:grpSpLocks/>
          </p:cNvGrpSpPr>
          <p:nvPr/>
        </p:nvGrpSpPr>
        <p:grpSpPr bwMode="auto">
          <a:xfrm flipH="1">
            <a:off x="6369050" y="3917950"/>
            <a:ext cx="1857375" cy="1247775"/>
            <a:chOff x="672" y="2304"/>
            <a:chExt cx="576" cy="504"/>
          </a:xfrm>
        </p:grpSpPr>
        <p:grpSp>
          <p:nvGrpSpPr>
            <p:cNvPr id="12" name="Group 115"/>
            <p:cNvGrpSpPr>
              <a:grpSpLocks/>
            </p:cNvGrpSpPr>
            <p:nvPr/>
          </p:nvGrpSpPr>
          <p:grpSpPr bwMode="auto">
            <a:xfrm>
              <a:off x="732" y="2304"/>
              <a:ext cx="432" cy="504"/>
              <a:chOff x="2340" y="5834"/>
              <a:chExt cx="1080" cy="1260"/>
            </a:xfrm>
          </p:grpSpPr>
          <p:sp>
            <p:nvSpPr>
              <p:cNvPr id="15" name="AutoShape 116"/>
              <p:cNvSpPr>
                <a:spLocks noChangeArrowheads="1"/>
              </p:cNvSpPr>
              <p:nvPr/>
            </p:nvSpPr>
            <p:spPr bwMode="auto">
              <a:xfrm>
                <a:off x="2340" y="5834"/>
                <a:ext cx="1080" cy="1260"/>
              </a:xfrm>
              <a:prstGeom prst="flowChartMagneticDisk">
                <a:avLst/>
              </a:prstGeom>
              <a:gradFill rotWithShape="1">
                <a:gsLst>
                  <a:gs pos="0">
                    <a:srgbClr val="339966"/>
                  </a:gs>
                  <a:gs pos="50000">
                    <a:srgbClr val="BDE9D3"/>
                  </a:gs>
                  <a:gs pos="100000">
                    <a:srgbClr val="339966"/>
                  </a:gs>
                </a:gsLst>
                <a:lin ang="0" scaled="1"/>
              </a:gradFill>
              <a:ln w="9525">
                <a:solidFill>
                  <a:srgbClr val="BDE9D3"/>
                </a:solidFill>
                <a:round/>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16" name="Oval 117"/>
              <p:cNvSpPr>
                <a:spLocks noChangeArrowheads="1"/>
              </p:cNvSpPr>
              <p:nvPr/>
            </p:nvSpPr>
            <p:spPr bwMode="auto">
              <a:xfrm>
                <a:off x="2340" y="5834"/>
                <a:ext cx="1080" cy="403"/>
              </a:xfrm>
              <a:prstGeom prst="ellipse">
                <a:avLst/>
              </a:prstGeom>
              <a:gradFill rotWithShape="1">
                <a:gsLst>
                  <a:gs pos="0">
                    <a:srgbClr val="BDE9D3"/>
                  </a:gs>
                  <a:gs pos="100000">
                    <a:srgbClr val="339966"/>
                  </a:gs>
                </a:gsLst>
                <a:lin ang="2700000" scaled="1"/>
              </a:gradFill>
              <a:ln w="9525">
                <a:solidFill>
                  <a:srgbClr val="BDE9D3"/>
                </a:solidFill>
                <a:round/>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grpSp>
        <p:sp>
          <p:nvSpPr>
            <p:cNvPr id="14" name="Text Box 118"/>
            <p:cNvSpPr txBox="1">
              <a:spLocks noChangeArrowheads="1"/>
            </p:cNvSpPr>
            <p:nvPr/>
          </p:nvSpPr>
          <p:spPr bwMode="auto">
            <a:xfrm>
              <a:off x="672" y="2592"/>
              <a:ext cx="5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endParaRPr lang="en-US" altLang="en-US" sz="2400" b="0">
                <a:solidFill>
                  <a:schemeClr val="tx1"/>
                </a:solidFill>
                <a:latin typeface="Times New Roman" pitchFamily="18" charset="0"/>
                <a:cs typeface="Arial" charset="0"/>
              </a:endParaRPr>
            </a:p>
          </p:txBody>
        </p:sp>
      </p:grpSp>
      <p:pic>
        <p:nvPicPr>
          <p:cNvPr id="17" name="Picture 119" descr="j02920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3843338"/>
            <a:ext cx="1262063"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Line 125"/>
          <p:cNvSpPr>
            <a:spLocks noChangeShapeType="1"/>
          </p:cNvSpPr>
          <p:nvPr/>
        </p:nvSpPr>
        <p:spPr bwMode="auto">
          <a:xfrm>
            <a:off x="5922963" y="4511675"/>
            <a:ext cx="742950"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Text Box 126"/>
          <p:cNvSpPr txBox="1">
            <a:spLocks noChangeArrowheads="1"/>
          </p:cNvSpPr>
          <p:nvPr/>
        </p:nvSpPr>
        <p:spPr bwMode="auto">
          <a:xfrm flipH="1">
            <a:off x="6740525" y="4511675"/>
            <a:ext cx="1114425" cy="27463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lgn="ctr">
                <a:solidFill>
                  <a:srgbClr val="009999"/>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buClr>
                <a:srgbClr val="100F76"/>
              </a:buClr>
              <a:buFont typeface="Wingdings" pitchFamily="2" charset="2"/>
              <a:buNone/>
            </a:pPr>
            <a:r>
              <a:rPr lang="en-US" altLang="en-US" sz="1200" b="0">
                <a:cs typeface="Arial" charset="0"/>
              </a:rPr>
              <a:t>Database</a:t>
            </a:r>
          </a:p>
        </p:txBody>
      </p:sp>
      <p:sp>
        <p:nvSpPr>
          <p:cNvPr id="20" name="AutoShape 156"/>
          <p:cNvSpPr>
            <a:spLocks noChangeArrowheads="1"/>
          </p:cNvSpPr>
          <p:nvPr/>
        </p:nvSpPr>
        <p:spPr bwMode="auto">
          <a:xfrm>
            <a:off x="1763713" y="2644775"/>
            <a:ext cx="2006600" cy="3128963"/>
          </a:xfrm>
          <a:prstGeom prst="flowChartAlternateProcess">
            <a:avLst/>
          </a:prstGeom>
          <a:solidFill>
            <a:srgbClr val="F7F7E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21" name="Rectangle 157"/>
          <p:cNvSpPr>
            <a:spLocks noChangeArrowheads="1"/>
          </p:cNvSpPr>
          <p:nvPr/>
        </p:nvSpPr>
        <p:spPr bwMode="auto">
          <a:xfrm flipH="1">
            <a:off x="2097088" y="3003550"/>
            <a:ext cx="1338262" cy="890588"/>
          </a:xfrm>
          <a:prstGeom prst="rect">
            <a:avLst/>
          </a:prstGeom>
          <a:gradFill rotWithShape="1">
            <a:gsLst>
              <a:gs pos="0">
                <a:srgbClr val="D8E34F"/>
              </a:gs>
              <a:gs pos="100000">
                <a:srgbClr val="B09E1C"/>
              </a:gs>
            </a:gsLst>
            <a:lin ang="2700000" scaled="1"/>
          </a:gradFill>
          <a:ln w="9525">
            <a:solidFill>
              <a:srgbClr val="B09E1C"/>
            </a:solidFill>
            <a:miter lim="800000"/>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endParaRPr lang="en-US" altLang="en-US" sz="1800" b="0">
              <a:cs typeface="Arial" charset="0"/>
            </a:endParaRPr>
          </a:p>
          <a:p>
            <a:pPr algn="l" eaLnBrk="1" hangingPunct="1">
              <a:spcBef>
                <a:spcPct val="0"/>
              </a:spcBef>
            </a:pPr>
            <a:endParaRPr lang="en-US" altLang="en-US" sz="1800" b="0">
              <a:cs typeface="Arial" charset="0"/>
            </a:endParaRPr>
          </a:p>
          <a:p>
            <a:pPr algn="l" eaLnBrk="1" hangingPunct="1">
              <a:spcBef>
                <a:spcPct val="0"/>
              </a:spcBef>
            </a:pPr>
            <a:r>
              <a:rPr lang="en-US" altLang="en-US" b="0">
                <a:cs typeface="Arial" charset="0"/>
              </a:rPr>
              <a:t>Web browser</a:t>
            </a:r>
          </a:p>
        </p:txBody>
      </p:sp>
      <p:sp>
        <p:nvSpPr>
          <p:cNvPr id="22" name="Rectangle 158"/>
          <p:cNvSpPr>
            <a:spLocks noChangeArrowheads="1"/>
          </p:cNvSpPr>
          <p:nvPr/>
        </p:nvSpPr>
        <p:spPr bwMode="auto">
          <a:xfrm flipH="1">
            <a:off x="2097088" y="4803775"/>
            <a:ext cx="1338262" cy="593725"/>
          </a:xfrm>
          <a:prstGeom prst="rect">
            <a:avLst/>
          </a:prstGeom>
          <a:gradFill rotWithShape="1">
            <a:gsLst>
              <a:gs pos="0">
                <a:srgbClr val="D8E34F"/>
              </a:gs>
              <a:gs pos="100000">
                <a:srgbClr val="B09E1C"/>
              </a:gs>
            </a:gsLst>
            <a:lin ang="2700000" scaled="1"/>
          </a:gradFill>
          <a:ln w="9525">
            <a:solidFill>
              <a:srgbClr val="B09E1C"/>
            </a:solidFill>
            <a:miter lim="800000"/>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r>
              <a:rPr lang="en-US" altLang="en-US" sz="1600" b="0">
                <a:cs typeface="Arial" charset="0"/>
              </a:rPr>
              <a:t>Standalone Application</a:t>
            </a:r>
          </a:p>
        </p:txBody>
      </p:sp>
      <p:sp>
        <p:nvSpPr>
          <p:cNvPr id="23" name="Rectangle 159"/>
          <p:cNvSpPr>
            <a:spLocks noChangeArrowheads="1"/>
          </p:cNvSpPr>
          <p:nvPr/>
        </p:nvSpPr>
        <p:spPr bwMode="auto">
          <a:xfrm>
            <a:off x="2108200" y="3067050"/>
            <a:ext cx="1317625" cy="446088"/>
          </a:xfrm>
          <a:prstGeom prst="rect">
            <a:avLst/>
          </a:prstGeom>
          <a:solidFill>
            <a:srgbClr val="EAEAEA"/>
          </a:solidFill>
          <a:ln w="9525">
            <a:solidFill>
              <a:srgbClr val="B09E1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200">
                <a:cs typeface="Arial" charset="0"/>
              </a:rPr>
              <a:t>Web application</a:t>
            </a:r>
          </a:p>
        </p:txBody>
      </p:sp>
      <p:sp>
        <p:nvSpPr>
          <p:cNvPr id="24" name="Line 160"/>
          <p:cNvSpPr>
            <a:spLocks noChangeShapeType="1"/>
          </p:cNvSpPr>
          <p:nvPr/>
        </p:nvSpPr>
        <p:spPr bwMode="auto">
          <a:xfrm>
            <a:off x="3398838" y="4981575"/>
            <a:ext cx="668337"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161"/>
          <p:cNvSpPr>
            <a:spLocks noChangeShapeType="1"/>
          </p:cNvSpPr>
          <p:nvPr/>
        </p:nvSpPr>
        <p:spPr bwMode="auto">
          <a:xfrm>
            <a:off x="3398838" y="3363913"/>
            <a:ext cx="668337"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Text Box 162"/>
          <p:cNvSpPr txBox="1">
            <a:spLocks noChangeArrowheads="1"/>
          </p:cNvSpPr>
          <p:nvPr/>
        </p:nvSpPr>
        <p:spPr bwMode="auto">
          <a:xfrm>
            <a:off x="5878513" y="1549400"/>
            <a:ext cx="2133600" cy="65087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r>
              <a:rPr lang="en-US" altLang="en-US" sz="1800" b="0" dirty="0" err="1">
                <a:solidFill>
                  <a:schemeClr val="tx1"/>
                </a:solidFill>
                <a:latin typeface="+mn-lt"/>
                <a:cs typeface="Arial" charset="0"/>
              </a:rPr>
              <a:t>JavaEE</a:t>
            </a:r>
            <a:r>
              <a:rPr lang="en-US" altLang="en-US" sz="1800" b="0" dirty="0">
                <a:solidFill>
                  <a:schemeClr val="tx1"/>
                </a:solidFill>
                <a:latin typeface="+mn-lt"/>
                <a:cs typeface="Arial" charset="0"/>
              </a:rPr>
              <a:t> Application Server</a:t>
            </a:r>
          </a:p>
        </p:txBody>
      </p:sp>
      <p:sp>
        <p:nvSpPr>
          <p:cNvPr id="27" name="Line 163"/>
          <p:cNvSpPr>
            <a:spLocks noChangeShapeType="1"/>
          </p:cNvSpPr>
          <p:nvPr/>
        </p:nvSpPr>
        <p:spPr bwMode="auto">
          <a:xfrm flipH="1">
            <a:off x="5435599" y="2200275"/>
            <a:ext cx="636588" cy="704850"/>
          </a:xfrm>
          <a:prstGeom prst="line">
            <a:avLst/>
          </a:prstGeom>
          <a:noFill/>
          <a:ln w="12700">
            <a:solidFill>
              <a:schemeClr val="accent1"/>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90000" rIns="90000" bIns="90000" anchor="ctr"/>
          <a:lstStyle/>
          <a:p>
            <a:endParaRPr lang="en-US"/>
          </a:p>
        </p:txBody>
      </p:sp>
    </p:spTree>
    <p:extLst>
      <p:ext uri="{BB962C8B-B14F-4D97-AF65-F5344CB8AC3E}">
        <p14:creationId xmlns:p14="http://schemas.microsoft.com/office/powerpoint/2010/main" val="361699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0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Multi-tiered Applications</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4" name="AutoShape 3"/>
          <p:cNvSpPr>
            <a:spLocks noChangeArrowheads="1"/>
          </p:cNvSpPr>
          <p:nvPr/>
        </p:nvSpPr>
        <p:spPr bwMode="auto">
          <a:xfrm>
            <a:off x="6294438" y="2644775"/>
            <a:ext cx="2154237" cy="3128963"/>
          </a:xfrm>
          <a:prstGeom prst="flowChartAlternateProcess">
            <a:avLst/>
          </a:prstGeom>
          <a:solidFill>
            <a:srgbClr val="F7F7E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5" name="AutoShape 4"/>
          <p:cNvSpPr>
            <a:spLocks noChangeArrowheads="1"/>
          </p:cNvSpPr>
          <p:nvPr/>
        </p:nvSpPr>
        <p:spPr bwMode="auto">
          <a:xfrm>
            <a:off x="3917950" y="2644775"/>
            <a:ext cx="2154238" cy="3128963"/>
          </a:xfrm>
          <a:prstGeom prst="flowChartAlternateProcess">
            <a:avLst/>
          </a:prstGeom>
          <a:solidFill>
            <a:srgbClr val="F7F7E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6" name="AutoShape 5"/>
          <p:cNvSpPr>
            <a:spLocks noChangeArrowheads="1"/>
          </p:cNvSpPr>
          <p:nvPr/>
        </p:nvSpPr>
        <p:spPr bwMode="auto">
          <a:xfrm>
            <a:off x="1763713" y="2644775"/>
            <a:ext cx="2006600" cy="3128963"/>
          </a:xfrm>
          <a:prstGeom prst="flowChartAlternateProcess">
            <a:avLst/>
          </a:prstGeom>
          <a:solidFill>
            <a:srgbClr val="F7F7ED"/>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7" name="Text Box 6"/>
          <p:cNvSpPr txBox="1">
            <a:spLocks noChangeArrowheads="1"/>
          </p:cNvSpPr>
          <p:nvPr/>
        </p:nvSpPr>
        <p:spPr bwMode="auto">
          <a:xfrm>
            <a:off x="1949450" y="5835650"/>
            <a:ext cx="1633538" cy="336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600" b="0">
                <a:cs typeface="Arial" charset="0"/>
              </a:rPr>
              <a:t>Client tier</a:t>
            </a:r>
          </a:p>
        </p:txBody>
      </p:sp>
      <p:sp>
        <p:nvSpPr>
          <p:cNvPr id="8" name="Text Box 7"/>
          <p:cNvSpPr txBox="1">
            <a:spLocks noChangeArrowheads="1"/>
          </p:cNvSpPr>
          <p:nvPr/>
        </p:nvSpPr>
        <p:spPr bwMode="auto">
          <a:xfrm>
            <a:off x="4178300" y="5835650"/>
            <a:ext cx="1633538" cy="336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600" b="0">
                <a:cs typeface="Arial" charset="0"/>
              </a:rPr>
              <a:t>Middle tier</a:t>
            </a:r>
          </a:p>
        </p:txBody>
      </p:sp>
      <p:sp>
        <p:nvSpPr>
          <p:cNvPr id="9" name="Text Box 8"/>
          <p:cNvSpPr txBox="1">
            <a:spLocks noChangeArrowheads="1"/>
          </p:cNvSpPr>
          <p:nvPr/>
        </p:nvSpPr>
        <p:spPr bwMode="auto">
          <a:xfrm>
            <a:off x="6554788" y="5835650"/>
            <a:ext cx="1635125" cy="3365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r>
              <a:rPr lang="en-US" altLang="en-US" sz="1600" b="0">
                <a:cs typeface="Arial" charset="0"/>
              </a:rPr>
              <a:t>Data tier</a:t>
            </a:r>
          </a:p>
        </p:txBody>
      </p:sp>
      <p:grpSp>
        <p:nvGrpSpPr>
          <p:cNvPr id="3" name="Group 9"/>
          <p:cNvGrpSpPr>
            <a:grpSpLocks/>
          </p:cNvGrpSpPr>
          <p:nvPr/>
        </p:nvGrpSpPr>
        <p:grpSpPr bwMode="auto">
          <a:xfrm flipH="1">
            <a:off x="4051300" y="2787650"/>
            <a:ext cx="1893888" cy="2819400"/>
            <a:chOff x="1968" y="1884"/>
            <a:chExt cx="792" cy="720"/>
          </a:xfrm>
        </p:grpSpPr>
        <p:sp>
          <p:nvSpPr>
            <p:cNvPr id="11" name="Rectangle 10"/>
            <p:cNvSpPr>
              <a:spLocks noChangeArrowheads="1"/>
            </p:cNvSpPr>
            <p:nvPr/>
          </p:nvSpPr>
          <p:spPr bwMode="auto">
            <a:xfrm>
              <a:off x="1968" y="1884"/>
              <a:ext cx="792" cy="720"/>
            </a:xfrm>
            <a:prstGeom prst="rect">
              <a:avLst/>
            </a:prstGeom>
            <a:gradFill rotWithShape="1">
              <a:gsLst>
                <a:gs pos="0">
                  <a:srgbClr val="85A2FF"/>
                </a:gs>
                <a:gs pos="100000">
                  <a:srgbClr val="3366FF"/>
                </a:gs>
              </a:gsLst>
              <a:lin ang="2700000" scaled="1"/>
            </a:gradFill>
            <a:ln w="9525">
              <a:solidFill>
                <a:srgbClr val="85A2FF"/>
              </a:solidFill>
              <a:miter lim="800000"/>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12" name="Text Box 11"/>
            <p:cNvSpPr txBox="1">
              <a:spLocks noChangeArrowheads="1"/>
            </p:cNvSpPr>
            <p:nvPr/>
          </p:nvSpPr>
          <p:spPr bwMode="auto">
            <a:xfrm>
              <a:off x="2076" y="2172"/>
              <a:ext cx="5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500">
                  <a:solidFill>
                    <a:srgbClr val="FFFFFF"/>
                  </a:solidFill>
                  <a:latin typeface="Trebuchet MS" pitchFamily="34" charset="0"/>
                  <a:cs typeface="Times New Roman" pitchFamily="18" charset="0"/>
                </a:rPr>
                <a:t>Business Logic</a:t>
              </a:r>
              <a:endParaRPr lang="en-US" altLang="en-US" sz="3200">
                <a:latin typeface="Times New Roman" pitchFamily="18" charset="0"/>
                <a:cs typeface="Arial" charset="0"/>
              </a:endParaRPr>
            </a:p>
          </p:txBody>
        </p:sp>
      </p:grpSp>
      <p:grpSp>
        <p:nvGrpSpPr>
          <p:cNvPr id="10" name="Group 12"/>
          <p:cNvGrpSpPr>
            <a:grpSpLocks/>
          </p:cNvGrpSpPr>
          <p:nvPr/>
        </p:nvGrpSpPr>
        <p:grpSpPr bwMode="auto">
          <a:xfrm flipH="1">
            <a:off x="6369050" y="3917950"/>
            <a:ext cx="1857375" cy="1247775"/>
            <a:chOff x="672" y="2304"/>
            <a:chExt cx="576" cy="504"/>
          </a:xfrm>
        </p:grpSpPr>
        <p:grpSp>
          <p:nvGrpSpPr>
            <p:cNvPr id="13" name="Group 13"/>
            <p:cNvGrpSpPr>
              <a:grpSpLocks/>
            </p:cNvGrpSpPr>
            <p:nvPr/>
          </p:nvGrpSpPr>
          <p:grpSpPr bwMode="auto">
            <a:xfrm>
              <a:off x="732" y="2304"/>
              <a:ext cx="432" cy="504"/>
              <a:chOff x="2340" y="5834"/>
              <a:chExt cx="1080" cy="1260"/>
            </a:xfrm>
          </p:grpSpPr>
          <p:sp>
            <p:nvSpPr>
              <p:cNvPr id="16" name="AutoShape 14"/>
              <p:cNvSpPr>
                <a:spLocks noChangeArrowheads="1"/>
              </p:cNvSpPr>
              <p:nvPr/>
            </p:nvSpPr>
            <p:spPr bwMode="auto">
              <a:xfrm>
                <a:off x="2340" y="5834"/>
                <a:ext cx="1080" cy="1260"/>
              </a:xfrm>
              <a:prstGeom prst="flowChartMagneticDisk">
                <a:avLst/>
              </a:prstGeom>
              <a:gradFill rotWithShape="1">
                <a:gsLst>
                  <a:gs pos="0">
                    <a:srgbClr val="339966"/>
                  </a:gs>
                  <a:gs pos="50000">
                    <a:srgbClr val="BDE9D3"/>
                  </a:gs>
                  <a:gs pos="100000">
                    <a:srgbClr val="339966"/>
                  </a:gs>
                </a:gsLst>
                <a:lin ang="0" scaled="1"/>
              </a:gradFill>
              <a:ln w="9525">
                <a:solidFill>
                  <a:srgbClr val="BDE9D3"/>
                </a:solidFill>
                <a:round/>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17" name="Oval 15"/>
              <p:cNvSpPr>
                <a:spLocks noChangeArrowheads="1"/>
              </p:cNvSpPr>
              <p:nvPr/>
            </p:nvSpPr>
            <p:spPr bwMode="auto">
              <a:xfrm>
                <a:off x="2340" y="5834"/>
                <a:ext cx="1080" cy="403"/>
              </a:xfrm>
              <a:prstGeom prst="ellipse">
                <a:avLst/>
              </a:prstGeom>
              <a:gradFill rotWithShape="1">
                <a:gsLst>
                  <a:gs pos="0">
                    <a:srgbClr val="BDE9D3"/>
                  </a:gs>
                  <a:gs pos="100000">
                    <a:srgbClr val="339966"/>
                  </a:gs>
                </a:gsLst>
                <a:lin ang="2700000" scaled="1"/>
              </a:gradFill>
              <a:ln w="9525">
                <a:solidFill>
                  <a:srgbClr val="BDE9D3"/>
                </a:solidFill>
                <a:round/>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grpSp>
        <p:sp>
          <p:nvSpPr>
            <p:cNvPr id="15" name="Text Box 16"/>
            <p:cNvSpPr txBox="1">
              <a:spLocks noChangeArrowheads="1"/>
            </p:cNvSpPr>
            <p:nvPr/>
          </p:nvSpPr>
          <p:spPr bwMode="auto">
            <a:xfrm>
              <a:off x="672" y="2592"/>
              <a:ext cx="5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endParaRPr lang="en-US" altLang="en-US" sz="2400" b="0">
                <a:solidFill>
                  <a:schemeClr val="tx1"/>
                </a:solidFill>
                <a:latin typeface="Times New Roman" pitchFamily="18" charset="0"/>
                <a:cs typeface="Arial" charset="0"/>
              </a:endParaRPr>
            </a:p>
          </p:txBody>
        </p:sp>
      </p:grpSp>
      <p:pic>
        <p:nvPicPr>
          <p:cNvPr id="18" name="Picture 17" descr="j02920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3843338"/>
            <a:ext cx="1262063"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ectangle 18"/>
          <p:cNvSpPr>
            <a:spLocks noChangeArrowheads="1"/>
          </p:cNvSpPr>
          <p:nvPr/>
        </p:nvSpPr>
        <p:spPr bwMode="auto">
          <a:xfrm flipH="1">
            <a:off x="2097088" y="3003550"/>
            <a:ext cx="1338262" cy="890588"/>
          </a:xfrm>
          <a:prstGeom prst="rect">
            <a:avLst/>
          </a:prstGeom>
          <a:gradFill rotWithShape="1">
            <a:gsLst>
              <a:gs pos="0">
                <a:srgbClr val="D8E34F"/>
              </a:gs>
              <a:gs pos="100000">
                <a:srgbClr val="B09E1C"/>
              </a:gs>
            </a:gsLst>
            <a:lin ang="2700000" scaled="1"/>
          </a:gradFill>
          <a:ln w="9525">
            <a:solidFill>
              <a:srgbClr val="B09E1C"/>
            </a:solidFill>
            <a:miter lim="800000"/>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endParaRPr lang="en-US" altLang="en-US" sz="1800" b="0">
              <a:cs typeface="Arial" charset="0"/>
            </a:endParaRPr>
          </a:p>
          <a:p>
            <a:pPr algn="l" eaLnBrk="1" hangingPunct="1">
              <a:spcBef>
                <a:spcPct val="0"/>
              </a:spcBef>
            </a:pPr>
            <a:endParaRPr lang="en-US" altLang="en-US" sz="1800" b="0">
              <a:cs typeface="Arial" charset="0"/>
            </a:endParaRPr>
          </a:p>
          <a:p>
            <a:pPr algn="l" eaLnBrk="1" hangingPunct="1">
              <a:spcBef>
                <a:spcPct val="0"/>
              </a:spcBef>
            </a:pPr>
            <a:r>
              <a:rPr lang="en-US" altLang="en-US" b="0">
                <a:cs typeface="Arial" charset="0"/>
              </a:rPr>
              <a:t>Web browser</a:t>
            </a:r>
          </a:p>
        </p:txBody>
      </p:sp>
      <p:sp>
        <p:nvSpPr>
          <p:cNvPr id="20" name="Rectangle 19"/>
          <p:cNvSpPr>
            <a:spLocks noChangeArrowheads="1"/>
          </p:cNvSpPr>
          <p:nvPr/>
        </p:nvSpPr>
        <p:spPr bwMode="auto">
          <a:xfrm flipH="1">
            <a:off x="2097088" y="4803775"/>
            <a:ext cx="1338262" cy="593725"/>
          </a:xfrm>
          <a:prstGeom prst="rect">
            <a:avLst/>
          </a:prstGeom>
          <a:gradFill rotWithShape="1">
            <a:gsLst>
              <a:gs pos="0">
                <a:srgbClr val="D8E34F"/>
              </a:gs>
              <a:gs pos="100000">
                <a:srgbClr val="B09E1C"/>
              </a:gs>
            </a:gsLst>
            <a:lin ang="2700000" scaled="1"/>
          </a:gradFill>
          <a:ln w="9525">
            <a:solidFill>
              <a:srgbClr val="B09E1C"/>
            </a:solidFill>
            <a:miter lim="800000"/>
            <a:headEnd/>
            <a:tailEnd/>
          </a:ln>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spcBef>
                <a:spcPct val="0"/>
              </a:spcBef>
            </a:pPr>
            <a:r>
              <a:rPr lang="en-US" altLang="en-US" sz="1600" b="0">
                <a:cs typeface="Arial" charset="0"/>
              </a:rPr>
              <a:t>Standalone Application</a:t>
            </a:r>
          </a:p>
        </p:txBody>
      </p:sp>
      <p:sp>
        <p:nvSpPr>
          <p:cNvPr id="21" name="Rectangle 20"/>
          <p:cNvSpPr>
            <a:spLocks noChangeArrowheads="1"/>
          </p:cNvSpPr>
          <p:nvPr/>
        </p:nvSpPr>
        <p:spPr bwMode="auto">
          <a:xfrm>
            <a:off x="2108200" y="3067050"/>
            <a:ext cx="1317625" cy="446088"/>
          </a:xfrm>
          <a:prstGeom prst="rect">
            <a:avLst/>
          </a:prstGeom>
          <a:solidFill>
            <a:srgbClr val="EAEAEA"/>
          </a:solidFill>
          <a:ln w="9525">
            <a:solidFill>
              <a:srgbClr val="B09E1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200">
                <a:cs typeface="Arial" charset="0"/>
              </a:rPr>
              <a:t>Web application</a:t>
            </a:r>
          </a:p>
        </p:txBody>
      </p:sp>
      <p:sp>
        <p:nvSpPr>
          <p:cNvPr id="22" name="Text Box 24"/>
          <p:cNvSpPr txBox="1">
            <a:spLocks noChangeArrowheads="1"/>
          </p:cNvSpPr>
          <p:nvPr/>
        </p:nvSpPr>
        <p:spPr bwMode="auto">
          <a:xfrm flipH="1">
            <a:off x="6740525" y="4511675"/>
            <a:ext cx="1114425" cy="27463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lgn="ctr">
                <a:solidFill>
                  <a:srgbClr val="009999"/>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buClr>
                <a:srgbClr val="100F76"/>
              </a:buClr>
              <a:buFont typeface="Wingdings" pitchFamily="2" charset="2"/>
              <a:buNone/>
            </a:pPr>
            <a:r>
              <a:rPr lang="en-US" altLang="en-US" sz="1200" b="0">
                <a:cs typeface="Arial" charset="0"/>
              </a:rPr>
              <a:t>Database</a:t>
            </a:r>
          </a:p>
        </p:txBody>
      </p:sp>
      <p:sp>
        <p:nvSpPr>
          <p:cNvPr id="23" name="Text Box 69"/>
          <p:cNvSpPr txBox="1">
            <a:spLocks noChangeArrowheads="1"/>
          </p:cNvSpPr>
          <p:nvPr/>
        </p:nvSpPr>
        <p:spPr bwMode="auto">
          <a:xfrm flipH="1">
            <a:off x="4027488" y="5278438"/>
            <a:ext cx="191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r>
              <a:rPr lang="en-US" altLang="en-US" sz="1500">
                <a:solidFill>
                  <a:srgbClr val="FFFFFF"/>
                </a:solidFill>
                <a:latin typeface="Trebuchet MS" pitchFamily="34" charset="0"/>
                <a:cs typeface="Times New Roman" pitchFamily="18" charset="0"/>
              </a:rPr>
              <a:t>Business Logic</a:t>
            </a:r>
            <a:endParaRPr lang="en-US" altLang="en-US" sz="3200">
              <a:latin typeface="Times New Roman" pitchFamily="18" charset="0"/>
              <a:cs typeface="Arial" charset="0"/>
            </a:endParaRPr>
          </a:p>
        </p:txBody>
      </p:sp>
      <p:grpSp>
        <p:nvGrpSpPr>
          <p:cNvPr id="14" name="Group 93"/>
          <p:cNvGrpSpPr>
            <a:grpSpLocks/>
          </p:cNvGrpSpPr>
          <p:nvPr/>
        </p:nvGrpSpPr>
        <p:grpSpPr bwMode="auto">
          <a:xfrm>
            <a:off x="4078288" y="2901950"/>
            <a:ext cx="1838325" cy="2362200"/>
            <a:chOff x="2569" y="1642"/>
            <a:chExt cx="1158" cy="1488"/>
          </a:xfrm>
        </p:grpSpPr>
        <p:sp>
          <p:nvSpPr>
            <p:cNvPr id="25" name="AutoShape 70"/>
            <p:cNvSpPr>
              <a:spLocks noChangeArrowheads="1"/>
            </p:cNvSpPr>
            <p:nvPr/>
          </p:nvSpPr>
          <p:spPr bwMode="auto">
            <a:xfrm>
              <a:off x="2569" y="1642"/>
              <a:ext cx="1158" cy="1488"/>
            </a:xfrm>
            <a:prstGeom prst="flowChartAlternateProcess">
              <a:avLst/>
            </a:prstGeom>
            <a:solidFill>
              <a:srgbClr val="5F5F5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26" name="AutoShape 71"/>
            <p:cNvSpPr>
              <a:spLocks noChangeArrowheads="1"/>
            </p:cNvSpPr>
            <p:nvPr/>
          </p:nvSpPr>
          <p:spPr bwMode="auto">
            <a:xfrm>
              <a:off x="2620" y="1719"/>
              <a:ext cx="1056" cy="432"/>
            </a:xfrm>
            <a:prstGeom prst="roundRect">
              <a:avLst>
                <a:gd name="adj" fmla="val 16667"/>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endParaRPr lang="en-US" altLang="en-US" b="0">
                <a:cs typeface="Arial" charset="0"/>
              </a:endParaRPr>
            </a:p>
            <a:p>
              <a:pPr eaLnBrk="1" hangingPunct="1">
                <a:spcBef>
                  <a:spcPct val="0"/>
                </a:spcBef>
              </a:pPr>
              <a:r>
                <a:rPr lang="en-US" altLang="en-US" sz="1000" b="0">
                  <a:cs typeface="Arial" charset="0"/>
                </a:rPr>
                <a:t/>
              </a:r>
              <a:br>
                <a:rPr lang="en-US" altLang="en-US" sz="1000" b="0">
                  <a:cs typeface="Arial" charset="0"/>
                </a:rPr>
              </a:br>
              <a:r>
                <a:rPr lang="en-US" altLang="en-US" sz="1000">
                  <a:cs typeface="Arial" charset="0"/>
                </a:rPr>
                <a:t>Web Container</a:t>
              </a:r>
            </a:p>
          </p:txBody>
        </p:sp>
        <p:sp>
          <p:nvSpPr>
            <p:cNvPr id="27" name="AutoShape 72"/>
            <p:cNvSpPr>
              <a:spLocks noChangeArrowheads="1"/>
            </p:cNvSpPr>
            <p:nvPr/>
          </p:nvSpPr>
          <p:spPr bwMode="auto">
            <a:xfrm>
              <a:off x="2620" y="2258"/>
              <a:ext cx="1056" cy="816"/>
            </a:xfrm>
            <a:prstGeom prst="roundRect">
              <a:avLst>
                <a:gd name="adj" fmla="val 16667"/>
              </a:avLst>
            </a:prstGeom>
            <a:solidFill>
              <a:srgbClr val="E4EDF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eaLnBrk="1" hangingPunct="1">
                <a:spcBef>
                  <a:spcPct val="0"/>
                </a:spcBef>
              </a:pPr>
              <a:endParaRPr lang="en-US" altLang="en-US" sz="1800" b="0">
                <a:cs typeface="Arial" charset="0"/>
              </a:endParaRPr>
            </a:p>
            <a:p>
              <a:pPr eaLnBrk="1" hangingPunct="1">
                <a:spcBef>
                  <a:spcPct val="0"/>
                </a:spcBef>
              </a:pPr>
              <a:endParaRPr lang="en-US" altLang="en-US" sz="1800" b="0">
                <a:cs typeface="Arial" charset="0"/>
              </a:endParaRPr>
            </a:p>
            <a:p>
              <a:pPr eaLnBrk="1" hangingPunct="1">
                <a:spcBef>
                  <a:spcPct val="0"/>
                </a:spcBef>
              </a:pPr>
              <a:endParaRPr lang="en-US" altLang="en-US" sz="1800" b="0">
                <a:cs typeface="Arial" charset="0"/>
              </a:endParaRPr>
            </a:p>
            <a:p>
              <a:pPr eaLnBrk="1" hangingPunct="1">
                <a:spcBef>
                  <a:spcPct val="0"/>
                </a:spcBef>
              </a:pPr>
              <a:r>
                <a:rPr lang="en-US" altLang="en-US" sz="1000" b="0">
                  <a:cs typeface="Arial" charset="0"/>
                </a:rPr>
                <a:t/>
              </a:r>
              <a:br>
                <a:rPr lang="en-US" altLang="en-US" sz="1000" b="0">
                  <a:cs typeface="Arial" charset="0"/>
                </a:rPr>
              </a:br>
              <a:r>
                <a:rPr lang="en-US" altLang="en-US" sz="1000">
                  <a:cs typeface="Arial" charset="0"/>
                </a:rPr>
                <a:t>EJB Container</a:t>
              </a:r>
            </a:p>
          </p:txBody>
        </p:sp>
      </p:grpSp>
      <p:grpSp>
        <p:nvGrpSpPr>
          <p:cNvPr id="24" name="Group 94"/>
          <p:cNvGrpSpPr>
            <a:grpSpLocks/>
          </p:cNvGrpSpPr>
          <p:nvPr/>
        </p:nvGrpSpPr>
        <p:grpSpPr bwMode="auto">
          <a:xfrm>
            <a:off x="4351338" y="3087688"/>
            <a:ext cx="228600" cy="315912"/>
            <a:chOff x="2741" y="1759"/>
            <a:chExt cx="144" cy="199"/>
          </a:xfrm>
        </p:grpSpPr>
        <p:sp>
          <p:nvSpPr>
            <p:cNvPr id="29" name="Rectangle 73"/>
            <p:cNvSpPr>
              <a:spLocks noChangeArrowheads="1"/>
            </p:cNvSpPr>
            <p:nvPr/>
          </p:nvSpPr>
          <p:spPr bwMode="auto">
            <a:xfrm>
              <a:off x="2799" y="1814"/>
              <a:ext cx="86" cy="144"/>
            </a:xfrm>
            <a:prstGeom prst="rect">
              <a:avLst/>
            </a:prstGeom>
            <a:solidFill>
              <a:srgbClr val="BBE0E3"/>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30" name="Rectangle 74"/>
            <p:cNvSpPr>
              <a:spLocks noChangeArrowheads="1"/>
            </p:cNvSpPr>
            <p:nvPr/>
          </p:nvSpPr>
          <p:spPr bwMode="auto">
            <a:xfrm>
              <a:off x="2789" y="1800"/>
              <a:ext cx="86" cy="144"/>
            </a:xfrm>
            <a:prstGeom prst="rect">
              <a:avLst/>
            </a:prstGeom>
            <a:solidFill>
              <a:srgbClr val="BBE0E3"/>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31" name="Rectangle 75"/>
            <p:cNvSpPr>
              <a:spLocks noChangeArrowheads="1"/>
            </p:cNvSpPr>
            <p:nvPr/>
          </p:nvSpPr>
          <p:spPr bwMode="auto">
            <a:xfrm>
              <a:off x="2765" y="1780"/>
              <a:ext cx="86" cy="144"/>
            </a:xfrm>
            <a:prstGeom prst="rect">
              <a:avLst/>
            </a:prstGeom>
            <a:solidFill>
              <a:srgbClr val="BBE0E3"/>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32" name="Rectangle 76"/>
            <p:cNvSpPr>
              <a:spLocks noChangeArrowheads="1"/>
            </p:cNvSpPr>
            <p:nvPr/>
          </p:nvSpPr>
          <p:spPr bwMode="auto">
            <a:xfrm>
              <a:off x="2741" y="1759"/>
              <a:ext cx="86" cy="144"/>
            </a:xfrm>
            <a:prstGeom prst="rect">
              <a:avLst/>
            </a:prstGeom>
            <a:solidFill>
              <a:srgbClr val="BBE0E3"/>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grpSp>
      <p:sp>
        <p:nvSpPr>
          <p:cNvPr id="33" name="Text Box 77"/>
          <p:cNvSpPr txBox="1">
            <a:spLocks noChangeArrowheads="1"/>
          </p:cNvSpPr>
          <p:nvPr/>
        </p:nvSpPr>
        <p:spPr bwMode="auto">
          <a:xfrm>
            <a:off x="4667250" y="3132138"/>
            <a:ext cx="990600" cy="2444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r>
              <a:rPr lang="en-US" altLang="en-US" sz="1000" b="0">
                <a:cs typeface="Arial" charset="0"/>
              </a:rPr>
              <a:t>Servlets / JSP</a:t>
            </a:r>
          </a:p>
        </p:txBody>
      </p:sp>
      <p:sp>
        <p:nvSpPr>
          <p:cNvPr id="34" name="Line 86"/>
          <p:cNvSpPr>
            <a:spLocks noChangeShapeType="1"/>
          </p:cNvSpPr>
          <p:nvPr/>
        </p:nvSpPr>
        <p:spPr bwMode="auto">
          <a:xfrm>
            <a:off x="4997450" y="3611563"/>
            <a:ext cx="0" cy="45720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22"/>
          <p:cNvSpPr>
            <a:spLocks noChangeShapeType="1"/>
          </p:cNvSpPr>
          <p:nvPr/>
        </p:nvSpPr>
        <p:spPr bwMode="auto">
          <a:xfrm>
            <a:off x="3398838" y="4981575"/>
            <a:ext cx="885825"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21"/>
          <p:cNvSpPr>
            <a:spLocks noChangeShapeType="1"/>
          </p:cNvSpPr>
          <p:nvPr/>
        </p:nvSpPr>
        <p:spPr bwMode="auto">
          <a:xfrm>
            <a:off x="3398838" y="3363913"/>
            <a:ext cx="885825"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23"/>
          <p:cNvSpPr>
            <a:spLocks noChangeShapeType="1"/>
          </p:cNvSpPr>
          <p:nvPr/>
        </p:nvSpPr>
        <p:spPr bwMode="auto">
          <a:xfrm>
            <a:off x="5724525" y="4511675"/>
            <a:ext cx="941388"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Text Box 91"/>
          <p:cNvSpPr txBox="1">
            <a:spLocks noChangeArrowheads="1"/>
          </p:cNvSpPr>
          <p:nvPr/>
        </p:nvSpPr>
        <p:spPr bwMode="auto">
          <a:xfrm>
            <a:off x="5878513" y="1549400"/>
            <a:ext cx="2133600" cy="65087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r>
              <a:rPr lang="en-US" altLang="en-US" sz="1800" b="0" dirty="0" err="1">
                <a:solidFill>
                  <a:schemeClr val="tx1"/>
                </a:solidFill>
                <a:latin typeface="+mn-lt"/>
                <a:cs typeface="Arial" charset="0"/>
              </a:rPr>
              <a:t>JavaEE</a:t>
            </a:r>
            <a:r>
              <a:rPr lang="en-US" altLang="en-US" sz="1800" b="0" dirty="0">
                <a:solidFill>
                  <a:schemeClr val="tx1"/>
                </a:solidFill>
                <a:latin typeface="+mn-lt"/>
                <a:cs typeface="Arial" charset="0"/>
              </a:rPr>
              <a:t> Application Server</a:t>
            </a:r>
          </a:p>
        </p:txBody>
      </p:sp>
      <p:sp>
        <p:nvSpPr>
          <p:cNvPr id="39" name="Line 92"/>
          <p:cNvSpPr>
            <a:spLocks noChangeShapeType="1"/>
          </p:cNvSpPr>
          <p:nvPr/>
        </p:nvSpPr>
        <p:spPr bwMode="auto">
          <a:xfrm flipH="1">
            <a:off x="5435599" y="2200275"/>
            <a:ext cx="636588" cy="704850"/>
          </a:xfrm>
          <a:prstGeom prst="line">
            <a:avLst/>
          </a:prstGeom>
          <a:noFill/>
          <a:ln w="12700">
            <a:solidFill>
              <a:schemeClr val="accent1"/>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90000" rIns="90000" bIns="90000" anchor="ctr"/>
          <a:lstStyle/>
          <a:p>
            <a:endParaRPr lang="en-US"/>
          </a:p>
        </p:txBody>
      </p:sp>
      <p:sp>
        <p:nvSpPr>
          <p:cNvPr id="40" name="Oval 103"/>
          <p:cNvSpPr>
            <a:spLocks noChangeArrowheads="1"/>
          </p:cNvSpPr>
          <p:nvPr/>
        </p:nvSpPr>
        <p:spPr bwMode="auto">
          <a:xfrm>
            <a:off x="4537075" y="4298950"/>
            <a:ext cx="228600" cy="228600"/>
          </a:xfrm>
          <a:prstGeom prst="ellipse">
            <a:avLst/>
          </a:prstGeom>
          <a:gradFill rotWithShape="1">
            <a:gsLst>
              <a:gs pos="0">
                <a:srgbClr val="FFFFFF"/>
              </a:gs>
              <a:gs pos="100000">
                <a:srgbClr val="A2A2A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41" name="Oval 104"/>
          <p:cNvSpPr>
            <a:spLocks noChangeArrowheads="1"/>
          </p:cNvSpPr>
          <p:nvPr/>
        </p:nvSpPr>
        <p:spPr bwMode="auto">
          <a:xfrm>
            <a:off x="4330700" y="4483100"/>
            <a:ext cx="228600" cy="228600"/>
          </a:xfrm>
          <a:prstGeom prst="ellipse">
            <a:avLst/>
          </a:prstGeom>
          <a:gradFill rotWithShape="1">
            <a:gsLst>
              <a:gs pos="0">
                <a:srgbClr val="FFFFFF"/>
              </a:gs>
              <a:gs pos="100000">
                <a:srgbClr val="A2A2A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42" name="Oval 105"/>
          <p:cNvSpPr>
            <a:spLocks noChangeArrowheads="1"/>
          </p:cNvSpPr>
          <p:nvPr/>
        </p:nvSpPr>
        <p:spPr bwMode="auto">
          <a:xfrm>
            <a:off x="4864100" y="4330700"/>
            <a:ext cx="228600" cy="228600"/>
          </a:xfrm>
          <a:prstGeom prst="ellipse">
            <a:avLst/>
          </a:prstGeom>
          <a:gradFill rotWithShape="1">
            <a:gsLst>
              <a:gs pos="0">
                <a:srgbClr val="FFFFFF"/>
              </a:gs>
              <a:gs pos="100000">
                <a:srgbClr val="A2A2A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43" name="Oval 106"/>
          <p:cNvSpPr>
            <a:spLocks noChangeArrowheads="1"/>
          </p:cNvSpPr>
          <p:nvPr/>
        </p:nvSpPr>
        <p:spPr bwMode="auto">
          <a:xfrm>
            <a:off x="4635500" y="4559300"/>
            <a:ext cx="228600" cy="228600"/>
          </a:xfrm>
          <a:prstGeom prst="ellipse">
            <a:avLst/>
          </a:prstGeom>
          <a:gradFill rotWithShape="1">
            <a:gsLst>
              <a:gs pos="0">
                <a:srgbClr val="FFFFFF"/>
              </a:gs>
              <a:gs pos="100000">
                <a:srgbClr val="A2A2A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44" name="Oval 107"/>
          <p:cNvSpPr>
            <a:spLocks noChangeArrowheads="1"/>
          </p:cNvSpPr>
          <p:nvPr/>
        </p:nvSpPr>
        <p:spPr bwMode="auto">
          <a:xfrm>
            <a:off x="4940300" y="4635500"/>
            <a:ext cx="228600" cy="228600"/>
          </a:xfrm>
          <a:prstGeom prst="ellipse">
            <a:avLst/>
          </a:prstGeom>
          <a:gradFill rotWithShape="1">
            <a:gsLst>
              <a:gs pos="0">
                <a:srgbClr val="FFFFFF"/>
              </a:gs>
              <a:gs pos="100000">
                <a:srgbClr val="A2A2A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45" name="Oval 108"/>
          <p:cNvSpPr>
            <a:spLocks noChangeArrowheads="1"/>
          </p:cNvSpPr>
          <p:nvPr/>
        </p:nvSpPr>
        <p:spPr bwMode="auto">
          <a:xfrm>
            <a:off x="5168900" y="4330700"/>
            <a:ext cx="228600" cy="228600"/>
          </a:xfrm>
          <a:prstGeom prst="ellipse">
            <a:avLst/>
          </a:prstGeom>
          <a:gradFill rotWithShape="1">
            <a:gsLst>
              <a:gs pos="0">
                <a:srgbClr val="FFFFFF"/>
              </a:gs>
              <a:gs pos="100000">
                <a:srgbClr val="A2A2A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46" name="Oval 109"/>
          <p:cNvSpPr>
            <a:spLocks noChangeArrowheads="1"/>
          </p:cNvSpPr>
          <p:nvPr/>
        </p:nvSpPr>
        <p:spPr bwMode="auto">
          <a:xfrm>
            <a:off x="4711700" y="4102100"/>
            <a:ext cx="228600" cy="228600"/>
          </a:xfrm>
          <a:prstGeom prst="ellipse">
            <a:avLst/>
          </a:prstGeom>
          <a:gradFill rotWithShape="1">
            <a:gsLst>
              <a:gs pos="0">
                <a:srgbClr val="FFFFFF"/>
              </a:gs>
              <a:gs pos="100000">
                <a:srgbClr val="A2A2A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endParaRPr lang="en-US" altLang="en-US"/>
          </a:p>
        </p:txBody>
      </p:sp>
      <p:sp>
        <p:nvSpPr>
          <p:cNvPr id="47" name="Text Box 110"/>
          <p:cNvSpPr txBox="1">
            <a:spLocks noChangeArrowheads="1"/>
          </p:cNvSpPr>
          <p:nvPr/>
        </p:nvSpPr>
        <p:spPr bwMode="auto">
          <a:xfrm>
            <a:off x="5075238" y="4011613"/>
            <a:ext cx="649287" cy="2444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b="1">
                <a:solidFill>
                  <a:srgbClr val="000000"/>
                </a:solidFill>
                <a:latin typeface="Arial" charset="0"/>
              </a:defRPr>
            </a:lvl1pPr>
            <a:lvl2pPr marL="742950" indent="-285750">
              <a:defRPr sz="1400" b="1">
                <a:solidFill>
                  <a:srgbClr val="000000"/>
                </a:solidFill>
                <a:latin typeface="Arial" charset="0"/>
              </a:defRPr>
            </a:lvl2pPr>
            <a:lvl3pPr marL="1143000" indent="-228600">
              <a:defRPr sz="1400" b="1">
                <a:solidFill>
                  <a:srgbClr val="000000"/>
                </a:solidFill>
                <a:latin typeface="Arial" charset="0"/>
              </a:defRPr>
            </a:lvl3pPr>
            <a:lvl4pPr marL="1600200" indent="-228600">
              <a:defRPr sz="1400" b="1">
                <a:solidFill>
                  <a:srgbClr val="000000"/>
                </a:solidFill>
                <a:latin typeface="Arial" charset="0"/>
              </a:defRPr>
            </a:lvl4pPr>
            <a:lvl5pPr marL="2057400" indent="-228600">
              <a:defRPr sz="1400" b="1">
                <a:solidFill>
                  <a:srgbClr val="000000"/>
                </a:solidFill>
                <a:latin typeface="Arial" charset="0"/>
              </a:defRPr>
            </a:lvl5pPr>
            <a:lvl6pPr marL="2514600" indent="-228600" algn="ctr" eaLnBrk="0" fontAlgn="base" hangingPunct="0">
              <a:spcBef>
                <a:spcPct val="50000"/>
              </a:spcBef>
              <a:spcAft>
                <a:spcPct val="0"/>
              </a:spcAft>
              <a:defRPr sz="1400" b="1">
                <a:solidFill>
                  <a:srgbClr val="000000"/>
                </a:solidFill>
                <a:latin typeface="Arial" charset="0"/>
              </a:defRPr>
            </a:lvl6pPr>
            <a:lvl7pPr marL="2971800" indent="-228600" algn="ctr" eaLnBrk="0" fontAlgn="base" hangingPunct="0">
              <a:spcBef>
                <a:spcPct val="50000"/>
              </a:spcBef>
              <a:spcAft>
                <a:spcPct val="0"/>
              </a:spcAft>
              <a:defRPr sz="1400" b="1">
                <a:solidFill>
                  <a:srgbClr val="000000"/>
                </a:solidFill>
                <a:latin typeface="Arial" charset="0"/>
              </a:defRPr>
            </a:lvl7pPr>
            <a:lvl8pPr marL="3429000" indent="-228600" algn="ctr" eaLnBrk="0" fontAlgn="base" hangingPunct="0">
              <a:spcBef>
                <a:spcPct val="50000"/>
              </a:spcBef>
              <a:spcAft>
                <a:spcPct val="0"/>
              </a:spcAft>
              <a:defRPr sz="1400" b="1">
                <a:solidFill>
                  <a:srgbClr val="000000"/>
                </a:solidFill>
                <a:latin typeface="Arial" charset="0"/>
              </a:defRPr>
            </a:lvl8pPr>
            <a:lvl9pPr marL="3886200" indent="-228600" algn="ctr" eaLnBrk="0" fontAlgn="base" hangingPunct="0">
              <a:spcBef>
                <a:spcPct val="50000"/>
              </a:spcBef>
              <a:spcAft>
                <a:spcPct val="0"/>
              </a:spcAft>
              <a:defRPr sz="1400" b="1">
                <a:solidFill>
                  <a:srgbClr val="000000"/>
                </a:solidFill>
                <a:latin typeface="Arial" charset="0"/>
              </a:defRPr>
            </a:lvl9pPr>
          </a:lstStyle>
          <a:p>
            <a:pPr algn="l" eaLnBrk="1" hangingPunct="1"/>
            <a:r>
              <a:rPr lang="en-US" altLang="en-US" sz="1000" b="0">
                <a:cs typeface="Arial" charset="0"/>
              </a:rPr>
              <a:t>EJB’s</a:t>
            </a:r>
          </a:p>
        </p:txBody>
      </p:sp>
    </p:spTree>
    <p:extLst>
      <p:ext uri="{BB962C8B-B14F-4D97-AF65-F5344CB8AC3E}">
        <p14:creationId xmlns:p14="http://schemas.microsoft.com/office/powerpoint/2010/main" val="54912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0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0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500"/>
                                        <p:tgtEl>
                                          <p:spTgt spid="43"/>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childTnLst>
                          </p:cTn>
                        </p:par>
                        <p:par>
                          <p:cTn id="40" fill="hold">
                            <p:stCondLst>
                              <p:cond delay="3500"/>
                            </p:stCondLst>
                            <p:childTnLst>
                              <p:par>
                                <p:cTn id="41" presetID="10"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0" grpId="0" animBg="1"/>
      <p:bldP spid="41" grpId="0" animBg="1"/>
      <p:bldP spid="42" grpId="0" animBg="1"/>
      <p:bldP spid="43" grpId="0" animBg="1"/>
      <p:bldP spid="44" grpId="0" animBg="1"/>
      <p:bldP spid="45" grpId="0" animBg="1"/>
      <p:bldP spid="46" grpId="0" animBg="1"/>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Distributed </a:t>
            </a:r>
            <a:r>
              <a:rPr lang="en-US" b="1" dirty="0" err="1"/>
              <a:t>Multitiered</a:t>
            </a:r>
            <a:r>
              <a:rPr lang="en-US" b="1" dirty="0"/>
              <a:t> Applications</a:t>
            </a:r>
            <a:endParaRPr lang="en-US" dirty="0"/>
          </a:p>
        </p:txBody>
      </p:sp>
      <p:sp>
        <p:nvSpPr>
          <p:cNvPr id="3" name="Content Placeholder 2"/>
          <p:cNvSpPr>
            <a:spLocks noGrp="1"/>
          </p:cNvSpPr>
          <p:nvPr>
            <p:ph idx="1"/>
          </p:nvPr>
        </p:nvSpPr>
        <p:spPr>
          <a:xfrm>
            <a:off x="457200" y="1600200"/>
            <a:ext cx="8458200" cy="4525963"/>
          </a:xfrm>
        </p:spPr>
        <p:txBody>
          <a:bodyPr>
            <a:normAutofit lnSpcReduction="10000"/>
          </a:bodyPr>
          <a:lstStyle/>
          <a:p>
            <a:pPr algn="just"/>
            <a:r>
              <a:rPr lang="en-US" dirty="0"/>
              <a:t>The J2EE platform uses a distributed </a:t>
            </a:r>
            <a:r>
              <a:rPr lang="en-US" dirty="0" err="1"/>
              <a:t>multitiered</a:t>
            </a:r>
            <a:r>
              <a:rPr lang="en-US" dirty="0"/>
              <a:t> application model for </a:t>
            </a:r>
            <a:r>
              <a:rPr lang="en-US" dirty="0" smtClean="0"/>
              <a:t>enterprise applications</a:t>
            </a:r>
            <a:r>
              <a:rPr lang="en-US" dirty="0"/>
              <a:t>. </a:t>
            </a:r>
            <a:endParaRPr lang="en-US" dirty="0" smtClean="0"/>
          </a:p>
          <a:p>
            <a:pPr algn="just"/>
            <a:r>
              <a:rPr lang="en-US" dirty="0" smtClean="0"/>
              <a:t>Application </a:t>
            </a:r>
            <a:r>
              <a:rPr lang="en-US" dirty="0"/>
              <a:t>logic is divided into components according </a:t>
            </a:r>
            <a:r>
              <a:rPr lang="en-US" dirty="0" smtClean="0"/>
              <a:t>to function</a:t>
            </a:r>
            <a:r>
              <a:rPr lang="en-US" dirty="0"/>
              <a:t>, and the various application components that make up a J2EE </a:t>
            </a:r>
            <a:r>
              <a:rPr lang="en-US" dirty="0" smtClean="0"/>
              <a:t>application are </a:t>
            </a:r>
            <a:r>
              <a:rPr lang="en-US" dirty="0"/>
              <a:t>installed on different machines depending on the tier in the </a:t>
            </a:r>
            <a:r>
              <a:rPr lang="en-US" dirty="0" err="1" smtClean="0"/>
              <a:t>multitiered</a:t>
            </a:r>
            <a:r>
              <a:rPr lang="en-US" dirty="0" smtClean="0"/>
              <a:t> J2EE </a:t>
            </a:r>
            <a:r>
              <a:rPr lang="en-US" dirty="0"/>
              <a:t>environment to which the application component belongs.</a:t>
            </a:r>
          </a:p>
        </p:txBody>
      </p:sp>
    </p:spTree>
    <p:extLst>
      <p:ext uri="{BB962C8B-B14F-4D97-AF65-F5344CB8AC3E}">
        <p14:creationId xmlns:p14="http://schemas.microsoft.com/office/powerpoint/2010/main" val="3378911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Distributed </a:t>
            </a:r>
            <a:r>
              <a:rPr lang="en-US" b="1" dirty="0" err="1" smtClean="0"/>
              <a:t>Multitiered</a:t>
            </a:r>
            <a:r>
              <a:rPr lang="en-US" b="1" dirty="0" smtClean="0"/>
              <a:t> Applications</a:t>
            </a:r>
            <a:endParaRPr lang="en-US" dirty="0"/>
          </a:p>
        </p:txBody>
      </p:sp>
      <p:pic>
        <p:nvPicPr>
          <p:cNvPr id="7170" name="Picture 2"/>
          <p:cNvPicPr>
            <a:picLocks noChangeAspect="1" noChangeArrowheads="1"/>
          </p:cNvPicPr>
          <p:nvPr/>
        </p:nvPicPr>
        <p:blipFill>
          <a:blip r:embed="rId2"/>
          <a:srcRect/>
          <a:stretch>
            <a:fillRect/>
          </a:stretch>
        </p:blipFill>
        <p:spPr bwMode="auto">
          <a:xfrm>
            <a:off x="76200" y="1600200"/>
            <a:ext cx="5029200" cy="3853992"/>
          </a:xfrm>
          <a:prstGeom prst="rect">
            <a:avLst/>
          </a:prstGeom>
          <a:noFill/>
          <a:ln w="9525">
            <a:noFill/>
            <a:miter lim="800000"/>
            <a:headEnd/>
            <a:tailEnd/>
          </a:ln>
          <a:effectLst/>
        </p:spPr>
      </p:pic>
      <p:sp>
        <p:nvSpPr>
          <p:cNvPr id="5" name="TextBox 4"/>
          <p:cNvSpPr txBox="1"/>
          <p:nvPr/>
        </p:nvSpPr>
        <p:spPr>
          <a:xfrm>
            <a:off x="5334000" y="2057400"/>
            <a:ext cx="3810000" cy="707886"/>
          </a:xfrm>
          <a:prstGeom prst="rect">
            <a:avLst/>
          </a:prstGeom>
          <a:noFill/>
        </p:spPr>
        <p:txBody>
          <a:bodyPr wrap="square" rtlCol="0">
            <a:spAutoFit/>
          </a:bodyPr>
          <a:lstStyle/>
          <a:p>
            <a:r>
              <a:rPr lang="en-US" sz="2000" dirty="0"/>
              <a:t>Client-tier components run on the client machine.</a:t>
            </a:r>
          </a:p>
        </p:txBody>
      </p:sp>
      <p:sp>
        <p:nvSpPr>
          <p:cNvPr id="6" name="TextBox 5"/>
          <p:cNvSpPr txBox="1"/>
          <p:nvPr/>
        </p:nvSpPr>
        <p:spPr>
          <a:xfrm>
            <a:off x="5334000" y="2895600"/>
            <a:ext cx="3810000" cy="707886"/>
          </a:xfrm>
          <a:prstGeom prst="rect">
            <a:avLst/>
          </a:prstGeom>
          <a:noFill/>
        </p:spPr>
        <p:txBody>
          <a:bodyPr wrap="square" rtlCol="0">
            <a:spAutoFit/>
          </a:bodyPr>
          <a:lstStyle/>
          <a:p>
            <a:r>
              <a:rPr lang="en-US" sz="2000" dirty="0"/>
              <a:t>Web-tier components run on the J2EE server.</a:t>
            </a:r>
          </a:p>
        </p:txBody>
      </p:sp>
      <p:sp>
        <p:nvSpPr>
          <p:cNvPr id="7" name="TextBox 6"/>
          <p:cNvSpPr txBox="1"/>
          <p:nvPr/>
        </p:nvSpPr>
        <p:spPr>
          <a:xfrm>
            <a:off x="5334000" y="3733800"/>
            <a:ext cx="3810000" cy="707886"/>
          </a:xfrm>
          <a:prstGeom prst="rect">
            <a:avLst/>
          </a:prstGeom>
          <a:noFill/>
        </p:spPr>
        <p:txBody>
          <a:bodyPr wrap="square" rtlCol="0">
            <a:spAutoFit/>
          </a:bodyPr>
          <a:lstStyle/>
          <a:p>
            <a:r>
              <a:rPr lang="en-US" sz="2000" dirty="0"/>
              <a:t>Business-tier components run on the J2EE server.</a:t>
            </a:r>
          </a:p>
        </p:txBody>
      </p:sp>
      <p:sp>
        <p:nvSpPr>
          <p:cNvPr id="8" name="TextBox 7"/>
          <p:cNvSpPr txBox="1"/>
          <p:nvPr/>
        </p:nvSpPr>
        <p:spPr>
          <a:xfrm>
            <a:off x="5334000" y="4572000"/>
            <a:ext cx="3810000" cy="1015663"/>
          </a:xfrm>
          <a:prstGeom prst="rect">
            <a:avLst/>
          </a:prstGeom>
          <a:noFill/>
        </p:spPr>
        <p:txBody>
          <a:bodyPr wrap="square" rtlCol="0">
            <a:spAutoFit/>
          </a:bodyPr>
          <a:lstStyle/>
          <a:p>
            <a:r>
              <a:rPr lang="en-US" sz="2000" dirty="0"/>
              <a:t>Enterprise information system (EIS)-tier software runs on the EIS server.</a:t>
            </a:r>
          </a:p>
        </p:txBody>
      </p:sp>
      <p:sp>
        <p:nvSpPr>
          <p:cNvPr id="9" name="Rectangle 8"/>
          <p:cNvSpPr/>
          <p:nvPr/>
        </p:nvSpPr>
        <p:spPr>
          <a:xfrm>
            <a:off x="152400" y="1600200"/>
            <a:ext cx="4953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52400" y="2895600"/>
            <a:ext cx="49530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152400" y="4419600"/>
            <a:ext cx="4953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Arrow Connector 12"/>
          <p:cNvCxnSpPr/>
          <p:nvPr/>
        </p:nvCxnSpPr>
        <p:spPr>
          <a:xfrm rot="5400000">
            <a:off x="3048794" y="2819400"/>
            <a:ext cx="456406"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rot="5400000">
            <a:off x="3048794" y="3657600"/>
            <a:ext cx="456406"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6" name="Straight Arrow Connector 15"/>
          <p:cNvCxnSpPr/>
          <p:nvPr/>
        </p:nvCxnSpPr>
        <p:spPr>
          <a:xfrm rot="5400000">
            <a:off x="3048794" y="4495800"/>
            <a:ext cx="456406" cy="79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41106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in </a:t>
            </a:r>
            <a:r>
              <a:rPr lang="en-US" dirty="0" err="1" smtClean="0"/>
              <a:t>Multitiered</a:t>
            </a:r>
            <a:r>
              <a:rPr lang="en-US" dirty="0" smtClean="0"/>
              <a:t> Applications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smtClean="0"/>
              <a:t>The Java EE security environment enables security constraints to be defined at deploy time.</a:t>
            </a:r>
          </a:p>
          <a:p>
            <a:pPr algn="just"/>
            <a:r>
              <a:rPr lang="en-US" dirty="0" smtClean="0"/>
              <a:t> Java EE applications are portable to many security implementations .</a:t>
            </a:r>
          </a:p>
          <a:p>
            <a:pPr algn="just"/>
            <a:r>
              <a:rPr lang="en-US" dirty="0" smtClean="0"/>
              <a:t> The Java EE provides</a:t>
            </a:r>
          </a:p>
          <a:p>
            <a:pPr lvl="1" algn="just"/>
            <a:r>
              <a:rPr lang="en-US" dirty="0" smtClean="0"/>
              <a:t>Standard declarative access control rules that are defined by the developer and interpreted when the application is deployed on the server.</a:t>
            </a:r>
          </a:p>
          <a:p>
            <a:pPr lvl="1" algn="just"/>
            <a:r>
              <a:rPr lang="en-US" dirty="0" smtClean="0"/>
              <a:t>Standard login mechanism.</a:t>
            </a:r>
            <a:endParaRPr lang="en-US" dirty="0"/>
          </a:p>
        </p:txBody>
      </p:sp>
    </p:spTree>
    <p:extLst>
      <p:ext uri="{BB962C8B-B14F-4D97-AF65-F5344CB8AC3E}">
        <p14:creationId xmlns:p14="http://schemas.microsoft.com/office/powerpoint/2010/main" val="3046924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EE components</a:t>
            </a:r>
            <a:endParaRPr lang="en-US" dirty="0"/>
          </a:p>
        </p:txBody>
      </p:sp>
      <p:sp>
        <p:nvSpPr>
          <p:cNvPr id="3" name="Content Placeholder 2"/>
          <p:cNvSpPr>
            <a:spLocks noGrp="1"/>
          </p:cNvSpPr>
          <p:nvPr>
            <p:ph idx="1"/>
          </p:nvPr>
        </p:nvSpPr>
        <p:spPr/>
        <p:txBody>
          <a:bodyPr/>
          <a:lstStyle/>
          <a:p>
            <a:pPr lvl="0" algn="just"/>
            <a:r>
              <a:rPr lang="en-US" dirty="0"/>
              <a:t>J2EE applications are made up of components.</a:t>
            </a:r>
          </a:p>
          <a:p>
            <a:pPr lvl="0" algn="just"/>
            <a:r>
              <a:rPr lang="en-US" dirty="0"/>
              <a:t>A J2EE component is a ; </a:t>
            </a:r>
          </a:p>
          <a:p>
            <a:pPr algn="just">
              <a:buNone/>
            </a:pPr>
            <a:r>
              <a:rPr lang="en-US" b="1" i="1" dirty="0" smtClean="0"/>
              <a:t>	Self </a:t>
            </a:r>
            <a:r>
              <a:rPr lang="en-US" b="1" i="1" dirty="0"/>
              <a:t>contained functional software unit that is assembled into a J2EE application with its related classes and files and that communicates with other components. </a:t>
            </a:r>
            <a:endParaRPr lang="en-US" dirty="0"/>
          </a:p>
          <a:p>
            <a:pPr algn="just"/>
            <a:endParaRPr lang="en-US" dirty="0"/>
          </a:p>
        </p:txBody>
      </p:sp>
    </p:spTree>
    <p:extLst>
      <p:ext uri="{BB962C8B-B14F-4D97-AF65-F5344CB8AC3E}">
        <p14:creationId xmlns:p14="http://schemas.microsoft.com/office/powerpoint/2010/main" val="3724197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EE components</a:t>
            </a:r>
            <a:endParaRPr lang="en-US" dirty="0"/>
          </a:p>
        </p:txBody>
      </p:sp>
      <p:sp>
        <p:nvSpPr>
          <p:cNvPr id="3" name="Content Placeholder 2"/>
          <p:cNvSpPr>
            <a:spLocks noGrp="1"/>
          </p:cNvSpPr>
          <p:nvPr>
            <p:ph idx="1"/>
          </p:nvPr>
        </p:nvSpPr>
        <p:spPr/>
        <p:txBody>
          <a:bodyPr>
            <a:normAutofit fontScale="92500" lnSpcReduction="20000"/>
          </a:bodyPr>
          <a:lstStyle/>
          <a:p>
            <a:pPr lvl="0" algn="just"/>
            <a:r>
              <a:rPr lang="en-US" dirty="0"/>
              <a:t>J2EE components are java classes.</a:t>
            </a:r>
            <a:endParaRPr lang="en-US" sz="3600" dirty="0"/>
          </a:p>
          <a:p>
            <a:pPr lvl="0" algn="just"/>
            <a:r>
              <a:rPr lang="en-US" dirty="0"/>
              <a:t>The difference between J2EE components and “Standard” Java classes :</a:t>
            </a:r>
            <a:endParaRPr lang="en-US" sz="3600" dirty="0"/>
          </a:p>
          <a:p>
            <a:pPr lvl="1" algn="just"/>
            <a:r>
              <a:rPr lang="en-US" dirty="0"/>
              <a:t>J2EE components are assembled into a J2EE applications</a:t>
            </a:r>
            <a:endParaRPr lang="en-US" sz="3200" dirty="0"/>
          </a:p>
          <a:p>
            <a:pPr lvl="1" algn="just"/>
            <a:r>
              <a:rPr lang="en-US" dirty="0"/>
              <a:t>Verified to be well formed.</a:t>
            </a:r>
            <a:endParaRPr lang="en-US" sz="3200" dirty="0"/>
          </a:p>
          <a:p>
            <a:pPr lvl="1" algn="just"/>
            <a:r>
              <a:rPr lang="en-US" dirty="0"/>
              <a:t>Should be in compliance with the </a:t>
            </a:r>
            <a:r>
              <a:rPr lang="en-US" dirty="0" smtClean="0"/>
              <a:t>Java EE specification.</a:t>
            </a:r>
            <a:endParaRPr lang="en-US" sz="3200" dirty="0"/>
          </a:p>
          <a:p>
            <a:pPr lvl="1" algn="just"/>
            <a:r>
              <a:rPr lang="en-US" dirty="0"/>
              <a:t>Are deployed to production, where they are run and managed by the J2EE server.</a:t>
            </a:r>
            <a:endParaRPr lang="en-US" sz="3200" dirty="0"/>
          </a:p>
          <a:p>
            <a:pPr algn="just"/>
            <a:endParaRPr lang="en-US" dirty="0"/>
          </a:p>
        </p:txBody>
      </p:sp>
    </p:spTree>
    <p:extLst>
      <p:ext uri="{BB962C8B-B14F-4D97-AF65-F5344CB8AC3E}">
        <p14:creationId xmlns:p14="http://schemas.microsoft.com/office/powerpoint/2010/main" val="3120186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Components defined in the </a:t>
            </a:r>
            <a:r>
              <a:rPr lang="en-US" b="1" dirty="0" smtClean="0"/>
              <a:t>Java EE Specification</a:t>
            </a:r>
            <a:endParaRPr lang="en-US" dirty="0"/>
          </a:p>
        </p:txBody>
      </p:sp>
      <p:sp>
        <p:nvSpPr>
          <p:cNvPr id="3" name="Content Placeholder 2"/>
          <p:cNvSpPr>
            <a:spLocks noGrp="1"/>
          </p:cNvSpPr>
          <p:nvPr>
            <p:ph idx="1"/>
          </p:nvPr>
        </p:nvSpPr>
        <p:spPr/>
        <p:txBody>
          <a:bodyPr>
            <a:normAutofit/>
          </a:bodyPr>
          <a:lstStyle/>
          <a:p>
            <a:pPr lvl="0" algn="just"/>
            <a:r>
              <a:rPr lang="en-US" dirty="0"/>
              <a:t>Application clients and applets are components that run on the clients.</a:t>
            </a:r>
          </a:p>
          <a:p>
            <a:pPr lvl="0" algn="just"/>
            <a:r>
              <a:rPr lang="en-US" dirty="0"/>
              <a:t>Java </a:t>
            </a:r>
            <a:r>
              <a:rPr lang="en-US" dirty="0" err="1" smtClean="0"/>
              <a:t>servlet</a:t>
            </a:r>
            <a:r>
              <a:rPr lang="en-US" dirty="0" smtClean="0"/>
              <a:t>, </a:t>
            </a:r>
            <a:r>
              <a:rPr lang="en-US" dirty="0" err="1" smtClean="0"/>
              <a:t>JavaServerFaces</a:t>
            </a:r>
            <a:r>
              <a:rPr lang="en-US" dirty="0" smtClean="0"/>
              <a:t>  </a:t>
            </a:r>
            <a:r>
              <a:rPr lang="en-US" dirty="0"/>
              <a:t>and Java Server Pages (JSP) technology components are web components that run on </a:t>
            </a:r>
            <a:r>
              <a:rPr lang="en-US" dirty="0" smtClean="0"/>
              <a:t>the server.</a:t>
            </a:r>
            <a:endParaRPr lang="en-US" dirty="0"/>
          </a:p>
          <a:p>
            <a:pPr lvl="0" algn="just"/>
            <a:r>
              <a:rPr lang="en-US" dirty="0"/>
              <a:t>Enterprise Java Beans (</a:t>
            </a:r>
            <a:r>
              <a:rPr lang="en-US" dirty="0" smtClean="0"/>
              <a:t>EJB</a:t>
            </a:r>
            <a:r>
              <a:rPr lang="en-US" dirty="0" smtClean="0">
                <a:sym typeface="Symbol"/>
              </a:rPr>
              <a:t></a:t>
            </a:r>
            <a:r>
              <a:rPr lang="en-US" dirty="0" smtClean="0"/>
              <a:t>) </a:t>
            </a:r>
            <a:r>
              <a:rPr lang="en-US" dirty="0"/>
              <a:t>component are business components that run </a:t>
            </a:r>
            <a:r>
              <a:rPr lang="en-US" dirty="0" smtClean="0"/>
              <a:t>on the Server.</a:t>
            </a:r>
            <a:endParaRPr lang="en-US" dirty="0"/>
          </a:p>
        </p:txBody>
      </p:sp>
    </p:spTree>
    <p:extLst>
      <p:ext uri="{BB962C8B-B14F-4D97-AF65-F5344CB8AC3E}">
        <p14:creationId xmlns:p14="http://schemas.microsoft.com/office/powerpoint/2010/main" val="2727354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5791200" cy="1143000"/>
          </a:xfrm>
        </p:spPr>
        <p:txBody>
          <a:bodyPr/>
          <a:lstStyle/>
          <a:p>
            <a:r>
              <a:rPr lang="en-US" dirty="0" smtClean="0"/>
              <a:t>Java EE Clients</a:t>
            </a:r>
            <a:endParaRPr lang="en-US" dirty="0"/>
          </a:p>
        </p:txBody>
      </p:sp>
      <p:graphicFrame>
        <p:nvGraphicFramePr>
          <p:cNvPr id="4" name="Content Placeholder 3"/>
          <p:cNvGraphicFramePr>
            <a:graphicFrameLocks noGrp="1"/>
          </p:cNvGraphicFramePr>
          <p:nvPr>
            <p:ph idx="1"/>
          </p:nvPr>
        </p:nvGraphicFramePr>
        <p:xfrm>
          <a:off x="228600" y="1371600"/>
          <a:ext cx="7543800" cy="4373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ular Callout 4"/>
          <p:cNvSpPr/>
          <p:nvPr/>
        </p:nvSpPr>
        <p:spPr>
          <a:xfrm>
            <a:off x="5791200" y="609600"/>
            <a:ext cx="3352800" cy="914400"/>
          </a:xfrm>
          <a:prstGeom prst="wedgeRectCallout">
            <a:avLst>
              <a:gd name="adj1" fmla="val -20833"/>
              <a:gd name="adj2" fmla="val 9583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smtClean="0">
                <a:solidFill>
                  <a:srgbClr val="0070C0"/>
                </a:solidFill>
              </a:rPr>
              <a:t>contains various types </a:t>
            </a:r>
            <a:r>
              <a:rPr lang="en-US" dirty="0">
                <a:solidFill>
                  <a:srgbClr val="0070C0"/>
                </a:solidFill>
              </a:rPr>
              <a:t>of markup language (HTML, XML, and so on)</a:t>
            </a:r>
          </a:p>
        </p:txBody>
      </p:sp>
      <p:sp>
        <p:nvSpPr>
          <p:cNvPr id="6" name="Rectangular Callout 5"/>
          <p:cNvSpPr/>
          <p:nvPr/>
        </p:nvSpPr>
        <p:spPr>
          <a:xfrm>
            <a:off x="4800600" y="5410200"/>
            <a:ext cx="3352800" cy="914400"/>
          </a:xfrm>
          <a:prstGeom prst="wedgeRectCallout">
            <a:avLst>
              <a:gd name="adj1" fmla="val 2487"/>
              <a:gd name="adj2" fmla="val -80978"/>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70C0"/>
                </a:solidFill>
              </a:rPr>
              <a:t>created from </a:t>
            </a:r>
            <a:r>
              <a:rPr lang="en-US" dirty="0" smtClean="0">
                <a:solidFill>
                  <a:srgbClr val="0070C0"/>
                </a:solidFill>
              </a:rPr>
              <a:t>the Swing </a:t>
            </a:r>
            <a:r>
              <a:rPr lang="en-US" dirty="0">
                <a:solidFill>
                  <a:srgbClr val="0070C0"/>
                </a:solidFill>
              </a:rPr>
              <a:t>or the Abstract Window Toolkit (AWT) API</a:t>
            </a:r>
          </a:p>
        </p:txBody>
      </p:sp>
    </p:spTree>
    <p:extLst>
      <p:ext uri="{BB962C8B-B14F-4D97-AF65-F5344CB8AC3E}">
        <p14:creationId xmlns:p14="http://schemas.microsoft.com/office/powerpoint/2010/main" val="2460621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Java EE Application Model + </a:t>
            </a:r>
            <a:r>
              <a:rPr lang="en-US" altLang="en-US" i="1" dirty="0">
                <a:solidFill>
                  <a:srgbClr val="F60000"/>
                </a:solidFill>
                <a:cs typeface="Mangal" pitchFamily="2" charset="0"/>
              </a:rPr>
              <a:t>API</a:t>
            </a:r>
            <a:r>
              <a:rPr lang="en-US" altLang="en-US" sz="1600" dirty="0">
                <a:cs typeface="Mangal" pitchFamily="2" charset="0"/>
              </a:rPr>
              <a:t> </a:t>
            </a:r>
            <a:r>
              <a:rPr lang="en-US" altLang="en-US" dirty="0">
                <a:solidFill>
                  <a:schemeClr val="tx1">
                    <a:lumMod val="65000"/>
                    <a:lumOff val="35000"/>
                  </a:schemeClr>
                </a:solidFill>
                <a:effectLst>
                  <a:outerShdw blurRad="63500" algn="ctr" rotWithShape="0">
                    <a:prstClr val="black">
                      <a:alpha val="14000"/>
                    </a:prstClr>
                  </a:outerShdw>
                </a:effectLst>
              </a:rPr>
              <a:t>s</a:t>
            </a:r>
            <a:endParaRPr lang="en-US" dirty="0">
              <a:solidFill>
                <a:schemeClr val="tx1">
                  <a:lumMod val="65000"/>
                  <a:lumOff val="35000"/>
                </a:schemeClr>
              </a:solidFill>
              <a:effectLst>
                <a:outerShdw blurRad="63500" algn="ctr" rotWithShape="0">
                  <a:prstClr val="black">
                    <a:alpha val="14000"/>
                  </a:prstClr>
                </a:outerShdw>
              </a:effectLst>
            </a:endParaRPr>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077200" cy="4987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12002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tx1">
                    <a:lumMod val="65000"/>
                    <a:lumOff val="35000"/>
                  </a:schemeClr>
                </a:solidFill>
                <a:effectLst>
                  <a:outerShdw blurRad="63500" algn="ctr" rotWithShape="0">
                    <a:prstClr val="black">
                      <a:alpha val="14000"/>
                    </a:prstClr>
                  </a:outerShdw>
                </a:effectLst>
              </a:rPr>
              <a:t>Application</a:t>
            </a:r>
            <a:r>
              <a:rPr lang="en-US" dirty="0"/>
              <a:t> </a:t>
            </a:r>
            <a:r>
              <a:rPr lang="en-US" dirty="0">
                <a:solidFill>
                  <a:schemeClr val="tx1">
                    <a:lumMod val="65000"/>
                    <a:lumOff val="35000"/>
                  </a:schemeClr>
                </a:solidFill>
                <a:effectLst>
                  <a:outerShdw blurRad="63500" algn="ctr" rotWithShape="0">
                    <a:prstClr val="black">
                      <a:alpha val="14000"/>
                    </a:prstClr>
                  </a:outerShdw>
                </a:effectLst>
              </a:rPr>
              <a:t>Server</a:t>
            </a:r>
            <a:endParaRPr lang="en-US" dirty="0"/>
          </a:p>
        </p:txBody>
      </p:sp>
      <p:sp>
        <p:nvSpPr>
          <p:cNvPr id="3" name="Content Placeholder 2"/>
          <p:cNvSpPr>
            <a:spLocks noGrp="1"/>
          </p:cNvSpPr>
          <p:nvPr>
            <p:ph idx="1"/>
          </p:nvPr>
        </p:nvSpPr>
        <p:spPr/>
        <p:txBody>
          <a:bodyPr>
            <a:normAutofit/>
          </a:bodyPr>
          <a:lstStyle/>
          <a:p>
            <a:pPr algn="just"/>
            <a:r>
              <a:rPr lang="en-US" sz="2000" dirty="0">
                <a:latin typeface="Calibri" pitchFamily="34" charset="0"/>
                <a:cs typeface="Calibri" pitchFamily="34" charset="0"/>
              </a:rPr>
              <a:t>“An </a:t>
            </a:r>
            <a:r>
              <a:rPr lang="en-US" sz="2000" b="1" dirty="0">
                <a:latin typeface="Calibri" pitchFamily="34" charset="0"/>
                <a:cs typeface="Calibri" pitchFamily="34" charset="0"/>
              </a:rPr>
              <a:t>application server</a:t>
            </a:r>
            <a:r>
              <a:rPr lang="en-US" sz="2000" dirty="0">
                <a:latin typeface="Calibri" pitchFamily="34" charset="0"/>
                <a:cs typeface="Calibri" pitchFamily="34" charset="0"/>
              </a:rPr>
              <a:t> is a server that provides software applications with </a:t>
            </a:r>
            <a:r>
              <a:rPr lang="en-US" sz="2000" dirty="0" smtClean="0">
                <a:latin typeface="Calibri" pitchFamily="34" charset="0"/>
                <a:cs typeface="Calibri" pitchFamily="34" charset="0"/>
              </a:rPr>
              <a:t>services </a:t>
            </a:r>
            <a:r>
              <a:rPr lang="en-US" sz="2000" dirty="0">
                <a:latin typeface="Calibri" pitchFamily="34" charset="0"/>
                <a:cs typeface="Calibri" pitchFamily="34" charset="0"/>
              </a:rPr>
              <a:t>such as security, data services, transaction support, load balancing, </a:t>
            </a:r>
            <a:r>
              <a:rPr lang="en-US" sz="2000" dirty="0" smtClean="0">
                <a:latin typeface="Calibri" pitchFamily="34" charset="0"/>
                <a:cs typeface="Calibri" pitchFamily="34" charset="0"/>
              </a:rPr>
              <a:t>and </a:t>
            </a:r>
            <a:r>
              <a:rPr lang="en-US" sz="2000" dirty="0">
                <a:latin typeface="Calibri" pitchFamily="34" charset="0"/>
                <a:cs typeface="Calibri" pitchFamily="34" charset="0"/>
              </a:rPr>
              <a:t>management of large distributed </a:t>
            </a:r>
            <a:r>
              <a:rPr lang="en-US" sz="2000" dirty="0" smtClean="0">
                <a:latin typeface="Calibri" pitchFamily="34" charset="0"/>
                <a:cs typeface="Calibri" pitchFamily="34" charset="0"/>
              </a:rPr>
              <a:t>Systems”</a:t>
            </a:r>
          </a:p>
          <a:p>
            <a:pPr marL="3657600" lvl="8" indent="0">
              <a:buNone/>
            </a:pPr>
            <a:r>
              <a:rPr lang="en-US" dirty="0" smtClean="0">
                <a:latin typeface="Calibri" pitchFamily="34" charset="0"/>
                <a:cs typeface="Calibri" pitchFamily="34" charset="0"/>
              </a:rPr>
              <a:t>		           Source : Wikipedia</a:t>
            </a:r>
          </a:p>
          <a:p>
            <a:r>
              <a:rPr lang="en-US" dirty="0">
                <a:solidFill>
                  <a:schemeClr val="bg1"/>
                </a:solidFill>
                <a:latin typeface="Calibri" pitchFamily="34" charset="0"/>
                <a:cs typeface="Calibri" pitchFamily="34" charset="0"/>
              </a:rPr>
              <a:t>						Source : Wikipedia</a:t>
            </a:r>
          </a:p>
          <a:p>
            <a:endParaRPr lang="en-US" dirty="0"/>
          </a:p>
        </p:txBody>
      </p:sp>
      <p:pic>
        <p:nvPicPr>
          <p:cNvPr id="4" name="Picture 3" descr="C:\Users\rucslk\Desktop\images (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932457"/>
            <a:ext cx="2057400" cy="11667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035" y="3581400"/>
            <a:ext cx="3177353" cy="220212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289" y="3919895"/>
            <a:ext cx="2287706" cy="1525137"/>
          </a:xfrm>
          <a:prstGeom prst="rect">
            <a:avLst/>
          </a:prstGeom>
        </p:spPr>
      </p:pic>
    </p:spTree>
    <p:extLst>
      <p:ext uri="{BB962C8B-B14F-4D97-AF65-F5344CB8AC3E}">
        <p14:creationId xmlns:p14="http://schemas.microsoft.com/office/powerpoint/2010/main" val="2034364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Autofit/>
          </a:bodyPr>
          <a:lstStyle/>
          <a:p>
            <a:pPr algn="l"/>
            <a:r>
              <a:rPr lang="en-US" sz="4000" dirty="0">
                <a:solidFill>
                  <a:schemeClr val="tx1">
                    <a:lumMod val="65000"/>
                    <a:lumOff val="35000"/>
                  </a:schemeClr>
                </a:solidFill>
                <a:effectLst>
                  <a:outerShdw blurRad="63500" algn="ctr" rotWithShape="0">
                    <a:prstClr val="black">
                      <a:alpha val="14000"/>
                    </a:prstClr>
                  </a:outerShdw>
                </a:effectLst>
              </a:rPr>
              <a:t>Introduction to SOAP, WSDL &amp; Web Services</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9400" y="2286000"/>
            <a:ext cx="3368229" cy="3191669"/>
          </a:xfrm>
        </p:spPr>
      </p:pic>
    </p:spTree>
    <p:extLst>
      <p:ext uri="{BB962C8B-B14F-4D97-AF65-F5344CB8AC3E}">
        <p14:creationId xmlns:p14="http://schemas.microsoft.com/office/powerpoint/2010/main" val="34548478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lstStyle/>
          <a:p>
            <a:pPr algn="l"/>
            <a:r>
              <a:rPr lang="en-US" dirty="0">
                <a:solidFill>
                  <a:schemeClr val="tx1">
                    <a:lumMod val="65000"/>
                    <a:lumOff val="35000"/>
                  </a:schemeClr>
                </a:solidFill>
                <a:effectLst>
                  <a:outerShdw blurRad="63500" algn="ctr" rotWithShape="0">
                    <a:prstClr val="black">
                      <a:alpha val="14000"/>
                    </a:prstClr>
                  </a:outerShdw>
                </a:effectLst>
              </a:rPr>
              <a:t>W</a:t>
            </a:r>
            <a:r>
              <a:rPr lang="en-US" dirty="0" smtClean="0">
                <a:solidFill>
                  <a:schemeClr val="tx1">
                    <a:lumMod val="65000"/>
                    <a:lumOff val="35000"/>
                  </a:schemeClr>
                </a:solidFill>
                <a:effectLst>
                  <a:outerShdw blurRad="63500" algn="ctr" rotWithShape="0">
                    <a:prstClr val="black">
                      <a:alpha val="14000"/>
                    </a:prstClr>
                  </a:outerShdw>
                </a:effectLst>
              </a:rPr>
              <a:t>hat is SOAP</a:t>
            </a:r>
            <a:endParaRPr lang="en-US" dirty="0"/>
          </a:p>
        </p:txBody>
      </p:sp>
      <p:sp>
        <p:nvSpPr>
          <p:cNvPr id="3" name="Content Placeholder 2"/>
          <p:cNvSpPr>
            <a:spLocks noGrp="1"/>
          </p:cNvSpPr>
          <p:nvPr>
            <p:ph idx="1"/>
          </p:nvPr>
        </p:nvSpPr>
        <p:spPr>
          <a:xfrm>
            <a:off x="381000" y="1143000"/>
            <a:ext cx="8534400" cy="4525963"/>
          </a:xfrm>
        </p:spPr>
        <p:txBody>
          <a:bodyPr>
            <a:normAutofit fontScale="92500" lnSpcReduction="10000"/>
          </a:bodyPr>
          <a:lstStyle/>
          <a:p>
            <a:pPr algn="just">
              <a:lnSpc>
                <a:spcPct val="80000"/>
              </a:lnSpc>
            </a:pPr>
            <a:r>
              <a:rPr lang="en-US" altLang="en-US" sz="2400" dirty="0"/>
              <a:t>RPC is an obvious and popular paradigm for implementing the client-server model of distributed computing. </a:t>
            </a:r>
          </a:p>
          <a:p>
            <a:pPr algn="just">
              <a:lnSpc>
                <a:spcPct val="80000"/>
              </a:lnSpc>
            </a:pPr>
            <a:endParaRPr lang="en-US" altLang="en-US" sz="2400" dirty="0"/>
          </a:p>
          <a:p>
            <a:pPr algn="just">
              <a:lnSpc>
                <a:spcPct val="80000"/>
              </a:lnSpc>
            </a:pPr>
            <a:r>
              <a:rPr lang="en-US" altLang="en-US" sz="2400" dirty="0"/>
              <a:t>Different RPC protocols exist today.</a:t>
            </a:r>
          </a:p>
          <a:p>
            <a:pPr lvl="1" algn="just">
              <a:lnSpc>
                <a:spcPct val="80000"/>
              </a:lnSpc>
            </a:pPr>
            <a:r>
              <a:rPr lang="en-US" altLang="en-US" sz="2400" dirty="0"/>
              <a:t>Sun RPC, DCE/RPC, DCOM, CORBA</a:t>
            </a:r>
          </a:p>
          <a:p>
            <a:pPr lvl="1" algn="just">
              <a:lnSpc>
                <a:spcPct val="80000"/>
              </a:lnSpc>
              <a:buFont typeface="Webdings" pitchFamily="18" charset="2"/>
              <a:buNone/>
            </a:pPr>
            <a:endParaRPr lang="en-US" altLang="en-US" sz="2400" dirty="0"/>
          </a:p>
          <a:p>
            <a:pPr algn="just">
              <a:lnSpc>
                <a:spcPct val="80000"/>
              </a:lnSpc>
            </a:pPr>
            <a:r>
              <a:rPr lang="en-US" altLang="en-US" sz="2400" dirty="0"/>
              <a:t>Most of the RPC protocols are too low level and certainly not compatible among each other (gateways are needed)</a:t>
            </a:r>
          </a:p>
          <a:p>
            <a:pPr algn="just">
              <a:lnSpc>
                <a:spcPct val="80000"/>
              </a:lnSpc>
            </a:pPr>
            <a:endParaRPr lang="en-US" altLang="en-US" sz="2400" dirty="0"/>
          </a:p>
          <a:p>
            <a:pPr algn="just">
              <a:lnSpc>
                <a:spcPct val="80000"/>
              </a:lnSpc>
            </a:pPr>
            <a:r>
              <a:rPr lang="en-US" altLang="en-US" sz="2400" dirty="0"/>
              <a:t>Since RPC represents a compatibility and security problems, firewalls and proxy servers will normally block this kind of traffic. </a:t>
            </a:r>
          </a:p>
          <a:p>
            <a:pPr algn="just">
              <a:lnSpc>
                <a:spcPct val="80000"/>
              </a:lnSpc>
            </a:pPr>
            <a:endParaRPr lang="en-US" altLang="en-US" sz="2400" dirty="0"/>
          </a:p>
          <a:p>
            <a:pPr algn="just">
              <a:lnSpc>
                <a:spcPct val="80000"/>
              </a:lnSpc>
            </a:pPr>
            <a:r>
              <a:rPr lang="en-US" altLang="en-US" sz="2400" dirty="0"/>
              <a:t>To address this problem, XML was used to define SOAP. </a:t>
            </a:r>
          </a:p>
          <a:p>
            <a:pPr algn="just">
              <a:lnSpc>
                <a:spcPct val="80000"/>
              </a:lnSpc>
            </a:pPr>
            <a:endParaRPr lang="en-US" altLang="en-US" sz="2400" dirty="0"/>
          </a:p>
          <a:p>
            <a:pPr algn="just">
              <a:lnSpc>
                <a:spcPct val="80000"/>
              </a:lnSpc>
            </a:pPr>
            <a:r>
              <a:rPr lang="en-US" altLang="en-US" sz="2400" dirty="0"/>
              <a:t>Soap  uses HTTP/SMTP as the communication protocol</a:t>
            </a:r>
          </a:p>
          <a:p>
            <a:pPr algn="just"/>
            <a:endParaRPr lang="en-US" sz="4000" dirty="0"/>
          </a:p>
        </p:txBody>
      </p:sp>
    </p:spTree>
    <p:extLst>
      <p:ext uri="{BB962C8B-B14F-4D97-AF65-F5344CB8AC3E}">
        <p14:creationId xmlns:p14="http://schemas.microsoft.com/office/powerpoint/2010/main" val="27411220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pPr algn="l"/>
            <a:r>
              <a:rPr lang="en-US" dirty="0" smtClean="0">
                <a:solidFill>
                  <a:schemeClr val="tx1">
                    <a:lumMod val="65000"/>
                    <a:lumOff val="35000"/>
                  </a:schemeClr>
                </a:solidFill>
                <a:effectLst>
                  <a:outerShdw blurRad="63500" algn="ctr" rotWithShape="0">
                    <a:prstClr val="black">
                      <a:alpha val="14000"/>
                    </a:prstClr>
                  </a:outerShdw>
                </a:effectLst>
              </a:rPr>
              <a:t>Why is </a:t>
            </a:r>
            <a:r>
              <a:rPr lang="en-US" dirty="0">
                <a:solidFill>
                  <a:schemeClr val="tx1">
                    <a:lumMod val="65000"/>
                    <a:lumOff val="35000"/>
                  </a:schemeClr>
                </a:solidFill>
                <a:effectLst>
                  <a:outerShdw blurRad="63500" algn="ctr" rotWithShape="0">
                    <a:prstClr val="black">
                      <a:alpha val="14000"/>
                    </a:prstClr>
                  </a:outerShdw>
                </a:effectLst>
              </a:rPr>
              <a:t>SOAP</a:t>
            </a:r>
            <a:endParaRPr lang="en-US" dirty="0"/>
          </a:p>
        </p:txBody>
      </p:sp>
      <p:sp>
        <p:nvSpPr>
          <p:cNvPr id="3" name="Content Placeholder 2"/>
          <p:cNvSpPr>
            <a:spLocks noGrp="1"/>
          </p:cNvSpPr>
          <p:nvPr>
            <p:ph idx="1"/>
          </p:nvPr>
        </p:nvSpPr>
        <p:spPr>
          <a:xfrm>
            <a:off x="228600" y="914400"/>
            <a:ext cx="8534400" cy="3657600"/>
          </a:xfrm>
        </p:spPr>
        <p:txBody>
          <a:bodyPr>
            <a:noAutofit/>
          </a:bodyPr>
          <a:lstStyle/>
          <a:p>
            <a:pPr algn="just">
              <a:lnSpc>
                <a:spcPct val="90000"/>
              </a:lnSpc>
            </a:pPr>
            <a:r>
              <a:rPr lang="en-US" altLang="en-US" sz="2400" dirty="0"/>
              <a:t>XML-based protocol for exchanging information between </a:t>
            </a:r>
            <a:r>
              <a:rPr lang="en-US" altLang="en-US" sz="2400" dirty="0" smtClean="0"/>
              <a:t>applications</a:t>
            </a:r>
            <a:endParaRPr lang="en-US" altLang="en-US" sz="2400" dirty="0"/>
          </a:p>
          <a:p>
            <a:pPr algn="just">
              <a:lnSpc>
                <a:spcPct val="90000"/>
              </a:lnSpc>
            </a:pPr>
            <a:r>
              <a:rPr lang="en-US" altLang="en-US" sz="2400" dirty="0" smtClean="0"/>
              <a:t>Primary </a:t>
            </a:r>
            <a:r>
              <a:rPr lang="en-US" altLang="en-US" sz="2400" dirty="0"/>
              <a:t>focus of SOAP is Remote Procedure Calls transported via </a:t>
            </a:r>
            <a:r>
              <a:rPr lang="en-US" altLang="en-US" sz="2400" dirty="0" smtClean="0"/>
              <a:t>HTTP</a:t>
            </a:r>
            <a:endParaRPr lang="en-US" altLang="en-US" sz="2400" dirty="0"/>
          </a:p>
          <a:p>
            <a:pPr algn="just">
              <a:lnSpc>
                <a:spcPct val="90000"/>
              </a:lnSpc>
            </a:pPr>
            <a:r>
              <a:rPr lang="en-US" altLang="en-US" sz="2400" dirty="0" smtClean="0"/>
              <a:t>Similar </a:t>
            </a:r>
            <a:r>
              <a:rPr lang="en-US" altLang="en-US" sz="2400" dirty="0"/>
              <a:t>to DCOM, CORBA, and Java RMI, the main difference is that SOAP messages are written entirely in </a:t>
            </a:r>
            <a:r>
              <a:rPr lang="en-US" altLang="en-US" sz="2400" dirty="0" smtClean="0"/>
              <a:t>XML</a:t>
            </a:r>
            <a:endParaRPr lang="en-US" altLang="en-US" sz="2400" dirty="0"/>
          </a:p>
          <a:p>
            <a:pPr algn="just">
              <a:lnSpc>
                <a:spcPct val="90000"/>
              </a:lnSpc>
            </a:pPr>
            <a:r>
              <a:rPr lang="en-US" altLang="en-US" sz="2400" dirty="0" smtClean="0"/>
              <a:t>SOAP </a:t>
            </a:r>
            <a:r>
              <a:rPr lang="en-US" altLang="en-US" sz="2400" dirty="0"/>
              <a:t>is therefore uniquely platform and language </a:t>
            </a:r>
            <a:r>
              <a:rPr lang="en-US" altLang="en-US" sz="2400" dirty="0" smtClean="0"/>
              <a:t>independent</a:t>
            </a:r>
            <a:endParaRPr lang="en-US" altLang="en-US" sz="2400" dirty="0"/>
          </a:p>
          <a:p>
            <a:pPr algn="just">
              <a:lnSpc>
                <a:spcPct val="90000"/>
              </a:lnSpc>
            </a:pPr>
            <a:r>
              <a:rPr lang="en-US" altLang="en-US" sz="2400" dirty="0" smtClean="0"/>
              <a:t>For </a:t>
            </a:r>
            <a:r>
              <a:rPr lang="en-US" altLang="en-US" sz="2400" dirty="0"/>
              <a:t>example, a SOAP Java client running on Linux or a Perl client running on Solaris can connect to a Microsoft SOAP server running on Windows </a:t>
            </a:r>
            <a:r>
              <a:rPr lang="en-US" altLang="en-US" sz="2400" dirty="0" smtClean="0"/>
              <a:t>2000</a:t>
            </a:r>
            <a:endParaRPr lang="en-US" altLang="en-US" sz="2400" dirty="0"/>
          </a:p>
          <a:p>
            <a:pPr algn="just"/>
            <a:endParaRPr lang="en-US" sz="2800" dirty="0" smtClean="0"/>
          </a:p>
          <a:p>
            <a:pPr algn="just"/>
            <a:endParaRPr lang="en-US" sz="2800" dirty="0"/>
          </a:p>
        </p:txBody>
      </p:sp>
      <p:pic>
        <p:nvPicPr>
          <p:cNvPr id="4" name="Picture 7" descr="So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092243" y="4724400"/>
            <a:ext cx="4152900" cy="2057400"/>
          </a:xfrm>
          <a:prstGeom prst="rect">
            <a:avLst/>
          </a:prstGeom>
        </p:spPr>
      </p:pic>
    </p:spTree>
    <p:extLst>
      <p:ext uri="{BB962C8B-B14F-4D97-AF65-F5344CB8AC3E}">
        <p14:creationId xmlns:p14="http://schemas.microsoft.com/office/powerpoint/2010/main" val="7512607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767" y="228600"/>
            <a:ext cx="8229600" cy="1143000"/>
          </a:xfrm>
        </p:spPr>
        <p:txBody>
          <a:bodyPr>
            <a:normAutofit/>
          </a:bodyPr>
          <a:lstStyle/>
          <a:p>
            <a:pPr algn="l"/>
            <a:r>
              <a:rPr lang="en-US" dirty="0">
                <a:solidFill>
                  <a:schemeClr val="tx1">
                    <a:lumMod val="65000"/>
                    <a:lumOff val="35000"/>
                  </a:schemeClr>
                </a:solidFill>
                <a:effectLst>
                  <a:outerShdw blurRad="63500" algn="ctr" rotWithShape="0">
                    <a:prstClr val="black">
                      <a:alpha val="14000"/>
                    </a:prstClr>
                  </a:outerShdw>
                </a:effectLst>
              </a:rPr>
              <a:t>How SOAP works</a:t>
            </a:r>
          </a:p>
        </p:txBody>
      </p:sp>
      <p:sp>
        <p:nvSpPr>
          <p:cNvPr id="3" name="Content Placeholder 2"/>
          <p:cNvSpPr>
            <a:spLocks noGrp="1"/>
          </p:cNvSpPr>
          <p:nvPr>
            <p:ph idx="1"/>
          </p:nvPr>
        </p:nvSpPr>
        <p:spPr>
          <a:xfrm>
            <a:off x="457200" y="1143000"/>
            <a:ext cx="8229600" cy="4525963"/>
          </a:xfrm>
        </p:spPr>
        <p:txBody>
          <a:bodyPr>
            <a:normAutofit lnSpcReduction="10000"/>
          </a:bodyPr>
          <a:lstStyle/>
          <a:p>
            <a:pPr>
              <a:lnSpc>
                <a:spcPct val="90000"/>
              </a:lnSpc>
            </a:pPr>
            <a:r>
              <a:rPr lang="en-US" altLang="en-US" sz="2400" dirty="0"/>
              <a:t>RPC Using HTTP</a:t>
            </a:r>
          </a:p>
          <a:p>
            <a:pPr>
              <a:lnSpc>
                <a:spcPct val="90000"/>
              </a:lnSpc>
            </a:pPr>
            <a:endParaRPr lang="en-US" altLang="en-US" sz="2800" dirty="0"/>
          </a:p>
          <a:p>
            <a:pPr lvl="1">
              <a:lnSpc>
                <a:spcPct val="90000"/>
              </a:lnSpc>
            </a:pPr>
            <a:r>
              <a:rPr lang="en-US" altLang="en-US" sz="2400" dirty="0"/>
              <a:t>At the Client </a:t>
            </a:r>
          </a:p>
          <a:p>
            <a:pPr lvl="2">
              <a:lnSpc>
                <a:spcPct val="90000"/>
              </a:lnSpc>
            </a:pPr>
            <a:r>
              <a:rPr lang="en-US" altLang="en-US" sz="2000" dirty="0"/>
              <a:t> Turns the RPC call into a XML document</a:t>
            </a:r>
          </a:p>
          <a:p>
            <a:pPr lvl="1">
              <a:lnSpc>
                <a:spcPct val="90000"/>
              </a:lnSpc>
            </a:pPr>
            <a:r>
              <a:rPr lang="en-US" altLang="en-US" sz="2400" dirty="0" smtClean="0"/>
              <a:t>Transports </a:t>
            </a:r>
            <a:r>
              <a:rPr lang="en-US" altLang="en-US" sz="2400" dirty="0"/>
              <a:t>the XML data over HTTP (or SMTP) (Client to Server)</a:t>
            </a:r>
          </a:p>
          <a:p>
            <a:pPr lvl="1">
              <a:lnSpc>
                <a:spcPct val="90000"/>
              </a:lnSpc>
            </a:pPr>
            <a:r>
              <a:rPr lang="en-US" altLang="en-US" sz="2400" dirty="0" smtClean="0"/>
              <a:t>At </a:t>
            </a:r>
            <a:r>
              <a:rPr lang="en-US" altLang="en-US" sz="2400" dirty="0"/>
              <a:t>the Server </a:t>
            </a:r>
          </a:p>
          <a:p>
            <a:pPr lvl="2">
              <a:lnSpc>
                <a:spcPct val="90000"/>
              </a:lnSpc>
            </a:pPr>
            <a:r>
              <a:rPr lang="en-US" altLang="en-US" sz="2000" dirty="0"/>
              <a:t>Turns the XML document into a procedure call</a:t>
            </a:r>
          </a:p>
          <a:p>
            <a:pPr lvl="2">
              <a:lnSpc>
                <a:spcPct val="90000"/>
              </a:lnSpc>
            </a:pPr>
            <a:r>
              <a:rPr lang="en-US" altLang="en-US" sz="2000" dirty="0"/>
              <a:t>Turns the procedure’s response into a XML document</a:t>
            </a:r>
          </a:p>
          <a:p>
            <a:pPr lvl="1">
              <a:lnSpc>
                <a:spcPct val="90000"/>
              </a:lnSpc>
            </a:pPr>
            <a:r>
              <a:rPr lang="en-US" altLang="en-US" sz="2400" dirty="0" smtClean="0"/>
              <a:t>Transports </a:t>
            </a:r>
            <a:r>
              <a:rPr lang="en-US" altLang="en-US" sz="2400" dirty="0"/>
              <a:t>the XML data over HTTP (or SMTP) (Server to Client)</a:t>
            </a:r>
          </a:p>
          <a:p>
            <a:pPr lvl="1">
              <a:lnSpc>
                <a:spcPct val="90000"/>
              </a:lnSpc>
            </a:pPr>
            <a:r>
              <a:rPr lang="en-US" altLang="en-US" sz="2400" dirty="0" smtClean="0"/>
              <a:t>At </a:t>
            </a:r>
            <a:r>
              <a:rPr lang="en-US" altLang="en-US" sz="2400" dirty="0"/>
              <a:t>the Client</a:t>
            </a:r>
          </a:p>
          <a:p>
            <a:pPr lvl="2">
              <a:lnSpc>
                <a:spcPct val="90000"/>
              </a:lnSpc>
            </a:pPr>
            <a:r>
              <a:rPr lang="en-US" altLang="en-US" sz="2000" dirty="0"/>
              <a:t>Turns the XML data into the response to the RPC</a:t>
            </a:r>
          </a:p>
          <a:p>
            <a:endParaRPr lang="en-US" sz="4000" dirty="0"/>
          </a:p>
        </p:txBody>
      </p:sp>
    </p:spTree>
    <p:extLst>
      <p:ext uri="{BB962C8B-B14F-4D97-AF65-F5344CB8AC3E}">
        <p14:creationId xmlns:p14="http://schemas.microsoft.com/office/powerpoint/2010/main" val="2654954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Structure of a SOAP Message</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533400" y="1295400"/>
            <a:ext cx="4572000" cy="4114800"/>
          </a:xfrm>
        </p:spPr>
        <p:txBody>
          <a:bodyPr>
            <a:noAutofit/>
          </a:bodyPr>
          <a:lstStyle/>
          <a:p>
            <a:pPr algn="just">
              <a:lnSpc>
                <a:spcPct val="90000"/>
              </a:lnSpc>
            </a:pPr>
            <a:r>
              <a:rPr lang="en-US" altLang="en-US" sz="2000" dirty="0"/>
              <a:t>SOAP is based on message exchanges.</a:t>
            </a:r>
          </a:p>
          <a:p>
            <a:pPr algn="just">
              <a:lnSpc>
                <a:spcPct val="90000"/>
              </a:lnSpc>
            </a:pPr>
            <a:endParaRPr lang="en-US" altLang="en-US" sz="2000" dirty="0"/>
          </a:p>
          <a:p>
            <a:pPr algn="just">
              <a:lnSpc>
                <a:spcPct val="90000"/>
              </a:lnSpc>
            </a:pPr>
            <a:r>
              <a:rPr lang="en-US" altLang="en-US" sz="2000" dirty="0"/>
              <a:t>Messages are seen as envelopes where the application encloses the data to be sent.</a:t>
            </a:r>
          </a:p>
          <a:p>
            <a:pPr algn="just">
              <a:lnSpc>
                <a:spcPct val="90000"/>
              </a:lnSpc>
            </a:pPr>
            <a:endParaRPr lang="en-US" altLang="en-US" sz="2000" dirty="0"/>
          </a:p>
          <a:p>
            <a:pPr algn="just">
              <a:lnSpc>
                <a:spcPct val="90000"/>
              </a:lnSpc>
            </a:pPr>
            <a:r>
              <a:rPr lang="en-US" altLang="en-US" sz="2000" dirty="0"/>
              <a:t>A message has two main parts; header and  body, which both can be divided into blocks.</a:t>
            </a:r>
          </a:p>
          <a:p>
            <a:pPr algn="just">
              <a:lnSpc>
                <a:spcPct val="90000"/>
              </a:lnSpc>
            </a:pPr>
            <a:endParaRPr lang="en-US" altLang="en-US" sz="2000" dirty="0"/>
          </a:p>
          <a:p>
            <a:pPr algn="just">
              <a:lnSpc>
                <a:spcPct val="90000"/>
              </a:lnSpc>
            </a:pPr>
            <a:r>
              <a:rPr lang="en-US" altLang="en-US" sz="2000" dirty="0"/>
              <a:t>SOAP does not specify what to do in the body, it only states that the header is optional and the body is mandatory.</a:t>
            </a:r>
          </a:p>
          <a:p>
            <a:pPr algn="just">
              <a:lnSpc>
                <a:spcPct val="90000"/>
              </a:lnSpc>
            </a:pPr>
            <a:endParaRPr lang="en-US" altLang="en-US" sz="2000" dirty="0"/>
          </a:p>
          <a:p>
            <a:pPr algn="just">
              <a:lnSpc>
                <a:spcPct val="90000"/>
              </a:lnSpc>
            </a:pPr>
            <a:r>
              <a:rPr lang="en-US" altLang="en-US" sz="2000" dirty="0"/>
              <a:t>The use of header and body, however, is implicit. The body is for application level data. The header is for infrastructure level data.</a:t>
            </a:r>
          </a:p>
          <a:p>
            <a:endParaRPr lang="en-US" sz="2800"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791200" y="1570986"/>
            <a:ext cx="2274888" cy="3313112"/>
          </a:xfrm>
          <a:prstGeom prst="rect">
            <a:avLst/>
          </a:prstGeom>
          <a:noFill/>
        </p:spPr>
      </p:pic>
    </p:spTree>
    <p:extLst>
      <p:ext uri="{BB962C8B-B14F-4D97-AF65-F5344CB8AC3E}">
        <p14:creationId xmlns:p14="http://schemas.microsoft.com/office/powerpoint/2010/main" val="5579355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US" dirty="0">
                <a:solidFill>
                  <a:schemeClr val="tx1">
                    <a:lumMod val="65000"/>
                    <a:lumOff val="35000"/>
                  </a:schemeClr>
                </a:solidFill>
                <a:effectLst>
                  <a:outerShdw blurRad="63500" algn="ctr" rotWithShape="0">
                    <a:prstClr val="black">
                      <a:alpha val="14000"/>
                    </a:prstClr>
                  </a:outerShdw>
                </a:effectLst>
              </a:rPr>
              <a:t>SOAP Header</a:t>
            </a:r>
            <a:endParaRPr lang="en-US"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a:lstStyle/>
          <a:p>
            <a:pPr algn="just">
              <a:lnSpc>
                <a:spcPct val="150000"/>
              </a:lnSpc>
              <a:defRPr/>
            </a:pPr>
            <a:r>
              <a:rPr lang="en-US" sz="2400" dirty="0"/>
              <a:t>The header is intended as a generic place holder for information that is not necessarily application dependent (the application may not even be aware that a header was attached to the message).</a:t>
            </a:r>
          </a:p>
          <a:p>
            <a:pPr algn="just">
              <a:lnSpc>
                <a:spcPct val="150000"/>
              </a:lnSpc>
              <a:defRPr/>
            </a:pPr>
            <a:r>
              <a:rPr lang="en-US" sz="2400" dirty="0" smtClean="0"/>
              <a:t>Typical </a:t>
            </a:r>
            <a:r>
              <a:rPr lang="en-US" sz="2400" dirty="0"/>
              <a:t>uses of the header are: coordination information, identifiers (for, e.g.: transactions) and security information (e.g.: certificates)</a:t>
            </a:r>
          </a:p>
          <a:p>
            <a:pPr>
              <a:lnSpc>
                <a:spcPct val="150000"/>
              </a:lnSpc>
            </a:pPr>
            <a:endParaRPr lang="en-US" sz="3600" dirty="0"/>
          </a:p>
        </p:txBody>
      </p:sp>
    </p:spTree>
    <p:extLst>
      <p:ext uri="{BB962C8B-B14F-4D97-AF65-F5344CB8AC3E}">
        <p14:creationId xmlns:p14="http://schemas.microsoft.com/office/powerpoint/2010/main" val="29452840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260" y="0"/>
            <a:ext cx="8229600" cy="1143000"/>
          </a:xfrm>
        </p:spPr>
        <p:txBody>
          <a:bodyPr/>
          <a:lstStyle/>
          <a:p>
            <a:pPr algn="l"/>
            <a:r>
              <a:rPr lang="en-US" altLang="en-US" dirty="0"/>
              <a:t>SOAP Body</a:t>
            </a:r>
            <a:endParaRPr lang="en-US" dirty="0"/>
          </a:p>
        </p:txBody>
      </p:sp>
      <p:sp>
        <p:nvSpPr>
          <p:cNvPr id="3" name="Content Placeholder 2"/>
          <p:cNvSpPr>
            <a:spLocks noGrp="1"/>
          </p:cNvSpPr>
          <p:nvPr>
            <p:ph idx="1"/>
          </p:nvPr>
        </p:nvSpPr>
        <p:spPr>
          <a:xfrm>
            <a:off x="381000" y="914400"/>
            <a:ext cx="8229600" cy="5211763"/>
          </a:xfrm>
        </p:spPr>
        <p:txBody>
          <a:bodyPr/>
          <a:lstStyle/>
          <a:p>
            <a:pPr algn="just"/>
            <a:r>
              <a:rPr lang="en-US" altLang="en-US" sz="2400" dirty="0"/>
              <a:t>The body is intended for the application specific data contained in the message.</a:t>
            </a:r>
          </a:p>
          <a:p>
            <a:pPr algn="just"/>
            <a:r>
              <a:rPr lang="en-US" altLang="en-US" sz="2400" dirty="0"/>
              <a:t>Also it may contain a Fault entry Section (for reporting errors in processing a SOAP message)</a:t>
            </a:r>
          </a:p>
          <a:p>
            <a:endParaRPr lang="en-US" sz="3600"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377620"/>
            <a:ext cx="5029200" cy="3177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23214432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8229600" cy="1143000"/>
          </a:xfrm>
        </p:spPr>
        <p:txBody>
          <a:bodyPr/>
          <a:lstStyle/>
          <a:p>
            <a:r>
              <a:rPr lang="en-US" dirty="0" smtClean="0"/>
              <a:t>Introduction to WSDL</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990600"/>
            <a:ext cx="4953000" cy="6018415"/>
          </a:xfrm>
        </p:spPr>
      </p:pic>
    </p:spTree>
    <p:extLst>
      <p:ext uri="{BB962C8B-B14F-4D97-AF65-F5344CB8AC3E}">
        <p14:creationId xmlns:p14="http://schemas.microsoft.com/office/powerpoint/2010/main" val="5165670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WSDL?</a:t>
            </a:r>
            <a:endParaRPr lang="en-US" dirty="0"/>
          </a:p>
        </p:txBody>
      </p:sp>
      <p:sp>
        <p:nvSpPr>
          <p:cNvPr id="3" name="Content Placeholder 2"/>
          <p:cNvSpPr>
            <a:spLocks noGrp="1"/>
          </p:cNvSpPr>
          <p:nvPr>
            <p:ph idx="1"/>
          </p:nvPr>
        </p:nvSpPr>
        <p:spPr/>
        <p:txBody>
          <a:bodyPr>
            <a:normAutofit/>
          </a:bodyPr>
          <a:lstStyle/>
          <a:p>
            <a:pPr>
              <a:lnSpc>
                <a:spcPct val="150000"/>
              </a:lnSpc>
            </a:pPr>
            <a:r>
              <a:rPr lang="en-US" altLang="en-US" sz="2400" dirty="0"/>
              <a:t>WSDL stands for Web Services Description Language </a:t>
            </a:r>
          </a:p>
          <a:p>
            <a:pPr>
              <a:lnSpc>
                <a:spcPct val="150000"/>
              </a:lnSpc>
            </a:pPr>
            <a:r>
              <a:rPr lang="en-US" altLang="en-US" sz="2400" dirty="0"/>
              <a:t> </a:t>
            </a:r>
            <a:r>
              <a:rPr lang="en-US" altLang="en-US" sz="2400" dirty="0" smtClean="0"/>
              <a:t>WSDL </a:t>
            </a:r>
            <a:r>
              <a:rPr lang="en-US" altLang="en-US" sz="2400" dirty="0"/>
              <a:t>is as XML document </a:t>
            </a:r>
          </a:p>
          <a:p>
            <a:pPr>
              <a:lnSpc>
                <a:spcPct val="150000"/>
              </a:lnSpc>
            </a:pPr>
            <a:r>
              <a:rPr lang="en-US" altLang="en-US" sz="2400" dirty="0" smtClean="0"/>
              <a:t>WSDL </a:t>
            </a:r>
            <a:r>
              <a:rPr lang="en-US" altLang="en-US" sz="2400" dirty="0"/>
              <a:t>is used to describe Web services </a:t>
            </a:r>
          </a:p>
          <a:p>
            <a:pPr lvl="1">
              <a:lnSpc>
                <a:spcPct val="150000"/>
              </a:lnSpc>
            </a:pPr>
            <a:r>
              <a:rPr lang="en-US" altLang="en-US" sz="2400" dirty="0"/>
              <a:t>It specifies the location of the service and the operations (or methods) the service exposes </a:t>
            </a:r>
          </a:p>
          <a:p>
            <a:pPr>
              <a:lnSpc>
                <a:spcPct val="150000"/>
              </a:lnSpc>
            </a:pPr>
            <a:r>
              <a:rPr lang="en-US" altLang="en-US" sz="2400" dirty="0" smtClean="0"/>
              <a:t>WSDL </a:t>
            </a:r>
            <a:r>
              <a:rPr lang="en-US" altLang="en-US" sz="2400" dirty="0"/>
              <a:t>is also used to locate Web services </a:t>
            </a:r>
          </a:p>
          <a:p>
            <a:pPr>
              <a:lnSpc>
                <a:spcPct val="150000"/>
              </a:lnSpc>
            </a:pPr>
            <a:endParaRPr lang="en-US" sz="3600" dirty="0"/>
          </a:p>
        </p:txBody>
      </p:sp>
    </p:spTree>
    <p:extLst>
      <p:ext uri="{BB962C8B-B14F-4D97-AF65-F5344CB8AC3E}">
        <p14:creationId xmlns:p14="http://schemas.microsoft.com/office/powerpoint/2010/main" val="6044376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084" y="266700"/>
            <a:ext cx="8229600" cy="1143000"/>
          </a:xfrm>
        </p:spPr>
        <p:txBody>
          <a:bodyPr/>
          <a:lstStyle/>
          <a:p>
            <a:r>
              <a:rPr lang="en-US" altLang="en-US" dirty="0"/>
              <a:t>The WSDL Document Structure </a:t>
            </a:r>
            <a:endParaRPr lang="en-US" dirty="0"/>
          </a:p>
        </p:txBody>
      </p:sp>
      <p:sp>
        <p:nvSpPr>
          <p:cNvPr id="3" name="Content Placeholder 2"/>
          <p:cNvSpPr>
            <a:spLocks noGrp="1"/>
          </p:cNvSpPr>
          <p:nvPr>
            <p:ph idx="1"/>
          </p:nvPr>
        </p:nvSpPr>
        <p:spPr>
          <a:xfrm>
            <a:off x="457200" y="1066800"/>
            <a:ext cx="8229600" cy="5059363"/>
          </a:xfrm>
        </p:spPr>
        <p:txBody>
          <a:bodyPr>
            <a:normAutofit/>
          </a:bodyPr>
          <a:lstStyle/>
          <a:p>
            <a:r>
              <a:rPr lang="en-US" altLang="en-US" sz="2400" dirty="0"/>
              <a:t>A WSDL document describes a web service using these major elements: </a:t>
            </a:r>
          </a:p>
          <a:p>
            <a:endParaRPr lang="en-US" altLang="en-US" sz="2400" dirty="0"/>
          </a:p>
          <a:p>
            <a:endParaRPr lang="en-US" sz="3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3400" y="1752600"/>
            <a:ext cx="81534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69401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Types </a:t>
            </a:r>
            <a:endParaRPr lang="en-US" dirty="0"/>
          </a:p>
        </p:txBody>
      </p:sp>
      <p:sp>
        <p:nvSpPr>
          <p:cNvPr id="3" name="Content Placeholder 2"/>
          <p:cNvSpPr>
            <a:spLocks noGrp="1"/>
          </p:cNvSpPr>
          <p:nvPr>
            <p:ph idx="1"/>
          </p:nvPr>
        </p:nvSpPr>
        <p:spPr/>
        <p:txBody>
          <a:bodyPr/>
          <a:lstStyle/>
          <a:p>
            <a:r>
              <a:rPr lang="en-US" altLang="en-US" sz="2400" dirty="0"/>
              <a:t>The </a:t>
            </a:r>
            <a:r>
              <a:rPr lang="en-US" altLang="en-US" sz="2400" b="1" dirty="0"/>
              <a:t>&lt;types&gt;</a:t>
            </a:r>
            <a:r>
              <a:rPr lang="en-US" altLang="en-US" sz="2400" dirty="0"/>
              <a:t> element defines the data types that are used by the web service. </a:t>
            </a:r>
          </a:p>
          <a:p>
            <a:endParaRPr lang="en-US" altLang="en-US" sz="2400" dirty="0"/>
          </a:p>
          <a:p>
            <a:r>
              <a:rPr lang="en-US" altLang="en-US" sz="2400" dirty="0"/>
              <a:t>For maximum platform neutrality, WSDL uses XML Schema syntax to define data types. </a:t>
            </a:r>
          </a:p>
          <a:p>
            <a:endParaRPr lang="en-US" sz="3600" dirty="0"/>
          </a:p>
        </p:txBody>
      </p:sp>
    </p:spTree>
    <p:extLst>
      <p:ext uri="{BB962C8B-B14F-4D97-AF65-F5344CB8AC3E}">
        <p14:creationId xmlns:p14="http://schemas.microsoft.com/office/powerpoint/2010/main" val="10234367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Messages </a:t>
            </a:r>
            <a:endParaRPr lang="en-US" dirty="0"/>
          </a:p>
        </p:txBody>
      </p:sp>
      <p:sp>
        <p:nvSpPr>
          <p:cNvPr id="3" name="Content Placeholder 2"/>
          <p:cNvSpPr>
            <a:spLocks noGrp="1"/>
          </p:cNvSpPr>
          <p:nvPr>
            <p:ph idx="1"/>
          </p:nvPr>
        </p:nvSpPr>
        <p:spPr/>
        <p:txBody>
          <a:bodyPr>
            <a:normAutofit lnSpcReduction="10000"/>
          </a:bodyPr>
          <a:lstStyle/>
          <a:p>
            <a:pPr algn="just"/>
            <a:r>
              <a:rPr lang="en-US" altLang="en-US" sz="2400" dirty="0"/>
              <a:t>The </a:t>
            </a:r>
            <a:r>
              <a:rPr lang="en-US" altLang="en-US" sz="2400" b="1" dirty="0"/>
              <a:t>&lt;message&gt;</a:t>
            </a:r>
            <a:r>
              <a:rPr lang="en-US" altLang="en-US" sz="2400" dirty="0"/>
              <a:t> element defines the data elements of an operation. </a:t>
            </a:r>
          </a:p>
          <a:p>
            <a:pPr algn="just"/>
            <a:endParaRPr lang="en-US" altLang="en-US" sz="2400" dirty="0"/>
          </a:p>
          <a:p>
            <a:pPr>
              <a:buFont typeface="Wingdings" pitchFamily="2" charset="2"/>
              <a:buNone/>
            </a:pPr>
            <a:r>
              <a:rPr lang="en-US" altLang="en-US" sz="2400" dirty="0"/>
              <a:t>	&lt;message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	&lt;/message&gt;</a:t>
            </a:r>
          </a:p>
          <a:p>
            <a:pPr algn="just">
              <a:buFont typeface="Wingdings" pitchFamily="2" charset="2"/>
              <a:buNone/>
            </a:pPr>
            <a:endParaRPr lang="en-US" altLang="en-US" sz="2400" dirty="0"/>
          </a:p>
          <a:p>
            <a:pPr algn="just"/>
            <a:r>
              <a:rPr lang="en-US" altLang="en-US" sz="2400" dirty="0"/>
              <a:t>Each message can consist of one or more parts. The parts can be compared to the parameters of a function call in a traditional programming language. </a:t>
            </a:r>
          </a:p>
          <a:p>
            <a:pPr algn="just"/>
            <a:endParaRPr lang="en-US" sz="3600" dirty="0"/>
          </a:p>
        </p:txBody>
      </p:sp>
    </p:spTree>
    <p:extLst>
      <p:ext uri="{BB962C8B-B14F-4D97-AF65-F5344CB8AC3E}">
        <p14:creationId xmlns:p14="http://schemas.microsoft.com/office/powerpoint/2010/main" val="41283210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WSDL Port</a:t>
            </a:r>
            <a:endParaRPr lang="en-US" dirty="0"/>
          </a:p>
        </p:txBody>
      </p:sp>
      <p:sp>
        <p:nvSpPr>
          <p:cNvPr id="3" name="Content Placeholder 2"/>
          <p:cNvSpPr>
            <a:spLocks noGrp="1"/>
          </p:cNvSpPr>
          <p:nvPr>
            <p:ph idx="1"/>
          </p:nvPr>
        </p:nvSpPr>
        <p:spPr>
          <a:xfrm>
            <a:off x="457200" y="1143000"/>
            <a:ext cx="8229600" cy="4983163"/>
          </a:xfrm>
        </p:spPr>
        <p:txBody>
          <a:bodyPr>
            <a:noAutofit/>
          </a:bodyPr>
          <a:lstStyle/>
          <a:p>
            <a:pPr algn="just">
              <a:lnSpc>
                <a:spcPct val="150000"/>
              </a:lnSpc>
            </a:pPr>
            <a:r>
              <a:rPr lang="en-US" altLang="en-US" sz="2800" dirty="0"/>
              <a:t>A WSDL port describes the interfaces (legal operations) exposed by a web service.</a:t>
            </a:r>
          </a:p>
          <a:p>
            <a:pPr algn="just">
              <a:lnSpc>
                <a:spcPct val="150000"/>
              </a:lnSpc>
            </a:pPr>
            <a:r>
              <a:rPr lang="en-US" altLang="en-US" sz="2800" dirty="0" smtClean="0"/>
              <a:t>It </a:t>
            </a:r>
            <a:r>
              <a:rPr lang="en-US" altLang="en-US" sz="2800" dirty="0"/>
              <a:t>defines </a:t>
            </a:r>
            <a:r>
              <a:rPr lang="en-US" altLang="en-US" sz="2800" b="1" dirty="0"/>
              <a:t>a web service</a:t>
            </a:r>
            <a:r>
              <a:rPr lang="en-US" altLang="en-US" sz="2800" dirty="0"/>
              <a:t>, the </a:t>
            </a:r>
            <a:r>
              <a:rPr lang="en-US" altLang="en-US" sz="2800" b="1" dirty="0"/>
              <a:t>operations</a:t>
            </a:r>
            <a:r>
              <a:rPr lang="en-US" altLang="en-US" sz="2800" dirty="0"/>
              <a:t> that can be performed, and the </a:t>
            </a:r>
            <a:r>
              <a:rPr lang="en-US" altLang="en-US" sz="2800" b="1" dirty="0"/>
              <a:t>messages</a:t>
            </a:r>
            <a:r>
              <a:rPr lang="en-US" altLang="en-US" sz="2800" dirty="0"/>
              <a:t> that are involved. </a:t>
            </a:r>
          </a:p>
          <a:p>
            <a:pPr>
              <a:lnSpc>
                <a:spcPct val="150000"/>
              </a:lnSpc>
            </a:pPr>
            <a:r>
              <a:rPr lang="en-US" altLang="en-US" sz="2800" dirty="0" smtClean="0"/>
              <a:t>Operation </a:t>
            </a:r>
            <a:r>
              <a:rPr lang="en-US" altLang="en-US" sz="2800" dirty="0"/>
              <a:t>Types </a:t>
            </a:r>
            <a:endParaRPr lang="en-US" altLang="en-US" sz="2800" dirty="0" smtClean="0"/>
          </a:p>
          <a:p>
            <a:pPr lvl="1">
              <a:lnSpc>
                <a:spcPct val="150000"/>
              </a:lnSpc>
            </a:pPr>
            <a:r>
              <a:rPr lang="en-US" altLang="en-US" sz="2000" dirty="0" smtClean="0"/>
              <a:t>One-way</a:t>
            </a:r>
          </a:p>
          <a:p>
            <a:pPr lvl="1">
              <a:lnSpc>
                <a:spcPct val="150000"/>
              </a:lnSpc>
            </a:pPr>
            <a:r>
              <a:rPr lang="en-US" altLang="en-US" sz="2000" dirty="0"/>
              <a:t>Request-response 	</a:t>
            </a:r>
          </a:p>
          <a:p>
            <a:pPr lvl="1">
              <a:lnSpc>
                <a:spcPct val="150000"/>
              </a:lnSpc>
            </a:pPr>
            <a:r>
              <a:rPr lang="en-US" altLang="en-US" sz="2000" dirty="0"/>
              <a:t>Solicit-response </a:t>
            </a:r>
          </a:p>
          <a:p>
            <a:pPr lvl="1">
              <a:lnSpc>
                <a:spcPct val="150000"/>
              </a:lnSpc>
            </a:pPr>
            <a:r>
              <a:rPr lang="en-US" altLang="en-US" sz="2000" dirty="0"/>
              <a:t>Notification </a:t>
            </a:r>
          </a:p>
        </p:txBody>
      </p:sp>
    </p:spTree>
    <p:extLst>
      <p:ext uri="{BB962C8B-B14F-4D97-AF65-F5344CB8AC3E}">
        <p14:creationId xmlns:p14="http://schemas.microsoft.com/office/powerpoint/2010/main" val="38781771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One-Way Operation </a:t>
            </a:r>
            <a:endParaRPr lang="en-US" dirty="0"/>
          </a:p>
        </p:txBody>
      </p:sp>
      <p:sp>
        <p:nvSpPr>
          <p:cNvPr id="3" name="Content Placeholder 2"/>
          <p:cNvSpPr>
            <a:spLocks noGrp="1"/>
          </p:cNvSpPr>
          <p:nvPr>
            <p:ph idx="1"/>
          </p:nvPr>
        </p:nvSpPr>
        <p:spPr/>
        <p:txBody>
          <a:bodyPr>
            <a:normAutofit/>
          </a:bodyPr>
          <a:lstStyle/>
          <a:p>
            <a:pPr>
              <a:buFont typeface="Wingdings" pitchFamily="2" charset="2"/>
              <a:buNone/>
            </a:pPr>
            <a:r>
              <a:rPr lang="en-US" altLang="en-US" sz="2400" dirty="0"/>
              <a:t>&lt;message name="</a:t>
            </a:r>
            <a:r>
              <a:rPr lang="en-US" altLang="en-US" sz="2400" dirty="0" err="1"/>
              <a:t>newTermValues</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buFont typeface="Wingdings" pitchFamily="2" charset="2"/>
              <a:buNone/>
            </a:pPr>
            <a:r>
              <a:rPr lang="en-US" altLang="en-US" sz="2400" dirty="0"/>
              <a:t>&lt;/message&gt;</a:t>
            </a:r>
          </a:p>
          <a:p>
            <a:pPr>
              <a:buFont typeface="Wingdings" pitchFamily="2" charset="2"/>
              <a:buNone/>
            </a:pPr>
            <a:endParaRPr lang="en-US" altLang="en-US" sz="2400" dirty="0"/>
          </a:p>
          <a:p>
            <a:pPr>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setTerm</a:t>
            </a:r>
            <a:r>
              <a:rPr lang="en-US" altLang="en-US" sz="2400" dirty="0"/>
              <a:t>"&gt;</a:t>
            </a:r>
            <a:br>
              <a:rPr lang="en-US" altLang="en-US" sz="2400" dirty="0"/>
            </a:br>
            <a:r>
              <a:rPr lang="en-US" altLang="en-US" sz="2400" dirty="0"/>
              <a:t>    &lt;input name="</a:t>
            </a:r>
            <a:r>
              <a:rPr lang="en-US" altLang="en-US" sz="2400" dirty="0" err="1"/>
              <a:t>newTerm</a:t>
            </a:r>
            <a:r>
              <a:rPr lang="en-US" altLang="en-US" sz="2400" dirty="0"/>
              <a:t>" message="</a:t>
            </a:r>
            <a:r>
              <a:rPr lang="en-US" altLang="en-US" sz="2400" dirty="0" err="1"/>
              <a:t>newTermValues</a:t>
            </a:r>
            <a:r>
              <a:rPr lang="en-US" altLang="en-US" sz="2400" dirty="0"/>
              <a:t>"/&gt;</a:t>
            </a:r>
            <a:br>
              <a:rPr lang="en-US" altLang="en-US" sz="2400" dirty="0"/>
            </a:br>
            <a:r>
              <a:rPr lang="en-US" altLang="en-US" sz="2400" dirty="0"/>
              <a:t>  &lt;/operation&gt;</a:t>
            </a:r>
          </a:p>
          <a:p>
            <a:pPr>
              <a:buFont typeface="Wingdings" pitchFamily="2" charset="2"/>
              <a:buNone/>
            </a:pPr>
            <a:r>
              <a:rPr lang="en-US" altLang="en-US" sz="2400" dirty="0"/>
              <a:t>&lt;/</a:t>
            </a:r>
            <a:r>
              <a:rPr lang="en-US" altLang="en-US" sz="2400" dirty="0" err="1"/>
              <a:t>portType</a:t>
            </a:r>
            <a:r>
              <a:rPr lang="en-US" altLang="en-US" sz="2400" dirty="0"/>
              <a:t> &gt; </a:t>
            </a:r>
          </a:p>
          <a:p>
            <a:endParaRPr lang="en-US" sz="4000" dirty="0"/>
          </a:p>
        </p:txBody>
      </p:sp>
    </p:spTree>
    <p:extLst>
      <p:ext uri="{BB962C8B-B14F-4D97-AF65-F5344CB8AC3E}">
        <p14:creationId xmlns:p14="http://schemas.microsoft.com/office/powerpoint/2010/main" val="40883937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Request-Response Operation </a:t>
            </a:r>
            <a:endParaRPr lang="en-US" dirty="0"/>
          </a:p>
        </p:txBody>
      </p:sp>
      <p:sp>
        <p:nvSpPr>
          <p:cNvPr id="3" name="Content Placeholder 2"/>
          <p:cNvSpPr>
            <a:spLocks noGrp="1"/>
          </p:cNvSpPr>
          <p:nvPr>
            <p:ph idx="1"/>
          </p:nvPr>
        </p:nvSpPr>
        <p:spPr/>
        <p:txBody>
          <a:bodyPr>
            <a:noAutofit/>
          </a:bodyPr>
          <a:lstStyle/>
          <a:p>
            <a:pPr>
              <a:lnSpc>
                <a:spcPct val="90000"/>
              </a:lnSpc>
              <a:buFont typeface="Wingdings" pitchFamily="2" charset="2"/>
              <a:buNone/>
            </a:pPr>
            <a:r>
              <a:rPr lang="en-US" altLang="en-US" sz="2400" dirty="0"/>
              <a:t>&lt;message name="</a:t>
            </a:r>
            <a:r>
              <a:rPr lang="en-US" altLang="en-US" sz="2400" dirty="0" err="1"/>
              <a:t>getTermRequest</a:t>
            </a:r>
            <a:r>
              <a:rPr lang="en-US" altLang="en-US" sz="2400" dirty="0"/>
              <a:t>"&gt;</a:t>
            </a:r>
            <a:br>
              <a:rPr lang="en-US" altLang="en-US" sz="2400" dirty="0"/>
            </a:br>
            <a:r>
              <a:rPr lang="en-US" altLang="en-US" sz="2400" dirty="0"/>
              <a:t>  &lt;part name="term" type="</a:t>
            </a:r>
            <a:r>
              <a:rPr lang="en-US" altLang="en-US" sz="2400" dirty="0" err="1"/>
              <a:t>xs:string</a:t>
            </a:r>
            <a:r>
              <a:rPr lang="en-US" altLang="en-US" sz="2400" dirty="0"/>
              <a:t>"/</a:t>
            </a:r>
          </a:p>
          <a:p>
            <a:pPr>
              <a:lnSpc>
                <a:spcPct val="90000"/>
              </a:lnSpc>
              <a:buFont typeface="Wingdings" pitchFamily="2" charset="2"/>
              <a:buNone/>
            </a:pPr>
            <a:r>
              <a:rPr lang="en-US" altLang="en-US" sz="2400" dirty="0"/>
              <a:t>&lt;/message&gt;</a:t>
            </a:r>
          </a:p>
          <a:p>
            <a:pPr>
              <a:lnSpc>
                <a:spcPct val="90000"/>
              </a:lnSpc>
              <a:buFont typeface="Wingdings" pitchFamily="2" charset="2"/>
              <a:buNone/>
            </a:pPr>
            <a:r>
              <a:rPr lang="en-US" altLang="en-US" sz="2400" dirty="0"/>
              <a:t>&lt;message name="</a:t>
            </a:r>
            <a:r>
              <a:rPr lang="en-US" altLang="en-US" sz="2400" dirty="0" err="1"/>
              <a:t>getTermResponse</a:t>
            </a:r>
            <a:r>
              <a:rPr lang="en-US" altLang="en-US" sz="2400" dirty="0"/>
              <a:t>"&gt;</a:t>
            </a:r>
            <a:br>
              <a:rPr lang="en-US" altLang="en-US" sz="2400" dirty="0"/>
            </a:br>
            <a:r>
              <a:rPr lang="en-US" altLang="en-US" sz="2400" dirty="0"/>
              <a:t>  &lt;part name="value" type="</a:t>
            </a:r>
            <a:r>
              <a:rPr lang="en-US" altLang="en-US" sz="2400" dirty="0" err="1"/>
              <a:t>xs:string</a:t>
            </a:r>
            <a:r>
              <a:rPr lang="en-US" altLang="en-US" sz="2400" dirty="0"/>
              <a:t>"/&gt;</a:t>
            </a:r>
          </a:p>
          <a:p>
            <a:pPr>
              <a:lnSpc>
                <a:spcPct val="90000"/>
              </a:lnSpc>
              <a:buFont typeface="Wingdings" pitchFamily="2" charset="2"/>
              <a:buNone/>
            </a:pPr>
            <a:r>
              <a:rPr lang="en-US" altLang="en-US" sz="2400" dirty="0"/>
              <a:t>&lt;/message&gt;</a:t>
            </a:r>
          </a:p>
          <a:p>
            <a:pPr>
              <a:lnSpc>
                <a:spcPct val="90000"/>
              </a:lnSpc>
              <a:buFont typeface="Wingdings" pitchFamily="2" charset="2"/>
              <a:buNone/>
            </a:pPr>
            <a:endParaRPr lang="en-US" altLang="en-US" sz="2400" dirty="0"/>
          </a:p>
          <a:p>
            <a:pPr>
              <a:lnSpc>
                <a:spcPct val="90000"/>
              </a:lnSpc>
              <a:buFont typeface="Wingdings" pitchFamily="2" charset="2"/>
              <a:buNone/>
            </a:pPr>
            <a:r>
              <a:rPr lang="en-US" altLang="en-US" sz="2400" dirty="0"/>
              <a:t>&lt;</a:t>
            </a:r>
            <a:r>
              <a:rPr lang="en-US" altLang="en-US" sz="2400" dirty="0" err="1"/>
              <a:t>portType</a:t>
            </a:r>
            <a:r>
              <a:rPr lang="en-US" altLang="en-US" sz="2400" dirty="0"/>
              <a:t> name="</a:t>
            </a:r>
            <a:r>
              <a:rPr lang="en-US" altLang="en-US" sz="2400" dirty="0" err="1"/>
              <a:t>glossaryTerms</a:t>
            </a:r>
            <a:r>
              <a:rPr lang="en-US" altLang="en-US" sz="2400" dirty="0"/>
              <a:t>"&gt;</a:t>
            </a:r>
            <a:br>
              <a:rPr lang="en-US" altLang="en-US" sz="2400" dirty="0"/>
            </a:br>
            <a:r>
              <a:rPr lang="en-US" altLang="en-US" sz="2400" dirty="0"/>
              <a:t>  &lt;operation name="</a:t>
            </a:r>
            <a:r>
              <a:rPr lang="en-US" altLang="en-US" sz="2400" dirty="0" err="1"/>
              <a:t>getTerm</a:t>
            </a:r>
            <a:r>
              <a:rPr lang="en-US" altLang="en-US" sz="2400" dirty="0"/>
              <a:t>"&gt;</a:t>
            </a:r>
            <a:br>
              <a:rPr lang="en-US" altLang="en-US" sz="2400" dirty="0"/>
            </a:br>
            <a:r>
              <a:rPr lang="en-US" altLang="en-US" sz="2400" dirty="0"/>
              <a:t>    &lt;input message="</a:t>
            </a:r>
            <a:r>
              <a:rPr lang="en-US" altLang="en-US" sz="2400" dirty="0" err="1"/>
              <a:t>getTermRequest</a:t>
            </a:r>
            <a:r>
              <a:rPr lang="en-US" altLang="en-US" sz="2400" dirty="0"/>
              <a:t>"/&gt;</a:t>
            </a:r>
            <a:br>
              <a:rPr lang="en-US" altLang="en-US" sz="2400" dirty="0"/>
            </a:br>
            <a:r>
              <a:rPr lang="en-US" altLang="en-US" sz="2400" dirty="0"/>
              <a:t>    &lt;output message="</a:t>
            </a:r>
            <a:r>
              <a:rPr lang="en-US" altLang="en-US" sz="2400" dirty="0" err="1"/>
              <a:t>getTermResponse</a:t>
            </a:r>
            <a:r>
              <a:rPr lang="en-US" altLang="en-US" sz="2400" dirty="0"/>
              <a:t>"/&gt;</a:t>
            </a:r>
            <a:br>
              <a:rPr lang="en-US" altLang="en-US" sz="2400" dirty="0"/>
            </a:br>
            <a:r>
              <a:rPr lang="en-US" altLang="en-US" sz="2400" dirty="0"/>
              <a:t>  &lt;/operation&gt;</a:t>
            </a:r>
          </a:p>
          <a:p>
            <a:pPr>
              <a:lnSpc>
                <a:spcPct val="90000"/>
              </a:lnSpc>
              <a:buFont typeface="Wingdings" pitchFamily="2" charset="2"/>
              <a:buNone/>
            </a:pPr>
            <a:r>
              <a:rPr lang="en-US" altLang="en-US" sz="2400" dirty="0"/>
              <a:t>&lt;/</a:t>
            </a:r>
            <a:r>
              <a:rPr lang="en-US" altLang="en-US" sz="2400" dirty="0" err="1"/>
              <a:t>portType</a:t>
            </a:r>
            <a:r>
              <a:rPr lang="en-US" altLang="en-US" sz="2400" dirty="0"/>
              <a:t>&gt; </a:t>
            </a:r>
          </a:p>
          <a:p>
            <a:endParaRPr lang="en-US" sz="4000" dirty="0"/>
          </a:p>
        </p:txBody>
      </p:sp>
    </p:spTree>
    <p:extLst>
      <p:ext uri="{BB962C8B-B14F-4D97-AF65-F5344CB8AC3E}">
        <p14:creationId xmlns:p14="http://schemas.microsoft.com/office/powerpoint/2010/main" val="40416518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ltLang="en-US" dirty="0"/>
              <a:t>WSDL Binding</a:t>
            </a:r>
            <a:endParaRPr lang="en-US" dirty="0"/>
          </a:p>
        </p:txBody>
      </p:sp>
      <p:sp>
        <p:nvSpPr>
          <p:cNvPr id="3" name="Content Placeholder 2"/>
          <p:cNvSpPr>
            <a:spLocks noGrp="1"/>
          </p:cNvSpPr>
          <p:nvPr>
            <p:ph idx="1"/>
          </p:nvPr>
        </p:nvSpPr>
        <p:spPr>
          <a:xfrm>
            <a:off x="457200" y="1219200"/>
            <a:ext cx="8534400" cy="4906963"/>
          </a:xfrm>
        </p:spPr>
        <p:txBody>
          <a:bodyPr>
            <a:normAutofit lnSpcReduction="10000"/>
          </a:bodyPr>
          <a:lstStyle/>
          <a:p>
            <a:pPr algn="just">
              <a:lnSpc>
                <a:spcPct val="90000"/>
              </a:lnSpc>
            </a:pPr>
            <a:r>
              <a:rPr lang="en-US" altLang="en-US" sz="2800" dirty="0"/>
              <a:t>WSDL bindings defines the message format and protocol details for a web service.</a:t>
            </a:r>
          </a:p>
          <a:p>
            <a:pPr algn="just">
              <a:lnSpc>
                <a:spcPct val="90000"/>
              </a:lnSpc>
            </a:pPr>
            <a:r>
              <a:rPr lang="en-US" altLang="en-US" sz="2800" dirty="0" smtClean="0"/>
              <a:t>The</a:t>
            </a:r>
            <a:r>
              <a:rPr lang="en-US" altLang="en-US" sz="2800" b="1" dirty="0" smtClean="0"/>
              <a:t> </a:t>
            </a:r>
            <a:r>
              <a:rPr lang="en-US" altLang="en-US" sz="2800" b="1" dirty="0"/>
              <a:t>binding</a:t>
            </a:r>
            <a:r>
              <a:rPr lang="en-US" altLang="en-US" sz="2800" dirty="0"/>
              <a:t> element has two attributes - name and type.</a:t>
            </a:r>
          </a:p>
          <a:p>
            <a:pPr lvl="1" algn="just">
              <a:lnSpc>
                <a:spcPct val="90000"/>
              </a:lnSpc>
            </a:pPr>
            <a:r>
              <a:rPr lang="en-US" altLang="en-US" sz="2400" dirty="0"/>
              <a:t>The name attribute defines the name of the binding, and the type attribute points to the port for the binding.</a:t>
            </a:r>
          </a:p>
          <a:p>
            <a:pPr algn="just">
              <a:lnSpc>
                <a:spcPct val="90000"/>
              </a:lnSpc>
            </a:pPr>
            <a:r>
              <a:rPr lang="en-US" altLang="en-US" sz="2800" dirty="0" smtClean="0"/>
              <a:t>The </a:t>
            </a:r>
            <a:r>
              <a:rPr lang="en-US" altLang="en-US" sz="2800" b="1" dirty="0" err="1"/>
              <a:t>soap:binding</a:t>
            </a:r>
            <a:r>
              <a:rPr lang="en-US" altLang="en-US" sz="2800" dirty="0"/>
              <a:t> element has two attributes - style and transport</a:t>
            </a:r>
            <a:r>
              <a:rPr lang="en-US" altLang="en-US" sz="2800" dirty="0" smtClean="0"/>
              <a:t>.</a:t>
            </a:r>
          </a:p>
          <a:p>
            <a:pPr algn="just">
              <a:lnSpc>
                <a:spcPct val="90000"/>
              </a:lnSpc>
            </a:pPr>
            <a:r>
              <a:rPr lang="en-US" altLang="en-US" sz="2800" dirty="0" smtClean="0"/>
              <a:t>The</a:t>
            </a:r>
            <a:r>
              <a:rPr lang="en-US" altLang="en-US" sz="2800" b="1" dirty="0" smtClean="0"/>
              <a:t> </a:t>
            </a:r>
            <a:r>
              <a:rPr lang="en-US" altLang="en-US" sz="2800" b="1" dirty="0"/>
              <a:t>operation</a:t>
            </a:r>
            <a:r>
              <a:rPr lang="en-US" altLang="en-US" sz="2800" dirty="0"/>
              <a:t> element defines each operation that the port exposes</a:t>
            </a:r>
          </a:p>
          <a:p>
            <a:pPr lvl="1" algn="just">
              <a:lnSpc>
                <a:spcPct val="90000"/>
              </a:lnSpc>
            </a:pPr>
            <a:r>
              <a:rPr lang="en-US" altLang="en-US" sz="2400" dirty="0"/>
              <a:t>For each operation the corresponding SOAP action has to be defined. You must also specify how the input and output are encoded. . </a:t>
            </a:r>
          </a:p>
          <a:p>
            <a:pPr algn="just"/>
            <a:endParaRPr lang="en-US" sz="4000" dirty="0"/>
          </a:p>
        </p:txBody>
      </p:sp>
    </p:spTree>
    <p:extLst>
      <p:ext uri="{BB962C8B-B14F-4D97-AF65-F5344CB8AC3E}">
        <p14:creationId xmlns:p14="http://schemas.microsoft.com/office/powerpoint/2010/main" val="22877403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r>
              <a:rPr lang="en-US" dirty="0" smtClean="0">
                <a:solidFill>
                  <a:schemeClr val="accent1">
                    <a:satMod val="150000"/>
                  </a:schemeClr>
                </a:solidFill>
              </a:rPr>
              <a:t>Question &amp; Answer</a:t>
            </a:r>
            <a:endParaRPr lang="en-US" dirty="0">
              <a:solidFill>
                <a:schemeClr val="accent1">
                  <a:satMod val="150000"/>
                </a:schemeClr>
              </a:solidFill>
            </a:endParaRPr>
          </a:p>
        </p:txBody>
      </p:sp>
      <p:sp>
        <p:nvSpPr>
          <p:cNvPr id="5" name="Content Placeholder 4"/>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DEE3DFC5-0CA4-4A65-AEFD-CDA23B21B1A7}" type="slidenum">
              <a:rPr lang="en-US"/>
              <a:pPr>
                <a:defRPr/>
              </a:pPr>
              <a:t>40</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284</TotalTime>
  <Words>1711</Words>
  <Application>Microsoft Office PowerPoint</Application>
  <PresentationFormat>On-screen Show (4:3)</PresentationFormat>
  <Paragraphs>320</Paragraphs>
  <Slides>40</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Arial Unicode MS</vt:lpstr>
      <vt:lpstr>Arial</vt:lpstr>
      <vt:lpstr>Calibri</vt:lpstr>
      <vt:lpstr>Comic Sans MS</vt:lpstr>
      <vt:lpstr>Mangal</vt:lpstr>
      <vt:lpstr>Symbol</vt:lpstr>
      <vt:lpstr>Tahoma</vt:lpstr>
      <vt:lpstr>Times New Roman</vt:lpstr>
      <vt:lpstr>Trebuchet MS</vt:lpstr>
      <vt:lpstr>Webdings</vt:lpstr>
      <vt:lpstr>Wingdings</vt:lpstr>
      <vt:lpstr>HNDIT</vt:lpstr>
      <vt:lpstr>HNDIT2411 Enterprise Architecture</vt:lpstr>
      <vt:lpstr>Introduction to Multi-Tiered Architecture</vt:lpstr>
      <vt:lpstr>Enterprise Computing </vt:lpstr>
      <vt:lpstr>Enterprise Computing </vt:lpstr>
      <vt:lpstr>Enterprise Applications</vt:lpstr>
      <vt:lpstr>Multi-tiered Architecture</vt:lpstr>
      <vt:lpstr>Enterprise Applications </vt:lpstr>
      <vt:lpstr>Enterprise Applications </vt:lpstr>
      <vt:lpstr>Java Technology</vt:lpstr>
      <vt:lpstr>Java Technology</vt:lpstr>
      <vt:lpstr>Java Technology</vt:lpstr>
      <vt:lpstr>Java Technology</vt:lpstr>
      <vt:lpstr>Multi-tiered Applications</vt:lpstr>
      <vt:lpstr>Multi-tiered Applications</vt:lpstr>
      <vt:lpstr>Distributed Multitiered Applications</vt:lpstr>
      <vt:lpstr>Distributed Multitiered Applications</vt:lpstr>
      <vt:lpstr>Security in Multitiered Applications</vt:lpstr>
      <vt:lpstr>Java EE components</vt:lpstr>
      <vt:lpstr>Java EE components</vt:lpstr>
      <vt:lpstr>Components defined in the Java EE Specification</vt:lpstr>
      <vt:lpstr>Java EE Clients</vt:lpstr>
      <vt:lpstr>Java EE Application Model + API s</vt:lpstr>
      <vt:lpstr>Application Server</vt:lpstr>
      <vt:lpstr>Introduction to SOAP, WSDL &amp; Web Services</vt:lpstr>
      <vt:lpstr>What is SOAP</vt:lpstr>
      <vt:lpstr>Why is SOAP</vt:lpstr>
      <vt:lpstr>How SOAP works</vt:lpstr>
      <vt:lpstr>Structure of a SOAP Message</vt:lpstr>
      <vt:lpstr>SOAP Header</vt:lpstr>
      <vt:lpstr>SOAP Body</vt:lpstr>
      <vt:lpstr>Introduction to WSDL</vt:lpstr>
      <vt:lpstr>What is WSDL?</vt:lpstr>
      <vt:lpstr>The WSDL Document Structure </vt:lpstr>
      <vt:lpstr>WSDL Types </vt:lpstr>
      <vt:lpstr>WSDL Messages </vt:lpstr>
      <vt:lpstr>WSDL Port</vt:lpstr>
      <vt:lpstr>One-Way Operation </vt:lpstr>
      <vt:lpstr>Request-Response Operation </vt:lpstr>
      <vt:lpstr>WSDL Binding</vt:lpstr>
      <vt:lpstr>Question &amp; Answer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IT4101 Multi-tiered application development</dc:title>
  <dc:creator>User</dc:creator>
  <cp:lastModifiedBy>Student</cp:lastModifiedBy>
  <cp:revision>20</cp:revision>
  <dcterms:created xsi:type="dcterms:W3CDTF">2012-08-01T05:29:21Z</dcterms:created>
  <dcterms:modified xsi:type="dcterms:W3CDTF">2021-08-19T09:51:31Z</dcterms:modified>
</cp:coreProperties>
</file>