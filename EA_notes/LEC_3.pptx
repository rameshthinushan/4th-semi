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6" r:id="rId2"/>
    <p:sldId id="341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FC9A3-AF3C-4CC1-8FAA-58AD05255FE4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43400"/>
            <a:ext cx="7406640" cy="1752600"/>
          </a:xfrm>
        </p:spPr>
        <p:txBody>
          <a:bodyPr/>
          <a:lstStyle/>
          <a:p>
            <a:pPr algn="r"/>
            <a:r>
              <a:rPr lang="en-US" dirty="0" smtClean="0"/>
              <a:t>Lecture 3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0600"/>
            <a:ext cx="9144000" cy="1472184"/>
          </a:xfrm>
        </p:spPr>
        <p:txBody>
          <a:bodyPr>
            <a:normAutofit/>
          </a:bodyPr>
          <a:lstStyle/>
          <a:p>
            <a:r>
              <a:rPr lang="en-US" b="1" dirty="0"/>
              <a:t>HNDIT2411: Enterprise Architecture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1524000" y="251460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with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concurrency and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multithreading</a:t>
            </a:r>
            <a:endParaRPr lang="en-US" sz="5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4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772400" cy="114300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16963" cy="5562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Operating systems on single-processor computers create the illusion of concurrent execution by rapidly switching between activities, but on such computers </a:t>
            </a:r>
            <a:r>
              <a:rPr lang="en-US" sz="2500" dirty="0" smtClean="0">
                <a:solidFill>
                  <a:srgbClr val="FF0000"/>
                </a:solidFill>
                <a:latin typeface="Times New Roman" pitchFamily="18" charset="0"/>
              </a:rPr>
              <a:t>only a single instruction can execute at once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Java makes concurrency available to you through the language and APIs.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You specify that an application contains separate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threads of execution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each thread has its own method-call stack and program counter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can execute concurrently with other threads while sharing application wide resources such as memory with them.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This capability is called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multithreading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29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What is concurrency?</a:t>
            </a:r>
            <a:br>
              <a:rPr lang="en-US" sz="4000" b="1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6" y="1676400"/>
            <a:ext cx="8458200" cy="41148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Concurrency is the ability to run several programs or several parts of a program in parallel. If a time consuming task can be performed asynchronously or in parallel, this improve the throughput and the interactivity of the program. 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A modern computer has several CPU's or several cores within one CPU. The ability to leverage these multi-cores can be the key for a successful high-volume application. 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637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/>
          <p:cNvSpPr txBox="1"/>
          <p:nvPr/>
        </p:nvSpPr>
        <p:spPr>
          <a:xfrm>
            <a:off x="1102519" y="673100"/>
            <a:ext cx="2979983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defRPr/>
            </a:pPr>
            <a:r>
              <a:rPr lang="en-CA" sz="4400" dirty="0">
                <a:solidFill>
                  <a:srgbClr val="000000"/>
                </a:solidFill>
                <a:latin typeface="Arial"/>
                <a:cs typeface="Arial"/>
              </a:rPr>
              <a:t>Multitasking</a:t>
            </a:r>
          </a:p>
          <a:p>
            <a:pPr>
              <a:lnSpc>
                <a:spcPts val="2990"/>
              </a:lnSpc>
              <a:defRPr/>
            </a:pPr>
            <a:endParaRPr lang="en-CA" sz="4400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793875" y="1625763"/>
            <a:ext cx="2082800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Process-based</a:t>
            </a:r>
          </a:p>
          <a:p>
            <a:pPr>
              <a:lnSpc>
                <a:spcPts val="2530"/>
              </a:lnSpc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2209800" y="2565400"/>
            <a:ext cx="6269038" cy="884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Allows your computer to run two or more programs</a:t>
            </a:r>
            <a:r>
              <a:rPr lang="en-CA" sz="211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112" dirty="0">
                <a:solidFill>
                  <a:srgbClr val="000000"/>
                </a:solidFill>
                <a:latin typeface="Times New Roman"/>
              </a:rPr>
            </a:b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concurrently.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  <p:sp>
        <p:nvSpPr>
          <p:cNvPr id="5127" name="TextBox 6"/>
          <p:cNvSpPr txBox="1">
            <a:spLocks noChangeArrowheads="1"/>
          </p:cNvSpPr>
          <p:nvPr/>
        </p:nvSpPr>
        <p:spPr bwMode="auto">
          <a:xfrm>
            <a:off x="2514600" y="3200400"/>
            <a:ext cx="7543800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CA" sz="1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Ex: Running Java compiler and the text editor at the same</a:t>
            </a:r>
            <a:r>
              <a:rPr lang="en-CA" sz="1800" dirty="0">
                <a:solidFill>
                  <a:srgbClr val="000000"/>
                </a:solidFill>
              </a:rPr>
              <a:t/>
            </a:r>
            <a:br>
              <a:rPr lang="en-CA" sz="1800" dirty="0">
                <a:solidFill>
                  <a:srgbClr val="000000"/>
                </a:solidFill>
              </a:rPr>
            </a:br>
            <a:r>
              <a:rPr lang="en-CA" sz="1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time</a:t>
            </a:r>
          </a:p>
          <a:p>
            <a:pPr>
              <a:lnSpc>
                <a:spcPts val="2000"/>
              </a:lnSpc>
            </a:pPr>
            <a:endParaRPr lang="en-CA" sz="1800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2209800" y="3746500"/>
            <a:ext cx="4070350" cy="615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Each process has own variables</a:t>
            </a:r>
          </a:p>
          <a:p>
            <a:pPr>
              <a:lnSpc>
                <a:spcPts val="2415"/>
              </a:lnSpc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917700" y="4102100"/>
            <a:ext cx="1958975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Thread-based</a:t>
            </a:r>
          </a:p>
          <a:p>
            <a:pPr>
              <a:lnSpc>
                <a:spcPts val="2530"/>
              </a:lnSpc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2209800" y="4483100"/>
            <a:ext cx="5381625" cy="8461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00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Single program performs two or more tasks</a:t>
            </a:r>
            <a:r>
              <a:rPr lang="en-CA" sz="211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112" dirty="0">
                <a:solidFill>
                  <a:srgbClr val="000000"/>
                </a:solidFill>
                <a:latin typeface="Times New Roman"/>
              </a:rPr>
            </a:b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simultaneously.</a:t>
            </a:r>
          </a:p>
          <a:p>
            <a:pPr>
              <a:lnSpc>
                <a:spcPts val="2200"/>
              </a:lnSpc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  <p:sp>
        <p:nvSpPr>
          <p:cNvPr id="5131" name="TextBox 10"/>
          <p:cNvSpPr txBox="1">
            <a:spLocks noChangeArrowheads="1"/>
          </p:cNvSpPr>
          <p:nvPr/>
        </p:nvSpPr>
        <p:spPr bwMode="auto">
          <a:xfrm>
            <a:off x="2514600" y="5118100"/>
            <a:ext cx="7543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1900"/>
              </a:lnSpc>
            </a:pPr>
            <a:r>
              <a:rPr lang="en-CA" sz="18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Ex: Text editor formatting text and at the same time it is</a:t>
            </a:r>
            <a:r>
              <a:rPr lang="en-CA" sz="1800">
                <a:solidFill>
                  <a:srgbClr val="000000"/>
                </a:solidFill>
              </a:rPr>
              <a:t/>
            </a:r>
            <a:br>
              <a:rPr lang="en-CA" sz="1800">
                <a:solidFill>
                  <a:srgbClr val="000000"/>
                </a:solidFill>
              </a:rPr>
            </a:br>
            <a:r>
              <a:rPr lang="en-CA" sz="18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printing</a:t>
            </a:r>
          </a:p>
          <a:p>
            <a:pPr>
              <a:lnSpc>
                <a:spcPts val="1900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2209800" y="5651500"/>
            <a:ext cx="3725863" cy="615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Threads share the same data</a:t>
            </a:r>
          </a:p>
          <a:p>
            <a:pPr>
              <a:lnSpc>
                <a:spcPts val="2415"/>
              </a:lnSpc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1574800" y="6019800"/>
            <a:ext cx="6680200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Process-based multitasking is not under the</a:t>
            </a:r>
          </a:p>
          <a:p>
            <a:pPr>
              <a:lnSpc>
                <a:spcPts val="299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1574800" y="6400800"/>
            <a:ext cx="8483600" cy="469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760"/>
              </a:lnSpc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control of Java</a:t>
            </a:r>
          </a:p>
          <a:p>
            <a:pPr>
              <a:lnSpc>
                <a:spcPts val="276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8978900" y="6743700"/>
            <a:ext cx="2540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150"/>
              </a:lnSpc>
              <a:defRPr/>
            </a:pPr>
            <a:r>
              <a:rPr lang="en-CA" sz="1008">
                <a:solidFill>
                  <a:srgbClr val="000000"/>
                </a:solidFill>
                <a:latin typeface="Arial"/>
                <a:cs typeface="Arial"/>
              </a:rPr>
              <a:t>3</a:t>
            </a:r>
          </a:p>
          <a:p>
            <a:pPr>
              <a:lnSpc>
                <a:spcPts val="1150"/>
              </a:lnSpc>
              <a:defRPr/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427406" y="231208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b="1" dirty="0">
                <a:solidFill>
                  <a:srgbClr val="320065"/>
                </a:solidFill>
                <a:latin typeface="Arial Bold"/>
                <a:cs typeface="Arial Bold"/>
              </a:rPr>
              <a:t>Multitasking</a:t>
            </a:r>
            <a:br>
              <a:rPr lang="en-CA" b="1" dirty="0">
                <a:solidFill>
                  <a:srgbClr val="320065"/>
                </a:solidFill>
                <a:latin typeface="Arial Bold"/>
                <a:cs typeface="Arial Bold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01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8107363" cy="4572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i="1" dirty="0" smtClean="0"/>
              <a:t>process</a:t>
            </a:r>
            <a:r>
              <a:rPr lang="en-US" dirty="0" smtClean="0"/>
              <a:t> runs independently and isolated of other processes.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 It cannot directly access shared data in other processes. The resources of the process, e.g. memory and CPU time, are allocated to it via the operating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8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772400" cy="1143000"/>
          </a:xfrm>
        </p:spPr>
        <p:txBody>
          <a:bodyPr/>
          <a:lstStyle/>
          <a:p>
            <a:r>
              <a:rPr lang="en-US" dirty="0" smtClean="0"/>
              <a:t>Thread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143000"/>
            <a:ext cx="7772400" cy="4953000"/>
          </a:xfrm>
        </p:spPr>
        <p:txBody>
          <a:bodyPr/>
          <a:lstStyle/>
          <a:p>
            <a:pPr algn="just"/>
            <a:r>
              <a:rPr lang="en-US" dirty="0" smtClean="0"/>
              <a:t>A </a:t>
            </a:r>
            <a:r>
              <a:rPr lang="en-US" i="1" dirty="0" smtClean="0"/>
              <a:t>thread</a:t>
            </a:r>
            <a:r>
              <a:rPr lang="en-US" dirty="0" smtClean="0"/>
              <a:t> is a so called lightweight process.</a:t>
            </a:r>
          </a:p>
          <a:p>
            <a:pPr algn="just"/>
            <a:r>
              <a:rPr lang="en-US" dirty="0" smtClean="0"/>
              <a:t> It has its own call stack, but can access shared data of other threads in the same process.</a:t>
            </a:r>
          </a:p>
          <a:p>
            <a:pPr algn="just"/>
            <a:r>
              <a:rPr lang="en-US" dirty="0" smtClean="0"/>
              <a:t> Every thread has its own memory cache. If a thread reads shared data it stores this data in its own memory cache. </a:t>
            </a:r>
          </a:p>
          <a:p>
            <a:pPr algn="just"/>
            <a:r>
              <a:rPr lang="en-US" dirty="0" smtClean="0"/>
              <a:t>A thread can re-read the shared data.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53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990600" y="533400"/>
            <a:ext cx="5443798" cy="11541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dirty="0">
                <a:solidFill>
                  <a:srgbClr val="320065"/>
                </a:solidFill>
                <a:latin typeface="Arial Bold"/>
                <a:cs typeface="Arial Bold"/>
              </a:rPr>
              <a:t>Processes vs. Threads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914400" y="2514600"/>
            <a:ext cx="6588125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Because threads share address space, it is</a:t>
            </a:r>
          </a:p>
          <a:p>
            <a:pPr>
              <a:lnSpc>
                <a:spcPts val="299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219200" y="2819400"/>
            <a:ext cx="7170738" cy="1192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100"/>
              </a:lnSpc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 relatively simple to communicate between them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(e.g. shared objects)</a:t>
            </a:r>
          </a:p>
          <a:p>
            <a:pPr>
              <a:lnSpc>
                <a:spcPts val="310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2133600" y="3733800"/>
            <a:ext cx="4078288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This can be a danger as well…</a:t>
            </a:r>
          </a:p>
          <a:p>
            <a:pPr>
              <a:lnSpc>
                <a:spcPts val="2530"/>
              </a:lnSpc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914400" y="4038600"/>
            <a:ext cx="7874000" cy="119221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lnSpc>
                <a:spcPts val="310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Processes have it more difficult - pipes, files,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sockets, etc. are typical ways to do IPC.</a:t>
            </a:r>
          </a:p>
          <a:p>
            <a:pPr>
              <a:lnSpc>
                <a:spcPts val="310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990600" y="4953000"/>
            <a:ext cx="7180263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Switching between processes is called </a:t>
            </a:r>
            <a:r>
              <a:rPr lang="en-CA" sz="2592" dirty="0">
                <a:solidFill>
                  <a:srgbClr val="000000"/>
                </a:solidFill>
                <a:latin typeface="Arial Italic"/>
                <a:cs typeface="Arial Italic"/>
              </a:rPr>
              <a:t>context-</a:t>
            </a:r>
          </a:p>
          <a:p>
            <a:pPr>
              <a:lnSpc>
                <a:spcPts val="299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990600" y="5334000"/>
            <a:ext cx="7558088" cy="1192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100"/>
              </a:lnSpc>
              <a:defRPr/>
            </a:pPr>
            <a:r>
              <a:rPr lang="en-CA" sz="2592" dirty="0">
                <a:solidFill>
                  <a:srgbClr val="000000"/>
                </a:solidFill>
                <a:latin typeface="Arial Italic"/>
                <a:cs typeface="Arial Italic"/>
              </a:rPr>
              <a:t>   switching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and is relatively expensive compared to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switching between threads inside a process</a:t>
            </a:r>
          </a:p>
          <a:p>
            <a:pPr>
              <a:lnSpc>
                <a:spcPts val="310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8978900" y="6743700"/>
            <a:ext cx="2540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150"/>
              </a:lnSpc>
              <a:defRPr/>
            </a:pPr>
            <a:r>
              <a:rPr lang="en-CA" sz="1008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  <a:p>
            <a:pPr>
              <a:lnSpc>
                <a:spcPts val="115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81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749300"/>
            <a:ext cx="9055100" cy="1244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200"/>
              </a:lnSpc>
              <a:defRPr/>
            </a:pPr>
            <a:r>
              <a:rPr lang="en-CA" sz="3514" b="1" dirty="0">
                <a:solidFill>
                  <a:srgbClr val="320065"/>
                </a:solidFill>
                <a:latin typeface="Arial Bold"/>
                <a:cs typeface="Arial Bold"/>
              </a:rPr>
              <a:t>Multithreaded Programming in</a:t>
            </a:r>
            <a:r>
              <a:rPr lang="en-CA" sz="35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3504" dirty="0">
                <a:solidFill>
                  <a:srgbClr val="000000"/>
                </a:solidFill>
                <a:latin typeface="Times New Roman"/>
              </a:rPr>
            </a:br>
            <a:r>
              <a:rPr lang="en-CA" sz="3514" b="1" dirty="0">
                <a:solidFill>
                  <a:srgbClr val="320065"/>
                </a:solidFill>
                <a:latin typeface="Arial Bold"/>
                <a:cs typeface="Arial Bold"/>
              </a:rPr>
              <a:t>Java</a:t>
            </a:r>
          </a:p>
          <a:p>
            <a:pPr>
              <a:lnSpc>
                <a:spcPts val="4200"/>
              </a:lnSpc>
              <a:defRPr/>
            </a:pPr>
            <a:endParaRPr lang="en-CA" sz="3504" dirty="0">
              <a:solidFill>
                <a:srgbClr val="000000"/>
              </a:solidFill>
            </a:endParaRP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914400" y="2209800"/>
            <a:ext cx="7526338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Java is the first widely used programming</a:t>
            </a:r>
            <a:r>
              <a:rPr lang="en-CA" sz="3000" dirty="0">
                <a:solidFill>
                  <a:srgbClr val="000000"/>
                </a:solidFill>
              </a:rPr>
              <a:t/>
            </a:r>
            <a:br>
              <a:rPr lang="en-CA" sz="3000" dirty="0">
                <a:solidFill>
                  <a:srgbClr val="000000"/>
                </a:solidFill>
              </a:rPr>
            </a:br>
            <a:r>
              <a:rPr lang="en-CA" sz="3000" dirty="0">
                <a:solidFill>
                  <a:srgbClr val="000000"/>
                </a:solidFill>
              </a:rPr>
              <a:t>   </a:t>
            </a: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language to provide support for concurrent</a:t>
            </a:r>
            <a:r>
              <a:rPr lang="en-CA" sz="3000" dirty="0">
                <a:solidFill>
                  <a:srgbClr val="000000"/>
                </a:solidFill>
              </a:rPr>
              <a:t/>
            </a:r>
            <a:br>
              <a:rPr lang="en-CA" sz="3000" dirty="0">
                <a:solidFill>
                  <a:srgbClr val="000000"/>
                </a:solidFill>
              </a:rPr>
            </a:br>
            <a:r>
              <a:rPr lang="en-CA" sz="3000" dirty="0">
                <a:solidFill>
                  <a:srgbClr val="000000"/>
                </a:solidFill>
              </a:rPr>
              <a:t>   </a:t>
            </a: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programming </a:t>
            </a:r>
            <a:r>
              <a:rPr lang="en-CA" sz="3000" dirty="0">
                <a:solidFill>
                  <a:srgbClr val="000000"/>
                </a:solidFill>
                <a:latin typeface="Arial Italic"/>
                <a:ea typeface="Arial Italic"/>
                <a:cs typeface="Arial Italic"/>
              </a:rPr>
              <a:t>at the language level</a:t>
            </a:r>
          </a:p>
          <a:p>
            <a:pPr algn="just">
              <a:lnSpc>
                <a:spcPts val="3600"/>
              </a:lnSpc>
              <a:buFontTx/>
              <a:buBlip>
                <a:blip r:embed="rId2"/>
              </a:buBlip>
            </a:pPr>
            <a:endParaRPr lang="en-CA" sz="3000" dirty="0">
              <a:solidFill>
                <a:srgbClr val="000000"/>
              </a:solidFill>
            </a:endParaRP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838200" y="3733800"/>
            <a:ext cx="7637463" cy="184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Java supports concurrency through the use</a:t>
            </a:r>
            <a:r>
              <a:rPr lang="en-CA" sz="3000" dirty="0">
                <a:solidFill>
                  <a:srgbClr val="000000"/>
                </a:solidFill>
              </a:rPr>
              <a:t/>
            </a:r>
            <a:br>
              <a:rPr lang="en-CA" sz="3000" dirty="0">
                <a:solidFill>
                  <a:srgbClr val="000000"/>
                </a:solidFill>
              </a:rPr>
            </a:br>
            <a:r>
              <a:rPr lang="en-CA" sz="3000" dirty="0">
                <a:solidFill>
                  <a:srgbClr val="000000"/>
                </a:solidFill>
              </a:rPr>
              <a:t>   </a:t>
            </a: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of </a:t>
            </a:r>
            <a:r>
              <a:rPr lang="en-CA" sz="3000" dirty="0">
                <a:solidFill>
                  <a:srgbClr val="000000"/>
                </a:solidFill>
                <a:latin typeface="Arial Italic"/>
                <a:ea typeface="Arial Italic"/>
                <a:cs typeface="Arial Italic"/>
              </a:rPr>
              <a:t>threads</a:t>
            </a: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, and provides mechanisms for</a:t>
            </a:r>
            <a:r>
              <a:rPr lang="en-CA" sz="3000" dirty="0">
                <a:solidFill>
                  <a:srgbClr val="000000"/>
                </a:solidFill>
              </a:rPr>
              <a:t/>
            </a:r>
            <a:br>
              <a:rPr lang="en-CA" sz="3000" dirty="0">
                <a:solidFill>
                  <a:srgbClr val="000000"/>
                </a:solidFill>
              </a:rPr>
            </a:br>
            <a:r>
              <a:rPr lang="en-CA" sz="3000" dirty="0">
                <a:solidFill>
                  <a:srgbClr val="000000"/>
                </a:solidFill>
              </a:rPr>
              <a:t>   </a:t>
            </a:r>
            <a:r>
              <a:rPr lang="en-CA" sz="3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synchronization between threads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609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The Main Thread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762000" y="2133600"/>
            <a:ext cx="78740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When a Java program starts up, main thread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runs immediately.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8197" name="TextBox 4"/>
          <p:cNvSpPr txBox="1">
            <a:spLocks noChangeArrowheads="1"/>
          </p:cNvSpPr>
          <p:nvPr/>
        </p:nvSpPr>
        <p:spPr bwMode="auto">
          <a:xfrm>
            <a:off x="685800" y="3200400"/>
            <a:ext cx="8102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Main thread can be controlled through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Thread object.</a:t>
            </a:r>
          </a:p>
          <a:p>
            <a:pPr>
              <a:lnSpc>
                <a:spcPts val="3600"/>
              </a:lnSpc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689100" y="4140200"/>
            <a:ext cx="5387975" cy="14620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800"/>
              </a:lnSpc>
              <a:buFontTx/>
              <a:buBlip>
                <a:blip r:embed="rId3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Thread t = </a:t>
            </a:r>
            <a:r>
              <a:rPr lang="en-CA" sz="2592" dirty="0" err="1">
                <a:solidFill>
                  <a:srgbClr val="000000"/>
                </a:solidFill>
                <a:latin typeface="Arial"/>
                <a:cs typeface="Arial"/>
              </a:rPr>
              <a:t>Thread.currentThread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();</a:t>
            </a:r>
          </a:p>
          <a:p>
            <a:pPr>
              <a:lnSpc>
                <a:spcPts val="3800"/>
              </a:lnSpc>
              <a:buFontTx/>
              <a:buBlip>
                <a:blip r:embed="rId3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Arial"/>
                <a:cs typeface="Arial"/>
              </a:rPr>
              <a:t>Thread.sleep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(1000);</a:t>
            </a:r>
          </a:p>
          <a:p>
            <a:pPr>
              <a:lnSpc>
                <a:spcPts val="380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003300" y="6743700"/>
            <a:ext cx="0" cy="3079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150"/>
              </a:lnSpc>
              <a:defRPr/>
            </a:pPr>
            <a:endParaRPr lang="en-CA" sz="1008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115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37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 dirty="0">
                <a:solidFill>
                  <a:srgbClr val="320065"/>
                </a:solidFill>
                <a:latin typeface="Arial Bold"/>
                <a:cs typeface="Arial Bold"/>
              </a:rPr>
              <a:t>Using Java Threads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838200" y="2438400"/>
            <a:ext cx="6699250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2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 Java, thread instances come in two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varieties:</a:t>
            </a:r>
          </a:p>
          <a:p>
            <a:pPr>
              <a:lnSpc>
                <a:spcPts val="3200"/>
              </a:lnSpc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371600" y="3352800"/>
            <a:ext cx="2798763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3"/>
              </a:buBlip>
              <a:defRPr/>
            </a:pPr>
            <a:r>
              <a:rPr lang="en-CA" sz="2592" i="1" dirty="0">
                <a:solidFill>
                  <a:srgbClr val="000000"/>
                </a:solidFill>
                <a:latin typeface="Arial Italic"/>
                <a:cs typeface="Arial Italic"/>
              </a:rPr>
              <a:t> </a:t>
            </a:r>
            <a:r>
              <a:rPr lang="en-CA" sz="2592" i="1" dirty="0" err="1">
                <a:solidFill>
                  <a:srgbClr val="000000"/>
                </a:solidFill>
                <a:latin typeface="Arial Italic"/>
                <a:cs typeface="Arial Italic"/>
              </a:rPr>
              <a:t>java.lang.Thread</a:t>
            </a:r>
            <a:endParaRPr lang="en-CA" sz="2592" i="1" dirty="0">
              <a:solidFill>
                <a:srgbClr val="000000"/>
              </a:solidFill>
              <a:latin typeface="Arial Italic"/>
              <a:cs typeface="Arial Italic"/>
            </a:endParaRPr>
          </a:p>
          <a:p>
            <a:pPr>
              <a:lnSpc>
                <a:spcPts val="299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828800" y="3733800"/>
            <a:ext cx="5980113" cy="962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buFontTx/>
              <a:buBlip>
                <a:blip r:embed="rId4"/>
              </a:buBlip>
              <a:defRPr/>
            </a:pP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Extend the </a:t>
            </a:r>
            <a:r>
              <a:rPr lang="en-CA" sz="2304" dirty="0" err="1">
                <a:solidFill>
                  <a:srgbClr val="000000"/>
                </a:solidFill>
                <a:latin typeface="Courier New"/>
                <a:cs typeface="Courier New"/>
              </a:rPr>
              <a:t>java.lang.Thread</a:t>
            </a: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 class (and</a:t>
            </a:r>
            <a:r>
              <a:rPr lang="en-CA" sz="23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304" dirty="0">
                <a:solidFill>
                  <a:srgbClr val="000000"/>
                </a:solidFill>
                <a:latin typeface="Times New Roman"/>
              </a:rPr>
            </a:b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override its </a:t>
            </a:r>
            <a:r>
              <a:rPr lang="en-CA" sz="2304" dirty="0">
                <a:solidFill>
                  <a:srgbClr val="000000"/>
                </a:solidFill>
                <a:latin typeface="Courier New"/>
                <a:cs typeface="Courier New"/>
              </a:rPr>
              <a:t>run()</a:t>
            </a: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 method)</a:t>
            </a:r>
          </a:p>
          <a:p>
            <a:pPr>
              <a:lnSpc>
                <a:spcPts val="2500"/>
              </a:lnSpc>
              <a:buFontTx/>
              <a:buBlip>
                <a:blip r:embed="rId4"/>
              </a:buBlip>
              <a:defRPr/>
            </a:pPr>
            <a:endParaRPr lang="en-CA" sz="2304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371600" y="4495800"/>
            <a:ext cx="3167063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3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 Italic"/>
                <a:cs typeface="Arial Italic"/>
              </a:rPr>
              <a:t> </a:t>
            </a:r>
            <a:r>
              <a:rPr lang="en-CA" sz="2592" dirty="0" err="1">
                <a:solidFill>
                  <a:srgbClr val="000000"/>
                </a:solidFill>
                <a:latin typeface="Arial Italic"/>
                <a:cs typeface="Arial Italic"/>
              </a:rPr>
              <a:t>java.lang.Runnable</a:t>
            </a:r>
            <a:endParaRPr lang="en-CA" sz="2592" dirty="0">
              <a:solidFill>
                <a:srgbClr val="000000"/>
              </a:solidFill>
              <a:latin typeface="Arial Italic"/>
              <a:cs typeface="Arial Italic"/>
            </a:endParaRPr>
          </a:p>
          <a:p>
            <a:pPr>
              <a:lnSpc>
                <a:spcPts val="2990"/>
              </a:lnSpc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752600" y="4876800"/>
            <a:ext cx="4252913" cy="666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645"/>
              </a:lnSpc>
              <a:buFontTx/>
              <a:buBlip>
                <a:blip r:embed="rId4"/>
              </a:buBlip>
              <a:defRPr/>
            </a:pP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Have your class implement the</a:t>
            </a:r>
          </a:p>
          <a:p>
            <a:pPr>
              <a:lnSpc>
                <a:spcPts val="2645"/>
              </a:lnSpc>
              <a:buFontTx/>
              <a:buBlip>
                <a:blip r:embed="rId4"/>
              </a:buBlip>
              <a:defRPr/>
            </a:pPr>
            <a:endParaRPr lang="en-CA" sz="2304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676400" y="5181600"/>
            <a:ext cx="7096125" cy="1282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en-CA" sz="2304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CA" sz="2304" dirty="0" err="1">
                <a:solidFill>
                  <a:srgbClr val="000000"/>
                </a:solidFill>
                <a:latin typeface="Courier New"/>
                <a:cs typeface="Courier New"/>
              </a:rPr>
              <a:t>java.lang.Runnable</a:t>
            </a: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 interface and associate an</a:t>
            </a:r>
            <a:r>
              <a:rPr lang="en-CA" sz="23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304" dirty="0">
                <a:solidFill>
                  <a:srgbClr val="000000"/>
                </a:solidFill>
                <a:latin typeface="Times New Roman"/>
              </a:rPr>
            </a:br>
            <a:r>
              <a:rPr lang="en-CA" sz="2304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instance of your class with </a:t>
            </a:r>
            <a:r>
              <a:rPr lang="en-CA" sz="2304" dirty="0" err="1">
                <a:solidFill>
                  <a:srgbClr val="000000"/>
                </a:solidFill>
                <a:latin typeface="Courier New"/>
                <a:cs typeface="Courier New"/>
              </a:rPr>
              <a:t>java.lang.Thread</a:t>
            </a: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2500"/>
              </a:lnSpc>
              <a:defRPr/>
            </a:pPr>
            <a:endParaRPr lang="en-CA" sz="2304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2500"/>
              </a:lnSpc>
              <a:buFontTx/>
              <a:buBlip>
                <a:blip r:embed="rId4"/>
              </a:buBlip>
              <a:defRPr/>
            </a:pPr>
            <a:endParaRPr lang="en-CA" sz="2304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752600" y="5867400"/>
            <a:ext cx="3367088" cy="666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645"/>
              </a:lnSpc>
              <a:buFontTx/>
              <a:buBlip>
                <a:blip r:embed="rId4"/>
              </a:buBlip>
              <a:defRPr/>
            </a:pPr>
            <a:r>
              <a:rPr lang="en-CA" sz="2304" dirty="0">
                <a:solidFill>
                  <a:srgbClr val="000000"/>
                </a:solidFill>
                <a:latin typeface="Arial"/>
                <a:cs typeface="Arial"/>
              </a:rPr>
              <a:t>Implement run() method</a:t>
            </a:r>
          </a:p>
          <a:p>
            <a:pPr>
              <a:lnSpc>
                <a:spcPts val="2645"/>
              </a:lnSpc>
              <a:buFontTx/>
              <a:buBlip>
                <a:blip r:embed="rId5"/>
              </a:buBlip>
              <a:defRPr/>
            </a:pPr>
            <a:endParaRPr lang="en-CA" sz="2304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52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Using Java Threads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914400" y="2209800"/>
            <a:ext cx="6340475" cy="1000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910"/>
              </a:lnSpc>
              <a:buFontTx/>
              <a:buBlip>
                <a:blip r:embed="rId2"/>
              </a:buBlip>
              <a:defRPr/>
            </a:pPr>
            <a:r>
              <a:rPr lang="en-CA" sz="3408" dirty="0">
                <a:solidFill>
                  <a:srgbClr val="000000"/>
                </a:solidFill>
                <a:latin typeface="Arial"/>
                <a:cs typeface="Arial"/>
              </a:rPr>
              <a:t>Most important method: </a:t>
            </a:r>
            <a:r>
              <a:rPr lang="en-CA" sz="3408" dirty="0">
                <a:solidFill>
                  <a:srgbClr val="000000"/>
                </a:solidFill>
                <a:latin typeface="Courier New"/>
                <a:cs typeface="Courier New"/>
              </a:rPr>
              <a:t>run()</a:t>
            </a:r>
          </a:p>
          <a:p>
            <a:pPr>
              <a:lnSpc>
                <a:spcPts val="3910"/>
              </a:lnSpc>
              <a:buFontTx/>
              <a:buBlip>
                <a:blip r:embed="rId2"/>
              </a:buBlip>
              <a:defRPr/>
            </a:pPr>
            <a:endParaRPr lang="en-CA" sz="3408" dirty="0">
              <a:solidFill>
                <a:srgbClr val="000000"/>
              </a:solidFill>
            </a:endParaRPr>
          </a:p>
        </p:txBody>
      </p:sp>
      <p:sp>
        <p:nvSpPr>
          <p:cNvPr id="10245" name="TextBox 4"/>
          <p:cNvSpPr txBox="1">
            <a:spLocks noChangeArrowheads="1"/>
          </p:cNvSpPr>
          <p:nvPr/>
        </p:nvSpPr>
        <p:spPr bwMode="auto">
          <a:xfrm>
            <a:off x="990600" y="2743200"/>
            <a:ext cx="79724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3"/>
              </a:buBlip>
            </a:pP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default version of this method does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nothing so it must be overridden.</a:t>
            </a:r>
          </a:p>
          <a:p>
            <a:pPr>
              <a:lnSpc>
                <a:spcPts val="3600"/>
              </a:lnSpc>
              <a:buFontTx/>
              <a:buBlip>
                <a:blip r:embed="rId3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0246" name="TextBox 5"/>
          <p:cNvSpPr txBox="1">
            <a:spLocks noChangeArrowheads="1"/>
          </p:cNvSpPr>
          <p:nvPr/>
        </p:nvSpPr>
        <p:spPr bwMode="auto">
          <a:xfrm>
            <a:off x="990600" y="3886200"/>
            <a:ext cx="7975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3"/>
              </a:buBlip>
            </a:pP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Should call start() to begin execution of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new thread.</a:t>
            </a:r>
          </a:p>
          <a:p>
            <a:pPr>
              <a:lnSpc>
                <a:spcPts val="3600"/>
              </a:lnSpc>
              <a:buFontTx/>
              <a:buBlip>
                <a:blip r:embed="rId3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0247" name="TextBox 6"/>
          <p:cNvSpPr txBox="1">
            <a:spLocks noChangeArrowheads="1"/>
          </p:cNvSpPr>
          <p:nvPr/>
        </p:nvSpPr>
        <p:spPr bwMode="auto">
          <a:xfrm>
            <a:off x="990600" y="4876800"/>
            <a:ext cx="6343650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450"/>
              </a:lnSpc>
              <a:buFontTx/>
              <a:buBlip>
                <a:blip r:embed="rId3"/>
              </a:buBlip>
            </a:pP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If you are not overriding any of</a:t>
            </a:r>
          </a:p>
          <a:p>
            <a:pPr>
              <a:lnSpc>
                <a:spcPts val="3450"/>
              </a:lnSpc>
              <a:buFontTx/>
              <a:buBlip>
                <a:blip r:embed="rId3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0248" name="TextBox 7"/>
          <p:cNvSpPr txBox="1">
            <a:spLocks noChangeArrowheads="1"/>
          </p:cNvSpPr>
          <p:nvPr/>
        </p:nvSpPr>
        <p:spPr bwMode="auto">
          <a:xfrm>
            <a:off x="914400" y="5257800"/>
            <a:ext cx="72072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</a:pP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Thread’s other methods, can simply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implement runnable.</a:t>
            </a:r>
          </a:p>
          <a:p>
            <a:pPr>
              <a:lnSpc>
                <a:spcPts val="3600"/>
              </a:lnSpc>
              <a:buFontTx/>
              <a:buBlip>
                <a:blip r:embed="rId3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77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 dirty="0">
                <a:solidFill>
                  <a:srgbClr val="320065"/>
                </a:solidFill>
                <a:latin typeface="Arial Bold"/>
                <a:cs typeface="Arial Bold"/>
              </a:rPr>
              <a:t>Example: extending Thread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003300" y="2197100"/>
            <a:ext cx="90551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Public class PrintThread extends Thread {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346200" y="2463800"/>
            <a:ext cx="8712200" cy="990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50"/>
              </a:lnSpc>
              <a:tabLst>
                <a:tab pos="571500" algn="l"/>
                <a:tab pos="571500" algn="l"/>
              </a:tabLst>
              <a:defRPr/>
            </a:pP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public static void main( String[] </a:t>
            </a:r>
            <a:r>
              <a:rPr lang="en-CA" sz="1704" dirty="0" err="1">
                <a:solidFill>
                  <a:srgbClr val="000000"/>
                </a:solidFill>
                <a:latin typeface="Courier New"/>
                <a:cs typeface="Courier New"/>
              </a:rPr>
              <a:t>args</a:t>
            </a: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 ) {</a:t>
            </a:r>
            <a:r>
              <a:rPr lang="en-CA" sz="17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704" dirty="0">
                <a:solidFill>
                  <a:srgbClr val="000000"/>
                </a:solidFill>
                <a:latin typeface="Times New Roman"/>
              </a:rPr>
            </a:b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CA" sz="1704" dirty="0" err="1">
                <a:solidFill>
                  <a:srgbClr val="000000"/>
                </a:solidFill>
                <a:latin typeface="Courier New"/>
                <a:cs typeface="Courier New"/>
              </a:rPr>
              <a:t>PrintThread</a:t>
            </a: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 p = new </a:t>
            </a:r>
            <a:r>
              <a:rPr lang="en-CA" sz="1704" dirty="0" err="1">
                <a:solidFill>
                  <a:srgbClr val="000000"/>
                </a:solidFill>
                <a:latin typeface="Courier New"/>
                <a:cs typeface="Courier New"/>
              </a:rPr>
              <a:t>PrintThread</a:t>
            </a: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  <a:r>
              <a:rPr lang="en-CA" sz="17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704" dirty="0">
                <a:solidFill>
                  <a:srgbClr val="000000"/>
                </a:solidFill>
                <a:latin typeface="Times New Roman"/>
              </a:rPr>
            </a:b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CA" sz="1704" dirty="0" err="1">
                <a:solidFill>
                  <a:srgbClr val="000000"/>
                </a:solidFill>
                <a:latin typeface="Courier New"/>
                <a:cs typeface="Courier New"/>
              </a:rPr>
              <a:t>p.start</a:t>
            </a: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</a:p>
          <a:p>
            <a:pPr>
              <a:lnSpc>
                <a:spcPts val="2450"/>
              </a:lnSpc>
              <a:defRPr/>
            </a:pPr>
            <a:endParaRPr lang="en-CA" sz="1704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917700" y="3429000"/>
            <a:ext cx="60325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while(true) { System.out.println( “main”); 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1384300" y="3746500"/>
            <a:ext cx="419100" cy="292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10" name="TextBox 7"/>
          <p:cNvSpPr txBox="1"/>
          <p:nvPr/>
        </p:nvSpPr>
        <p:spPr>
          <a:xfrm>
            <a:off x="1346200" y="4051300"/>
            <a:ext cx="2768600" cy="304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public void run() {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11" name="TextBox 8"/>
          <p:cNvSpPr txBox="1"/>
          <p:nvPr/>
        </p:nvSpPr>
        <p:spPr>
          <a:xfrm>
            <a:off x="1917700" y="4368800"/>
            <a:ext cx="64262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while(true) { System.out.println( “thread” ); 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12" name="TextBox 9"/>
          <p:cNvSpPr txBox="1"/>
          <p:nvPr/>
        </p:nvSpPr>
        <p:spPr>
          <a:xfrm>
            <a:off x="1346200" y="4673600"/>
            <a:ext cx="4445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13" name="TextBox 10"/>
          <p:cNvSpPr txBox="1"/>
          <p:nvPr/>
        </p:nvSpPr>
        <p:spPr>
          <a:xfrm>
            <a:off x="1003300" y="4991100"/>
            <a:ext cx="4445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96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Example: Runnable interface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003300" y="2133600"/>
            <a:ext cx="9055100" cy="76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tabLst>
                <a:tab pos="342900" algn="l"/>
              </a:tabLst>
              <a:defRPr/>
            </a:pP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Public class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PrintRunnableThread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 implements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Runnable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  <a:r>
              <a:rPr lang="en-CA" sz="1896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96" dirty="0">
                <a:solidFill>
                  <a:srgbClr val="000000"/>
                </a:solidFill>
                <a:latin typeface="Times New Roman"/>
              </a:rPr>
            </a:b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	public static void main(String[]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args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pPr>
              <a:lnSpc>
                <a:spcPts val="2800"/>
              </a:lnSpc>
              <a:defRPr/>
            </a:pPr>
            <a:endParaRPr lang="en-CA" sz="1896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917700" y="2844800"/>
            <a:ext cx="8140700" cy="749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700"/>
              </a:lnSpc>
              <a:defRPr/>
            </a:pP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Thread t = new Thread(new </a:t>
            </a: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PrintRunnableThread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());</a:t>
            </a:r>
            <a:r>
              <a:rPr lang="en-CA" sz="1896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96" dirty="0">
                <a:solidFill>
                  <a:srgbClr val="000000"/>
                </a:solidFill>
                <a:latin typeface="Times New Roman"/>
              </a:rPr>
            </a:br>
            <a:r>
              <a:rPr lang="en-CA" sz="1896" dirty="0" err="1">
                <a:solidFill>
                  <a:srgbClr val="000000"/>
                </a:solidFill>
                <a:latin typeface="Courier New"/>
                <a:cs typeface="Courier New"/>
              </a:rPr>
              <a:t>t.start</a:t>
            </a:r>
            <a:r>
              <a:rPr lang="en-CA" sz="1896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</a:p>
          <a:p>
            <a:pPr>
              <a:lnSpc>
                <a:spcPts val="2700"/>
              </a:lnSpc>
              <a:defRPr/>
            </a:pPr>
            <a:endParaRPr lang="en-CA" sz="1896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917700" y="3581400"/>
            <a:ext cx="65532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while(true) { System.out.println(“main”); 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1346200" y="3924300"/>
            <a:ext cx="4953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0" name="TextBox 7"/>
          <p:cNvSpPr txBox="1"/>
          <p:nvPr/>
        </p:nvSpPr>
        <p:spPr>
          <a:xfrm>
            <a:off x="1346200" y="4622800"/>
            <a:ext cx="3060700" cy="330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public void run() {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1" name="TextBox 8"/>
          <p:cNvSpPr txBox="1"/>
          <p:nvPr/>
        </p:nvSpPr>
        <p:spPr>
          <a:xfrm>
            <a:off x="1917700" y="4965700"/>
            <a:ext cx="74295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while( true ) { System.out.println( “Thread” ); 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2" name="TextBox 9"/>
          <p:cNvSpPr txBox="1"/>
          <p:nvPr/>
        </p:nvSpPr>
        <p:spPr>
          <a:xfrm>
            <a:off x="1346200" y="5321300"/>
            <a:ext cx="4953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  <p:sp>
        <p:nvSpPr>
          <p:cNvPr id="13" name="TextBox 10"/>
          <p:cNvSpPr txBox="1"/>
          <p:nvPr/>
        </p:nvSpPr>
        <p:spPr>
          <a:xfrm>
            <a:off x="1003300" y="5664200"/>
            <a:ext cx="495300" cy="355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185"/>
              </a:lnSpc>
              <a:defRPr/>
            </a:pPr>
            <a:r>
              <a:rPr lang="en-CA" sz="1896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185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140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 dirty="0">
                <a:solidFill>
                  <a:srgbClr val="320065"/>
                </a:solidFill>
                <a:latin typeface="Arial Bold"/>
                <a:cs typeface="Arial Bold"/>
              </a:rPr>
              <a:t>Controlling Threads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066800" y="2438400"/>
            <a:ext cx="6618288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Thread.sleep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method puts the current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running thread to pause execution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765300" y="3225800"/>
            <a:ext cx="3368675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sleep( long milliseconds )</a:t>
            </a:r>
          </a:p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765300" y="3594100"/>
            <a:ext cx="3276600" cy="641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r>
              <a:rPr lang="en-CA" sz="2208">
                <a:solidFill>
                  <a:srgbClr val="000000"/>
                </a:solidFill>
                <a:latin typeface="Arial"/>
                <a:cs typeface="Arial"/>
              </a:rPr>
              <a:t>sleep( long ms, long ns )</a:t>
            </a:r>
          </a:p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endParaRPr lang="en-CA" sz="2208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143000" y="3962400"/>
            <a:ext cx="7292975" cy="14366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 thread that is sleeping can be interrupted, so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you must handle a </a:t>
            </a: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InterruptedException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if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you put a thread to sleep</a:t>
            </a:r>
          </a:p>
          <a:p>
            <a:pPr>
              <a:lnSpc>
                <a:spcPts val="28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422400" y="5092700"/>
            <a:ext cx="86360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try {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993900" y="5384800"/>
            <a:ext cx="80645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Thread.sleep( 5000 )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422400" y="5664200"/>
            <a:ext cx="8636000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>
                <a:solidFill>
                  <a:srgbClr val="000000"/>
                </a:solidFill>
                <a:latin typeface="Courier New"/>
                <a:cs typeface="Courier New"/>
              </a:rPr>
              <a:t>} catch( InterruptedException ie ) {</a:t>
            </a:r>
          </a:p>
          <a:p>
            <a:pPr>
              <a:lnSpc>
                <a:spcPts val="1955"/>
              </a:lnSpc>
              <a:defRPr/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422400" y="5880100"/>
            <a:ext cx="8636000" cy="63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569976">
              <a:lnSpc>
                <a:spcPts val="2200"/>
              </a:lnSpc>
              <a:defRPr/>
            </a:pPr>
            <a:r>
              <a:rPr lang="en-CA" sz="1704" dirty="0" err="1">
                <a:solidFill>
                  <a:srgbClr val="000000"/>
                </a:solidFill>
                <a:latin typeface="Courier New"/>
                <a:cs typeface="Courier New"/>
              </a:rPr>
              <a:t>System.out.println</a:t>
            </a: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( “Interrupted” );</a:t>
            </a:r>
            <a:r>
              <a:rPr lang="en-CA" sz="1704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704" dirty="0">
                <a:solidFill>
                  <a:srgbClr val="000000"/>
                </a:solidFill>
                <a:latin typeface="Times New Roman"/>
              </a:rPr>
            </a:b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2200"/>
              </a:lnSpc>
              <a:defRPr/>
            </a:pPr>
            <a:endParaRPr lang="en-CA" sz="1704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39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 dirty="0">
                <a:solidFill>
                  <a:srgbClr val="320065"/>
                </a:solidFill>
                <a:latin typeface="Arial Bold"/>
                <a:cs typeface="Arial Bold"/>
              </a:rPr>
              <a:t>What happens to new threads?</a:t>
            </a:r>
          </a:p>
          <a:p>
            <a:pPr>
              <a:lnSpc>
                <a:spcPts val="4485"/>
              </a:lnSpc>
              <a:defRPr/>
            </a:pPr>
            <a:endParaRPr lang="en-CA" sz="3912" dirty="0">
              <a:solidFill>
                <a:srgbClr val="000000"/>
              </a:solidFill>
            </a:endParaRP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838200" y="2286000"/>
            <a:ext cx="4048125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Main thread continues</a:t>
            </a:r>
          </a:p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838200" y="2819400"/>
            <a:ext cx="79343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New threads execute the run method and die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when they are finished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838200" y="3733800"/>
            <a:ext cx="80454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If any thread calls System.exit(0), it will kill  all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threads.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3" name="TextBox 6"/>
          <p:cNvSpPr txBox="1">
            <a:spLocks noChangeArrowheads="1"/>
          </p:cNvSpPr>
          <p:nvPr/>
        </p:nvSpPr>
        <p:spPr bwMode="auto">
          <a:xfrm>
            <a:off x="838200" y="4724400"/>
            <a:ext cx="6249988" cy="89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Think of each run() as its own main</a:t>
            </a:r>
          </a:p>
          <a:p>
            <a:pPr>
              <a:lnSpc>
                <a:spcPts val="345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4344" name="TextBox 7"/>
          <p:cNvSpPr txBox="1">
            <a:spLocks noChangeArrowheads="1"/>
          </p:cNvSpPr>
          <p:nvPr/>
        </p:nvSpPr>
        <p:spPr bwMode="auto">
          <a:xfrm>
            <a:off x="762000" y="5473700"/>
            <a:ext cx="75914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Program does not exit until all non-daemon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threads die.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56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Controlling Threads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762000" y="2057400"/>
            <a:ext cx="7456488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8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Thread.yield()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method allows other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threads a chance to execute.</a:t>
            </a:r>
          </a:p>
          <a:p>
            <a:pPr>
              <a:lnSpc>
                <a:spcPts val="38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838200" y="3810000"/>
            <a:ext cx="7899400" cy="277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JVM thread scheduler is generally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fair, but in intensive operations a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thread can monopolize.  Adding in a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random chance of yielding can improve</a:t>
            </a:r>
            <a:r>
              <a:rPr lang="en-CA" sz="3000">
                <a:solidFill>
                  <a:srgbClr val="000000"/>
                </a:solidFill>
              </a:rPr>
              <a:t/>
            </a:r>
            <a:br>
              <a:rPr lang="en-CA" sz="3000">
                <a:solidFill>
                  <a:srgbClr val="000000"/>
                </a:solidFill>
              </a:rPr>
            </a:br>
            <a:r>
              <a:rPr lang="en-CA" sz="3000">
                <a:solidFill>
                  <a:srgbClr val="000000"/>
                </a:solidFill>
              </a:rPr>
              <a:t>   </a:t>
            </a:r>
            <a:r>
              <a:rPr lang="en-CA" sz="300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fairness.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3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Ops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346200" y="2184400"/>
            <a:ext cx="7234238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3047"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Arial"/>
                <a:cs typeface="Arial"/>
              </a:rPr>
              <a:t>isAlive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() - Tests if this thread is alive. A thread is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alive if it has been started and has not yet died.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346200" y="2971800"/>
            <a:ext cx="5210175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>
                <a:solidFill>
                  <a:srgbClr val="000000"/>
                </a:solidFill>
                <a:latin typeface="Arial"/>
                <a:cs typeface="Arial"/>
              </a:rPr>
              <a:t>join() - Waits for this thread to die.</a:t>
            </a:r>
          </a:p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endParaRPr lang="en-CA" sz="2592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346200" y="3403600"/>
            <a:ext cx="7127875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Thread.activeCount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- returns number of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active threads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346200" y="4203700"/>
            <a:ext cx="7138988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Thread.enumerate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- fills an array with the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currently active threads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346200" y="4991100"/>
            <a:ext cx="7618413" cy="11160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r>
              <a:rPr lang="en-CA" sz="2592" dirty="0" err="1">
                <a:solidFill>
                  <a:srgbClr val="000000"/>
                </a:solidFill>
                <a:latin typeface="Courier New"/>
                <a:cs typeface="Courier New"/>
              </a:rPr>
              <a:t>Thread.currentThread</a:t>
            </a:r>
            <a:r>
              <a:rPr lang="en-CA" sz="2592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 - returns the current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thread</a:t>
            </a:r>
          </a:p>
          <a:p>
            <a:pPr>
              <a:lnSpc>
                <a:spcPts val="29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46200" y="5778500"/>
            <a:ext cx="7115175" cy="7699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592">
                <a:solidFill>
                  <a:srgbClr val="000000"/>
                </a:solidFill>
                <a:latin typeface="Courier New"/>
                <a:cs typeface="Courier New"/>
              </a:rPr>
              <a:t>Thread.dumpStack()</a:t>
            </a:r>
            <a:r>
              <a:rPr lang="en-CA" sz="2592">
                <a:solidFill>
                  <a:srgbClr val="000000"/>
                </a:solidFill>
                <a:latin typeface="Arial"/>
                <a:cs typeface="Arial"/>
              </a:rPr>
              <a:t> - useful for debugging</a:t>
            </a:r>
          </a:p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endParaRPr lang="en-CA" sz="2592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01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0058400" cy="775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State Diagram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17412" name="TextBox 3"/>
          <p:cNvSpPr txBox="1">
            <a:spLocks noChangeArrowheads="1"/>
          </p:cNvSpPr>
          <p:nvPr/>
        </p:nvSpPr>
        <p:spPr bwMode="auto">
          <a:xfrm>
            <a:off x="3606800" y="2438400"/>
            <a:ext cx="6451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075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Alive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3" name="TextBox 4"/>
          <p:cNvSpPr txBox="1">
            <a:spLocks noChangeArrowheads="1"/>
          </p:cNvSpPr>
          <p:nvPr/>
        </p:nvSpPr>
        <p:spPr bwMode="auto">
          <a:xfrm>
            <a:off x="4724400" y="3175000"/>
            <a:ext cx="5334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075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Running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4" name="TextBox 5"/>
          <p:cNvSpPr txBox="1">
            <a:spLocks noChangeArrowheads="1"/>
          </p:cNvSpPr>
          <p:nvPr/>
        </p:nvSpPr>
        <p:spPr bwMode="auto">
          <a:xfrm>
            <a:off x="698500" y="3556000"/>
            <a:ext cx="39243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new </a:t>
            </a:r>
            <a:r>
              <a:rPr lang="en-CA" sz="1800" dirty="0" err="1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CounterThread</a:t>
            </a:r>
            <a:r>
              <a:rPr lang="en-CA" sz="18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();</a:t>
            </a:r>
          </a:p>
          <a:p>
            <a:pPr>
              <a:lnSpc>
                <a:spcPts val="2075"/>
              </a:lnSpc>
            </a:pPr>
            <a:endParaRPr lang="en-CA" sz="1800" dirty="0">
              <a:solidFill>
                <a:srgbClr val="000000"/>
              </a:solidFill>
            </a:endParaRPr>
          </a:p>
        </p:txBody>
      </p:sp>
      <p:sp>
        <p:nvSpPr>
          <p:cNvPr id="17415" name="TextBox 6"/>
          <p:cNvSpPr txBox="1">
            <a:spLocks noChangeArrowheads="1"/>
          </p:cNvSpPr>
          <p:nvPr/>
        </p:nvSpPr>
        <p:spPr bwMode="auto">
          <a:xfrm>
            <a:off x="1028700" y="4229100"/>
            <a:ext cx="3594100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tabLst>
                <a:tab pos="1498600" algn="l"/>
              </a:tabLst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New Thread</a:t>
            </a:r>
            <a:r>
              <a:rPr lang="en-CA" sz="1800">
                <a:solidFill>
                  <a:srgbClr val="000000"/>
                </a:solidFill>
              </a:rPr>
              <a:t/>
            </a:r>
            <a:br>
              <a:rPr lang="en-CA" sz="1800">
                <a:solidFill>
                  <a:srgbClr val="000000"/>
                </a:solidFill>
              </a:rPr>
            </a:b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	Thread.start();</a:t>
            </a:r>
          </a:p>
          <a:p>
            <a:pPr>
              <a:lnSpc>
                <a:spcPts val="2325"/>
              </a:lnSpc>
              <a:tabLst>
                <a:tab pos="1498600" algn="l"/>
              </a:tabLst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2298700" y="5676900"/>
            <a:ext cx="2324100" cy="927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111">
              <a:lnSpc>
                <a:spcPts val="2100"/>
              </a:lnSpc>
              <a:defRPr/>
            </a:pPr>
            <a:r>
              <a:rPr lang="en-CA" sz="1800">
                <a:solidFill>
                  <a:srgbClr val="000000"/>
                </a:solidFill>
                <a:latin typeface="Tahoma"/>
                <a:cs typeface="Tahoma"/>
              </a:rPr>
              <a:t>Object.wait()</a:t>
            </a:r>
            <a:r>
              <a:rPr lang="en-CA" sz="180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00">
                <a:solidFill>
                  <a:srgbClr val="000000"/>
                </a:solidFill>
                <a:latin typeface="Times New Roman"/>
              </a:rPr>
            </a:br>
            <a:r>
              <a:rPr lang="en-CA" sz="1800">
                <a:solidFill>
                  <a:srgbClr val="000000"/>
                </a:solidFill>
                <a:latin typeface="Tahoma"/>
                <a:cs typeface="Tahoma"/>
              </a:rPr>
              <a:t>Thread.sleep()</a:t>
            </a:r>
            <a:r>
              <a:rPr lang="en-CA" sz="180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00">
                <a:solidFill>
                  <a:srgbClr val="000000"/>
                </a:solidFill>
                <a:latin typeface="Times New Roman"/>
              </a:rPr>
            </a:br>
            <a:r>
              <a:rPr lang="en-CA" sz="1800">
                <a:solidFill>
                  <a:srgbClr val="000000"/>
                </a:solidFill>
                <a:latin typeface="Tahoma"/>
                <a:cs typeface="Tahoma"/>
              </a:rPr>
              <a:t>blocking IO call</a:t>
            </a:r>
          </a:p>
          <a:p>
            <a:pPr>
              <a:lnSpc>
                <a:spcPts val="2160"/>
              </a:lnSpc>
              <a:defRPr/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7" name="TextBox 8"/>
          <p:cNvSpPr txBox="1">
            <a:spLocks noChangeArrowheads="1"/>
          </p:cNvSpPr>
          <p:nvPr/>
        </p:nvSpPr>
        <p:spPr bwMode="auto">
          <a:xfrm>
            <a:off x="2298700" y="6515100"/>
            <a:ext cx="2324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waiting on a monitor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8" name="TextBox 9"/>
          <p:cNvSpPr txBox="1">
            <a:spLocks noChangeArrowheads="1"/>
          </p:cNvSpPr>
          <p:nvPr/>
        </p:nvSpPr>
        <p:spPr bwMode="auto">
          <a:xfrm>
            <a:off x="4737100" y="3644900"/>
            <a:ext cx="2324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while (…) { … }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19" name="TextBox 10"/>
          <p:cNvSpPr txBox="1">
            <a:spLocks noChangeArrowheads="1"/>
          </p:cNvSpPr>
          <p:nvPr/>
        </p:nvSpPr>
        <p:spPr bwMode="auto">
          <a:xfrm>
            <a:off x="4737100" y="4254500"/>
            <a:ext cx="23241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Runnable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7420" name="TextBox 11"/>
          <p:cNvSpPr txBox="1">
            <a:spLocks noChangeArrowheads="1"/>
          </p:cNvSpPr>
          <p:nvPr/>
        </p:nvSpPr>
        <p:spPr bwMode="auto">
          <a:xfrm>
            <a:off x="4826000" y="5626100"/>
            <a:ext cx="2235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100"/>
              </a:lnSpc>
            </a:pPr>
            <a:r>
              <a:rPr lang="en-CA" sz="18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Blocked</a:t>
            </a:r>
          </a:p>
          <a:p>
            <a:pPr>
              <a:lnSpc>
                <a:spcPts val="2075"/>
              </a:lnSpc>
            </a:pPr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7086600" y="4038600"/>
            <a:ext cx="2768600" cy="901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594360">
              <a:lnSpc>
                <a:spcPts val="4100"/>
              </a:lnSpc>
              <a:defRPr/>
            </a:pPr>
            <a:r>
              <a:rPr lang="en-CA" sz="1800" dirty="0">
                <a:solidFill>
                  <a:srgbClr val="000000"/>
                </a:solidFill>
                <a:latin typeface="Tahoma"/>
                <a:cs typeface="Tahoma"/>
              </a:rPr>
              <a:t>Dead Thread</a:t>
            </a:r>
            <a:r>
              <a:rPr lang="en-CA" sz="1800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800" dirty="0">
                <a:solidFill>
                  <a:srgbClr val="000000"/>
                </a:solidFill>
                <a:latin typeface="Times New Roman"/>
              </a:rPr>
            </a:br>
            <a:r>
              <a:rPr lang="en-CA" sz="1800" dirty="0">
                <a:solidFill>
                  <a:srgbClr val="000000"/>
                </a:solidFill>
                <a:latin typeface="Tahoma"/>
                <a:cs typeface="Tahoma"/>
              </a:rPr>
              <a:t>run() method returns</a:t>
            </a:r>
          </a:p>
          <a:p>
            <a:pPr>
              <a:lnSpc>
                <a:spcPts val="4125"/>
              </a:lnSpc>
              <a:defRPr/>
            </a:pPr>
            <a:endParaRPr lang="en-CA" sz="18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77200" y="228600"/>
            <a:ext cx="1778000" cy="2209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06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03300" y="1244600"/>
            <a:ext cx="90551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Scheduling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574800" y="2006600"/>
            <a:ext cx="7345363" cy="12303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20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Execution of multiple threads on a single CPU in</a:t>
            </a:r>
            <a:r>
              <a:rPr lang="en-CA" sz="259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592" dirty="0">
                <a:solidFill>
                  <a:srgbClr val="000000"/>
                </a:solidFill>
                <a:latin typeface="Times New Roman"/>
              </a:rPr>
            </a:br>
            <a:r>
              <a:rPr lang="en-CA" sz="259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some order is called </a:t>
            </a:r>
            <a:r>
              <a:rPr lang="en-CA" sz="2592" dirty="0">
                <a:solidFill>
                  <a:srgbClr val="000000"/>
                </a:solidFill>
                <a:latin typeface="Arial Italic"/>
                <a:cs typeface="Arial Italic"/>
              </a:rPr>
              <a:t>scheduling</a:t>
            </a: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3200"/>
              </a:lnSpc>
              <a:buFontTx/>
              <a:buBlip>
                <a:blip r:embed="rId2"/>
              </a:buBlip>
              <a:defRPr/>
            </a:pPr>
            <a:endParaRPr lang="en-CA" sz="2592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917700" y="2870200"/>
            <a:ext cx="7170738" cy="10191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700"/>
              </a:lnSpc>
              <a:buFontTx/>
              <a:buBlip>
                <a:blip r:embed="rId3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The JRE uses </a:t>
            </a:r>
            <a:r>
              <a:rPr lang="en-CA" sz="2208" i="1" dirty="0">
                <a:solidFill>
                  <a:srgbClr val="000000"/>
                </a:solidFill>
                <a:latin typeface="Arial Italic"/>
                <a:cs typeface="Arial Italic"/>
              </a:rPr>
              <a:t>fixed-priority scheduling</a:t>
            </a:r>
            <a:r>
              <a:rPr lang="en-CA" sz="2208" i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which schedules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Arial"/>
                <a:cs typeface="Arial"/>
              </a:rPr>
              <a:t>threads on the basis of their priority.</a:t>
            </a:r>
          </a:p>
          <a:p>
            <a:pPr>
              <a:lnSpc>
                <a:spcPts val="2700"/>
              </a:lnSpc>
              <a:buFontTx/>
              <a:buBlip>
                <a:blip r:embed="rId3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574800" y="3670300"/>
            <a:ext cx="7353300" cy="6667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640"/>
              </a:lnSpc>
              <a:buFontTx/>
              <a:buBlip>
                <a:blip r:embed="rId2"/>
              </a:buBlip>
              <a:defRPr/>
            </a:pPr>
            <a:r>
              <a:rPr lang="en-CA" sz="2592" dirty="0">
                <a:solidFill>
                  <a:srgbClr val="000000"/>
                </a:solidFill>
                <a:latin typeface="Arial"/>
                <a:cs typeface="Arial"/>
              </a:rPr>
              <a:t>Thread priorities in the range </a:t>
            </a:r>
            <a:r>
              <a:rPr lang="en-CA" sz="1714" b="1" dirty="0" err="1">
                <a:solidFill>
                  <a:srgbClr val="000000"/>
                </a:solidFill>
                <a:latin typeface="Courier New Bold"/>
                <a:cs typeface="Courier New Bold"/>
              </a:rPr>
              <a:t>Thread.MIN_PRIORITY</a:t>
            </a:r>
            <a:r>
              <a:rPr lang="en-CA" sz="1704" dirty="0">
                <a:solidFill>
                  <a:srgbClr val="000000"/>
                </a:solidFill>
                <a:latin typeface="Arial"/>
                <a:cs typeface="Arial"/>
              </a:rPr>
              <a:t> and</a:t>
            </a:r>
          </a:p>
          <a:p>
            <a:pPr>
              <a:lnSpc>
                <a:spcPts val="2640"/>
              </a:lnSpc>
              <a:buFontTx/>
              <a:buBlip>
                <a:blip r:embed="rId2"/>
              </a:buBlip>
              <a:defRPr/>
            </a:pPr>
            <a:endParaRPr lang="en-CA" sz="2213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574800" y="4013200"/>
            <a:ext cx="2562225" cy="5127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85"/>
              </a:lnSpc>
              <a:defRPr/>
            </a:pPr>
            <a:r>
              <a:rPr lang="en-CA" sz="1714" b="1" dirty="0">
                <a:solidFill>
                  <a:srgbClr val="000000"/>
                </a:solidFill>
                <a:latin typeface="Courier New Bold"/>
                <a:cs typeface="Courier New Bold"/>
              </a:rPr>
              <a:t> </a:t>
            </a:r>
            <a:r>
              <a:rPr lang="en-CA" sz="1714" b="1" dirty="0" err="1">
                <a:solidFill>
                  <a:srgbClr val="000000"/>
                </a:solidFill>
                <a:latin typeface="Courier New Bold"/>
                <a:cs typeface="Courier New Bold"/>
              </a:rPr>
              <a:t>Thread.MAX_PRIORITY</a:t>
            </a:r>
            <a:endParaRPr lang="en-CA" sz="1714" b="1" dirty="0">
              <a:solidFill>
                <a:srgbClr val="000000"/>
              </a:solidFill>
              <a:latin typeface="Courier New Bold"/>
              <a:cs typeface="Courier New Bold"/>
            </a:endParaRPr>
          </a:p>
          <a:p>
            <a:pPr>
              <a:lnSpc>
                <a:spcPts val="1985"/>
              </a:lnSpc>
              <a:defRPr/>
            </a:pPr>
            <a:endParaRPr lang="en-CA" sz="1704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574800" y="4343400"/>
            <a:ext cx="7600950" cy="962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00"/>
              </a:lnSpc>
              <a:buFontTx/>
              <a:buBlip>
                <a:blip r:embed="rId2"/>
              </a:buBlip>
              <a:defRPr/>
            </a:pPr>
            <a:r>
              <a:rPr lang="en-CA" sz="2112">
                <a:solidFill>
                  <a:srgbClr val="000000"/>
                </a:solidFill>
                <a:latin typeface="Arial"/>
                <a:cs typeface="Arial"/>
              </a:rPr>
              <a:t>The chosen thread runs until one of the following conditions is</a:t>
            </a:r>
            <a:r>
              <a:rPr lang="en-CA" sz="2112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112">
                <a:solidFill>
                  <a:srgbClr val="000000"/>
                </a:solidFill>
                <a:latin typeface="Times New Roman"/>
              </a:rPr>
            </a:br>
            <a:r>
              <a:rPr lang="en-CA" sz="2112">
                <a:solidFill>
                  <a:srgbClr val="000000"/>
                </a:solidFill>
                <a:latin typeface="Arial"/>
                <a:cs typeface="Arial"/>
              </a:rPr>
              <a:t>true:</a:t>
            </a:r>
          </a:p>
          <a:p>
            <a:pPr>
              <a:lnSpc>
                <a:spcPts val="2500"/>
              </a:lnSpc>
              <a:buFontTx/>
              <a:buBlip>
                <a:blip r:embed="rId2"/>
              </a:buBlip>
              <a:defRPr/>
            </a:pPr>
            <a:endParaRPr lang="en-CA" sz="2112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917700" y="5054600"/>
            <a:ext cx="5308600" cy="615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A higher-priority thread becomes </a:t>
            </a:r>
            <a:r>
              <a:rPr lang="en-CA" sz="2112" dirty="0" err="1">
                <a:solidFill>
                  <a:srgbClr val="000000"/>
                </a:solidFill>
                <a:latin typeface="Arial"/>
                <a:cs typeface="Arial"/>
              </a:rPr>
              <a:t>runnable</a:t>
            </a: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917700" y="5422900"/>
            <a:ext cx="5157788" cy="6159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112">
                <a:solidFill>
                  <a:srgbClr val="000000"/>
                </a:solidFill>
                <a:latin typeface="Arial"/>
                <a:cs typeface="Arial"/>
              </a:rPr>
              <a:t>The thread yields, or its run method exits.</a:t>
            </a:r>
          </a:p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endParaRPr lang="en-CA" sz="2112">
              <a:solidFill>
                <a:srgbClr val="000000"/>
              </a:solidFill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1917700" y="5829300"/>
            <a:ext cx="6697663" cy="9239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00"/>
              </a:lnSpc>
              <a:buFontTx/>
              <a:buBlip>
                <a:blip r:embed="rId3"/>
              </a:buBlip>
              <a:defRPr/>
            </a:pP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On systems that support time-slicing, the thread's time</a:t>
            </a:r>
            <a:r>
              <a:rPr lang="en-CA" sz="2112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112" dirty="0">
                <a:solidFill>
                  <a:srgbClr val="000000"/>
                </a:solidFill>
                <a:latin typeface="Times New Roman"/>
              </a:rPr>
            </a:br>
            <a:r>
              <a:rPr lang="en-CA" sz="2112" dirty="0">
                <a:solidFill>
                  <a:srgbClr val="000000"/>
                </a:solidFill>
                <a:latin typeface="Times New Roman"/>
              </a:rPr>
              <a:t>   </a:t>
            </a:r>
            <a:r>
              <a:rPr lang="en-CA" sz="2112" dirty="0">
                <a:solidFill>
                  <a:srgbClr val="000000"/>
                </a:solidFill>
                <a:latin typeface="Arial"/>
                <a:cs typeface="Arial"/>
              </a:rPr>
              <a:t>allotment has expired.</a:t>
            </a:r>
          </a:p>
          <a:p>
            <a:pPr>
              <a:lnSpc>
                <a:spcPts val="2400"/>
              </a:lnSpc>
              <a:buFontTx/>
              <a:buBlip>
                <a:blip r:embed="rId3"/>
              </a:buBlip>
              <a:defRPr/>
            </a:pPr>
            <a:endParaRPr lang="en-CA" sz="2112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52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079500" y="1193800"/>
            <a:ext cx="8978900" cy="736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4485"/>
              </a:lnSpc>
              <a:defRPr/>
            </a:pPr>
            <a:r>
              <a:rPr lang="en-CA" sz="3922" b="1">
                <a:solidFill>
                  <a:srgbClr val="320065"/>
                </a:solidFill>
                <a:latin typeface="Arial Bold"/>
                <a:cs typeface="Arial Bold"/>
              </a:rPr>
              <a:t>Thread Scheduling</a:t>
            </a:r>
          </a:p>
          <a:p>
            <a:pPr>
              <a:lnSpc>
                <a:spcPts val="4485"/>
              </a:lnSpc>
              <a:defRPr/>
            </a:pPr>
            <a:endParaRPr lang="en-CA" sz="3912">
              <a:solidFill>
                <a:srgbClr val="000000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346200" y="1778000"/>
            <a:ext cx="7624763" cy="15382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00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Unlike most aspects of Java, Threading does not act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the same on different platforms. Two areas of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difference are Thread scheduling and Thread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priorities. The two approaches to scheduling are</a:t>
            </a:r>
          </a:p>
          <a:p>
            <a:pPr>
              <a:lnSpc>
                <a:spcPts val="2400"/>
              </a:lnSpc>
              <a:buFontTx/>
              <a:buBlip>
                <a:blip r:embed="rId2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689100" y="3035300"/>
            <a:ext cx="162560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 dirty="0" err="1">
                <a:solidFill>
                  <a:srgbClr val="000000"/>
                </a:solidFill>
                <a:latin typeface="Verdana"/>
                <a:cs typeface="Verdana"/>
              </a:rPr>
              <a:t>Preemptive</a:t>
            </a:r>
            <a:endParaRPr lang="en-CA" sz="1992" dirty="0">
              <a:solidFill>
                <a:srgbClr val="000000"/>
              </a:solidFill>
              <a:latin typeface="Verdana"/>
              <a:cs typeface="Verdana"/>
            </a:endParaRP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689100" y="3378200"/>
            <a:ext cx="169545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>
                <a:solidFill>
                  <a:srgbClr val="000000"/>
                </a:solidFill>
                <a:latin typeface="Verdana"/>
                <a:cs typeface="Verdana"/>
              </a:rPr>
              <a:t>Time slicing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346200" y="3733800"/>
            <a:ext cx="7694613" cy="18462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indent="136">
              <a:lnSpc>
                <a:spcPts val="2375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If at any time a thread with a higher priority than all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other </a:t>
            </a:r>
            <a:r>
              <a:rPr lang="en-CA" sz="2208" dirty="0" err="1">
                <a:solidFill>
                  <a:srgbClr val="000000"/>
                </a:solidFill>
                <a:latin typeface="Verdana"/>
                <a:cs typeface="Verdana"/>
              </a:rPr>
              <a:t>Runnable</a:t>
            </a: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 threads becomes </a:t>
            </a:r>
            <a:r>
              <a:rPr lang="en-CA" sz="2208" dirty="0" err="1">
                <a:solidFill>
                  <a:srgbClr val="000000"/>
                </a:solidFill>
                <a:latin typeface="Verdana"/>
                <a:cs typeface="Verdana"/>
              </a:rPr>
              <a:t>Runnable</a:t>
            </a: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, the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runtime system chooses the new higher-priority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thread for execution. The new thread is said to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 err="1">
                <a:solidFill>
                  <a:srgbClr val="000000"/>
                </a:solidFill>
                <a:latin typeface="Verdana Italic"/>
                <a:cs typeface="Verdana Italic"/>
              </a:rPr>
              <a:t>preempt</a:t>
            </a: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 the other threads.</a:t>
            </a:r>
          </a:p>
          <a:p>
            <a:pPr>
              <a:lnSpc>
                <a:spcPts val="2375"/>
              </a:lnSpc>
              <a:buFontTx/>
              <a:buBlip>
                <a:blip r:embed="rId2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689100" y="5321300"/>
            <a:ext cx="5648325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>
                <a:solidFill>
                  <a:srgbClr val="000000"/>
                </a:solidFill>
                <a:latin typeface="Verdana"/>
                <a:cs typeface="Verdana"/>
              </a:rPr>
              <a:t>thread-scheduling algorithm is preemptive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346200" y="5689600"/>
            <a:ext cx="7169150" cy="8842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2"/>
              </a:buBlip>
              <a:defRPr/>
            </a:pP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A thread created from another thread inherits its</a:t>
            </a:r>
            <a:r>
              <a:rPr lang="en-CA" sz="2208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208" dirty="0">
                <a:solidFill>
                  <a:srgbClr val="000000"/>
                </a:solidFill>
                <a:latin typeface="Times New Roman"/>
              </a:rPr>
            </a:br>
            <a:r>
              <a:rPr lang="en-CA" sz="2208" dirty="0">
                <a:solidFill>
                  <a:srgbClr val="000000"/>
                </a:solidFill>
                <a:latin typeface="Verdana"/>
                <a:cs typeface="Verdana"/>
              </a:rPr>
              <a:t>priority from the parent thread</a:t>
            </a:r>
          </a:p>
          <a:p>
            <a:pPr>
              <a:lnSpc>
                <a:spcPts val="2300"/>
              </a:lnSpc>
              <a:buFontTx/>
              <a:buBlip>
                <a:blip r:embed="rId2"/>
              </a:buBlip>
              <a:defRPr/>
            </a:pPr>
            <a:endParaRPr lang="en-CA" sz="2208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689100" y="6311900"/>
            <a:ext cx="5410200" cy="5905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1992">
                <a:solidFill>
                  <a:srgbClr val="000000"/>
                </a:solidFill>
                <a:latin typeface="Courier New"/>
                <a:cs typeface="Courier New"/>
              </a:rPr>
              <a:t>Thread.setPriority( int priority )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1992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62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01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00200"/>
            <a:ext cx="7772400" cy="6858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Try the following program out.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Try to understand what happen there.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447800" y="2895600"/>
            <a:ext cx="708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219200" y="2667000"/>
            <a:ext cx="7543800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5000"/>
              </a:lnSpc>
            </a:pPr>
            <a:r>
              <a:rPr lang="en-US" sz="1800"/>
              <a:t>class Thread01 extends Thread {</a:t>
            </a:r>
          </a:p>
          <a:p>
            <a:pPr>
              <a:lnSpc>
                <a:spcPct val="75000"/>
              </a:lnSpc>
            </a:pPr>
            <a:r>
              <a:rPr lang="en-US" sz="1800"/>
              <a:t>	int threadID;</a:t>
            </a:r>
          </a:p>
          <a:p>
            <a:pPr>
              <a:lnSpc>
                <a:spcPct val="75000"/>
              </a:lnSpc>
            </a:pPr>
            <a:r>
              <a:rPr lang="en-US" sz="1800"/>
              <a:t>	</a:t>
            </a:r>
          </a:p>
          <a:p>
            <a:pPr>
              <a:lnSpc>
                <a:spcPct val="75000"/>
              </a:lnSpc>
            </a:pPr>
            <a:r>
              <a:rPr lang="en-US" sz="1800"/>
              <a:t>	public Thread01(int a){</a:t>
            </a:r>
          </a:p>
          <a:p>
            <a:pPr>
              <a:lnSpc>
                <a:spcPct val="75000"/>
              </a:lnSpc>
            </a:pPr>
            <a:r>
              <a:rPr lang="en-US" sz="1800"/>
              <a:t>			threadID = a;	</a:t>
            </a:r>
          </a:p>
          <a:p>
            <a:pPr>
              <a:lnSpc>
                <a:spcPct val="75000"/>
              </a:lnSpc>
            </a:pPr>
            <a:r>
              <a:rPr lang="en-US" sz="1800"/>
              <a:t>	}</a:t>
            </a:r>
          </a:p>
          <a:p>
            <a:pPr>
              <a:lnSpc>
                <a:spcPct val="75000"/>
              </a:lnSpc>
            </a:pPr>
            <a:r>
              <a:rPr lang="en-US" sz="1800"/>
              <a:t>	</a:t>
            </a:r>
          </a:p>
          <a:p>
            <a:pPr>
              <a:lnSpc>
                <a:spcPct val="75000"/>
              </a:lnSpc>
            </a:pPr>
            <a:r>
              <a:rPr lang="en-US" sz="1800"/>
              <a:t>	public static void main(String args[])	{</a:t>
            </a:r>
          </a:p>
          <a:p>
            <a:pPr>
              <a:lnSpc>
                <a:spcPct val="75000"/>
              </a:lnSpc>
            </a:pPr>
            <a:r>
              <a:rPr lang="en-US" sz="1800"/>
              <a:t>		for (int i=1; i&lt;6; i++)		{</a:t>
            </a:r>
          </a:p>
          <a:p>
            <a:pPr>
              <a:lnSpc>
                <a:spcPct val="75000"/>
              </a:lnSpc>
            </a:pPr>
            <a:r>
              <a:rPr lang="en-US" sz="1800"/>
              <a:t>			Thread t = new  Thread01(i);</a:t>
            </a:r>
          </a:p>
          <a:p>
            <a:pPr>
              <a:lnSpc>
                <a:spcPct val="75000"/>
              </a:lnSpc>
            </a:pPr>
            <a:r>
              <a:rPr lang="en-US" sz="1800"/>
              <a:t>			System.out.println("Thread "+i+" created");</a:t>
            </a:r>
          </a:p>
          <a:p>
            <a:pPr>
              <a:lnSpc>
                <a:spcPct val="75000"/>
              </a:lnSpc>
            </a:pPr>
            <a:r>
              <a:rPr lang="en-US" sz="1800"/>
              <a:t>			t.start();</a:t>
            </a:r>
          </a:p>
          <a:p>
            <a:pPr>
              <a:lnSpc>
                <a:spcPct val="75000"/>
              </a:lnSpc>
            </a:pPr>
            <a:r>
              <a:rPr lang="en-US" sz="1800"/>
              <a:t>			System.out.println("Thread "+i+" started");</a:t>
            </a:r>
          </a:p>
          <a:p>
            <a:pPr>
              <a:lnSpc>
                <a:spcPct val="75000"/>
              </a:lnSpc>
            </a:pPr>
            <a:r>
              <a:rPr lang="en-US" sz="1800"/>
              <a:t>		}</a:t>
            </a:r>
          </a:p>
          <a:p>
            <a:pPr>
              <a:lnSpc>
                <a:spcPct val="75000"/>
              </a:lnSpc>
            </a:pPr>
            <a:r>
              <a:rPr lang="en-US" sz="1800"/>
              <a:t>		System.out.println("Main Thread exit");</a:t>
            </a:r>
          </a:p>
          <a:p>
            <a:pPr>
              <a:lnSpc>
                <a:spcPct val="75000"/>
              </a:lnSpc>
            </a:pPr>
            <a:r>
              <a:rPr lang="en-US" sz="1800"/>
              <a:t>	}</a:t>
            </a:r>
          </a:p>
          <a:p>
            <a:pPr>
              <a:lnSpc>
                <a:spcPct val="75000"/>
              </a:lnSpc>
            </a:pPr>
            <a:r>
              <a:rPr lang="en-US" sz="1800"/>
              <a:t>	</a:t>
            </a:r>
          </a:p>
          <a:p>
            <a:pPr>
              <a:lnSpc>
                <a:spcPct val="75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3018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01 ….</a:t>
            </a:r>
          </a:p>
        </p:txBody>
      </p:sp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1295400" y="2057400"/>
            <a:ext cx="7162800" cy="311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75000"/>
              </a:lnSpc>
            </a:pPr>
            <a:r>
              <a:rPr lang="en-US" sz="1800"/>
              <a:t>	public void run() 	{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while(true) {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 	System.out.println("Thread "+threadID+" running");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	 try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	{</a:t>
            </a:r>
          </a:p>
          <a:p>
            <a:pPr>
              <a:lnSpc>
                <a:spcPct val="75000"/>
              </a:lnSpc>
            </a:pPr>
            <a:r>
              <a:rPr lang="en-US" sz="1800"/>
              <a:t>			Thread.sleep((int)(10000*Math.random()));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 	}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 	catch (InterruptedException e){</a:t>
            </a:r>
          </a:p>
          <a:p>
            <a:pPr>
              <a:lnSpc>
                <a:spcPct val="75000"/>
              </a:lnSpc>
            </a:pPr>
            <a:r>
              <a:rPr lang="en-US" sz="1800"/>
              <a:t>		}</a:t>
            </a:r>
          </a:p>
          <a:p>
            <a:pPr>
              <a:lnSpc>
                <a:spcPct val="75000"/>
              </a:lnSpc>
            </a:pPr>
            <a:r>
              <a:rPr lang="en-US" sz="1800"/>
              <a:t>	        }</a:t>
            </a:r>
          </a:p>
          <a:p>
            <a:pPr>
              <a:lnSpc>
                <a:spcPct val="75000"/>
              </a:lnSpc>
            </a:pPr>
            <a:r>
              <a:rPr lang="en-US" sz="1800"/>
              <a:t>	}	</a:t>
            </a:r>
          </a:p>
          <a:p>
            <a:pPr>
              <a:lnSpc>
                <a:spcPct val="75000"/>
              </a:lnSpc>
            </a:pPr>
            <a:r>
              <a:rPr lang="en-US" sz="1800"/>
              <a:t>}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3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01 ….</a:t>
            </a:r>
            <a:endParaRPr lang="en-US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173163" y="1447800"/>
            <a:ext cx="7772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The above program create 6 threads. Main Thread and 5 child threads.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When we run the program Main Thread will be created and Main Thread execute the main()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Main thread go through a for loop with 5 iterations.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In each iteration Main Thread create a child thread and start it. (create 5 child threads)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Then Main Thread terminate.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Each child Thread executes run()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Each child Thread sleep for a random time between 0 and 10 seconds and print that they are running and go to sleep again</a:t>
            </a:r>
          </a:p>
        </p:txBody>
      </p:sp>
    </p:spTree>
    <p:extLst>
      <p:ext uri="{BB962C8B-B14F-4D97-AF65-F5344CB8AC3E}">
        <p14:creationId xmlns:p14="http://schemas.microsoft.com/office/powerpoint/2010/main" val="357966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173163" y="1600200"/>
            <a:ext cx="7772400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Try the following program out.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Try to understand what happen there.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371600" y="2514600"/>
            <a:ext cx="7086600" cy="392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public class Thread02 implements Runnable 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public static void main(String[] args) 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Thread t = new Thread(new Thread02());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t.start();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while(true) {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    System.out.println(“Main Thread");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    try    	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						         Thread.sleep((int)(10000*Math.random()));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    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    catch (InterruptedException e){}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32745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02 ….</a:t>
            </a: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762000" y="2006600"/>
            <a:ext cx="8382000" cy="429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endParaRPr lang="en-US" sz="1800"/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public void run() 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while( true ) {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System.out.println( “Child Thread" );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try 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	{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		Thread.sleep((int)(10000*Math.random()));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    		catch (InterruptedException e){}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	}</a:t>
            </a: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sz="1800"/>
              <a:t>}</a:t>
            </a:r>
          </a:p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7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457200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02 ….</a:t>
            </a:r>
            <a:endParaRPr lang="en-US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295400"/>
            <a:ext cx="7772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The above program create 2 threads (Main Thread and a child Thread).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Main Thread execute the main()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Main Thread create a child Thread and start it.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Then Main thread goes to a never ending loop.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Within the loop Main thread display a message and goes to sleep for a time duration between 0 and 10 seconds.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Child thread executes run() method.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Child thread also goes to a never ending loop.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Within the loop child thread display a message and goes to sleep for a time duration between 0 and 10 seconds.</a:t>
            </a:r>
          </a:p>
        </p:txBody>
      </p:sp>
    </p:spTree>
    <p:extLst>
      <p:ext uri="{BB962C8B-B14F-4D97-AF65-F5344CB8AC3E}">
        <p14:creationId xmlns:p14="http://schemas.microsoft.com/office/powerpoint/2010/main" val="258365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ahoma" pitchFamily="34" charset="0"/>
              </a:rPr>
              <a:t>Example 01 &amp; 02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01 and 02 create thread using 2 ways.</a:t>
            </a:r>
          </a:p>
          <a:p>
            <a:pPr eaLnBrk="1" hangingPunct="1"/>
            <a:r>
              <a:rPr lang="en-US" smtClean="0"/>
              <a:t>Example 01 extends Thread class and override run() method to create threads.</a:t>
            </a:r>
          </a:p>
          <a:p>
            <a:pPr eaLnBrk="1" hangingPunct="1"/>
            <a:r>
              <a:rPr lang="en-US" smtClean="0"/>
              <a:t>Example 02 implements Runnable Interface and implements the run() method to create threads.</a:t>
            </a:r>
          </a:p>
        </p:txBody>
      </p:sp>
    </p:spTree>
    <p:extLst>
      <p:ext uri="{BB962C8B-B14F-4D97-AF65-F5344CB8AC3E}">
        <p14:creationId xmlns:p14="http://schemas.microsoft.com/office/powerpoint/2010/main" val="348056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–threaded applications</a:t>
            </a:r>
            <a:endParaRPr lang="en-US" dirty="0"/>
          </a:p>
        </p:txBody>
      </p:sp>
      <p:pic>
        <p:nvPicPr>
          <p:cNvPr id="4" name="Picture 1" descr="ch26imageslidesonly_Page_005.png"/>
          <p:cNvPicPr>
            <a:picLocks noGrp="1" noChangeAspect="1"/>
          </p:cNvPicPr>
          <p:nvPr isPhoto="1">
            <p:ph idx="1"/>
          </p:nvPr>
        </p:nvPicPr>
        <p:blipFill>
          <a:blip r:embed="rId2" cstate="print"/>
          <a:srcRect l="5000" t="10209" r="23333" b="25279"/>
          <a:stretch>
            <a:fillRect/>
          </a:stretch>
        </p:blipFill>
        <p:spPr bwMode="auto">
          <a:xfrm>
            <a:off x="457200" y="1447800"/>
            <a:ext cx="8229600" cy="4498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089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80E6"/>
                </a:solidFill>
                <a:latin typeface="Arial"/>
              </a:rPr>
              <a:t>Thread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When multiple threads share an object and it is modified by one or more of them, indeterminate results may occur unless access to the shared object is managed properly.</a:t>
            </a:r>
          </a:p>
          <a:p>
            <a:pPr>
              <a:lnSpc>
                <a:spcPct val="90000"/>
              </a:lnSpc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The problem can be solved by giving only one thread at a time </a:t>
            </a:r>
            <a:r>
              <a:rPr lang="en-US" sz="2300" i="1" dirty="0" smtClean="0">
                <a:solidFill>
                  <a:srgbClr val="000000"/>
                </a:solidFill>
                <a:latin typeface="Times New Roman" pitchFamily="18" charset="0"/>
              </a:rPr>
              <a:t>exclusive </a:t>
            </a: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access to code that manipulates the shared object.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During that time, other threads desiring to manipulate the object are kept waiting.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When the thread with exclusive access to the object finishes manipulating it, one of the threads that was waiting is allowed to proceed.</a:t>
            </a:r>
          </a:p>
          <a:p>
            <a:pPr>
              <a:lnSpc>
                <a:spcPct val="90000"/>
              </a:lnSpc>
            </a:pP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This process, called </a:t>
            </a:r>
            <a:r>
              <a:rPr lang="en-US" sz="2300" dirty="0" smtClean="0">
                <a:solidFill>
                  <a:srgbClr val="0000FF"/>
                </a:solidFill>
                <a:latin typeface="Times New Roman" pitchFamily="18" charset="0"/>
              </a:rPr>
              <a:t>thread synchronization</a:t>
            </a:r>
            <a:r>
              <a:rPr lang="en-US" sz="2300" dirty="0" smtClean="0">
                <a:solidFill>
                  <a:srgbClr val="000000"/>
                </a:solidFill>
                <a:latin typeface="Times New Roman" pitchFamily="18" charset="0"/>
              </a:rPr>
              <a:t>, coordinates access to shared data by multiple concurrent threads.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Ensures that each thread accessing a shared object excludes all other threads from doing so simultaneously—this is called </a:t>
            </a:r>
            <a:r>
              <a:rPr lang="en-US" sz="2000" dirty="0" smtClean="0">
                <a:solidFill>
                  <a:srgbClr val="0000FF"/>
                </a:solidFill>
                <a:latin typeface="Times New Roman" pitchFamily="18" charset="0"/>
              </a:rPr>
              <a:t>mutual exclusion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6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80E6"/>
                </a:solidFill>
                <a:latin typeface="Arial"/>
              </a:rPr>
              <a:t>Thread Synchronization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A common way to perform synchronization is to use Java’s built-in 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monitors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Every object has a monitor and a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</a:rPr>
              <a:t>monitor lock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(or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</a:rPr>
              <a:t>intrinsic lock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).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Can be held by a maximum of only one thread at any time.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A thread must acquire the lock before proceeding with the operation.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Other threads attempting to perform an operation that requires the same lock will be </a:t>
            </a:r>
            <a:r>
              <a:rPr lang="en-US" sz="2100" i="1" dirty="0" smtClean="0">
                <a:solidFill>
                  <a:srgbClr val="000000"/>
                </a:solidFill>
                <a:latin typeface="Times New Roman" pitchFamily="18" charset="0"/>
              </a:rPr>
              <a:t>blocked.</a:t>
            </a:r>
          </a:p>
          <a:p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To specify that a thread must hold a monitor lock to execute a block of code, the code should be placed in a </a:t>
            </a:r>
            <a:r>
              <a:rPr lang="en-US" sz="2500" dirty="0" smtClean="0">
                <a:solidFill>
                  <a:srgbClr val="0000FF"/>
                </a:solidFill>
                <a:latin typeface="LucidaSansTypewriter" pitchFamily="49" charset="0"/>
              </a:rPr>
              <a:t>synchronized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 statement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lvl="1"/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Said to be </a:t>
            </a:r>
            <a:r>
              <a:rPr lang="en-US" sz="2100" dirty="0" smtClean="0">
                <a:solidFill>
                  <a:srgbClr val="0000FF"/>
                </a:solidFill>
                <a:latin typeface="Times New Roman" pitchFamily="18" charset="0"/>
              </a:rPr>
              <a:t>guarded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by the monitor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6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80E6"/>
                </a:solidFill>
                <a:latin typeface="Arial"/>
              </a:rPr>
              <a:t>Thread Synchronization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US" sz="2500" dirty="0" smtClean="0">
                <a:solidFill>
                  <a:srgbClr val="000000"/>
                </a:solidFill>
                <a:latin typeface="Lucida Console" pitchFamily="49" charset="0"/>
              </a:rPr>
              <a:t>synchronized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statements are declared using the </a:t>
            </a:r>
            <a:r>
              <a:rPr lang="en-US" sz="2500" dirty="0" smtClean="0">
                <a:solidFill>
                  <a:srgbClr val="0000FF"/>
                </a:solidFill>
                <a:latin typeface="LucidaSansTypewriter" pitchFamily="49" charset="0"/>
              </a:rPr>
              <a:t>synchronized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 keyword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sz="1900" dirty="0" smtClean="0">
                <a:solidFill>
                  <a:srgbClr val="0000FF"/>
                </a:solidFill>
                <a:latin typeface="Lucida Console" pitchFamily="49" charset="0"/>
              </a:rPr>
              <a:t>synchronized</a:t>
            </a: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 ( </a:t>
            </a:r>
            <a:r>
              <a:rPr lang="en-US" sz="1900" i="1" dirty="0" smtClean="0">
                <a:solidFill>
                  <a:srgbClr val="000000"/>
                </a:solidFill>
                <a:latin typeface="AGaramond" pitchFamily="50" charset="0"/>
              </a:rPr>
              <a:t>object</a:t>
            </a:r>
            <a:r>
              <a:rPr lang="en-US" sz="1900" i="1" dirty="0" smtClean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)</a:t>
            </a:r>
            <a:b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{</a:t>
            </a:r>
            <a:b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   </a:t>
            </a:r>
            <a:r>
              <a:rPr lang="en-US" sz="1900" dirty="0" smtClean="0">
                <a:solidFill>
                  <a:srgbClr val="000000"/>
                </a:solidFill>
                <a:latin typeface="AGaramond" pitchFamily="50" charset="0"/>
              </a:rPr>
              <a:t>statements</a:t>
            </a:r>
            <a:br>
              <a:rPr lang="en-US" sz="1900" dirty="0" smtClean="0">
                <a:solidFill>
                  <a:srgbClr val="000000"/>
                </a:solidFill>
                <a:latin typeface="AGaramond" pitchFamily="50" charset="0"/>
              </a:rPr>
            </a:br>
            <a:r>
              <a:rPr lang="en-US" sz="1900" dirty="0" smtClean="0">
                <a:solidFill>
                  <a:srgbClr val="000000"/>
                </a:solidFill>
                <a:latin typeface="Lucida Console" pitchFamily="49" charset="0"/>
              </a:rPr>
              <a:t>} </a:t>
            </a:r>
            <a:r>
              <a:rPr lang="en-US" sz="1900" dirty="0" smtClean="0">
                <a:solidFill>
                  <a:srgbClr val="00BF00"/>
                </a:solidFill>
                <a:latin typeface="Lucida Console" pitchFamily="49" charset="0"/>
              </a:rPr>
              <a:t>// end synchronized statement</a:t>
            </a:r>
          </a:p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where </a:t>
            </a:r>
            <a:r>
              <a:rPr lang="en-US" sz="2500" i="1" dirty="0" smtClean="0">
                <a:solidFill>
                  <a:srgbClr val="000000"/>
                </a:solidFill>
                <a:latin typeface="Times New Roman" pitchFamily="18" charset="0"/>
              </a:rPr>
              <a:t>object 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is the object whose monitor lock will be acquired</a:t>
            </a:r>
          </a:p>
          <a:p>
            <a:pPr lvl="1">
              <a:lnSpc>
                <a:spcPct val="90000"/>
              </a:lnSpc>
            </a:pPr>
            <a:r>
              <a:rPr lang="en-US" sz="2100" i="1" dirty="0" smtClean="0">
                <a:solidFill>
                  <a:srgbClr val="000000"/>
                </a:solidFill>
                <a:latin typeface="Times New Roman" pitchFamily="18" charset="0"/>
              </a:rPr>
              <a:t>object 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is normally </a:t>
            </a:r>
            <a:r>
              <a:rPr lang="en-US" sz="2100" dirty="0" smtClean="0">
                <a:solidFill>
                  <a:srgbClr val="000000"/>
                </a:solidFill>
                <a:latin typeface="Lucida Console" pitchFamily="49" charset="0"/>
              </a:rPr>
              <a:t>this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if it’s the object in which the </a:t>
            </a:r>
            <a:r>
              <a:rPr lang="en-US" sz="2100" dirty="0" smtClean="0">
                <a:solidFill>
                  <a:srgbClr val="000000"/>
                </a:solidFill>
                <a:latin typeface="Lucida Console" pitchFamily="49" charset="0"/>
              </a:rPr>
              <a:t>synchronized</a:t>
            </a:r>
            <a:r>
              <a:rPr lang="en-US" sz="2100" dirty="0" smtClean="0">
                <a:solidFill>
                  <a:srgbClr val="000000"/>
                </a:solidFill>
                <a:latin typeface="Times New Roman" pitchFamily="18" charset="0"/>
              </a:rPr>
              <a:t> statement appears.</a:t>
            </a:r>
          </a:p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When a </a:t>
            </a:r>
            <a:r>
              <a:rPr lang="en-US" sz="2500" dirty="0" smtClean="0">
                <a:solidFill>
                  <a:srgbClr val="000000"/>
                </a:solidFill>
                <a:latin typeface="Lucida Console" pitchFamily="49" charset="0"/>
              </a:rPr>
              <a:t>synchronized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 statement finishes executing, the object’s monitor lock is released.</a:t>
            </a:r>
          </a:p>
          <a:p>
            <a:pPr>
              <a:lnSpc>
                <a:spcPct val="90000"/>
              </a:lnSpc>
            </a:pP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Java also allows </a:t>
            </a:r>
            <a:r>
              <a:rPr lang="en-US" sz="2500" dirty="0" smtClean="0">
                <a:solidFill>
                  <a:srgbClr val="0000FF"/>
                </a:solidFill>
                <a:latin typeface="LucidaSansTypewriter" pitchFamily="49" charset="0"/>
              </a:rPr>
              <a:t>synchronized</a:t>
            </a:r>
            <a:r>
              <a:rPr lang="en-US" sz="2500" dirty="0" smtClean="0">
                <a:solidFill>
                  <a:srgbClr val="0000FF"/>
                </a:solidFill>
                <a:latin typeface="Times New Roman" pitchFamily="18" charset="0"/>
              </a:rPr>
              <a:t> methods</a:t>
            </a:r>
            <a:r>
              <a:rPr lang="en-US" sz="2500" dirty="0" smtClean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90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73163" y="1570038"/>
            <a:ext cx="7772400" cy="914400"/>
          </a:xfrm>
        </p:spPr>
        <p:txBody>
          <a:bodyPr/>
          <a:lstStyle/>
          <a:p>
            <a:pPr eaLnBrk="1" hangingPunct="1"/>
            <a:r>
              <a:rPr lang="en-US" sz="5400" smtClean="0">
                <a:latin typeface="Tahoma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56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205</TotalTime>
  <Words>1457</Words>
  <Application>Microsoft Office PowerPoint</Application>
  <PresentationFormat>On-screen Show (4:3)</PresentationFormat>
  <Paragraphs>241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AGaramond</vt:lpstr>
      <vt:lpstr>Arial</vt:lpstr>
      <vt:lpstr>Arial Bold</vt:lpstr>
      <vt:lpstr>Arial Italic</vt:lpstr>
      <vt:lpstr>Calibri</vt:lpstr>
      <vt:lpstr>Courier New</vt:lpstr>
      <vt:lpstr>Courier New Bold</vt:lpstr>
      <vt:lpstr>Lucida Console</vt:lpstr>
      <vt:lpstr>LucidaSansTypewriter</vt:lpstr>
      <vt:lpstr>Tahoma</vt:lpstr>
      <vt:lpstr>Times New Roman</vt:lpstr>
      <vt:lpstr>Verdana</vt:lpstr>
      <vt:lpstr>Verdana Italic</vt:lpstr>
      <vt:lpstr>HNDIT</vt:lpstr>
      <vt:lpstr>HNDIT2411: Enterprise Architecture</vt:lpstr>
      <vt:lpstr>Programming with concurrency and multithreading</vt:lpstr>
      <vt:lpstr>Introduction</vt:lpstr>
      <vt:lpstr>What is concurrency? </vt:lpstr>
      <vt:lpstr>PowerPoint Presentation</vt:lpstr>
      <vt:lpstr>Process</vt:lpstr>
      <vt:lpstr>Thread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01</vt:lpstr>
      <vt:lpstr>Example 01 ….</vt:lpstr>
      <vt:lpstr>Example 01 ….</vt:lpstr>
      <vt:lpstr>Example 02</vt:lpstr>
      <vt:lpstr>Example 02 ….</vt:lpstr>
      <vt:lpstr>Example 02 ….</vt:lpstr>
      <vt:lpstr>Example 01 &amp; 02</vt:lpstr>
      <vt:lpstr>Single –threaded applications</vt:lpstr>
      <vt:lpstr>Thread Synchronization</vt:lpstr>
      <vt:lpstr>Thread Synchronization (cont.)</vt:lpstr>
      <vt:lpstr>Thread Synchronization (cont.)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Acer</cp:lastModifiedBy>
  <cp:revision>21</cp:revision>
  <dcterms:created xsi:type="dcterms:W3CDTF">2012-08-01T05:29:21Z</dcterms:created>
  <dcterms:modified xsi:type="dcterms:W3CDTF">2015-12-07T23:29:26Z</dcterms:modified>
</cp:coreProperties>
</file>