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8" r:id="rId2"/>
    <p:sldId id="311" r:id="rId3"/>
    <p:sldId id="309" r:id="rId4"/>
    <p:sldId id="313" r:id="rId5"/>
    <p:sldId id="314" r:id="rId6"/>
    <p:sldId id="315" r:id="rId7"/>
    <p:sldId id="316" r:id="rId8"/>
    <p:sldId id="310" r:id="rId9"/>
    <p:sldId id="31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73" d="100"/>
          <a:sy n="73" d="100"/>
        </p:scale>
        <p:origin x="6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9743-36D2-425F-BFE2-CD14E052E9AD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E3EC-8968-4793-A468-2F7C5545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4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9743-36D2-425F-BFE2-CD14E052E9AD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E3EC-8968-4793-A468-2F7C5545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66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9743-36D2-425F-BFE2-CD14E052E9AD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E3EC-8968-4793-A468-2F7C5545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27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9743-36D2-425F-BFE2-CD14E052E9AD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E3EC-8968-4793-A468-2F7C5545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400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9743-36D2-425F-BFE2-CD14E052E9AD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E3EC-8968-4793-A468-2F7C5545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45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9743-36D2-425F-BFE2-CD14E052E9AD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E3EC-8968-4793-A468-2F7C5545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23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9743-36D2-425F-BFE2-CD14E052E9AD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E3EC-8968-4793-A468-2F7C5545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51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9743-36D2-425F-BFE2-CD14E052E9AD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E3EC-8968-4793-A468-2F7C5545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413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9743-36D2-425F-BFE2-CD14E052E9AD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E3EC-8968-4793-A468-2F7C5545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95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9743-36D2-425F-BFE2-CD14E052E9AD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E3EC-8968-4793-A468-2F7C5545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69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9743-36D2-425F-BFE2-CD14E052E9AD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E3EC-8968-4793-A468-2F7C5545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58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F9743-36D2-425F-BFE2-CD14E052E9AD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7E3EC-8968-4793-A468-2F7C5545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46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53438" y="2094938"/>
            <a:ext cx="1061672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3200" dirty="0" smtClean="0">
                <a:solidFill>
                  <a:srgbClr val="202124"/>
                </a:solidFill>
                <a:latin typeface="arial" panose="020B0604020202020204" pitchFamily="34" charset="0"/>
              </a:rPr>
              <a:t>1. </a:t>
            </a:r>
            <a:r>
              <a:rPr lang="en-GB" sz="3200" u="sng" dirty="0" smtClean="0">
                <a:solidFill>
                  <a:srgbClr val="202124"/>
                </a:solidFill>
                <a:latin typeface="arial" panose="020B0604020202020204" pitchFamily="34" charset="0"/>
              </a:rPr>
              <a:t>Client-tier</a:t>
            </a:r>
            <a:r>
              <a:rPr lang="en-GB" sz="3200" dirty="0" smtClean="0">
                <a:solidFill>
                  <a:srgbClr val="202124"/>
                </a:solidFill>
                <a:latin typeface="arial" panose="020B0604020202020204" pitchFamily="34" charset="0"/>
              </a:rPr>
              <a:t> </a:t>
            </a:r>
            <a:r>
              <a:rPr lang="en-GB" sz="3200" dirty="0">
                <a:solidFill>
                  <a:srgbClr val="202124"/>
                </a:solidFill>
                <a:latin typeface="arial" panose="020B0604020202020204" pitchFamily="34" charset="0"/>
              </a:rPr>
              <a:t>components run on the </a:t>
            </a:r>
            <a:r>
              <a:rPr lang="en-GB" sz="3200" u="sng" dirty="0">
                <a:solidFill>
                  <a:srgbClr val="202124"/>
                </a:solidFill>
                <a:latin typeface="arial" panose="020B0604020202020204" pitchFamily="34" charset="0"/>
              </a:rPr>
              <a:t>client machine</a:t>
            </a:r>
            <a:r>
              <a:rPr lang="en-GB" sz="3200" dirty="0">
                <a:solidFill>
                  <a:srgbClr val="202124"/>
                </a:solidFill>
                <a:latin typeface="arial" panose="020B0604020202020204" pitchFamily="34" charset="0"/>
              </a:rPr>
              <a:t>. </a:t>
            </a:r>
            <a:endParaRPr lang="en-GB" sz="3200" dirty="0" smtClean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algn="just"/>
            <a:r>
              <a:rPr lang="en-GB" sz="3200" dirty="0" smtClean="0">
                <a:solidFill>
                  <a:srgbClr val="202124"/>
                </a:solidFill>
                <a:latin typeface="arial" panose="020B0604020202020204" pitchFamily="34" charset="0"/>
              </a:rPr>
              <a:t>2. </a:t>
            </a:r>
            <a:r>
              <a:rPr lang="en-GB" sz="3200" u="sng" dirty="0" smtClean="0">
                <a:solidFill>
                  <a:srgbClr val="202124"/>
                </a:solidFill>
                <a:latin typeface="arial" panose="020B0604020202020204" pitchFamily="34" charset="0"/>
              </a:rPr>
              <a:t>Web-tier</a:t>
            </a:r>
            <a:r>
              <a:rPr lang="en-GB" sz="3200" dirty="0" smtClean="0">
                <a:solidFill>
                  <a:srgbClr val="202124"/>
                </a:solidFill>
                <a:latin typeface="arial" panose="020B0604020202020204" pitchFamily="34" charset="0"/>
              </a:rPr>
              <a:t> </a:t>
            </a:r>
            <a:r>
              <a:rPr lang="en-GB" sz="3200" dirty="0">
                <a:solidFill>
                  <a:srgbClr val="202124"/>
                </a:solidFill>
                <a:latin typeface="arial" panose="020B0604020202020204" pitchFamily="34" charset="0"/>
              </a:rPr>
              <a:t>components run on the </a:t>
            </a:r>
            <a:r>
              <a:rPr lang="en-GB" sz="3200" u="sng" dirty="0">
                <a:solidFill>
                  <a:srgbClr val="202124"/>
                </a:solidFill>
                <a:latin typeface="arial" panose="020B0604020202020204" pitchFamily="34" charset="0"/>
              </a:rPr>
              <a:t>J2EE server</a:t>
            </a:r>
            <a:r>
              <a:rPr lang="en-GB" sz="3200" dirty="0">
                <a:solidFill>
                  <a:srgbClr val="202124"/>
                </a:solidFill>
                <a:latin typeface="arial" panose="020B0604020202020204" pitchFamily="34" charset="0"/>
              </a:rPr>
              <a:t>. </a:t>
            </a:r>
            <a:endParaRPr lang="en-GB" sz="3200" dirty="0" smtClean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algn="just"/>
            <a:r>
              <a:rPr lang="en-GB" sz="3200" dirty="0" smtClean="0">
                <a:solidFill>
                  <a:srgbClr val="202124"/>
                </a:solidFill>
                <a:latin typeface="arial" panose="020B0604020202020204" pitchFamily="34" charset="0"/>
              </a:rPr>
              <a:t>3. Business-tier </a:t>
            </a:r>
            <a:r>
              <a:rPr lang="en-GB" sz="3200" dirty="0">
                <a:solidFill>
                  <a:srgbClr val="202124"/>
                </a:solidFill>
                <a:latin typeface="arial" panose="020B0604020202020204" pitchFamily="34" charset="0"/>
              </a:rPr>
              <a:t>components run on the </a:t>
            </a:r>
            <a:r>
              <a:rPr lang="en-GB" sz="3200" u="sng" dirty="0">
                <a:solidFill>
                  <a:srgbClr val="202124"/>
                </a:solidFill>
                <a:latin typeface="arial" panose="020B0604020202020204" pitchFamily="34" charset="0"/>
              </a:rPr>
              <a:t>J2EE server</a:t>
            </a:r>
            <a:r>
              <a:rPr lang="en-GB" sz="3200" dirty="0">
                <a:solidFill>
                  <a:srgbClr val="202124"/>
                </a:solidFill>
                <a:latin typeface="arial" panose="020B0604020202020204" pitchFamily="34" charset="0"/>
              </a:rPr>
              <a:t>. </a:t>
            </a:r>
            <a:endParaRPr lang="en-GB" sz="3200" dirty="0" smtClean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algn="just"/>
            <a:r>
              <a:rPr lang="en-GB" sz="3200" dirty="0" smtClean="0">
                <a:solidFill>
                  <a:srgbClr val="202124"/>
                </a:solidFill>
                <a:latin typeface="arial" panose="020B0604020202020204" pitchFamily="34" charset="0"/>
              </a:rPr>
              <a:t>4. </a:t>
            </a:r>
            <a:r>
              <a:rPr lang="en-GB" sz="3200" u="sng" dirty="0" smtClean="0">
                <a:solidFill>
                  <a:srgbClr val="202124"/>
                </a:solidFill>
                <a:latin typeface="arial" panose="020B0604020202020204" pitchFamily="34" charset="0"/>
              </a:rPr>
              <a:t>Enterprise </a:t>
            </a:r>
            <a:r>
              <a:rPr lang="en-GB" sz="3200" u="sng" dirty="0">
                <a:solidFill>
                  <a:srgbClr val="202124"/>
                </a:solidFill>
                <a:latin typeface="arial" panose="020B0604020202020204" pitchFamily="34" charset="0"/>
              </a:rPr>
              <a:t>information system </a:t>
            </a:r>
            <a:r>
              <a:rPr lang="en-GB" sz="3200" dirty="0">
                <a:solidFill>
                  <a:srgbClr val="202124"/>
                </a:solidFill>
                <a:latin typeface="arial" panose="020B0604020202020204" pitchFamily="34" charset="0"/>
              </a:rPr>
              <a:t>(EIS)-tier software runs on the </a:t>
            </a:r>
            <a:r>
              <a:rPr lang="en-GB" sz="3200" u="sng" dirty="0">
                <a:solidFill>
                  <a:srgbClr val="202124"/>
                </a:solidFill>
                <a:latin typeface="arial" panose="020B0604020202020204" pitchFamily="34" charset="0"/>
              </a:rPr>
              <a:t>EIS server</a:t>
            </a:r>
            <a:r>
              <a:rPr lang="en-GB" sz="3200" dirty="0">
                <a:solidFill>
                  <a:srgbClr val="202124"/>
                </a:solidFill>
                <a:latin typeface="arial" panose="020B0604020202020204" pitchFamily="34" charset="0"/>
              </a:rPr>
              <a:t>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4179345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8205" y="265097"/>
            <a:ext cx="109557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>
                <a:solidFill>
                  <a:srgbClr val="202124"/>
                </a:solidFill>
                <a:latin typeface="arial" panose="020B0604020202020204" pitchFamily="34" charset="0"/>
              </a:rPr>
              <a:t>1. </a:t>
            </a:r>
            <a:r>
              <a:rPr lang="en-GB" sz="2400" b="1" u="sng" dirty="0" smtClean="0">
                <a:solidFill>
                  <a:srgbClr val="202124"/>
                </a:solidFill>
                <a:latin typeface="arial" panose="020B0604020202020204" pitchFamily="34" charset="0"/>
              </a:rPr>
              <a:t>Service-oriented computing</a:t>
            </a:r>
            <a:r>
              <a:rPr lang="en-GB" sz="2400" dirty="0" smtClean="0">
                <a:solidFill>
                  <a:srgbClr val="202124"/>
                </a:solidFill>
                <a:latin typeface="arial" panose="020B0604020202020204" pitchFamily="34" charset="0"/>
              </a:rPr>
              <a:t> is an emerging cross-disciplinary paradigm for distributed computing, which is changing the way software applications are designed, delivered and consumed.</a:t>
            </a:r>
            <a:endParaRPr lang="en-GB" sz="2400" dirty="0"/>
          </a:p>
        </p:txBody>
      </p:sp>
      <p:sp>
        <p:nvSpPr>
          <p:cNvPr id="3" name="Rectangle 2"/>
          <p:cNvSpPr/>
          <p:nvPr/>
        </p:nvSpPr>
        <p:spPr>
          <a:xfrm>
            <a:off x="598205" y="1570386"/>
            <a:ext cx="1075915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>
                <a:solidFill>
                  <a:srgbClr val="202124"/>
                </a:solidFill>
                <a:latin typeface="arial" panose="020B0604020202020204" pitchFamily="34" charset="0"/>
              </a:rPr>
              <a:t>2. </a:t>
            </a:r>
            <a:r>
              <a:rPr lang="en-GB" sz="2400" b="1" u="sng" dirty="0" smtClean="0">
                <a:solidFill>
                  <a:srgbClr val="202124"/>
                </a:solidFill>
                <a:latin typeface="arial" panose="020B0604020202020204" pitchFamily="34" charset="0"/>
              </a:rPr>
              <a:t>SOA</a:t>
            </a:r>
            <a:r>
              <a:rPr lang="en-GB" sz="2400" dirty="0">
                <a:solidFill>
                  <a:srgbClr val="202124"/>
                </a:solidFill>
                <a:latin typeface="arial" panose="020B0604020202020204" pitchFamily="34" charset="0"/>
              </a:rPr>
              <a:t> is an architectural style for building software applications that use services available in a network such as the web. It promotes loose coupling between software components so that they can be reused. Applications in SOA are built based on services.</a:t>
            </a:r>
            <a:endParaRPr lang="en-GB" sz="2400" dirty="0"/>
          </a:p>
        </p:txBody>
      </p:sp>
      <p:sp>
        <p:nvSpPr>
          <p:cNvPr id="4" name="Rectangle 3"/>
          <p:cNvSpPr/>
          <p:nvPr/>
        </p:nvSpPr>
        <p:spPr>
          <a:xfrm>
            <a:off x="512747" y="3245006"/>
            <a:ext cx="1112662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dirty="0" smtClean="0">
                <a:latin typeface="Arial" panose="020B0604020202020204" pitchFamily="34" charset="0"/>
              </a:rPr>
              <a:t>3. </a:t>
            </a:r>
            <a:r>
              <a:rPr lang="en-GB" sz="3200" u="sng" dirty="0" smtClean="0">
                <a:latin typeface="Arial" panose="020B0604020202020204" pitchFamily="34" charset="0"/>
              </a:rPr>
              <a:t>Cloud Computing </a:t>
            </a:r>
            <a:r>
              <a:rPr lang="en-GB" sz="3200" dirty="0" smtClean="0">
                <a:latin typeface="Arial" panose="020B0604020202020204" pitchFamily="34" charset="0"/>
              </a:rPr>
              <a:t>that </a:t>
            </a:r>
            <a:r>
              <a:rPr lang="en-GB" sz="3200" dirty="0">
                <a:latin typeface="Arial" panose="020B0604020202020204" pitchFamily="34" charset="0"/>
              </a:rPr>
              <a:t>is </a:t>
            </a:r>
            <a:r>
              <a:rPr lang="en-GB" sz="2400" dirty="0">
                <a:latin typeface="Arial" panose="020B0604020202020204" pitchFamily="34" charset="0"/>
              </a:rPr>
              <a:t>distributed </a:t>
            </a:r>
            <a:r>
              <a:rPr lang="en-GB" sz="2000" dirty="0">
                <a:latin typeface="Arial" panose="020B0604020202020204" pitchFamily="34" charset="0"/>
              </a:rPr>
              <a:t>across </a:t>
            </a:r>
            <a:r>
              <a:rPr lang="en-GB" sz="2400" dirty="0">
                <a:latin typeface="Arial" panose="020B0604020202020204" pitchFamily="34" charset="0"/>
              </a:rPr>
              <a:t>the network' </a:t>
            </a:r>
            <a:r>
              <a:rPr lang="en-GB" sz="2000" dirty="0">
                <a:latin typeface="Arial" panose="020B0604020202020204" pitchFamily="34" charset="0"/>
              </a:rPr>
              <a:t>Support </a:t>
            </a:r>
            <a:r>
              <a:rPr lang="en-GB" sz="2400" dirty="0">
                <a:latin typeface="Arial" panose="020B0604020202020204" pitchFamily="34" charset="0"/>
              </a:rPr>
              <a:t>the </a:t>
            </a:r>
            <a:r>
              <a:rPr lang="en-GB" sz="2000" dirty="0">
                <a:latin typeface="Arial" panose="020B0604020202020204" pitchFamily="34" charset="0"/>
              </a:rPr>
              <a:t>need </a:t>
            </a:r>
            <a:r>
              <a:rPr lang="en-GB" sz="3200" dirty="0">
                <a:latin typeface="Arial" panose="020B0604020202020204" pitchFamily="34" charset="0"/>
              </a:rPr>
              <a:t>to </a:t>
            </a:r>
            <a:r>
              <a:rPr lang="en-GB" sz="2400" dirty="0" smtClean="0">
                <a:latin typeface="Arial" panose="020B0604020202020204" pitchFamily="34" charset="0"/>
              </a:rPr>
              <a:t>build </a:t>
            </a:r>
            <a:r>
              <a:rPr lang="en-GB" sz="2000" dirty="0" smtClean="0">
                <a:latin typeface="Arial" panose="020B0604020202020204" pitchFamily="34" charset="0"/>
              </a:rPr>
              <a:t>distributed</a:t>
            </a:r>
            <a:r>
              <a:rPr lang="en-GB" sz="2000" dirty="0">
                <a:latin typeface="Arial" panose="020B0604020202020204" pitchFamily="34" charset="0"/>
              </a:rPr>
              <a:t>, transactional, and portable applications that </a:t>
            </a:r>
            <a:r>
              <a:rPr lang="en-GB" dirty="0">
                <a:latin typeface="Arial" panose="020B0604020202020204" pitchFamily="34" charset="0"/>
              </a:rPr>
              <a:t>leverage </a:t>
            </a:r>
            <a:r>
              <a:rPr lang="en-GB" sz="2000" dirty="0">
                <a:latin typeface="Arial" panose="020B0604020202020204" pitchFamily="34" charset="0"/>
              </a:rPr>
              <a:t>the </a:t>
            </a:r>
            <a:r>
              <a:rPr lang="en-GB" dirty="0">
                <a:latin typeface="Arial" panose="020B0604020202020204" pitchFamily="34" charset="0"/>
              </a:rPr>
              <a:t>speed, </a:t>
            </a:r>
            <a:r>
              <a:rPr lang="en-GB" sz="2000" dirty="0" smtClean="0">
                <a:latin typeface="Arial" panose="020B0604020202020204" pitchFamily="34" charset="0"/>
              </a:rPr>
              <a:t>security, </a:t>
            </a:r>
            <a:r>
              <a:rPr lang="en-GB" dirty="0" smtClean="0">
                <a:latin typeface="Arial" panose="020B0604020202020204" pitchFamily="34" charset="0"/>
              </a:rPr>
              <a:t>and </a:t>
            </a:r>
            <a:r>
              <a:rPr lang="en-GB" sz="2400" dirty="0">
                <a:latin typeface="Arial" panose="020B0604020202020204" pitchFamily="34" charset="0"/>
              </a:rPr>
              <a:t>reliability </a:t>
            </a:r>
            <a:r>
              <a:rPr lang="en-GB" sz="2000" dirty="0">
                <a:latin typeface="Arial" panose="020B0604020202020204" pitchFamily="34" charset="0"/>
              </a:rPr>
              <a:t>of server </a:t>
            </a:r>
            <a:r>
              <a:rPr lang="en-GB" dirty="0">
                <a:latin typeface="Arial" panose="020B0604020202020204" pitchFamily="34" charset="0"/>
              </a:rPr>
              <a:t>side </a:t>
            </a:r>
            <a:r>
              <a:rPr lang="en-GB" sz="2000" dirty="0">
                <a:latin typeface="Arial" panose="020B0604020202020204" pitchFamily="34" charset="0"/>
              </a:rPr>
              <a:t>technology'</a:t>
            </a:r>
            <a:endParaRPr lang="en-GB" sz="2000" dirty="0"/>
          </a:p>
        </p:txBody>
      </p:sp>
      <p:sp>
        <p:nvSpPr>
          <p:cNvPr id="5" name="Rectangle 4"/>
          <p:cNvSpPr/>
          <p:nvPr/>
        </p:nvSpPr>
        <p:spPr>
          <a:xfrm>
            <a:off x="598205" y="4919626"/>
            <a:ext cx="1145990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 smtClean="0">
                <a:latin typeface="Arial" panose="020B0604020202020204" pitchFamily="34" charset="0"/>
              </a:rPr>
              <a:t>4. </a:t>
            </a:r>
            <a:r>
              <a:rPr lang="en-GB" sz="2800" u="sng" dirty="0" smtClean="0">
                <a:latin typeface="Arial" panose="020B0604020202020204" pitchFamily="34" charset="0"/>
              </a:rPr>
              <a:t>Web Services </a:t>
            </a:r>
            <a:r>
              <a:rPr lang="en-GB" sz="2800" dirty="0" smtClean="0">
                <a:latin typeface="Arial" panose="020B0604020202020204" pitchFamily="34" charset="0"/>
              </a:rPr>
              <a:t>is </a:t>
            </a:r>
            <a:r>
              <a:rPr lang="en-GB" sz="2400" dirty="0">
                <a:latin typeface="Arial" panose="020B0604020202020204" pitchFamily="34" charset="0"/>
              </a:rPr>
              <a:t>a </a:t>
            </a:r>
            <a:r>
              <a:rPr lang="en-GB" dirty="0">
                <a:latin typeface="Arial" panose="020B0604020202020204" pitchFamily="34" charset="0"/>
              </a:rPr>
              <a:t>software application identified </a:t>
            </a:r>
            <a:r>
              <a:rPr lang="en-GB" sz="2400" dirty="0">
                <a:latin typeface="Arial" panose="020B0604020202020204" pitchFamily="34" charset="0"/>
              </a:rPr>
              <a:t>by a URI' </a:t>
            </a:r>
            <a:r>
              <a:rPr lang="en-GB" sz="1600" dirty="0">
                <a:latin typeface="Arial" panose="020B0604020202020204" pitchFamily="34" charset="0"/>
              </a:rPr>
              <a:t>whose interfaces </a:t>
            </a:r>
            <a:r>
              <a:rPr lang="en-GB" sz="1600" dirty="0" smtClean="0">
                <a:latin typeface="Arial" panose="020B0604020202020204" pitchFamily="34" charset="0"/>
              </a:rPr>
              <a:t>and bindings </a:t>
            </a:r>
            <a:r>
              <a:rPr lang="en-GB" sz="1400" dirty="0">
                <a:latin typeface="Arial" panose="020B0604020202020204" pitchFamily="34" charset="0"/>
              </a:rPr>
              <a:t>are </a:t>
            </a:r>
            <a:r>
              <a:rPr lang="en-GB" sz="1600" dirty="0">
                <a:latin typeface="Arial" panose="020B0604020202020204" pitchFamily="34" charset="0"/>
              </a:rPr>
              <a:t>capable of </a:t>
            </a:r>
            <a:r>
              <a:rPr lang="en-GB" dirty="0" smtClean="0">
                <a:latin typeface="Arial" panose="020B0604020202020204" pitchFamily="34" charset="0"/>
              </a:rPr>
              <a:t>being defined, </a:t>
            </a:r>
            <a:r>
              <a:rPr lang="en-GB" sz="1600" dirty="0">
                <a:latin typeface="Arial" panose="020B0604020202020204" pitchFamily="34" charset="0"/>
              </a:rPr>
              <a:t>described </a:t>
            </a:r>
            <a:r>
              <a:rPr lang="en-GB" sz="1400" dirty="0">
                <a:latin typeface="Arial" panose="020B0604020202020204" pitchFamily="34" charset="0"/>
              </a:rPr>
              <a:t>and </a:t>
            </a:r>
            <a:r>
              <a:rPr lang="en-GB" sz="1600" dirty="0">
                <a:latin typeface="Arial" panose="020B0604020202020204" pitchFamily="34" charset="0"/>
              </a:rPr>
              <a:t>discovered </a:t>
            </a:r>
            <a:r>
              <a:rPr lang="en-GB" sz="800" dirty="0">
                <a:latin typeface="Arial" panose="020B0604020202020204" pitchFamily="34" charset="0"/>
              </a:rPr>
              <a:t>as </a:t>
            </a:r>
            <a:r>
              <a:rPr lang="en-GB" sz="2400" dirty="0">
                <a:latin typeface="Arial" panose="020B0604020202020204" pitchFamily="34" charset="0"/>
              </a:rPr>
              <a:t>XML </a:t>
            </a:r>
            <a:r>
              <a:rPr lang="en-GB" sz="1600" dirty="0" err="1">
                <a:latin typeface="Arial" panose="020B0604020202020204" pitchFamily="34" charset="0"/>
              </a:rPr>
              <a:t>artifacts'</a:t>
            </a:r>
            <a:r>
              <a:rPr lang="en-GB" sz="1600" dirty="0">
                <a:latin typeface="Arial" panose="020B0604020202020204" pitchFamily="34" charset="0"/>
              </a:rPr>
              <a:t> </a:t>
            </a:r>
            <a:r>
              <a:rPr lang="en-GB" sz="2400" dirty="0" smtClean="0">
                <a:latin typeface="Arial" panose="020B0604020202020204" pitchFamily="34" charset="0"/>
              </a:rPr>
              <a:t>A  </a:t>
            </a:r>
            <a:r>
              <a:rPr lang="en-GB" dirty="0" smtClean="0">
                <a:latin typeface="Arial" panose="020B0604020202020204" pitchFamily="34" charset="0"/>
              </a:rPr>
              <a:t>Web service supports direction interactions with other software agents using XML </a:t>
            </a:r>
            <a:r>
              <a:rPr lang="en-GB" sz="1400" dirty="0" smtClean="0">
                <a:latin typeface="Arial" panose="020B0604020202020204" pitchFamily="34" charset="0"/>
              </a:rPr>
              <a:t>based messages </a:t>
            </a:r>
            <a:r>
              <a:rPr lang="en-GB" sz="1600" dirty="0">
                <a:latin typeface="Arial" panose="020B0604020202020204" pitchFamily="34" charset="0"/>
              </a:rPr>
              <a:t>exchanged via the Internet </a:t>
            </a:r>
            <a:r>
              <a:rPr lang="en-GB" sz="1400" dirty="0">
                <a:latin typeface="Arial" panose="020B0604020202020204" pitchFamily="34" charset="0"/>
              </a:rPr>
              <a:t>based </a:t>
            </a:r>
            <a:r>
              <a:rPr lang="en-GB" sz="1600" dirty="0">
                <a:latin typeface="Arial" panose="020B0604020202020204" pitchFamily="34" charset="0"/>
              </a:rPr>
              <a:t>protocols'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5870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15" y="1833833"/>
            <a:ext cx="10398089" cy="272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188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487" y="1900237"/>
            <a:ext cx="743902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89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796" y="671783"/>
            <a:ext cx="7290844" cy="513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7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943" y="574494"/>
            <a:ext cx="6987949" cy="573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90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477" y="1898741"/>
            <a:ext cx="6867525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404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12104" y="2024002"/>
            <a:ext cx="915254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>
                <a:solidFill>
                  <a:srgbClr val="535353"/>
                </a:solidFill>
                <a:latin typeface="q_serif"/>
              </a:rPr>
              <a:t>Assignment Title:</a:t>
            </a:r>
          </a:p>
          <a:p>
            <a:endParaRPr lang="en-GB" sz="2400" b="1" dirty="0">
              <a:solidFill>
                <a:srgbClr val="535353"/>
              </a:solidFill>
              <a:latin typeface="q_serif"/>
            </a:endParaRPr>
          </a:p>
          <a:p>
            <a:r>
              <a:rPr lang="en-GB" sz="2400" b="1" dirty="0" smtClean="0">
                <a:solidFill>
                  <a:srgbClr val="535353"/>
                </a:solidFill>
                <a:latin typeface="q_serif"/>
              </a:rPr>
              <a:t>You are</a:t>
            </a:r>
            <a:r>
              <a:rPr lang="en-GB" sz="2400" b="1" dirty="0" smtClean="0"/>
              <a:t> </a:t>
            </a:r>
            <a:r>
              <a:rPr lang="en-GB" sz="2400" b="1" dirty="0" smtClean="0">
                <a:solidFill>
                  <a:srgbClr val="535353"/>
                </a:solidFill>
                <a:latin typeface="q_serif"/>
              </a:rPr>
              <a:t>required </a:t>
            </a:r>
            <a:r>
              <a:rPr lang="en-GB" sz="2400" b="1" dirty="0">
                <a:solidFill>
                  <a:srgbClr val="535353"/>
                </a:solidFill>
                <a:latin typeface="q_serif"/>
              </a:rPr>
              <a:t>to develop knowledge on EA methodology, EA Framework, data model and emerging EA.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906927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90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231</Words>
  <Application>Microsoft Office PowerPoint</Application>
  <PresentationFormat>Widescreen</PresentationFormat>
  <Paragraphs>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</vt:lpstr>
      <vt:lpstr>Calibri</vt:lpstr>
      <vt:lpstr>Calibri Light</vt:lpstr>
      <vt:lpstr>q_serif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Ewis</cp:lastModifiedBy>
  <cp:revision>37</cp:revision>
  <dcterms:created xsi:type="dcterms:W3CDTF">2021-08-18T10:05:31Z</dcterms:created>
  <dcterms:modified xsi:type="dcterms:W3CDTF">2021-10-08T11:56:57Z</dcterms:modified>
</cp:coreProperties>
</file>